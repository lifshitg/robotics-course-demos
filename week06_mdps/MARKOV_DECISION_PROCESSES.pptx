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12BDB6-F7DE-48C3-8D77-E22B4EAE1320}" type="datetimeFigureOut">
              <a:rPr lang="en-IL" smtClean="0"/>
              <a:t>05/10/2026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C85E58-D858-4D71-8E82-D8C48D8E25AF}" type="slidenum">
              <a:rPr lang="en-IL" smtClean="0"/>
              <a:t>‹#›</a:t>
            </a:fld>
            <a:endParaRPr lang="en-IL"/>
          </a:p>
        </p:txBody>
      </p:sp>
    </p:spTree>
    <p:extLst>
      <p:ext uri="{BB962C8B-B14F-4D97-AF65-F5344CB8AC3E}">
        <p14:creationId xmlns:p14="http://schemas.microsoft.com/office/powerpoint/2010/main" val="45129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Week 6: 35 minutes of explanation and worked calculations, five minutes visualization, five minutes recap/HW3. Students know Python and earlier planning concepts. This lesson uses the existing fully observed four-state delivery model, not motion geometry or learning. Explain every mathematical symbol on first use. All nine original Week 6 files were reviewed, including the two saved images. The professor PDF was not found; retain the existing printed-slide source map without claiming independent review.</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1</a:t>
            </a:fld>
            <a:endParaRPr lang="en-IL"/>
          </a:p>
        </p:txBody>
      </p:sp>
    </p:spTree>
    <p:extLst>
      <p:ext uri="{BB962C8B-B14F-4D97-AF65-F5344CB8AC3E}">
        <p14:creationId xmlns:p14="http://schemas.microsoft.com/office/powerpoint/2010/main" val="813632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Connect to Week 5: the symbolic model assumed deterministic action outcomes. An action sequence prescribes successive actions, while a state-feedback policy prescribes what to do at each observed state, including states reached unexpectedly. Policies can also be useful in deterministic settings; uncertainty motivates the distinction here. A contingent plan can represent branching behavior, so do not imply all uses of the word plan exclude branches. The demo gives a known stochastic model and fully observes each resulting state.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2</a:t>
            </a:fld>
            <a:endParaRPr lang="en-IL"/>
          </a:p>
        </p:txBody>
      </p:sp>
    </p:spTree>
    <p:extLst>
      <p:ext uri="{BB962C8B-B14F-4D97-AF65-F5344CB8AC3E}">
        <p14:creationId xmlns:p14="http://schemas.microsoft.com/office/powerpoint/2010/main" val="2835820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Reveal the states start, detour, delivered, failed. At start choose safe or risky; at detour choose finish. Safe goes to detour with probability one and reward −1. Finish reaches delivered with probability one and reward +8. Risky reaches delivered with probability 0.8 and reward +10 or failed with probability 0.2 and reward −10. Terminal stay actions are absorbing and reward zero. The lower reliable-route delivery reward is an illustrative route preference, not a measured robot cost. Two incoming transitions can have different rewards despite ending at the same delivered state.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3</a:t>
            </a:fld>
            <a:endParaRPr lang="en-IL"/>
          </a:p>
        </p:txBody>
      </p:sp>
    </p:spTree>
    <p:extLst>
      <p:ext uri="{BB962C8B-B14F-4D97-AF65-F5344CB8AC3E}">
        <p14:creationId xmlns:p14="http://schemas.microsoft.com/office/powerpoint/2010/main" val="2228323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S is the finite set of states; s is one member and s′ a possible next state. A(s) is the available-action set at state s; a is one action. P gives the next-state distribution conditional on current state/action. r(s,a,s′) is the immediate transition reward. γ is the discount factor, here 0.9 and restricted to [0,1). S_t and A_t are random variables at time t, while s and a denote specific possible values. R_t is the random reward following A_t, not the state set S or a transition matrix. Terminal set T={delivered,failed} is specified separately. Every state has an action in this implementation, including stay at terminals.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4</a:t>
            </a:fld>
            <a:endParaRPr lang="en-IL"/>
          </a:p>
        </p:txBody>
      </p:sp>
    </p:spTree>
    <p:extLst>
      <p:ext uri="{BB962C8B-B14F-4D97-AF65-F5344CB8AC3E}">
        <p14:creationId xmlns:p14="http://schemas.microsoft.com/office/powerpoint/2010/main" val="3443692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Read the vertical bar as given. The prime denotes next state, not differentiation. The sum ranges over all successor states, while s and a remain fixed. Expand 0.8+0.2=1 for risky. Safe has P(detour|start,safe)=1; finish has P(delivered|detour,finish)=1. P is a collection of conditional distributions, not a single scalar. The robot selects risky as one action, not its delivered/failed outcome. Impossible transitions have zero probability. model.py validates distributions, finite rewards, known successor names, and absorbing zero-reward terminal transitions.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5</a:t>
            </a:fld>
            <a:endParaRPr lang="en-IL"/>
          </a:p>
        </p:txBody>
      </p:sp>
    </p:spTree>
    <p:extLst>
      <p:ext uri="{BB962C8B-B14F-4D97-AF65-F5344CB8AC3E}">
        <p14:creationId xmlns:p14="http://schemas.microsoft.com/office/powerpoint/2010/main" val="3910970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This equality states the Markov assumption: conditional on the current state/action, the earlier history does not add predictive information. Explain S_0:t as the history through time t. The reward distribution must also depend only on the relevant current state/action/next state; our reward is the deterministic function r of that transition. Location alone may fail to be Markov if battery, load or damage changes transition probabilities. The demo assumes its four fully observed states suffice. Full observability and the Markov property are distinct assumptions: an underlying Markov state need not always be directly observable.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6</a:t>
            </a:fld>
            <a:endParaRPr lang="en-IL"/>
          </a:p>
        </p:txBody>
      </p:sp>
    </p:spTree>
    <p:extLst>
      <p:ext uri="{BB962C8B-B14F-4D97-AF65-F5344CB8AC3E}">
        <p14:creationId xmlns:p14="http://schemas.microsoft.com/office/powerpoint/2010/main" val="1593498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π is the policy. π(s) is an action in a deterministic stationary policy. π(a|s) is the probability of selecting action a in a stochastic stationary policy. A policy randomizes action selection only in the latter case; P randomizes outcomes in either case. In this finite discounted setting an optimal deterministic stationary policy exists. The Python policy dictionaries list nonterminal states only; terminal stay is implicit. Explain stationary as using the same state-to-action rule whenever the state occurs, rather than depending explicitly on time. Our worked initial policy chooses risky at start and finish at detour.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7</a:t>
            </a:fld>
            <a:endParaRPr lang="en-IL"/>
          </a:p>
        </p:txBody>
      </p:sp>
    </p:spTree>
    <p:extLst>
      <p:ext uri="{BB962C8B-B14F-4D97-AF65-F5344CB8AC3E}">
        <p14:creationId xmlns:p14="http://schemas.microsoft.com/office/powerpoint/2010/main" val="36272554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Lowercase r is the reward for a particular transition. Uppercase R(s,a) is the expected immediate reward, averaged over next states. Random R_t is the actual reward following A_t, and may be +10 or −10 for risky. Pay delivery/failure rewards once on entry. The terminal state then stays with zero reward forever, making its future value zero. Setting V(delivered)=10 would add another discounted delivery reward and double-count in this convention. The safe route gives −1 now and +8 on the later finish transition; its first expected immediate reward is −1, not 6.2.</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8</a:t>
            </a:fld>
            <a:endParaRPr lang="en-IL"/>
          </a:p>
        </p:txBody>
      </p:sp>
    </p:spTree>
    <p:extLst>
      <p:ext uri="{BB962C8B-B14F-4D97-AF65-F5344CB8AC3E}">
        <p14:creationId xmlns:p14="http://schemas.microsoft.com/office/powerpoint/2010/main" val="173801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G_t is the discounted return from time t. k counts how many transitions into the future a reward arrives; γ^0=1 weights the immediate reward. γ=0 ignores later rewards; γ near one weights them more strongly. Rewards can be abstract task preferences rather than physical money. The lesson uses R_t for the reward after A_t, matching existing notes; some books label the same reward R_(t+1). State that alternative only in notes and keep slides consistent. A successful risky rollout gives 10, but this does not establish expected value 10. Discounting also enables the finite-model convergence result when rewards are bounded and γ&lt;1.</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9</a:t>
            </a:fld>
            <a:endParaRPr lang="en-IL"/>
          </a:p>
        </p:txBody>
      </p:sp>
    </p:spTree>
    <p:extLst>
      <p:ext uri="{BB962C8B-B14F-4D97-AF65-F5344CB8AC3E}">
        <p14:creationId xmlns:p14="http://schemas.microsoft.com/office/powerpoint/2010/main" val="1158112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Expectation means a probability-weighted average over possible trajectories, including action randomness if π is stochastic. Vπ starts in s and follows π immediately. Qπ takes the specified first action a and then follows π thereafter, including actions not normally selected by π; interpret this conditioning operationally as fixing the first action even when it has zero probability under π. Superscript π identifies the policy, not exponentiation. Later Q_V denotes a one-step backup based on any value vector V, not necessarily the true value of a policy. The aim is to obtain V* and an optimal policy, not simply to maximize immediate reward.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10</a:t>
            </a:fld>
            <a:endParaRPr lang="en-IL"/>
          </a:p>
        </p:txBody>
      </p:sp>
    </p:spTree>
    <p:extLst>
      <p:ext uri="{BB962C8B-B14F-4D97-AF65-F5344CB8AC3E}">
        <p14:creationId xmlns:p14="http://schemas.microsoft.com/office/powerpoint/2010/main" val="3881638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Work line by line: split the first term from the discounted series; condition on starting state s; use linearity and conditional expectation; the future return conditional on successor s′ is Vπ(s′) under the same stationary policy. Expand the outer expectation over action probabilities π(a|s) and next-state probabilities P(s′|s,a) on the next slide. This is the law of total expectation, not assuming future return equals its expectation on every realized trajectory. γ multiplies future value but not the immediate reward. The prime and time subscripts identify next state/time consistently.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11</a:t>
            </a:fld>
            <a:endParaRPr lang="en-IL"/>
          </a:p>
        </p:txBody>
      </p:sp>
    </p:spTree>
    <p:extLst>
      <p:ext uri="{BB962C8B-B14F-4D97-AF65-F5344CB8AC3E}">
        <p14:creationId xmlns:p14="http://schemas.microsoft.com/office/powerpoint/2010/main" val="2909493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The first two displayed lines form one expression: the continuation is multiplied inside the sum over actions, not by a separately evaluated sum. The outside sum averages policy action choices; the inside sum averages next-state outcomes. For a deterministic policy all action probabilities are zero except π(s), so only that action remains. Q_(Vπ) means Q_V with V equal to Vπ, using the generic backup definition introduced below. Ask where the maximum is: nowhere. These coupled equations can be solved exactly as a linear system or approximately by repeated fixed-policy backups. The demo uses the exact linear solve.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12</a:t>
            </a:fld>
            <a:endParaRPr lang="en-IL"/>
          </a:p>
        </p:txBody>
      </p:sp>
    </p:spTree>
    <p:extLst>
      <p:ext uri="{BB962C8B-B14F-4D97-AF65-F5344CB8AC3E}">
        <p14:creationId xmlns:p14="http://schemas.microsoft.com/office/powerpoint/2010/main" val="26635667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Evaluate terminal states first, then detour, then start. The weights 0.8 and 0.2 apply to the entire immediate-plus-future quantity. Show 8−2=6 as the final start arithmetic. The detour state is not reached when starting at start under this policy, yet Vπ(detour) still answers what happens if we start there; this matters when comparing safe as an alternative first action. No action optimization occurs during this calculation. Reward +10 and −10 occurs immediately on risky's transition, so neither receives an extra factor γ. The finish reward is immediate when evaluating detour.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13</a:t>
            </a:fld>
            <a:endParaRPr lang="en-IL"/>
          </a:p>
        </p:txBody>
      </p:sp>
    </p:spTree>
    <p:extLst>
      <p:ext uri="{BB962C8B-B14F-4D97-AF65-F5344CB8AC3E}">
        <p14:creationId xmlns:p14="http://schemas.microsoft.com/office/powerpoint/2010/main" val="24585771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For n nonterminal states, Vπ and Rπ are n×1 vectors and Pπ is n×n. i and j index states in the fixed order [start,detour], not time. Deterministic π reduces action sums to the selected action. Pπ contains only transitions to nonterminals; rows can sum to less than one because terminal probability is omitted. Rπ still includes rewards on all transitions, including terminal arrivals. The omitted terminal future term is zero. I is the identity matrix. Move γPπVπ to the left and factor Vπ. The Python implementation constructs I−γPπ and calls numpy.linalg.solve; explicitly computing the matrix inverse is unnecessary.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14</a:t>
            </a:fld>
            <a:endParaRPr lang="en-IL"/>
          </a:p>
        </p:txBody>
      </p:sp>
    </p:spTree>
    <p:extLst>
      <p:ext uri="{BB962C8B-B14F-4D97-AF65-F5344CB8AC3E}">
        <p14:creationId xmlns:p14="http://schemas.microsoft.com/office/powerpoint/2010/main" val="19566751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For safe at start and finish at detour, Pπ=[[0,1],[0,0]] and Rπ=[−1,8]^T. Its second row has no nonterminal successor because finish reaches delivered. Thus I−0.9Pπ=[[1,−0.9],[0,1]]. The displayed linear system says Vstart−0.9Vdetour=−1 and Vdetour=8. Substitute to get Vstart=6.2. For the risky policy Pπ is the zero 2×2 matrix and Rπ=[6,8]^T, so its system directly gives [6,8]^T. These are two different policies, not simultaneous equations that choose actions. Each system evaluates a policy already selected.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15</a:t>
            </a:fld>
            <a:endParaRPr lang="en-IL"/>
          </a:p>
        </p:txBody>
      </p:sp>
    </p:spTree>
    <p:extLst>
      <p:ext uri="{BB962C8B-B14F-4D97-AF65-F5344CB8AC3E}">
        <p14:creationId xmlns:p14="http://schemas.microsoft.com/office/powerpoint/2010/main" val="3815106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Q_V uses an arbitrary current value estimate V. It equals Qπ when V=Vπ and Q* when V=V*. The star means optimal, not multiplication. The Bellman optimality equation is a condition on the unknown optimal values. It does not itself specify the numerical iteration; that comes next. Maximizing over outcomes would wrongly let the robot choose success and ignore failure. argmax returns an action; max returns its numerical action value. Safe is optimal here despite lower expected immediate reward because of its future finish reward. Restrict max to actions available at the current state.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16</a:t>
            </a:fld>
            <a:endParaRPr lang="en-IL"/>
          </a:p>
        </p:txBody>
      </p:sp>
    </p:spTree>
    <p:extLst>
      <p:ext uri="{BB962C8B-B14F-4D97-AF65-F5344CB8AC3E}">
        <p14:creationId xmlns:p14="http://schemas.microsoft.com/office/powerpoint/2010/main" val="24111153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k is the sweep index, not a physical trajectory time. All updates in a sweep read V_k; do not let an earlier new value leak into another update. Stop when Δ_k is below tolerance; the demo uses 1e−10 with a cap of 1000 sweeps. Afterwards extract a greedy policy using the returned new vector. A cap failure raises an error rather than asserting convergence. V0=0 can be interpreted as a zero-step horizon; this is a teaching initialization, not a measured initial return. Bellman optimality characterizes the answer, whereas this update is an algorithm approaching it. Numerical bounds are in the hidden backups.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p>
          <a:p>
            <a:r>
              <a:rPr lang="en-US">
                <a:latin typeface="Aptos" panose="020B0004020202020204" pitchFamily="34" charset="0"/>
              </a:rPr>
              <a:t>https://inst.eecs.berkeley.edu/~cs188/textbook/mdp/value-iteration.html</a:t>
            </a:r>
          </a:p>
          <a:p>
            <a:r>
              <a:rPr lang="en-US">
                <a:latin typeface="Aptos" panose="020B0004020202020204" pitchFamily="34" charset="0"/>
              </a:rPr>
              <a:t>https://inst.eecs.berkeley.edu/~cs188/textbook/mdp/policies-iteration.html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17</a:t>
            </a:fld>
            <a:endParaRPr lang="en-IL"/>
          </a:p>
        </p:txBody>
      </p:sp>
    </p:spTree>
    <p:extLst>
      <p:ext uri="{BB962C8B-B14F-4D97-AF65-F5344CB8AC3E}">
        <p14:creationId xmlns:p14="http://schemas.microsoft.com/office/powerpoint/2010/main" val="20748328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V0=(0,0,0,0). First backup: finish gives 8, safe at start gives −1+0.9×0=−1, risky gives 6, so V1=(6,8,0,0). The new detour value 8 cannot be used for start during that first synchronous sweep. Second backup: safe uses old detour=8, giving 6.2, while risky remains 6; V2=(6.2,8,0,0). The third sweep is unchanged, confirming the stopping criterion. Maximum changes are 8, 0.2, 0. The tiny nonterminal graph is acyclic, so reward propagates quickly; general cyclic models may need many iterations. Ask students to compute each start value before pointing to the corresponding row.</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p>
          <a:p>
            <a:r>
              <a:rPr lang="en-US">
                <a:latin typeface="Aptos" panose="020B0004020202020204" pitchFamily="34" charset="0"/>
              </a:rPr>
              <a:t>https://inst.eecs.berkeley.edu/~cs188/textbook/mdp/value-iteration.html</a:t>
            </a:r>
          </a:p>
          <a:p>
            <a:r>
              <a:rPr lang="en-US">
                <a:latin typeface="Aptos" panose="020B0004020202020204" pitchFamily="34" charset="0"/>
              </a:rPr>
              <a:t>https://inst.eecs.berkeley.edu/~cs188/textbook/mdp/policies-iteration.html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18</a:t>
            </a:fld>
            <a:endParaRPr lang="en-IL"/>
          </a:p>
        </p:txBody>
      </p:sp>
    </p:spTree>
    <p:extLst>
      <p:ext uri="{BB962C8B-B14F-4D97-AF65-F5344CB8AC3E}">
        <p14:creationId xmlns:p14="http://schemas.microsoft.com/office/powerpoint/2010/main" val="7954405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The value V1(start)=6 was computed using V0, whose detour value was zero. The greedy policy extracted from V1 recomputes action values using V1(detour)=8. Therefore safe already appears green in the demo at V1. This is consistent: the displayed Q values supply the next backup rather than explaining the previous maximizing choice. argmax may contain several actions; choose any maximizer. The demo keeps an old action if it remains tied within 1e−12; otherwise insertion order picks safe first. When risky is selected both stochastic branches remain possible, and both are highlighted rather than only the successful branch.</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p>
          <a:p>
            <a:r>
              <a:rPr lang="en-US">
                <a:latin typeface="Aptos" panose="020B0004020202020204" pitchFamily="34" charset="0"/>
              </a:rPr>
              <a:t>https://inst.eecs.berkeley.edu/~cs188/textbook/mdp/value-iteration.html</a:t>
            </a:r>
          </a:p>
          <a:p>
            <a:r>
              <a:rPr lang="en-US">
                <a:latin typeface="Aptos" panose="020B0004020202020204" pitchFamily="34" charset="0"/>
              </a:rPr>
              <a:t>https://inst.eecs.berkeley.edu/~cs188/textbook/mdp/policies-iteration.html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19</a:t>
            </a:fld>
            <a:endParaRPr lang="en-IL"/>
          </a:p>
        </p:txBody>
      </p:sp>
    </p:spTree>
    <p:extLst>
      <p:ext uri="{BB962C8B-B14F-4D97-AF65-F5344CB8AC3E}">
        <p14:creationId xmlns:p14="http://schemas.microsoft.com/office/powerpoint/2010/main" val="31129854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k indexes policy-iteration rounds. Evaluation holds πk fixed and solves its coupled equations. Improvement uses the resulting Vπk to choose maximizing actions at every nonterminal state. The demo additionally checks the Bellman optimality residual below 1e−10 and caps rounds at 1000. Preserve an existing action when tied for best, avoiding needless switches. Under finite discounted assumptions, improvement cannot reduce the policy value and stable greedy policies are optimal. The convergence proof is not part of the timed explanation. This is distinct from VI, which need not fully evaluate a policy between maximizing sweeps.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p>
          <a:p>
            <a:r>
              <a:rPr lang="en-US">
                <a:latin typeface="Aptos" panose="020B0004020202020204" pitchFamily="34" charset="0"/>
              </a:rPr>
              <a:t>https://inst.eecs.berkeley.edu/~cs188/textbook/mdp/value-iteration.html</a:t>
            </a:r>
          </a:p>
          <a:p>
            <a:r>
              <a:rPr lang="en-US">
                <a:latin typeface="Aptos" panose="020B0004020202020204" pitchFamily="34" charset="0"/>
              </a:rPr>
              <a:t>https://inst.eecs.berkeley.edu/~cs188/textbook/mdp/policies-iteration.html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20</a:t>
            </a:fld>
            <a:endParaRPr lang="en-IL"/>
          </a:p>
        </p:txBody>
      </p:sp>
    </p:spTree>
    <p:extLst>
      <p:ext uri="{BB962C8B-B14F-4D97-AF65-F5344CB8AC3E}">
        <p14:creationId xmlns:p14="http://schemas.microsoft.com/office/powerpoint/2010/main" val="13097166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Round 0: evaluate risky at start and finish at detour to get V=(6,8,0,0). Improvement compares safe=6.2 with risky=6 and selects safe. Round 1: evaluate safe to get V=(6.2,8,0,0). Improvement still chooses safe; residual is zero. Stop. The demo explicitly passes the risky initial policy for this instructive trace. Calling policy_iteration without an initial policy defaults to the first action in model order, which is already safe; do not claim it always begins risky. The initial dictionary is copied and not modified. In the lower-risk model risky is already optimal and the first round is stable.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p>
          <a:p>
            <a:r>
              <a:rPr lang="en-US">
                <a:latin typeface="Aptos" panose="020B0004020202020204" pitchFamily="34" charset="0"/>
              </a:rPr>
              <a:t>https://inst.eecs.berkeley.edu/~cs188/textbook/mdp/value-iteration.html</a:t>
            </a:r>
          </a:p>
          <a:p>
            <a:r>
              <a:rPr lang="en-US">
                <a:latin typeface="Aptos" panose="020B0004020202020204" pitchFamily="34" charset="0"/>
              </a:rPr>
              <a:t>https://inst.eecs.berkeley.edu/~cs188/textbook/mdp/policies-iteration.html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21</a:t>
            </a:fld>
            <a:endParaRPr lang="en-IL"/>
          </a:p>
        </p:txBody>
      </p:sp>
    </p:spTree>
    <p:extLst>
      <p:ext uri="{BB962C8B-B14F-4D97-AF65-F5344CB8AC3E}">
        <p14:creationId xmlns:p14="http://schemas.microsoft.com/office/powerpoint/2010/main" val="27223570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Policy evaluation holds the policy and model fixed; it solves or iteratively estimates Vπ. Value iteration holds the model fixed and repeatedly maximizes while updating values; it extracts a policy from those values. Policy iteration holds the model fixed and alternates complete policy evaluation with improvement, changing the policy explicitly. All three use the same transition/reward model and Bellman building blocks. Here the probabilities and rewards are supplied, so this is model-based planning. It does not learn them from data or use Q-learning. Ask students whether a formula with π weights but no max is evaluation, and whether a max using old V is VI.</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22</a:t>
            </a:fld>
            <a:endParaRPr lang="en-IL"/>
          </a:p>
        </p:txBody>
      </p:sp>
    </p:spTree>
    <p:extLst>
      <p:ext uri="{BB962C8B-B14F-4D97-AF65-F5344CB8AC3E}">
        <p14:creationId xmlns:p14="http://schemas.microsoft.com/office/powerpoint/2010/main" val="30230012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Changing the known failure probability changes the MDP, not the policy evaluation algorithm. The safe route rewards and transitions stay the same. At p=0.1 risky has expected return 8 and beats safe6.2. Ask students to predict the new action before selecting the scenario. The model still permits failure with probability 0.1; optimal expected return is not guaranteed delivery or worst-case safety. The numerical display rounds to two decimals, while solvers keep full precision. Threshold derivations for risk and discount are available on the final hidden slide.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23</a:t>
            </a:fld>
            <a:endParaRPr lang="en-IL"/>
          </a:p>
        </p:txBody>
      </p:sp>
    </p:spTree>
    <p:extLst>
      <p:ext uri="{BB962C8B-B14F-4D97-AF65-F5344CB8AC3E}">
        <p14:creationId xmlns:p14="http://schemas.microsoft.com/office/powerpoint/2010/main" val="12299506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5 minutes.</a:t>
            </a:r>
          </a:p>
          <a:p>
            <a:r>
              <a:rPr lang="en-US">
                <a:latin typeface="Aptos" panose="020B0004020202020204" pitchFamily="34" charset="0"/>
              </a:rPr>
              <a:t>Five-minute demo; no code walkthrough. Minute1 open at baseline p=0.2 and V0, ask for the first backup. Minute2 click Next backup twice, compare V1 and V2 with the hand table, and explain greedy green arrows using displayed V. Minute3 click Solve to show the unchanged sweep and risky→safe→safe PI trace. Minute4 predict p=0.1, select it (which resets to V0), then Solve and confirm risky wins. Minute5 Reset returns to V0 under the selected probability; choose 0.2 to restore the baseline. Both risky branches are possible when risky is selected. Use saved baseline/lower-risk figures if the GUI is unavailable. No ROS/Gazebo process is needed.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24</a:t>
            </a:fld>
            <a:endParaRPr lang="en-IL"/>
          </a:p>
        </p:txBody>
      </p:sp>
    </p:spTree>
    <p:extLst>
      <p:ext uri="{BB962C8B-B14F-4D97-AF65-F5344CB8AC3E}">
        <p14:creationId xmlns:p14="http://schemas.microsoft.com/office/powerpoint/2010/main" val="297060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5 minutes.</a:t>
            </a:r>
          </a:p>
          <a:p>
            <a:r>
              <a:rPr lang="en-US">
                <a:latin typeface="Aptos" panose="020B0004020202020204" pitchFamily="34" charset="0"/>
              </a:rPr>
              <a:t>Reserve five minutes for questions and recap. Answers: P gives next-state probabilities conditional on state/action; expectation averages outcomes the robot cannot choose; max selects a controllable action. Terminal value is zero because rewards were paid on arrival and future stay rewards are zero. V1 lacks propagation of detour8 into start until the next synchronous sweep. VI uses repeated maximizing backups; PI fully evaluates a policy and then improves it. Connect to HW3 Bellman equations and value/policy iteration without inventing additional requirements. Ask students to write one state equation, identify its reward convention, and distinguish evaluation from optimization.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25</a:t>
            </a:fld>
            <a:endParaRPr lang="en-IL"/>
          </a:p>
        </p:txBody>
      </p:sp>
    </p:spTree>
    <p:extLst>
      <p:ext uri="{BB962C8B-B14F-4D97-AF65-F5344CB8AC3E}">
        <p14:creationId xmlns:p14="http://schemas.microsoft.com/office/powerpoint/2010/main" val="24824678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Optional proof: |max f−max g|≤max|f−g|. For each action, reward terms cancel in the difference; triangle inequality bounds γ times the probability-weighted difference in successor values. Since probabilities are nonnegative and sum to1, this is at most γ||V−W||∞. Taking the maximum over states proves contraction. Iterating gives the displayed geometric error bound toward the unique fixed point. Finite states/actions and bounded rewards make the value vector finite for γ&lt;1. The gamma0 case reaches the immediate-reward solution in one update. Do not transfer this result unqualified to gamma1; the demo rejects it.</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p>
          <a:p>
            <a:r>
              <a:rPr lang="en-US">
                <a:latin typeface="Aptos" panose="020B0004020202020204" pitchFamily="34" charset="0"/>
              </a:rPr>
              <a:t>https://inst.eecs.berkeley.edu/~cs188/textbook/mdp/value-iteration.html</a:t>
            </a:r>
          </a:p>
          <a:p>
            <a:r>
              <a:rPr lang="en-US">
                <a:latin typeface="Aptos" panose="020B0004020202020204" pitchFamily="34" charset="0"/>
              </a:rPr>
              <a:t>https://inst.eecs.berkeley.edu/~cs188/textbook/mdp/policies-iteration.html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26</a:t>
            </a:fld>
            <a:endParaRPr lang="en-IL"/>
          </a:p>
        </p:txBody>
      </p:sp>
    </p:spTree>
    <p:extLst>
      <p:ext uri="{BB962C8B-B14F-4D97-AF65-F5344CB8AC3E}">
        <p14:creationId xmlns:p14="http://schemas.microsoft.com/office/powerpoint/2010/main" val="21570029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0 minutes.</a:t>
            </a:r>
          </a:p>
          <a:p>
            <a:r>
              <a:rPr lang="en-IL">
                <a:latin typeface="Aptos" panose="020B0004020202020204" pitchFamily="34" charset="0"/>
              </a:rPr>
              <a:t>Define infinity norm as maximum absolute component. Residual bound follows ||V−V*||≤||V−TV||+||TV−TV*||≤</a:t>
            </a:r>
            <a:r>
              <a:rPr lang="el-GR">
                <a:latin typeface="Aptos" panose="020B0004020202020204" pitchFamily="34" charset="0"/>
              </a:rPr>
              <a:t>δ+γ||</a:t>
            </a:r>
            <a:r>
              <a:rPr lang="en-IL">
                <a:latin typeface="Aptos" panose="020B0004020202020204" pitchFamily="34" charset="0"/>
              </a:rPr>
              <a:t>V−V*||. For a synchronous update V_(k+1)=TV_k, </a:t>
            </a:r>
            <a:r>
              <a:rPr lang="el-GR">
                <a:latin typeface="Aptos" panose="020B0004020202020204" pitchFamily="34" charset="0"/>
              </a:rPr>
              <a:t>Δ_</a:t>
            </a:r>
            <a:r>
              <a:rPr lang="en-IL">
                <a:latin typeface="Aptos" panose="020B0004020202020204" pitchFamily="34" charset="0"/>
              </a:rPr>
              <a:t>k is the residual at the old V_k; applying contraction yields the bound </a:t>
            </a:r>
            <a:r>
              <a:rPr lang="el-GR">
                <a:latin typeface="Aptos" panose="020B0004020202020204" pitchFamily="34" charset="0"/>
              </a:rPr>
              <a:t>γΔ_</a:t>
            </a:r>
            <a:r>
              <a:rPr lang="en-IL">
                <a:latin typeface="Aptos" panose="020B0004020202020204" pitchFamily="34" charset="0"/>
              </a:rPr>
              <a:t>k/(1−</a:t>
            </a:r>
            <a:r>
              <a:rPr lang="el-GR">
                <a:latin typeface="Aptos" panose="020B0004020202020204" pitchFamily="34" charset="0"/>
              </a:rPr>
              <a:t>γ) </a:t>
            </a:r>
            <a:r>
              <a:rPr lang="en-IL">
                <a:latin typeface="Aptos" panose="020B0004020202020204" pitchFamily="34" charset="0"/>
              </a:rPr>
              <a:t>for the returned new vector. At gamma.9 and </a:t>
            </a:r>
            <a:r>
              <a:rPr lang="el-GR">
                <a:latin typeface="Aptos" panose="020B0004020202020204" pitchFamily="34" charset="0"/>
              </a:rPr>
              <a:t>Δ&lt;1</a:t>
            </a:r>
            <a:r>
              <a:rPr lang="en-IL">
                <a:latin typeface="Aptos" panose="020B0004020202020204" pitchFamily="34" charset="0"/>
              </a:rPr>
              <a:t>e−10, the exact-arithmetic bound for the new vector is &lt;9e−10. Floating-point implementation adds numerical considerations. VI stops on sweep change; PI checks optimality residual and unchanged policy. A value-error bound does not automatically promise an exact greedy action near a tie or physical safety.</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https://www.cs.cmu.edu/~15281-s25/coursenotes/mdps/index.html</a:t>
            </a:r>
          </a:p>
          <a:p>
            <a:r>
              <a:rPr lang="en-IL">
                <a:latin typeface="Aptos" panose="020B0004020202020204" pitchFamily="34" charset="0"/>
              </a:rPr>
              <a:t>Local: demo/model.py, demo/demo.py, demo/test_model.py, demo/README.md, and TEACHING_NOTES.md.</a:t>
            </a:r>
          </a:p>
          <a:p>
            <a:r>
              <a:rPr lang="en-IL">
                <a:latin typeface="Aptos" panose="020B0004020202020204" pitchFamily="34" charset="0"/>
              </a:rPr>
              <a:t>Existing printed-slide references to Class7-MDPs.pdf: definitions/policies 7–15; return/value 19–21; evaluation 25–29; Q/optimality 30–33; VI 41–44; PI 54–55. The PDF was not found locally and was not reviewed.</a:t>
            </a:r>
          </a:p>
          <a:p>
            <a:r>
              <a:rPr lang="en-IL">
                <a:latin typeface="Aptos" panose="020B0004020202020204" pitchFamily="34" charset="0"/>
              </a:rPr>
              <a:t>https://inst.eecs.berkeley.edu/~cs188/textbook/mdp/value-iteration.html</a:t>
            </a:r>
          </a:p>
          <a:p>
            <a:r>
              <a:rPr lang="en-IL">
                <a:latin typeface="Aptos" panose="020B0004020202020204" pitchFamily="34" charset="0"/>
              </a:rPr>
              <a:t>https://inst.eecs.berkeley.edu/~cs188/textbook/mdp/policies-iteration.html</a:t>
            </a:r>
          </a:p>
        </p:txBody>
      </p:sp>
      <p:sp>
        <p:nvSpPr>
          <p:cNvPr id="4" name="Slide Number Placeholder 3"/>
          <p:cNvSpPr>
            <a:spLocks noGrp="1"/>
          </p:cNvSpPr>
          <p:nvPr>
            <p:ph type="sldNum" sz="quarter" idx="5"/>
          </p:nvPr>
        </p:nvSpPr>
        <p:spPr/>
        <p:txBody>
          <a:bodyPr/>
          <a:lstStyle/>
          <a:p>
            <a:fld id="{9BC85E58-D858-4D71-8E82-D8C48D8E25AF}" type="slidenum">
              <a:rPr lang="en-IL" smtClean="0"/>
              <a:t>27</a:t>
            </a:fld>
            <a:endParaRPr lang="en-IL"/>
          </a:p>
        </p:txBody>
      </p:sp>
    </p:spTree>
    <p:extLst>
      <p:ext uri="{BB962C8B-B14F-4D97-AF65-F5344CB8AC3E}">
        <p14:creationId xmlns:p14="http://schemas.microsoft.com/office/powerpoint/2010/main" val="2799647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This policy randomizes the initial action independently according to the current state. At detour it always finishes, and at terminals always stays. The nested expectation distinguishes π action probabilities0.5 from P risky outcome probabilities0.8/0.2. Matrix over [start,detour] has Pπ=[[0,0.5],[0,0]] and Rπ=[2.5,8]^T; 2.5 comes from 0.5(−1)+0.5(6). Solve Vstart=2.5+0.9×0.5×8=6.1. This example is supplemental mathematics; the Python demo policy dictionaries and evaluator support deterministic choices only. Do not imply the UI implements randomized policies.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28</a:t>
            </a:fld>
            <a:endParaRPr lang="en-IL"/>
          </a:p>
        </p:txBody>
      </p:sp>
    </p:spTree>
    <p:extLst>
      <p:ext uri="{BB962C8B-B14F-4D97-AF65-F5344CB8AC3E}">
        <p14:creationId xmlns:p14="http://schemas.microsoft.com/office/powerpoint/2010/main" val="37778277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This continuing model has no terminal states and gives reward1 on every transition. The geometric discounted sum is finite because gamma.9&lt;1. Matrix evaluation solves the scalar system (1−gamma)V=1 immediately; VI approaches10. Expand V_k=sum_(i=0)^(k−1)0.9^i and apply the geometric-series formula. The model test suite includes this cyclic evaluation example. It shows why the delivery model stabilizing after two informative sweeps is not a general iteration bound. The solver cap and tolerance are necessary numerical controls; there is no rollout learning involved.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29</a:t>
            </a:fld>
            <a:endParaRPr lang="en-IL"/>
          </a:p>
        </p:txBody>
      </p:sp>
    </p:spTree>
    <p:extLst>
      <p:ext uri="{BB962C8B-B14F-4D97-AF65-F5344CB8AC3E}">
        <p14:creationId xmlns:p14="http://schemas.microsoft.com/office/powerpoint/2010/main" val="25589013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At gamma.9 choose safe for p&gt;.19 and risky for p&lt;.19. At p.2 choose safe for gamma&gt;.875 and risky for gamma&lt;.875 within [0,1). These inequalities compare designated actions in this exact model, not universal robot safety thresholds. At equality either policy is optimal; the demo preserves a current tied action within tolerance. The UI exposes only failure probabilities.2 and.1; gamma and other probabilities are algebraic extensions, not new controls. Reward preferences and discount can change the chosen action even with the same physical outcome probabilities.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https://www.cs.cmu.edu/~15281-s25/coursenotes/mdps/index.html</a:t>
            </a:r>
          </a:p>
          <a:p>
            <a:r>
              <a:rPr lang="en-US">
                <a:latin typeface="Aptos" panose="020B0004020202020204" pitchFamily="34" charset="0"/>
              </a:rPr>
              <a:t>Local: demo/model.py, demo/demo.py, demo/test_model.py, demo/README.md, and TEACHING_NOTES.md.</a:t>
            </a:r>
          </a:p>
          <a:p>
            <a:r>
              <a:rPr lang="en-US">
                <a:latin typeface="Aptos" panose="020B0004020202020204" pitchFamily="34" charset="0"/>
              </a:rPr>
              <a:t>Existing printed-slide references to Class7-MDPs.pdf: definitions/policies 7–15; return/value 19–21; evaluation 25–29; Q/optimality 30–33; VI 41–44; PI 54–55. The PDF was not found locally and was not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9BC85E58-D858-4D71-8E82-D8C48D8E25AF}" type="slidenum">
              <a:rPr lang="en-IL" smtClean="0"/>
              <a:t>30</a:t>
            </a:fld>
            <a:endParaRPr lang="en-IL"/>
          </a:p>
        </p:txBody>
      </p:sp>
    </p:spTree>
    <p:extLst>
      <p:ext uri="{BB962C8B-B14F-4D97-AF65-F5344CB8AC3E}">
        <p14:creationId xmlns:p14="http://schemas.microsoft.com/office/powerpoint/2010/main" val="2760805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E2FF9-1FA4-5CAB-0AEB-96F497D54B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B3DBA89F-0BB1-C928-D19C-B35938FDFA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BBC5CE7A-64CB-9DB2-F49F-59F609B7B8EE}"/>
              </a:ext>
            </a:extLst>
          </p:cNvPr>
          <p:cNvSpPr>
            <a:spLocks noGrp="1"/>
          </p:cNvSpPr>
          <p:nvPr>
            <p:ph type="dt" sz="half" idx="10"/>
          </p:nvPr>
        </p:nvSpPr>
        <p:spPr/>
        <p:txBody>
          <a:bodyPr/>
          <a:lstStyle/>
          <a:p>
            <a:fld id="{53239998-F923-4990-AF0C-13C6A11E0BA4}" type="datetimeFigureOut">
              <a:rPr lang="en-IL" smtClean="0"/>
              <a:t>05/10/2026</a:t>
            </a:fld>
            <a:endParaRPr lang="en-IL"/>
          </a:p>
        </p:txBody>
      </p:sp>
      <p:sp>
        <p:nvSpPr>
          <p:cNvPr id="5" name="Footer Placeholder 4">
            <a:extLst>
              <a:ext uri="{FF2B5EF4-FFF2-40B4-BE49-F238E27FC236}">
                <a16:creationId xmlns:a16="http://schemas.microsoft.com/office/drawing/2014/main" id="{34396B5D-B3C1-0CDF-42AE-BA8DE995120C}"/>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BE8D1F3-8EA1-725A-FF79-9DD576F202CF}"/>
              </a:ext>
            </a:extLst>
          </p:cNvPr>
          <p:cNvSpPr>
            <a:spLocks noGrp="1"/>
          </p:cNvSpPr>
          <p:nvPr>
            <p:ph type="sldNum" sz="quarter" idx="12"/>
          </p:nvPr>
        </p:nvSpPr>
        <p:spPr/>
        <p:txBody>
          <a:bodyPr/>
          <a:lstStyle/>
          <a:p>
            <a:fld id="{E30A34B5-1B62-4B91-A56E-560242E83AC4}" type="slidenum">
              <a:rPr lang="en-IL" smtClean="0"/>
              <a:t>‹#›</a:t>
            </a:fld>
            <a:endParaRPr lang="en-IL"/>
          </a:p>
        </p:txBody>
      </p:sp>
    </p:spTree>
    <p:extLst>
      <p:ext uri="{BB962C8B-B14F-4D97-AF65-F5344CB8AC3E}">
        <p14:creationId xmlns:p14="http://schemas.microsoft.com/office/powerpoint/2010/main" val="3275249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71034-BC99-E75A-423E-3FA0B3E8CE0A}"/>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97004D3-F618-F2A4-0F95-AF750E8699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320EEB0-E4A3-4B4A-5692-92551D5F6DB3}"/>
              </a:ext>
            </a:extLst>
          </p:cNvPr>
          <p:cNvSpPr>
            <a:spLocks noGrp="1"/>
          </p:cNvSpPr>
          <p:nvPr>
            <p:ph type="dt" sz="half" idx="10"/>
          </p:nvPr>
        </p:nvSpPr>
        <p:spPr/>
        <p:txBody>
          <a:bodyPr/>
          <a:lstStyle/>
          <a:p>
            <a:fld id="{53239998-F923-4990-AF0C-13C6A11E0BA4}" type="datetimeFigureOut">
              <a:rPr lang="en-IL" smtClean="0"/>
              <a:t>05/10/2026</a:t>
            </a:fld>
            <a:endParaRPr lang="en-IL"/>
          </a:p>
        </p:txBody>
      </p:sp>
      <p:sp>
        <p:nvSpPr>
          <p:cNvPr id="5" name="Footer Placeholder 4">
            <a:extLst>
              <a:ext uri="{FF2B5EF4-FFF2-40B4-BE49-F238E27FC236}">
                <a16:creationId xmlns:a16="http://schemas.microsoft.com/office/drawing/2014/main" id="{9DEC737F-BC6C-754B-B615-48FF650A0C26}"/>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CE90EBC-2720-24C1-2E37-167F4C1BAFB3}"/>
              </a:ext>
            </a:extLst>
          </p:cNvPr>
          <p:cNvSpPr>
            <a:spLocks noGrp="1"/>
          </p:cNvSpPr>
          <p:nvPr>
            <p:ph type="sldNum" sz="quarter" idx="12"/>
          </p:nvPr>
        </p:nvSpPr>
        <p:spPr/>
        <p:txBody>
          <a:bodyPr/>
          <a:lstStyle/>
          <a:p>
            <a:fld id="{E30A34B5-1B62-4B91-A56E-560242E83AC4}" type="slidenum">
              <a:rPr lang="en-IL" smtClean="0"/>
              <a:t>‹#›</a:t>
            </a:fld>
            <a:endParaRPr lang="en-IL"/>
          </a:p>
        </p:txBody>
      </p:sp>
    </p:spTree>
    <p:extLst>
      <p:ext uri="{BB962C8B-B14F-4D97-AF65-F5344CB8AC3E}">
        <p14:creationId xmlns:p14="http://schemas.microsoft.com/office/powerpoint/2010/main" val="3670220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F9C7-B35F-2B4D-E172-21BE80C92A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A32A8DD6-D997-31AE-029C-7C45D5D7F8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2ED9BC-33A5-F3CA-36ED-FA5E84F5208E}"/>
              </a:ext>
            </a:extLst>
          </p:cNvPr>
          <p:cNvSpPr>
            <a:spLocks noGrp="1"/>
          </p:cNvSpPr>
          <p:nvPr>
            <p:ph type="dt" sz="half" idx="10"/>
          </p:nvPr>
        </p:nvSpPr>
        <p:spPr/>
        <p:txBody>
          <a:bodyPr/>
          <a:lstStyle/>
          <a:p>
            <a:fld id="{53239998-F923-4990-AF0C-13C6A11E0BA4}" type="datetimeFigureOut">
              <a:rPr lang="en-IL" smtClean="0"/>
              <a:t>05/10/2026</a:t>
            </a:fld>
            <a:endParaRPr lang="en-IL"/>
          </a:p>
        </p:txBody>
      </p:sp>
      <p:sp>
        <p:nvSpPr>
          <p:cNvPr id="5" name="Footer Placeholder 4">
            <a:extLst>
              <a:ext uri="{FF2B5EF4-FFF2-40B4-BE49-F238E27FC236}">
                <a16:creationId xmlns:a16="http://schemas.microsoft.com/office/drawing/2014/main" id="{22BFF735-46C2-40AE-DDAB-CF580D57439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FD923865-8C68-6FAA-D59D-4D7CADFA883E}"/>
              </a:ext>
            </a:extLst>
          </p:cNvPr>
          <p:cNvSpPr>
            <a:spLocks noGrp="1"/>
          </p:cNvSpPr>
          <p:nvPr>
            <p:ph type="sldNum" sz="quarter" idx="12"/>
          </p:nvPr>
        </p:nvSpPr>
        <p:spPr/>
        <p:txBody>
          <a:bodyPr/>
          <a:lstStyle/>
          <a:p>
            <a:fld id="{E30A34B5-1B62-4B91-A56E-560242E83AC4}" type="slidenum">
              <a:rPr lang="en-IL" smtClean="0"/>
              <a:t>‹#›</a:t>
            </a:fld>
            <a:endParaRPr lang="en-IL"/>
          </a:p>
        </p:txBody>
      </p:sp>
    </p:spTree>
    <p:extLst>
      <p:ext uri="{BB962C8B-B14F-4D97-AF65-F5344CB8AC3E}">
        <p14:creationId xmlns:p14="http://schemas.microsoft.com/office/powerpoint/2010/main" val="2481341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B3107-F93B-4FE9-0A32-FF13847D0998}"/>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36ACF7A2-0CDA-74CB-C936-7E14A56DF3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00383A2E-9B1B-5EAF-08F4-E4BADD2796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A247638-6CF0-A086-9125-69CF5F747CC8}"/>
              </a:ext>
            </a:extLst>
          </p:cNvPr>
          <p:cNvSpPr>
            <a:spLocks noGrp="1"/>
          </p:cNvSpPr>
          <p:nvPr>
            <p:ph type="dt" sz="half" idx="10"/>
          </p:nvPr>
        </p:nvSpPr>
        <p:spPr/>
        <p:txBody>
          <a:bodyPr/>
          <a:lstStyle/>
          <a:p>
            <a:fld id="{53239998-F923-4990-AF0C-13C6A11E0BA4}" type="datetimeFigureOut">
              <a:rPr lang="en-IL" smtClean="0"/>
              <a:t>05/10/2026</a:t>
            </a:fld>
            <a:endParaRPr lang="en-IL"/>
          </a:p>
        </p:txBody>
      </p:sp>
      <p:sp>
        <p:nvSpPr>
          <p:cNvPr id="6" name="Footer Placeholder 5">
            <a:extLst>
              <a:ext uri="{FF2B5EF4-FFF2-40B4-BE49-F238E27FC236}">
                <a16:creationId xmlns:a16="http://schemas.microsoft.com/office/drawing/2014/main" id="{FFBF6E26-5A71-2686-A369-193B07AEE351}"/>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725C2076-EDF3-75E0-9376-22A88DC7C0A2}"/>
              </a:ext>
            </a:extLst>
          </p:cNvPr>
          <p:cNvSpPr>
            <a:spLocks noGrp="1"/>
          </p:cNvSpPr>
          <p:nvPr>
            <p:ph type="sldNum" sz="quarter" idx="12"/>
          </p:nvPr>
        </p:nvSpPr>
        <p:spPr/>
        <p:txBody>
          <a:bodyPr/>
          <a:lstStyle/>
          <a:p>
            <a:fld id="{E30A34B5-1B62-4B91-A56E-560242E83AC4}" type="slidenum">
              <a:rPr lang="en-IL" smtClean="0"/>
              <a:t>‹#›</a:t>
            </a:fld>
            <a:endParaRPr lang="en-IL"/>
          </a:p>
        </p:txBody>
      </p:sp>
    </p:spTree>
    <p:extLst>
      <p:ext uri="{BB962C8B-B14F-4D97-AF65-F5344CB8AC3E}">
        <p14:creationId xmlns:p14="http://schemas.microsoft.com/office/powerpoint/2010/main" val="3605224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F7AC8-7330-F210-21F0-90706DA9209A}"/>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9078C75F-E93D-9220-DA87-7C967D7384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1E0CA9-078A-13D9-A00B-8CF1F33B4E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C5DA9ECF-EF08-1C79-D5F4-09C9160E41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035DC6-0812-C62F-0867-C081ECA60B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DE79E828-93FA-6F42-CDE0-32EAF3D2B219}"/>
              </a:ext>
            </a:extLst>
          </p:cNvPr>
          <p:cNvSpPr>
            <a:spLocks noGrp="1"/>
          </p:cNvSpPr>
          <p:nvPr>
            <p:ph type="dt" sz="half" idx="10"/>
          </p:nvPr>
        </p:nvSpPr>
        <p:spPr/>
        <p:txBody>
          <a:bodyPr/>
          <a:lstStyle/>
          <a:p>
            <a:fld id="{53239998-F923-4990-AF0C-13C6A11E0BA4}" type="datetimeFigureOut">
              <a:rPr lang="en-IL" smtClean="0"/>
              <a:t>05/10/2026</a:t>
            </a:fld>
            <a:endParaRPr lang="en-IL"/>
          </a:p>
        </p:txBody>
      </p:sp>
      <p:sp>
        <p:nvSpPr>
          <p:cNvPr id="8" name="Footer Placeholder 7">
            <a:extLst>
              <a:ext uri="{FF2B5EF4-FFF2-40B4-BE49-F238E27FC236}">
                <a16:creationId xmlns:a16="http://schemas.microsoft.com/office/drawing/2014/main" id="{C820EBE2-61C5-329A-F82E-9E97FE44C641}"/>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965820C2-EE19-0ABA-87D7-BE12A3AC5EE6}"/>
              </a:ext>
            </a:extLst>
          </p:cNvPr>
          <p:cNvSpPr>
            <a:spLocks noGrp="1"/>
          </p:cNvSpPr>
          <p:nvPr>
            <p:ph type="sldNum" sz="quarter" idx="12"/>
          </p:nvPr>
        </p:nvSpPr>
        <p:spPr/>
        <p:txBody>
          <a:bodyPr/>
          <a:lstStyle/>
          <a:p>
            <a:fld id="{E30A34B5-1B62-4B91-A56E-560242E83AC4}" type="slidenum">
              <a:rPr lang="en-IL" smtClean="0"/>
              <a:t>‹#›</a:t>
            </a:fld>
            <a:endParaRPr lang="en-IL"/>
          </a:p>
        </p:txBody>
      </p:sp>
    </p:spTree>
    <p:extLst>
      <p:ext uri="{BB962C8B-B14F-4D97-AF65-F5344CB8AC3E}">
        <p14:creationId xmlns:p14="http://schemas.microsoft.com/office/powerpoint/2010/main" val="3167698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2B4D4-56BE-C209-E752-7BF2BC269557}"/>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6DB4D63F-92EF-0747-B02D-4FA4A3524D83}"/>
              </a:ext>
            </a:extLst>
          </p:cNvPr>
          <p:cNvSpPr>
            <a:spLocks noGrp="1"/>
          </p:cNvSpPr>
          <p:nvPr>
            <p:ph type="dt" sz="half" idx="10"/>
          </p:nvPr>
        </p:nvSpPr>
        <p:spPr/>
        <p:txBody>
          <a:bodyPr/>
          <a:lstStyle/>
          <a:p>
            <a:fld id="{53239998-F923-4990-AF0C-13C6A11E0BA4}" type="datetimeFigureOut">
              <a:rPr lang="en-IL" smtClean="0"/>
              <a:t>05/10/2026</a:t>
            </a:fld>
            <a:endParaRPr lang="en-IL"/>
          </a:p>
        </p:txBody>
      </p:sp>
      <p:sp>
        <p:nvSpPr>
          <p:cNvPr id="4" name="Footer Placeholder 3">
            <a:extLst>
              <a:ext uri="{FF2B5EF4-FFF2-40B4-BE49-F238E27FC236}">
                <a16:creationId xmlns:a16="http://schemas.microsoft.com/office/drawing/2014/main" id="{0B1303FD-294B-4832-5A67-A2B211662309}"/>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BFCC79C0-96AF-1E0B-143B-4B04A3DA231F}"/>
              </a:ext>
            </a:extLst>
          </p:cNvPr>
          <p:cNvSpPr>
            <a:spLocks noGrp="1"/>
          </p:cNvSpPr>
          <p:nvPr>
            <p:ph type="sldNum" sz="quarter" idx="12"/>
          </p:nvPr>
        </p:nvSpPr>
        <p:spPr/>
        <p:txBody>
          <a:bodyPr/>
          <a:lstStyle/>
          <a:p>
            <a:fld id="{E30A34B5-1B62-4B91-A56E-560242E83AC4}" type="slidenum">
              <a:rPr lang="en-IL" smtClean="0"/>
              <a:t>‹#›</a:t>
            </a:fld>
            <a:endParaRPr lang="en-IL"/>
          </a:p>
        </p:txBody>
      </p:sp>
    </p:spTree>
    <p:extLst>
      <p:ext uri="{BB962C8B-B14F-4D97-AF65-F5344CB8AC3E}">
        <p14:creationId xmlns:p14="http://schemas.microsoft.com/office/powerpoint/2010/main" val="2685986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0C2F80-8AB7-8B15-3023-2FE5FA99CF65}"/>
              </a:ext>
            </a:extLst>
          </p:cNvPr>
          <p:cNvSpPr>
            <a:spLocks noGrp="1"/>
          </p:cNvSpPr>
          <p:nvPr>
            <p:ph type="dt" sz="half" idx="10"/>
          </p:nvPr>
        </p:nvSpPr>
        <p:spPr/>
        <p:txBody>
          <a:bodyPr/>
          <a:lstStyle/>
          <a:p>
            <a:fld id="{53239998-F923-4990-AF0C-13C6A11E0BA4}" type="datetimeFigureOut">
              <a:rPr lang="en-IL" smtClean="0"/>
              <a:t>05/10/2026</a:t>
            </a:fld>
            <a:endParaRPr lang="en-IL"/>
          </a:p>
        </p:txBody>
      </p:sp>
      <p:sp>
        <p:nvSpPr>
          <p:cNvPr id="3" name="Footer Placeholder 2">
            <a:extLst>
              <a:ext uri="{FF2B5EF4-FFF2-40B4-BE49-F238E27FC236}">
                <a16:creationId xmlns:a16="http://schemas.microsoft.com/office/drawing/2014/main" id="{322FD2D7-5681-A38D-32A0-2C4A31F87A01}"/>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7FEF0058-616F-0747-81D8-AB1D041C928D}"/>
              </a:ext>
            </a:extLst>
          </p:cNvPr>
          <p:cNvSpPr>
            <a:spLocks noGrp="1"/>
          </p:cNvSpPr>
          <p:nvPr>
            <p:ph type="sldNum" sz="quarter" idx="12"/>
          </p:nvPr>
        </p:nvSpPr>
        <p:spPr/>
        <p:txBody>
          <a:bodyPr/>
          <a:lstStyle/>
          <a:p>
            <a:fld id="{E30A34B5-1B62-4B91-A56E-560242E83AC4}" type="slidenum">
              <a:rPr lang="en-IL" smtClean="0"/>
              <a:t>‹#›</a:t>
            </a:fld>
            <a:endParaRPr lang="en-IL"/>
          </a:p>
        </p:txBody>
      </p:sp>
    </p:spTree>
    <p:extLst>
      <p:ext uri="{BB962C8B-B14F-4D97-AF65-F5344CB8AC3E}">
        <p14:creationId xmlns:p14="http://schemas.microsoft.com/office/powerpoint/2010/main" val="1908227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3ECAB-F54E-4D86-06BD-20CD66C692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8CFB2007-8BFF-7392-A415-CC819D4960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0DBAF632-C3DB-6668-DE60-F2483663F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330DA1-8D3E-457F-519A-10D0AF28DE51}"/>
              </a:ext>
            </a:extLst>
          </p:cNvPr>
          <p:cNvSpPr>
            <a:spLocks noGrp="1"/>
          </p:cNvSpPr>
          <p:nvPr>
            <p:ph type="dt" sz="half" idx="10"/>
          </p:nvPr>
        </p:nvSpPr>
        <p:spPr/>
        <p:txBody>
          <a:bodyPr/>
          <a:lstStyle/>
          <a:p>
            <a:fld id="{53239998-F923-4990-AF0C-13C6A11E0BA4}" type="datetimeFigureOut">
              <a:rPr lang="en-IL" smtClean="0"/>
              <a:t>05/10/2026</a:t>
            </a:fld>
            <a:endParaRPr lang="en-IL"/>
          </a:p>
        </p:txBody>
      </p:sp>
      <p:sp>
        <p:nvSpPr>
          <p:cNvPr id="6" name="Footer Placeholder 5">
            <a:extLst>
              <a:ext uri="{FF2B5EF4-FFF2-40B4-BE49-F238E27FC236}">
                <a16:creationId xmlns:a16="http://schemas.microsoft.com/office/drawing/2014/main" id="{E44608D7-5E39-47C0-D2EB-A879108A39B1}"/>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AB5E8CF8-A788-68DB-B209-13684F3D04CB}"/>
              </a:ext>
            </a:extLst>
          </p:cNvPr>
          <p:cNvSpPr>
            <a:spLocks noGrp="1"/>
          </p:cNvSpPr>
          <p:nvPr>
            <p:ph type="sldNum" sz="quarter" idx="12"/>
          </p:nvPr>
        </p:nvSpPr>
        <p:spPr/>
        <p:txBody>
          <a:bodyPr/>
          <a:lstStyle/>
          <a:p>
            <a:fld id="{E30A34B5-1B62-4B91-A56E-560242E83AC4}" type="slidenum">
              <a:rPr lang="en-IL" smtClean="0"/>
              <a:t>‹#›</a:t>
            </a:fld>
            <a:endParaRPr lang="en-IL"/>
          </a:p>
        </p:txBody>
      </p:sp>
    </p:spTree>
    <p:extLst>
      <p:ext uri="{BB962C8B-B14F-4D97-AF65-F5344CB8AC3E}">
        <p14:creationId xmlns:p14="http://schemas.microsoft.com/office/powerpoint/2010/main" val="18930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F1B13-527A-1A23-B375-A224100A16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E4162E61-EAD6-8FC0-F100-B7285A01E19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8CCBB48C-78FD-CFAB-739E-2836D9B48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06CEAA-CDFB-8331-7B16-778217EAAEA8}"/>
              </a:ext>
            </a:extLst>
          </p:cNvPr>
          <p:cNvSpPr>
            <a:spLocks noGrp="1"/>
          </p:cNvSpPr>
          <p:nvPr>
            <p:ph type="dt" sz="half" idx="10"/>
          </p:nvPr>
        </p:nvSpPr>
        <p:spPr/>
        <p:txBody>
          <a:bodyPr/>
          <a:lstStyle/>
          <a:p>
            <a:fld id="{53239998-F923-4990-AF0C-13C6A11E0BA4}" type="datetimeFigureOut">
              <a:rPr lang="en-IL" smtClean="0"/>
              <a:t>05/10/2026</a:t>
            </a:fld>
            <a:endParaRPr lang="en-IL"/>
          </a:p>
        </p:txBody>
      </p:sp>
      <p:sp>
        <p:nvSpPr>
          <p:cNvPr id="6" name="Footer Placeholder 5">
            <a:extLst>
              <a:ext uri="{FF2B5EF4-FFF2-40B4-BE49-F238E27FC236}">
                <a16:creationId xmlns:a16="http://schemas.microsoft.com/office/drawing/2014/main" id="{1E06A27D-D24C-67B9-0E82-87925E6ECA2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A37A8F7-D809-CF6B-29E5-FEC0FD4E03BF}"/>
              </a:ext>
            </a:extLst>
          </p:cNvPr>
          <p:cNvSpPr>
            <a:spLocks noGrp="1"/>
          </p:cNvSpPr>
          <p:nvPr>
            <p:ph type="sldNum" sz="quarter" idx="12"/>
          </p:nvPr>
        </p:nvSpPr>
        <p:spPr/>
        <p:txBody>
          <a:bodyPr/>
          <a:lstStyle/>
          <a:p>
            <a:fld id="{E30A34B5-1B62-4B91-A56E-560242E83AC4}" type="slidenum">
              <a:rPr lang="en-IL" smtClean="0"/>
              <a:t>‹#›</a:t>
            </a:fld>
            <a:endParaRPr lang="en-IL"/>
          </a:p>
        </p:txBody>
      </p:sp>
    </p:spTree>
    <p:extLst>
      <p:ext uri="{BB962C8B-B14F-4D97-AF65-F5344CB8AC3E}">
        <p14:creationId xmlns:p14="http://schemas.microsoft.com/office/powerpoint/2010/main" val="3461661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F5902-A0D7-DA2D-3BAF-7F7D78366147}"/>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C57C485D-FB8E-F8EF-0027-90437639F4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DD9AB1E-3B2A-49DE-E899-DEE16358A5CC}"/>
              </a:ext>
            </a:extLst>
          </p:cNvPr>
          <p:cNvSpPr>
            <a:spLocks noGrp="1"/>
          </p:cNvSpPr>
          <p:nvPr>
            <p:ph type="dt" sz="half" idx="10"/>
          </p:nvPr>
        </p:nvSpPr>
        <p:spPr/>
        <p:txBody>
          <a:bodyPr/>
          <a:lstStyle/>
          <a:p>
            <a:fld id="{53239998-F923-4990-AF0C-13C6A11E0BA4}" type="datetimeFigureOut">
              <a:rPr lang="en-IL" smtClean="0"/>
              <a:t>05/10/2026</a:t>
            </a:fld>
            <a:endParaRPr lang="en-IL"/>
          </a:p>
        </p:txBody>
      </p:sp>
      <p:sp>
        <p:nvSpPr>
          <p:cNvPr id="5" name="Footer Placeholder 4">
            <a:extLst>
              <a:ext uri="{FF2B5EF4-FFF2-40B4-BE49-F238E27FC236}">
                <a16:creationId xmlns:a16="http://schemas.microsoft.com/office/drawing/2014/main" id="{4EB09195-8920-B5F0-89A2-30EAD228D4B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B39C85A-4B7B-75C6-F7A1-91E3DE2C8ADE}"/>
              </a:ext>
            </a:extLst>
          </p:cNvPr>
          <p:cNvSpPr>
            <a:spLocks noGrp="1"/>
          </p:cNvSpPr>
          <p:nvPr>
            <p:ph type="sldNum" sz="quarter" idx="12"/>
          </p:nvPr>
        </p:nvSpPr>
        <p:spPr/>
        <p:txBody>
          <a:bodyPr/>
          <a:lstStyle/>
          <a:p>
            <a:fld id="{E30A34B5-1B62-4B91-A56E-560242E83AC4}" type="slidenum">
              <a:rPr lang="en-IL" smtClean="0"/>
              <a:t>‹#›</a:t>
            </a:fld>
            <a:endParaRPr lang="en-IL"/>
          </a:p>
        </p:txBody>
      </p:sp>
    </p:spTree>
    <p:extLst>
      <p:ext uri="{BB962C8B-B14F-4D97-AF65-F5344CB8AC3E}">
        <p14:creationId xmlns:p14="http://schemas.microsoft.com/office/powerpoint/2010/main" val="4228752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E3AC37-8831-DACF-2A61-46CE2A6BBF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592B7BB0-372D-EBB0-16F0-477B3C7D82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2F55B0F-1073-BB13-ADEF-F1B7ED692F4B}"/>
              </a:ext>
            </a:extLst>
          </p:cNvPr>
          <p:cNvSpPr>
            <a:spLocks noGrp="1"/>
          </p:cNvSpPr>
          <p:nvPr>
            <p:ph type="dt" sz="half" idx="10"/>
          </p:nvPr>
        </p:nvSpPr>
        <p:spPr/>
        <p:txBody>
          <a:bodyPr/>
          <a:lstStyle/>
          <a:p>
            <a:fld id="{53239998-F923-4990-AF0C-13C6A11E0BA4}" type="datetimeFigureOut">
              <a:rPr lang="en-IL" smtClean="0"/>
              <a:t>05/10/2026</a:t>
            </a:fld>
            <a:endParaRPr lang="en-IL"/>
          </a:p>
        </p:txBody>
      </p:sp>
      <p:sp>
        <p:nvSpPr>
          <p:cNvPr id="5" name="Footer Placeholder 4">
            <a:extLst>
              <a:ext uri="{FF2B5EF4-FFF2-40B4-BE49-F238E27FC236}">
                <a16:creationId xmlns:a16="http://schemas.microsoft.com/office/drawing/2014/main" id="{815089AA-DDD8-F920-F3BD-5BC0E9E5A1D6}"/>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6E30871-3A10-5D98-4483-FE910BE87CC5}"/>
              </a:ext>
            </a:extLst>
          </p:cNvPr>
          <p:cNvSpPr>
            <a:spLocks noGrp="1"/>
          </p:cNvSpPr>
          <p:nvPr>
            <p:ph type="sldNum" sz="quarter" idx="12"/>
          </p:nvPr>
        </p:nvSpPr>
        <p:spPr/>
        <p:txBody>
          <a:bodyPr/>
          <a:lstStyle/>
          <a:p>
            <a:fld id="{E30A34B5-1B62-4B91-A56E-560242E83AC4}" type="slidenum">
              <a:rPr lang="en-IL" smtClean="0"/>
              <a:t>‹#›</a:t>
            </a:fld>
            <a:endParaRPr lang="en-IL"/>
          </a:p>
        </p:txBody>
      </p:sp>
    </p:spTree>
    <p:extLst>
      <p:ext uri="{BB962C8B-B14F-4D97-AF65-F5344CB8AC3E}">
        <p14:creationId xmlns:p14="http://schemas.microsoft.com/office/powerpoint/2010/main" val="3017280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AF1CC0-F6B0-47B7-A1D9-1438E0EAC8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E74144B0-B54D-EBF0-A7F7-642C98F5F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1398DF7-968B-D38A-2D68-125827A06F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239998-F923-4990-AF0C-13C6A11E0BA4}" type="datetimeFigureOut">
              <a:rPr lang="en-IL" smtClean="0"/>
              <a:t>05/10/2026</a:t>
            </a:fld>
            <a:endParaRPr lang="en-IL"/>
          </a:p>
        </p:txBody>
      </p:sp>
      <p:sp>
        <p:nvSpPr>
          <p:cNvPr id="5" name="Footer Placeholder 4">
            <a:extLst>
              <a:ext uri="{FF2B5EF4-FFF2-40B4-BE49-F238E27FC236}">
                <a16:creationId xmlns:a16="http://schemas.microsoft.com/office/drawing/2014/main" id="{446365D9-81C4-5174-112C-6A983D560E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BB6E3623-E5A5-5AED-2164-09B8B9EDD3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0A34B5-1B62-4B91-A56E-560242E83AC4}" type="slidenum">
              <a:rPr lang="en-IL" smtClean="0"/>
              <a:t>‹#›</a:t>
            </a:fld>
            <a:endParaRPr lang="en-IL"/>
          </a:p>
        </p:txBody>
      </p:sp>
    </p:spTree>
    <p:extLst>
      <p:ext uri="{BB962C8B-B14F-4D97-AF65-F5344CB8AC3E}">
        <p14:creationId xmlns:p14="http://schemas.microsoft.com/office/powerpoint/2010/main" val="19780852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5A6B5B3-8117-0834-0CB0-105B787564BF}"/>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B0CEEDE7-0988-3834-526B-38EE615F3A6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Markov decision processes</a:t>
            </a:r>
          </a:p>
        </p:txBody>
      </p:sp>
      <p:sp>
        <p:nvSpPr>
          <p:cNvPr id="4" name="text_3">
            <a:extLst>
              <a:ext uri="{FF2B5EF4-FFF2-40B4-BE49-F238E27FC236}">
                <a16:creationId xmlns:a16="http://schemas.microsoft.com/office/drawing/2014/main" id="{D49F0CC9-69A3-D790-21AA-8E980DBEF7A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Model uncertain outcomes. Compute a policy.</a:t>
            </a:r>
          </a:p>
        </p:txBody>
      </p:sp>
      <p:cxnSp>
        <p:nvCxnSpPr>
          <p:cNvPr id="5" name="Straight Connector 4">
            <a:extLst>
              <a:ext uri="{FF2B5EF4-FFF2-40B4-BE49-F238E27FC236}">
                <a16:creationId xmlns:a16="http://schemas.microsoft.com/office/drawing/2014/main" id="{BCC36CF8-C7DC-59D2-A34B-8C478BC7FF6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8E1E3D5-5BB8-5774-B572-4FFCC8F4BD6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BB7B5DB-9FE0-DF05-D380-B5D5964C8D9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01</a:t>
            </a:r>
          </a:p>
        </p:txBody>
      </p:sp>
      <p:sp>
        <p:nvSpPr>
          <p:cNvPr id="8" name="Rectangle: Rounded Corners 7">
            <a:extLst>
              <a:ext uri="{FF2B5EF4-FFF2-40B4-BE49-F238E27FC236}">
                <a16:creationId xmlns:a16="http://schemas.microsoft.com/office/drawing/2014/main" id="{72A28CED-BF74-AEA3-EAFA-27908691BFBE}"/>
              </a:ext>
            </a:extLst>
          </p:cNvPr>
          <p:cNvSpPr/>
          <p:nvPr/>
        </p:nvSpPr>
        <p:spPr>
          <a:xfrm>
            <a:off x="685800" y="2679700"/>
            <a:ext cx="5207000" cy="2578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31F5A45D-A607-270F-D8F2-8D7FF226EE8B}"/>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Understand the model</a:t>
            </a:r>
          </a:p>
        </p:txBody>
      </p:sp>
      <p:sp>
        <p:nvSpPr>
          <p:cNvPr id="10" name="text_9">
            <a:extLst>
              <a:ext uri="{FF2B5EF4-FFF2-40B4-BE49-F238E27FC236}">
                <a16:creationId xmlns:a16="http://schemas.microsoft.com/office/drawing/2014/main" id="{5BC87031-10AA-7CB1-E3CD-51008C675A43}"/>
              </a:ext>
            </a:extLst>
          </p:cNvPr>
          <p:cNvSpPr txBox="1"/>
          <p:nvPr/>
        </p:nvSpPr>
        <p:spPr>
          <a:xfrm>
            <a:off x="914400" y="3492499"/>
            <a:ext cx="4749800" cy="17145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States · actions · outcomes
Rewards · policies · return</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459240C9-3879-10D7-FABF-349C3B351C06}"/>
              </a:ext>
            </a:extLst>
          </p:cNvPr>
          <p:cNvSpPr/>
          <p:nvPr/>
        </p:nvSpPr>
        <p:spPr>
          <a:xfrm>
            <a:off x="6172200" y="2679700"/>
            <a:ext cx="5334000" cy="2578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F6E53C9B-F3D5-9213-71C8-C094D1F83971}"/>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Solve the model</a:t>
            </a:r>
          </a:p>
        </p:txBody>
      </p:sp>
      <p:sp>
        <p:nvSpPr>
          <p:cNvPr id="13" name="text_12">
            <a:extLst>
              <a:ext uri="{FF2B5EF4-FFF2-40B4-BE49-F238E27FC236}">
                <a16:creationId xmlns:a16="http://schemas.microsoft.com/office/drawing/2014/main" id="{120D993F-3E6E-47AC-074F-64D737F0AB76}"/>
              </a:ext>
            </a:extLst>
          </p:cNvPr>
          <p:cNvSpPr txBox="1"/>
          <p:nvPr/>
        </p:nvSpPr>
        <p:spPr>
          <a:xfrm>
            <a:off x="6400800" y="3492499"/>
            <a:ext cx="4876800" cy="17145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Bellman equations
Value and policy iteration</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F48B72EF-292D-580A-E060-9057C9A0A6F5}"/>
              </a:ext>
            </a:extLst>
          </p:cNvPr>
          <p:cNvSpPr txBox="1"/>
          <p:nvPr/>
        </p:nvSpPr>
        <p:spPr>
          <a:xfrm>
            <a:off x="685800" y="5676899"/>
            <a:ext cx="10820400" cy="508000"/>
          </a:xfrm>
          <a:prstGeom prst="rect">
            <a:avLst/>
          </a:prstGeom>
          <a:noFill/>
        </p:spPr>
        <p:txBody>
          <a:bodyPr vert="horz" wrap="square" lIns="0" tIns="0" rIns="0" bIns="0" rtlCol="0" anchor="t">
            <a:noAutofit/>
          </a:bodyPr>
          <a:lstStyle/>
          <a:p>
            <a:r>
              <a:rPr lang="sv-SE" sz="2700" b="1">
                <a:solidFill>
                  <a:srgbClr val="526477"/>
                </a:solidFill>
                <a:latin typeface="Aptos" panose="020B0004020202020204" pitchFamily="34" charset="0"/>
              </a:rPr>
              <a:t>35 min math &amp; examples · 5 min demo · 5 min recap</a:t>
            </a:r>
            <a:endParaRPr lang="en-IL" sz="2700" b="1">
              <a:solidFill>
                <a:srgbClr val="526477"/>
              </a:solidFill>
              <a:latin typeface="Aptos" panose="020B0004020202020204" pitchFamily="34" charset="0"/>
            </a:endParaRPr>
          </a:p>
        </p:txBody>
      </p:sp>
    </p:spTree>
    <p:extLst>
      <p:ext uri="{BB962C8B-B14F-4D97-AF65-F5344CB8AC3E}">
        <p14:creationId xmlns:p14="http://schemas.microsoft.com/office/powerpoint/2010/main" val="1661194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3E6A9B1-7A42-3772-8A33-40A0D9BBF8F1}"/>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7FEE48BF-41DC-DE45-02F9-40E9A0523E2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From plans to policies</a:t>
            </a:r>
          </a:p>
        </p:txBody>
      </p:sp>
      <p:sp>
        <p:nvSpPr>
          <p:cNvPr id="4" name="text_3">
            <a:extLst>
              <a:ext uri="{FF2B5EF4-FFF2-40B4-BE49-F238E27FC236}">
                <a16:creationId xmlns:a16="http://schemas.microsoft.com/office/drawing/2014/main" id="{C0CF1EC9-021F-DCE8-2BF0-4BA9D9B1441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What should we do after an uncertain outcome?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E71CD4D-BD96-BE85-42D5-3A9262C00D4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B903C16-E19C-F255-9E51-AABE3155A37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60B597E-BA51-6273-5D66-D871F6F2107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02</a:t>
            </a:r>
          </a:p>
        </p:txBody>
      </p:sp>
      <p:sp>
        <p:nvSpPr>
          <p:cNvPr id="8" name="Rectangle: Rounded Corners 7">
            <a:extLst>
              <a:ext uri="{FF2B5EF4-FFF2-40B4-BE49-F238E27FC236}">
                <a16:creationId xmlns:a16="http://schemas.microsoft.com/office/drawing/2014/main" id="{09EFC729-32F7-5F61-0C4E-0D9E0C4BCD4C}"/>
              </a:ext>
            </a:extLst>
          </p:cNvPr>
          <p:cNvSpPr/>
          <p:nvPr/>
        </p:nvSpPr>
        <p:spPr>
          <a:xfrm>
            <a:off x="685800" y="2743200"/>
            <a:ext cx="5207000" cy="2374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E0F04EE6-BA0A-78E2-DA29-AD434D4DEEBC}"/>
              </a:ext>
            </a:extLst>
          </p:cNvPr>
          <p:cNvSpPr txBox="1"/>
          <p:nvPr/>
        </p:nvSpPr>
        <p:spPr>
          <a:xfrm>
            <a:off x="914400" y="29336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Week 5 · Plan</a:t>
            </a:r>
          </a:p>
        </p:txBody>
      </p:sp>
      <p:sp>
        <p:nvSpPr>
          <p:cNvPr id="10" name="text_9">
            <a:extLst>
              <a:ext uri="{FF2B5EF4-FFF2-40B4-BE49-F238E27FC236}">
                <a16:creationId xmlns:a16="http://schemas.microsoft.com/office/drawing/2014/main" id="{DF7FAF8F-D830-14D3-F95C-A92A9488566D}"/>
              </a:ext>
            </a:extLst>
          </p:cNvPr>
          <p:cNvSpPr txBox="1"/>
          <p:nvPr/>
        </p:nvSpPr>
        <p:spPr>
          <a:xfrm>
            <a:off x="914400" y="3555999"/>
            <a:ext cx="4749800" cy="15113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Choose an action sequence.</a:t>
            </a:r>
          </a:p>
        </p:txBody>
      </p:sp>
      <p:sp>
        <p:nvSpPr>
          <p:cNvPr id="11" name="Rectangle: Rounded Corners 10">
            <a:extLst>
              <a:ext uri="{FF2B5EF4-FFF2-40B4-BE49-F238E27FC236}">
                <a16:creationId xmlns:a16="http://schemas.microsoft.com/office/drawing/2014/main" id="{D9D8C2AC-2A13-0F66-ADBA-FFD638027015}"/>
              </a:ext>
            </a:extLst>
          </p:cNvPr>
          <p:cNvSpPr/>
          <p:nvPr/>
        </p:nvSpPr>
        <p:spPr>
          <a:xfrm>
            <a:off x="6172200" y="2743200"/>
            <a:ext cx="5334000" cy="23749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6F42FC78-657C-2F6B-3103-8E8F885C110E}"/>
              </a:ext>
            </a:extLst>
          </p:cNvPr>
          <p:cNvSpPr txBox="1"/>
          <p:nvPr/>
        </p:nvSpPr>
        <p:spPr>
          <a:xfrm>
            <a:off x="6400800" y="29336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Week 6 · Policy</a:t>
            </a:r>
          </a:p>
        </p:txBody>
      </p:sp>
      <p:sp>
        <p:nvSpPr>
          <p:cNvPr id="13" name="text_12">
            <a:extLst>
              <a:ext uri="{FF2B5EF4-FFF2-40B4-BE49-F238E27FC236}">
                <a16:creationId xmlns:a16="http://schemas.microsoft.com/office/drawing/2014/main" id="{FB153FE7-AD77-FF2F-2050-89710158E627}"/>
              </a:ext>
            </a:extLst>
          </p:cNvPr>
          <p:cNvSpPr txBox="1"/>
          <p:nvPr/>
        </p:nvSpPr>
        <p:spPr>
          <a:xfrm>
            <a:off x="6400800" y="3555999"/>
            <a:ext cx="4876800" cy="15113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Choose an action for each observed state.</a:t>
            </a:r>
            <a:endParaRPr lang="en-IL" sz="2400">
              <a:solidFill>
                <a:srgbClr val="15283B"/>
              </a:solidFill>
              <a:latin typeface="Aptos" panose="020B0004020202020204" pitchFamily="34" charset="0"/>
            </a:endParaRPr>
          </a:p>
        </p:txBody>
      </p:sp>
      <p:cxnSp>
        <p:nvCxnSpPr>
          <p:cNvPr id="14" name="Straight Connector 13">
            <a:extLst>
              <a:ext uri="{FF2B5EF4-FFF2-40B4-BE49-F238E27FC236}">
                <a16:creationId xmlns:a16="http://schemas.microsoft.com/office/drawing/2014/main" id="{A09FDC5C-D97D-F570-03AF-E2DB19FE0F8B}"/>
              </a:ext>
            </a:extLst>
          </p:cNvPr>
          <p:cNvCxnSpPr/>
          <p:nvPr/>
        </p:nvCxnSpPr>
        <p:spPr>
          <a:xfrm>
            <a:off x="5905500" y="3873500"/>
            <a:ext cx="2540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5" name="text_14">
            <a:extLst>
              <a:ext uri="{FF2B5EF4-FFF2-40B4-BE49-F238E27FC236}">
                <a16:creationId xmlns:a16="http://schemas.microsoft.com/office/drawing/2014/main" id="{85FAFB9C-5D55-E4EE-77A7-2EEEE0FBB5BF}"/>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The robot chooses an action; the world determines its outcome.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535187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7F5AD3B-A98F-7AA0-EF19-A0396878AF87}"/>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CBBAD0ED-A4C1-AFB7-5B23-0E971865EC9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Our delivery robot</a:t>
            </a:r>
          </a:p>
        </p:txBody>
      </p:sp>
      <p:sp>
        <p:nvSpPr>
          <p:cNvPr id="4" name="text_3">
            <a:extLst>
              <a:ext uri="{FF2B5EF4-FFF2-40B4-BE49-F238E27FC236}">
                <a16:creationId xmlns:a16="http://schemas.microsoft.com/office/drawing/2014/main" id="{6028B9B9-4BD5-5E27-DEB9-6B8BAF99360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Two routes. Different outcomes and rewards.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0D8ACD7-ACA8-13FC-B645-6978B2F45E2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9397C4B-FDE5-B50F-0447-6D6BCA3FAD2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2F116D4-E64B-FCA4-09DE-654D6039A50B}"/>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03</a:t>
            </a:r>
          </a:p>
        </p:txBody>
      </p:sp>
      <p:cxnSp>
        <p:nvCxnSpPr>
          <p:cNvPr id="8" name="Straight Connector 7">
            <a:extLst>
              <a:ext uri="{FF2B5EF4-FFF2-40B4-BE49-F238E27FC236}">
                <a16:creationId xmlns:a16="http://schemas.microsoft.com/office/drawing/2014/main" id="{57FECD14-FFB4-3B73-48E8-7FE077B70B59}"/>
              </a:ext>
            </a:extLst>
          </p:cNvPr>
          <p:cNvCxnSpPr/>
          <p:nvPr/>
        </p:nvCxnSpPr>
        <p:spPr>
          <a:xfrm flipV="1">
            <a:off x="2527300" y="3022600"/>
            <a:ext cx="2108200" cy="9906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137CC24-E660-C7D2-F0F0-C01D82B41309}"/>
              </a:ext>
            </a:extLst>
          </p:cNvPr>
          <p:cNvCxnSpPr/>
          <p:nvPr/>
        </p:nvCxnSpPr>
        <p:spPr>
          <a:xfrm>
            <a:off x="6794500" y="3022600"/>
            <a:ext cx="2463800" cy="9144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DFC6FCF-0378-5D85-8D60-E4242A47CD3A}"/>
              </a:ext>
            </a:extLst>
          </p:cNvPr>
          <p:cNvCxnSpPr/>
          <p:nvPr/>
        </p:nvCxnSpPr>
        <p:spPr>
          <a:xfrm>
            <a:off x="2527300" y="4140200"/>
            <a:ext cx="67310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6E398CB-965B-CF2E-A9F3-0597F7B8D125}"/>
              </a:ext>
            </a:extLst>
          </p:cNvPr>
          <p:cNvCxnSpPr/>
          <p:nvPr/>
        </p:nvCxnSpPr>
        <p:spPr>
          <a:xfrm>
            <a:off x="2527300" y="4343400"/>
            <a:ext cx="2108200" cy="10160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1CDAB32E-272C-EA01-3954-2CC1773B9B83}"/>
              </a:ext>
            </a:extLst>
          </p:cNvPr>
          <p:cNvSpPr/>
          <p:nvPr/>
        </p:nvSpPr>
        <p:spPr>
          <a:xfrm>
            <a:off x="685800" y="3695700"/>
            <a:ext cx="1841500" cy="876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C758D214-87AA-764C-C935-42CD5588D15B}"/>
              </a:ext>
            </a:extLst>
          </p:cNvPr>
          <p:cNvSpPr txBox="1"/>
          <p:nvPr/>
        </p:nvSpPr>
        <p:spPr>
          <a:xfrm>
            <a:off x="838200" y="3898899"/>
            <a:ext cx="1536700" cy="444500"/>
          </a:xfrm>
          <a:prstGeom prst="rect">
            <a:avLst/>
          </a:prstGeom>
          <a:noFill/>
        </p:spPr>
        <p:txBody>
          <a:bodyPr vert="horz" wrap="square" lIns="0" tIns="0" rIns="0" bIns="0" rtlCol="0" anchor="t">
            <a:noAutofit/>
          </a:bodyPr>
          <a:lstStyle/>
          <a:p>
            <a:pPr algn="ctr"/>
            <a:r>
              <a:rPr lang="en-IL" sz="2800" b="1">
                <a:solidFill>
                  <a:srgbClr val="2459D3"/>
                </a:solidFill>
                <a:latin typeface="Aptos" panose="020B0004020202020204" pitchFamily="34" charset="0"/>
              </a:rPr>
              <a:t>start</a:t>
            </a:r>
          </a:p>
        </p:txBody>
      </p:sp>
      <p:sp>
        <p:nvSpPr>
          <p:cNvPr id="14" name="Rectangle: Rounded Corners 13">
            <a:extLst>
              <a:ext uri="{FF2B5EF4-FFF2-40B4-BE49-F238E27FC236}">
                <a16:creationId xmlns:a16="http://schemas.microsoft.com/office/drawing/2014/main" id="{3A1472EF-7A37-165B-1728-3E414757F620}"/>
              </a:ext>
            </a:extLst>
          </p:cNvPr>
          <p:cNvSpPr/>
          <p:nvPr/>
        </p:nvSpPr>
        <p:spPr>
          <a:xfrm>
            <a:off x="4635500" y="2628900"/>
            <a:ext cx="2159000" cy="800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1DD883EE-7621-7503-DFB2-1353D0989E23}"/>
              </a:ext>
            </a:extLst>
          </p:cNvPr>
          <p:cNvSpPr txBox="1"/>
          <p:nvPr/>
        </p:nvSpPr>
        <p:spPr>
          <a:xfrm>
            <a:off x="4787900" y="2793999"/>
            <a:ext cx="1854200" cy="444500"/>
          </a:xfrm>
          <a:prstGeom prst="rect">
            <a:avLst/>
          </a:prstGeom>
          <a:noFill/>
        </p:spPr>
        <p:txBody>
          <a:bodyPr vert="horz" wrap="square" lIns="0" tIns="0" rIns="0" bIns="0" rtlCol="0" anchor="t">
            <a:noAutofit/>
          </a:bodyPr>
          <a:lstStyle/>
          <a:p>
            <a:pPr algn="ctr"/>
            <a:r>
              <a:rPr lang="en-IL" sz="2800" b="1">
                <a:solidFill>
                  <a:srgbClr val="137F79"/>
                </a:solidFill>
                <a:latin typeface="Aptos" panose="020B0004020202020204" pitchFamily="34" charset="0"/>
              </a:rPr>
              <a:t>detour</a:t>
            </a:r>
          </a:p>
        </p:txBody>
      </p:sp>
      <p:sp>
        <p:nvSpPr>
          <p:cNvPr id="16" name="Rectangle: Rounded Corners 15">
            <a:extLst>
              <a:ext uri="{FF2B5EF4-FFF2-40B4-BE49-F238E27FC236}">
                <a16:creationId xmlns:a16="http://schemas.microsoft.com/office/drawing/2014/main" id="{7229AD4C-8B12-DFA6-9FFD-DDC75F22EBEB}"/>
              </a:ext>
            </a:extLst>
          </p:cNvPr>
          <p:cNvSpPr/>
          <p:nvPr/>
        </p:nvSpPr>
        <p:spPr>
          <a:xfrm>
            <a:off x="9258300" y="3695700"/>
            <a:ext cx="2247900" cy="876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07F9020B-533E-36F1-00EA-780D82B0D5DE}"/>
              </a:ext>
            </a:extLst>
          </p:cNvPr>
          <p:cNvSpPr txBox="1"/>
          <p:nvPr/>
        </p:nvSpPr>
        <p:spPr>
          <a:xfrm>
            <a:off x="9410700" y="3898899"/>
            <a:ext cx="1943100" cy="444500"/>
          </a:xfrm>
          <a:prstGeom prst="rect">
            <a:avLst/>
          </a:prstGeom>
          <a:noFill/>
        </p:spPr>
        <p:txBody>
          <a:bodyPr vert="horz" wrap="square" lIns="0" tIns="0" rIns="0" bIns="0" rtlCol="0" anchor="t">
            <a:noAutofit/>
          </a:bodyPr>
          <a:lstStyle/>
          <a:p>
            <a:pPr algn="ctr"/>
            <a:r>
              <a:rPr lang="en-IL" sz="2800" b="1">
                <a:solidFill>
                  <a:srgbClr val="137F79"/>
                </a:solidFill>
                <a:latin typeface="Aptos" panose="020B0004020202020204" pitchFamily="34" charset="0"/>
              </a:rPr>
              <a:t>delivered</a:t>
            </a:r>
          </a:p>
        </p:txBody>
      </p:sp>
      <p:sp>
        <p:nvSpPr>
          <p:cNvPr id="18" name="Rectangle: Rounded Corners 17">
            <a:extLst>
              <a:ext uri="{FF2B5EF4-FFF2-40B4-BE49-F238E27FC236}">
                <a16:creationId xmlns:a16="http://schemas.microsoft.com/office/drawing/2014/main" id="{714D872D-B2FF-FC11-5FC0-9C0E4579A537}"/>
              </a:ext>
            </a:extLst>
          </p:cNvPr>
          <p:cNvSpPr/>
          <p:nvPr/>
        </p:nvSpPr>
        <p:spPr>
          <a:xfrm>
            <a:off x="4635500" y="4991100"/>
            <a:ext cx="2159000" cy="800100"/>
          </a:xfrm>
          <a:prstGeom prst="roundRect">
            <a:avLst>
              <a:gd name="adj" fmla="val 9000"/>
            </a:avLst>
          </a:prstGeom>
          <a:solidFill>
            <a:srgbClr val="FFF0D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51DC3DD3-ED53-C4CC-BC6A-66CFEA6AE27E}"/>
              </a:ext>
            </a:extLst>
          </p:cNvPr>
          <p:cNvSpPr txBox="1"/>
          <p:nvPr/>
        </p:nvSpPr>
        <p:spPr>
          <a:xfrm>
            <a:off x="4787900" y="5156199"/>
            <a:ext cx="1854200" cy="444500"/>
          </a:xfrm>
          <a:prstGeom prst="rect">
            <a:avLst/>
          </a:prstGeom>
          <a:noFill/>
        </p:spPr>
        <p:txBody>
          <a:bodyPr vert="horz" wrap="square" lIns="0" tIns="0" rIns="0" bIns="0" rtlCol="0" anchor="t">
            <a:noAutofit/>
          </a:bodyPr>
          <a:lstStyle/>
          <a:p>
            <a:pPr algn="ctr"/>
            <a:r>
              <a:rPr lang="en-IL" sz="2800" b="1">
                <a:solidFill>
                  <a:srgbClr val="AE651D"/>
                </a:solidFill>
                <a:latin typeface="Aptos" panose="020B0004020202020204" pitchFamily="34" charset="0"/>
              </a:rPr>
              <a:t>failed</a:t>
            </a:r>
          </a:p>
        </p:txBody>
      </p:sp>
      <p:sp>
        <p:nvSpPr>
          <p:cNvPr id="20" name="text_19">
            <a:extLst>
              <a:ext uri="{FF2B5EF4-FFF2-40B4-BE49-F238E27FC236}">
                <a16:creationId xmlns:a16="http://schemas.microsoft.com/office/drawing/2014/main" id="{064A9557-F7CD-D1AC-A465-847B3B9EB4A0}"/>
              </a:ext>
            </a:extLst>
          </p:cNvPr>
          <p:cNvSpPr txBox="1"/>
          <p:nvPr/>
        </p:nvSpPr>
        <p:spPr>
          <a:xfrm>
            <a:off x="2133600" y="2590799"/>
            <a:ext cx="2374900" cy="952500"/>
          </a:xfrm>
          <a:prstGeom prst="rect">
            <a:avLst/>
          </a:prstGeom>
          <a:noFill/>
        </p:spPr>
        <p:txBody>
          <a:bodyPr vert="horz" wrap="square" lIns="0" tIns="0" rIns="0" bIns="0" rtlCol="0" anchor="t">
            <a:noAutofit/>
          </a:bodyPr>
          <a:lstStyle/>
          <a:p>
            <a:pPr algn="ctr"/>
            <a:r>
              <a:rPr lang="pt-BR" sz="2400">
                <a:solidFill>
                  <a:srgbClr val="2459D3"/>
                </a:solidFill>
                <a:latin typeface="Aptos" panose="020B0004020202020204" pitchFamily="34" charset="0"/>
              </a:rPr>
              <a:t>safe
p = 1; r = −1</a:t>
            </a:r>
            <a:endParaRPr lang="en-IL" sz="2400">
              <a:solidFill>
                <a:srgbClr val="2459D3"/>
              </a:solidFill>
              <a:latin typeface="Aptos" panose="020B0004020202020204" pitchFamily="34" charset="0"/>
            </a:endParaRPr>
          </a:p>
        </p:txBody>
      </p:sp>
      <p:sp>
        <p:nvSpPr>
          <p:cNvPr id="21" name="text_20">
            <a:extLst>
              <a:ext uri="{FF2B5EF4-FFF2-40B4-BE49-F238E27FC236}">
                <a16:creationId xmlns:a16="http://schemas.microsoft.com/office/drawing/2014/main" id="{18331E81-6FB3-1351-0ECE-C19B779C68E2}"/>
              </a:ext>
            </a:extLst>
          </p:cNvPr>
          <p:cNvSpPr txBox="1"/>
          <p:nvPr/>
        </p:nvSpPr>
        <p:spPr>
          <a:xfrm>
            <a:off x="6985000" y="2590799"/>
            <a:ext cx="2260600" cy="952500"/>
          </a:xfrm>
          <a:prstGeom prst="rect">
            <a:avLst/>
          </a:prstGeom>
          <a:noFill/>
        </p:spPr>
        <p:txBody>
          <a:bodyPr vert="horz" wrap="square" lIns="0" tIns="0" rIns="0" bIns="0" rtlCol="0" anchor="t">
            <a:noAutofit/>
          </a:bodyPr>
          <a:lstStyle/>
          <a:p>
            <a:pPr algn="ctr"/>
            <a:r>
              <a:rPr lang="pt-BR" sz="2400">
                <a:solidFill>
                  <a:srgbClr val="137F79"/>
                </a:solidFill>
                <a:latin typeface="Aptos" panose="020B0004020202020204" pitchFamily="34" charset="0"/>
              </a:rPr>
              <a:t>finish
p = 1; r = +8</a:t>
            </a:r>
            <a:endParaRPr lang="en-IL" sz="2400">
              <a:solidFill>
                <a:srgbClr val="137F79"/>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23759081-E568-0DF7-99E3-7401BF7CCFB7}"/>
              </a:ext>
            </a:extLst>
          </p:cNvPr>
          <p:cNvSpPr/>
          <p:nvPr/>
        </p:nvSpPr>
        <p:spPr>
          <a:xfrm>
            <a:off x="4318000" y="3568700"/>
            <a:ext cx="3378200" cy="495300"/>
          </a:xfrm>
          <a:prstGeom prst="roundRect">
            <a:avLst>
              <a:gd name="adj" fmla="val 9000"/>
            </a:avLst>
          </a:prstGeom>
          <a:solidFill>
            <a:srgbClr val="F7F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_22">
            <a:extLst>
              <a:ext uri="{FF2B5EF4-FFF2-40B4-BE49-F238E27FC236}">
                <a16:creationId xmlns:a16="http://schemas.microsoft.com/office/drawing/2014/main" id="{D4F883E0-E626-842A-3F8D-E01394F154A1}"/>
              </a:ext>
            </a:extLst>
          </p:cNvPr>
          <p:cNvSpPr txBox="1"/>
          <p:nvPr/>
        </p:nvSpPr>
        <p:spPr>
          <a:xfrm>
            <a:off x="4381500" y="3594099"/>
            <a:ext cx="3251200" cy="444500"/>
          </a:xfrm>
          <a:prstGeom prst="rect">
            <a:avLst/>
          </a:prstGeom>
          <a:noFill/>
        </p:spPr>
        <p:txBody>
          <a:bodyPr vert="horz" wrap="square" lIns="0" tIns="0" rIns="0" bIns="0" rtlCol="0" anchor="t">
            <a:noAutofit/>
          </a:bodyPr>
          <a:lstStyle/>
          <a:p>
            <a:pPr algn="ctr"/>
            <a:r>
              <a:rPr lang="pt-BR" sz="2400">
                <a:solidFill>
                  <a:srgbClr val="2459D3"/>
                </a:solidFill>
                <a:latin typeface="Aptos" panose="020B0004020202020204" pitchFamily="34" charset="0"/>
              </a:rPr>
              <a:t>risky: p = 0.8; r = +10</a:t>
            </a:r>
            <a:endParaRPr lang="en-IL" sz="2400">
              <a:solidFill>
                <a:srgbClr val="2459D3"/>
              </a:solidFill>
              <a:latin typeface="Aptos" panose="020B0004020202020204" pitchFamily="34" charset="0"/>
            </a:endParaRPr>
          </a:p>
        </p:txBody>
      </p:sp>
      <p:sp>
        <p:nvSpPr>
          <p:cNvPr id="24" name="text_23">
            <a:extLst>
              <a:ext uri="{FF2B5EF4-FFF2-40B4-BE49-F238E27FC236}">
                <a16:creationId xmlns:a16="http://schemas.microsoft.com/office/drawing/2014/main" id="{EAC464F7-D5BF-5E0F-BF2B-B922935F36B0}"/>
              </a:ext>
            </a:extLst>
          </p:cNvPr>
          <p:cNvSpPr txBox="1"/>
          <p:nvPr/>
        </p:nvSpPr>
        <p:spPr>
          <a:xfrm>
            <a:off x="787400" y="4965699"/>
            <a:ext cx="3644900" cy="850900"/>
          </a:xfrm>
          <a:prstGeom prst="rect">
            <a:avLst/>
          </a:prstGeom>
          <a:noFill/>
        </p:spPr>
        <p:txBody>
          <a:bodyPr vert="horz" wrap="square" lIns="0" tIns="0" rIns="0" bIns="0" rtlCol="0" anchor="t">
            <a:noAutofit/>
          </a:bodyPr>
          <a:lstStyle/>
          <a:p>
            <a:pPr algn="ctr"/>
            <a:r>
              <a:rPr lang="pt-BR" sz="2400">
                <a:solidFill>
                  <a:srgbClr val="2459D3"/>
                </a:solidFill>
                <a:latin typeface="Aptos" panose="020B0004020202020204" pitchFamily="34" charset="0"/>
              </a:rPr>
              <a:t>risky
p = 0.2; r = −10</a:t>
            </a:r>
            <a:endParaRPr lang="en-IL" sz="2400">
              <a:solidFill>
                <a:srgbClr val="2459D3"/>
              </a:solidFill>
              <a:latin typeface="Aptos" panose="020B0004020202020204" pitchFamily="34" charset="0"/>
            </a:endParaRPr>
          </a:p>
        </p:txBody>
      </p:sp>
      <p:sp>
        <p:nvSpPr>
          <p:cNvPr id="25" name="text_24">
            <a:extLst>
              <a:ext uri="{FF2B5EF4-FFF2-40B4-BE49-F238E27FC236}">
                <a16:creationId xmlns:a16="http://schemas.microsoft.com/office/drawing/2014/main" id="{8C9F9D31-CA52-F9EE-476E-7AAAFBF1A6F0}"/>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γ = 0.9 · Rewards belong to transitions.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723017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2915EC8-5D29-DDFA-3E37-F145DFCD61E4}"/>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5132854B-D2B1-383B-6D52-510E847829F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Define every part of the MDP</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242AFC36-C142-CE7D-5566-02DF5403D7D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A Markov decision process is a mathematical model.</a:t>
            </a:r>
          </a:p>
        </p:txBody>
      </p:sp>
      <p:cxnSp>
        <p:nvCxnSpPr>
          <p:cNvPr id="5" name="Straight Connector 4">
            <a:extLst>
              <a:ext uri="{FF2B5EF4-FFF2-40B4-BE49-F238E27FC236}">
                <a16:creationId xmlns:a16="http://schemas.microsoft.com/office/drawing/2014/main" id="{C983472C-FB0D-9F0B-BFCC-5675A0E5400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C3F475A-46E1-BCBF-5BDB-0A8FBFC4AEB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1B0D929E-97D9-4FB5-EB2C-7C79D19763B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04</a:t>
            </a:r>
          </a:p>
        </p:txBody>
      </p:sp>
      <p:sp>
        <p:nvSpPr>
          <p:cNvPr id="8" name="text_7">
            <a:extLst>
              <a:ext uri="{FF2B5EF4-FFF2-40B4-BE49-F238E27FC236}">
                <a16:creationId xmlns:a16="http://schemas.microsoft.com/office/drawing/2014/main" id="{B17A67A7-C11E-65D2-D554-4FB975BB51FB}"/>
              </a:ext>
            </a:extLst>
          </p:cNvPr>
          <p:cNvSpPr txBox="1"/>
          <p:nvPr/>
        </p:nvSpPr>
        <p:spPr>
          <a:xfrm>
            <a:off x="685800" y="2565399"/>
            <a:ext cx="10820400" cy="685800"/>
          </a:xfrm>
          <a:prstGeom prst="rect">
            <a:avLst/>
          </a:prstGeom>
          <a:noFill/>
        </p:spPr>
        <p:txBody>
          <a:bodyPr vert="horz" wrap="square" lIns="0" tIns="0" rIns="0" bIns="0" rtlCol="0" anchor="t">
            <a:noAutofit/>
          </a:bodyPr>
          <a:lstStyle/>
          <a:p>
            <a:r>
              <a:rPr lang="pt-BR" sz="3800">
                <a:solidFill>
                  <a:srgbClr val="2459D3"/>
                </a:solidFill>
                <a:latin typeface="Cambria Math" panose="02040503050406030204" pitchFamily="18" charset="0"/>
              </a:rPr>
              <a:t>ℳ = (S, {A(s)}, P, r, γ)</a:t>
            </a:r>
            <a:endParaRPr lang="en-IL" sz="3800">
              <a:solidFill>
                <a:srgbClr val="2459D3"/>
              </a:solidFill>
              <a:latin typeface="Cambria Math" panose="02040503050406030204" pitchFamily="18" charset="0"/>
            </a:endParaRPr>
          </a:p>
        </p:txBody>
      </p:sp>
      <p:sp>
        <p:nvSpPr>
          <p:cNvPr id="9" name="Rectangle: Rounded Corners 8">
            <a:extLst>
              <a:ext uri="{FF2B5EF4-FFF2-40B4-BE49-F238E27FC236}">
                <a16:creationId xmlns:a16="http://schemas.microsoft.com/office/drawing/2014/main" id="{D2CA39EF-FD0E-4A27-BFD6-25C126D6E0FF}"/>
              </a:ext>
            </a:extLst>
          </p:cNvPr>
          <p:cNvSpPr/>
          <p:nvPr/>
        </p:nvSpPr>
        <p:spPr>
          <a:xfrm>
            <a:off x="685800" y="3390900"/>
            <a:ext cx="10820400" cy="444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text_9">
            <a:extLst>
              <a:ext uri="{FF2B5EF4-FFF2-40B4-BE49-F238E27FC236}">
                <a16:creationId xmlns:a16="http://schemas.microsoft.com/office/drawing/2014/main" id="{015B06A4-15F0-E080-DAF1-E2A2812EB808}"/>
              </a:ext>
            </a:extLst>
          </p:cNvPr>
          <p:cNvSpPr txBox="1"/>
          <p:nvPr/>
        </p:nvSpPr>
        <p:spPr>
          <a:xfrm>
            <a:off x="838200" y="3416299"/>
            <a:ext cx="3390900" cy="4064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S · States</a:t>
            </a:r>
          </a:p>
        </p:txBody>
      </p:sp>
      <p:sp>
        <p:nvSpPr>
          <p:cNvPr id="11" name="text_10">
            <a:extLst>
              <a:ext uri="{FF2B5EF4-FFF2-40B4-BE49-F238E27FC236}">
                <a16:creationId xmlns:a16="http://schemas.microsoft.com/office/drawing/2014/main" id="{360B349F-79CF-0F62-D577-F0D98EB15F82}"/>
              </a:ext>
            </a:extLst>
          </p:cNvPr>
          <p:cNvSpPr txBox="1"/>
          <p:nvPr/>
        </p:nvSpPr>
        <p:spPr>
          <a:xfrm>
            <a:off x="4419600" y="3416299"/>
            <a:ext cx="69342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start, detour, delivered, failed</a:t>
            </a:r>
          </a:p>
        </p:txBody>
      </p:sp>
      <p:sp>
        <p:nvSpPr>
          <p:cNvPr id="12" name="Rectangle: Rounded Corners 11">
            <a:extLst>
              <a:ext uri="{FF2B5EF4-FFF2-40B4-BE49-F238E27FC236}">
                <a16:creationId xmlns:a16="http://schemas.microsoft.com/office/drawing/2014/main" id="{99624494-F3B6-9969-074C-1BD179943632}"/>
              </a:ext>
            </a:extLst>
          </p:cNvPr>
          <p:cNvSpPr/>
          <p:nvPr/>
        </p:nvSpPr>
        <p:spPr>
          <a:xfrm>
            <a:off x="685800" y="3860800"/>
            <a:ext cx="10820400" cy="444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CB764C46-8299-04A3-BD8B-44D6B7ECA03C}"/>
              </a:ext>
            </a:extLst>
          </p:cNvPr>
          <p:cNvSpPr txBox="1"/>
          <p:nvPr/>
        </p:nvSpPr>
        <p:spPr>
          <a:xfrm>
            <a:off x="838200" y="3886199"/>
            <a:ext cx="3390900" cy="4064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A(s) · Actions</a:t>
            </a:r>
          </a:p>
        </p:txBody>
      </p:sp>
      <p:sp>
        <p:nvSpPr>
          <p:cNvPr id="14" name="text_13">
            <a:extLst>
              <a:ext uri="{FF2B5EF4-FFF2-40B4-BE49-F238E27FC236}">
                <a16:creationId xmlns:a16="http://schemas.microsoft.com/office/drawing/2014/main" id="{FD2D56B0-590C-56C1-15EE-BD259D08F3EC}"/>
              </a:ext>
            </a:extLst>
          </p:cNvPr>
          <p:cNvSpPr txBox="1"/>
          <p:nvPr/>
        </p:nvSpPr>
        <p:spPr>
          <a:xfrm>
            <a:off x="4419600" y="3886199"/>
            <a:ext cx="69342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safe / risky; finish; stay</a:t>
            </a:r>
          </a:p>
        </p:txBody>
      </p:sp>
      <p:sp>
        <p:nvSpPr>
          <p:cNvPr id="15" name="Rectangle: Rounded Corners 14">
            <a:extLst>
              <a:ext uri="{FF2B5EF4-FFF2-40B4-BE49-F238E27FC236}">
                <a16:creationId xmlns:a16="http://schemas.microsoft.com/office/drawing/2014/main" id="{CBBA7726-3741-3BCB-DBE2-599C8C6231D6}"/>
              </a:ext>
            </a:extLst>
          </p:cNvPr>
          <p:cNvSpPr/>
          <p:nvPr/>
        </p:nvSpPr>
        <p:spPr>
          <a:xfrm>
            <a:off x="685800" y="4330700"/>
            <a:ext cx="10820400" cy="444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_15">
            <a:extLst>
              <a:ext uri="{FF2B5EF4-FFF2-40B4-BE49-F238E27FC236}">
                <a16:creationId xmlns:a16="http://schemas.microsoft.com/office/drawing/2014/main" id="{F503642A-995F-3236-7B97-C9F4F178152F}"/>
              </a:ext>
            </a:extLst>
          </p:cNvPr>
          <p:cNvSpPr txBox="1"/>
          <p:nvPr/>
        </p:nvSpPr>
        <p:spPr>
          <a:xfrm>
            <a:off x="838200" y="4356099"/>
            <a:ext cx="3390900" cy="4064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P · Outcomes</a:t>
            </a:r>
          </a:p>
        </p:txBody>
      </p:sp>
      <p:sp>
        <p:nvSpPr>
          <p:cNvPr id="17" name="text_16">
            <a:extLst>
              <a:ext uri="{FF2B5EF4-FFF2-40B4-BE49-F238E27FC236}">
                <a16:creationId xmlns:a16="http://schemas.microsoft.com/office/drawing/2014/main" id="{1A4D4110-1860-E8B1-7B7B-3905321D1240}"/>
              </a:ext>
            </a:extLst>
          </p:cNvPr>
          <p:cNvSpPr txBox="1"/>
          <p:nvPr/>
        </p:nvSpPr>
        <p:spPr>
          <a:xfrm>
            <a:off x="4419600" y="4356099"/>
            <a:ext cx="69342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Next-state probabilities</a:t>
            </a:r>
          </a:p>
        </p:txBody>
      </p:sp>
      <p:sp>
        <p:nvSpPr>
          <p:cNvPr id="18" name="Rectangle: Rounded Corners 17">
            <a:extLst>
              <a:ext uri="{FF2B5EF4-FFF2-40B4-BE49-F238E27FC236}">
                <a16:creationId xmlns:a16="http://schemas.microsoft.com/office/drawing/2014/main" id="{5CEA20EF-3A84-BAAA-5A0A-8A713A2575F1}"/>
              </a:ext>
            </a:extLst>
          </p:cNvPr>
          <p:cNvSpPr/>
          <p:nvPr/>
        </p:nvSpPr>
        <p:spPr>
          <a:xfrm>
            <a:off x="685800" y="4800600"/>
            <a:ext cx="10820400" cy="444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5F71F260-6473-436C-D24D-E130A9239834}"/>
              </a:ext>
            </a:extLst>
          </p:cNvPr>
          <p:cNvSpPr txBox="1"/>
          <p:nvPr/>
        </p:nvSpPr>
        <p:spPr>
          <a:xfrm>
            <a:off x="838200" y="4825999"/>
            <a:ext cx="3390900" cy="4064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r · Rewards</a:t>
            </a:r>
          </a:p>
        </p:txBody>
      </p:sp>
      <p:sp>
        <p:nvSpPr>
          <p:cNvPr id="20" name="text_19">
            <a:extLst>
              <a:ext uri="{FF2B5EF4-FFF2-40B4-BE49-F238E27FC236}">
                <a16:creationId xmlns:a16="http://schemas.microsoft.com/office/drawing/2014/main" id="{761FAB62-5108-63D3-7FEC-5CC48AB2C760}"/>
              </a:ext>
            </a:extLst>
          </p:cNvPr>
          <p:cNvSpPr txBox="1"/>
          <p:nvPr/>
        </p:nvSpPr>
        <p:spPr>
          <a:xfrm>
            <a:off x="4419600" y="4825999"/>
            <a:ext cx="69342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Reward on each transition</a:t>
            </a:r>
          </a:p>
        </p:txBody>
      </p:sp>
      <p:sp>
        <p:nvSpPr>
          <p:cNvPr id="21" name="Rectangle: Rounded Corners 20">
            <a:extLst>
              <a:ext uri="{FF2B5EF4-FFF2-40B4-BE49-F238E27FC236}">
                <a16:creationId xmlns:a16="http://schemas.microsoft.com/office/drawing/2014/main" id="{F76D8BF0-396F-3EE7-54EF-E4F76A14BF40}"/>
              </a:ext>
            </a:extLst>
          </p:cNvPr>
          <p:cNvSpPr/>
          <p:nvPr/>
        </p:nvSpPr>
        <p:spPr>
          <a:xfrm>
            <a:off x="685800" y="5270500"/>
            <a:ext cx="10820400" cy="444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text_21">
            <a:extLst>
              <a:ext uri="{FF2B5EF4-FFF2-40B4-BE49-F238E27FC236}">
                <a16:creationId xmlns:a16="http://schemas.microsoft.com/office/drawing/2014/main" id="{0F8B17C4-79DA-32DF-F7A5-7E05FBDE23EB}"/>
              </a:ext>
            </a:extLst>
          </p:cNvPr>
          <p:cNvSpPr txBox="1"/>
          <p:nvPr/>
        </p:nvSpPr>
        <p:spPr>
          <a:xfrm>
            <a:off x="838200" y="5295899"/>
            <a:ext cx="3390900" cy="406400"/>
          </a:xfrm>
          <a:prstGeom prst="rect">
            <a:avLst/>
          </a:prstGeom>
          <a:noFill/>
        </p:spPr>
        <p:txBody>
          <a:bodyPr vert="horz" wrap="square" lIns="0" tIns="0" rIns="0" bIns="0" rtlCol="0" anchor="t">
            <a:noAutofit/>
          </a:bodyPr>
          <a:lstStyle/>
          <a:p>
            <a:r>
              <a:rPr lang="el-GR" sz="2400" b="1">
                <a:solidFill>
                  <a:srgbClr val="2459D3"/>
                </a:solidFill>
                <a:latin typeface="Aptos" panose="020B0004020202020204" pitchFamily="34" charset="0"/>
              </a:rPr>
              <a:t>γ · </a:t>
            </a:r>
            <a:r>
              <a:rPr lang="en-IL" sz="2400" b="1">
                <a:solidFill>
                  <a:srgbClr val="2459D3"/>
                </a:solidFill>
                <a:latin typeface="Aptos" panose="020B0004020202020204" pitchFamily="34" charset="0"/>
              </a:rPr>
              <a:t>Discount</a:t>
            </a:r>
          </a:p>
        </p:txBody>
      </p:sp>
      <p:sp>
        <p:nvSpPr>
          <p:cNvPr id="23" name="text_22">
            <a:extLst>
              <a:ext uri="{FF2B5EF4-FFF2-40B4-BE49-F238E27FC236}">
                <a16:creationId xmlns:a16="http://schemas.microsoft.com/office/drawing/2014/main" id="{14A38EED-C8A7-60A9-B9D6-B5D680FCA698}"/>
              </a:ext>
            </a:extLst>
          </p:cNvPr>
          <p:cNvSpPr txBox="1"/>
          <p:nvPr/>
        </p:nvSpPr>
        <p:spPr>
          <a:xfrm>
            <a:off x="4419600" y="5295899"/>
            <a:ext cx="69342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Future-reward weight: 0.9</a:t>
            </a:r>
          </a:p>
        </p:txBody>
      </p:sp>
      <p:sp>
        <p:nvSpPr>
          <p:cNvPr id="24" name="text_23">
            <a:extLst>
              <a:ext uri="{FF2B5EF4-FFF2-40B4-BE49-F238E27FC236}">
                <a16:creationId xmlns:a16="http://schemas.microsoft.com/office/drawing/2014/main" id="{D9525B18-E7A9-9BA3-AF6C-1979B9DB449A}"/>
              </a:ext>
            </a:extLst>
          </p:cNvPr>
          <p:cNvSpPr txBox="1"/>
          <p:nvPr/>
        </p:nvSpPr>
        <p:spPr>
          <a:xfrm>
            <a:off x="685800" y="5829299"/>
            <a:ext cx="10820400" cy="4191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s: one state    |    Sₜ: random state at time t</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402272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FD8C9F8-7407-D866-C402-E7901E5051AD}"/>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93751DC1-3A5F-F583-F01F-B25985E4986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Read transition probabilities</a:t>
            </a:r>
          </a:p>
        </p:txBody>
      </p:sp>
      <p:sp>
        <p:nvSpPr>
          <p:cNvPr id="4" name="text_3">
            <a:extLst>
              <a:ext uri="{FF2B5EF4-FFF2-40B4-BE49-F238E27FC236}">
                <a16:creationId xmlns:a16="http://schemas.microsoft.com/office/drawing/2014/main" id="{330FF9F7-646B-1F98-9722-410E8A47AA3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Condition on the current state and the chosen action.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95B4FF2-5BAA-79FC-8880-781E3982C80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E89A1BE-34AE-CA54-61CB-E83A70FD108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22F0C396-8659-0E8F-0250-3060BB66A53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05</a:t>
            </a:r>
          </a:p>
        </p:txBody>
      </p:sp>
      <p:sp>
        <p:nvSpPr>
          <p:cNvPr id="8" name="text_7">
            <a:extLst>
              <a:ext uri="{FF2B5EF4-FFF2-40B4-BE49-F238E27FC236}">
                <a16:creationId xmlns:a16="http://schemas.microsoft.com/office/drawing/2014/main" id="{6ACB8502-A752-326E-BAE3-B5000C56E6A1}"/>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100">
                <a:solidFill>
                  <a:srgbClr val="2459D3"/>
                </a:solidFill>
                <a:latin typeface="Cambria Math" panose="02040503050406030204" pitchFamily="18" charset="0"/>
              </a:rPr>
              <a:t>P(s′ | s, a) ≥ 0     ∑</a:t>
            </a:r>
            <a:r>
              <a:rPr lang="en-IL" sz="2232" baseline="-22000">
                <a:solidFill>
                  <a:srgbClr val="2459D3"/>
                </a:solidFill>
                <a:latin typeface="Cambria Math" panose="02040503050406030204" pitchFamily="18" charset="0"/>
              </a:rPr>
              <a:t>s′∈S</a:t>
            </a:r>
            <a:r>
              <a:rPr lang="en-IL" sz="3100">
                <a:solidFill>
                  <a:srgbClr val="2459D3"/>
                </a:solidFill>
                <a:latin typeface="Cambria Math" panose="02040503050406030204" pitchFamily="18" charset="0"/>
              </a:rPr>
              <a:t> P(s′ | s, a) = 1</a:t>
            </a:r>
          </a:p>
        </p:txBody>
      </p:sp>
      <p:sp>
        <p:nvSpPr>
          <p:cNvPr id="9" name="text_8">
            <a:extLst>
              <a:ext uri="{FF2B5EF4-FFF2-40B4-BE49-F238E27FC236}">
                <a16:creationId xmlns:a16="http://schemas.microsoft.com/office/drawing/2014/main" id="{D0D04F72-8D20-D3A0-7893-2CFB8DDFFDDA}"/>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P(delivered | start, risky) = 0.8</a:t>
            </a:r>
          </a:p>
        </p:txBody>
      </p:sp>
      <p:sp>
        <p:nvSpPr>
          <p:cNvPr id="10" name="text_9">
            <a:extLst>
              <a:ext uri="{FF2B5EF4-FFF2-40B4-BE49-F238E27FC236}">
                <a16:creationId xmlns:a16="http://schemas.microsoft.com/office/drawing/2014/main" id="{83050467-B4E6-38F3-60DB-BC84C567878B}"/>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US" sz="3100">
                <a:solidFill>
                  <a:srgbClr val="15283B"/>
                </a:solidFill>
                <a:latin typeface="Cambria Math" panose="02040503050406030204" pitchFamily="18" charset="0"/>
              </a:rPr>
              <a:t>P(failed | start, risky) = 0.2</a:t>
            </a:r>
            <a:endParaRPr lang="en-IL" sz="31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4664D0CF-D23F-7C0E-EA71-6892DE39E2AE}"/>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The two risky outcomes sum to 1. Other successors have probability 0.</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883324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A40013E-5C6A-1248-BA05-1610253C6459}"/>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229FF96E-1CD4-5D87-FB38-26B490DB5F6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What makes a state Markov?</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3E243CF3-0D91-5FC0-A69D-192F349F307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present state must contain the relevant information.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AC4B285-63B3-AB53-2366-144B14039C7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53AA246-BD5E-4185-CD8A-6E36C37A48E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9DF0A92-CEBD-F4E5-B5DB-AB96AB8CA59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06</a:t>
            </a:r>
          </a:p>
        </p:txBody>
      </p:sp>
      <p:sp>
        <p:nvSpPr>
          <p:cNvPr id="8" name="text_7">
            <a:extLst>
              <a:ext uri="{FF2B5EF4-FFF2-40B4-BE49-F238E27FC236}">
                <a16:creationId xmlns:a16="http://schemas.microsoft.com/office/drawing/2014/main" id="{C1AFFA17-B8E1-50A4-C9C3-6F9333410910}"/>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US" sz="3100">
                <a:solidFill>
                  <a:srgbClr val="2459D3"/>
                </a:solidFill>
                <a:latin typeface="Cambria Math" panose="02040503050406030204" pitchFamily="18" charset="0"/>
              </a:rPr>
              <a:t>P(S</a:t>
            </a:r>
            <a:r>
              <a:rPr lang="en-US" sz="2232" baseline="-22000">
                <a:solidFill>
                  <a:srgbClr val="2459D3"/>
                </a:solidFill>
                <a:latin typeface="Cambria Math" panose="02040503050406030204" pitchFamily="18" charset="0"/>
              </a:rPr>
              <a:t>t+1</a:t>
            </a:r>
            <a:r>
              <a:rPr lang="en-US" sz="3100">
                <a:solidFill>
                  <a:srgbClr val="2459D3"/>
                </a:solidFill>
                <a:latin typeface="Cambria Math" panose="02040503050406030204" pitchFamily="18" charset="0"/>
              </a:rPr>
              <a:t> | S</a:t>
            </a:r>
            <a:r>
              <a:rPr lang="en-US" sz="2232" baseline="-22000">
                <a:solidFill>
                  <a:srgbClr val="2459D3"/>
                </a:solidFill>
                <a:latin typeface="Cambria Math" panose="02040503050406030204" pitchFamily="18" charset="0"/>
              </a:rPr>
              <a:t>0:t</a:t>
            </a:r>
            <a:r>
              <a:rPr lang="en-US" sz="3100">
                <a:solidFill>
                  <a:srgbClr val="2459D3"/>
                </a:solidFill>
                <a:latin typeface="Cambria Math" panose="02040503050406030204" pitchFamily="18" charset="0"/>
              </a:rPr>
              <a:t>, A</a:t>
            </a:r>
            <a:r>
              <a:rPr lang="en-US" sz="2232" baseline="-22000">
                <a:solidFill>
                  <a:srgbClr val="2459D3"/>
                </a:solidFill>
                <a:latin typeface="Cambria Math" panose="02040503050406030204" pitchFamily="18" charset="0"/>
              </a:rPr>
              <a:t>0:t</a:t>
            </a:r>
            <a:r>
              <a:rPr lang="en-US" sz="3100">
                <a:solidFill>
                  <a:srgbClr val="2459D3"/>
                </a:solidFill>
                <a:latin typeface="Cambria Math" panose="02040503050406030204" pitchFamily="18" charset="0"/>
              </a:rPr>
              <a:t>)</a:t>
            </a:r>
            <a:endParaRPr lang="en-IL" sz="31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F1535C77-F67D-397B-B888-7A8A94F8825B}"/>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US" sz="3100">
                <a:solidFill>
                  <a:srgbClr val="15283B"/>
                </a:solidFill>
                <a:latin typeface="Cambria Math" panose="02040503050406030204" pitchFamily="18" charset="0"/>
              </a:rPr>
              <a:t>= P(S</a:t>
            </a:r>
            <a:r>
              <a:rPr lang="en-US" sz="2232" baseline="-22000">
                <a:solidFill>
                  <a:srgbClr val="15283B"/>
                </a:solidFill>
                <a:latin typeface="Cambria Math" panose="02040503050406030204" pitchFamily="18" charset="0"/>
              </a:rPr>
              <a:t>t+1</a:t>
            </a:r>
            <a:r>
              <a:rPr lang="en-US" sz="3100">
                <a:solidFill>
                  <a:srgbClr val="15283B"/>
                </a:solidFill>
                <a:latin typeface="Cambria Math" panose="02040503050406030204" pitchFamily="18" charset="0"/>
              </a:rPr>
              <a:t> | S</a:t>
            </a:r>
            <a:r>
              <a:rPr lang="en-US" sz="2232" baseline="-22000">
                <a:solidFill>
                  <a:srgbClr val="15283B"/>
                </a:solidFill>
                <a:latin typeface="Cambria Math" panose="02040503050406030204" pitchFamily="18" charset="0"/>
              </a:rPr>
              <a:t>t</a:t>
            </a:r>
            <a:r>
              <a:rPr lang="en-US" sz="3100">
                <a:solidFill>
                  <a:srgbClr val="15283B"/>
                </a:solidFill>
                <a:latin typeface="Cambria Math" panose="02040503050406030204" pitchFamily="18" charset="0"/>
              </a:rPr>
              <a:t>, A</a:t>
            </a:r>
            <a:r>
              <a:rPr lang="en-US" sz="2232" baseline="-22000">
                <a:solidFill>
                  <a:srgbClr val="15283B"/>
                </a:solidFill>
                <a:latin typeface="Cambria Math" panose="02040503050406030204" pitchFamily="18" charset="0"/>
              </a:rPr>
              <a:t>t</a:t>
            </a:r>
            <a:r>
              <a:rPr lang="en-US" sz="3100">
                <a:solidFill>
                  <a:srgbClr val="15283B"/>
                </a:solidFill>
                <a:latin typeface="Cambria Math" panose="02040503050406030204" pitchFamily="18" charset="0"/>
              </a:rPr>
              <a:t>)</a:t>
            </a:r>
            <a:endParaRPr lang="en-IL" sz="31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335A5015-0AE5-5A53-5550-5B6E66AF2F65}"/>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If battery changes success probability, include battery in the state.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587545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13B4E91-A40F-D3EA-3057-1B6C7014C396}"/>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A306795D-40AD-A42B-61B2-3636A58636C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A policy chooses actions</a:t>
            </a:r>
          </a:p>
        </p:txBody>
      </p:sp>
      <p:sp>
        <p:nvSpPr>
          <p:cNvPr id="4" name="text_3">
            <a:extLst>
              <a:ext uri="{FF2B5EF4-FFF2-40B4-BE49-F238E27FC236}">
                <a16:creationId xmlns:a16="http://schemas.microsoft.com/office/drawing/2014/main" id="{2BC4583E-14DC-EA26-2C34-C382E5A77DB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deterministic decision can have a stochastic outcome.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1B417B9-AB5D-B755-2A68-9F2B76DB8EB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C3258ABC-18D7-C353-3DCD-33A5B64611F1}"/>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5EC47D6-6168-5740-3C99-4890A3671423}"/>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07</a:t>
            </a:r>
          </a:p>
        </p:txBody>
      </p:sp>
      <p:sp>
        <p:nvSpPr>
          <p:cNvPr id="8" name="text_7">
            <a:extLst>
              <a:ext uri="{FF2B5EF4-FFF2-40B4-BE49-F238E27FC236}">
                <a16:creationId xmlns:a16="http://schemas.microsoft.com/office/drawing/2014/main" id="{D3911F15-BAA1-333D-C276-D816012649C7}"/>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100">
                <a:solidFill>
                  <a:srgbClr val="2459D3"/>
                </a:solidFill>
                <a:latin typeface="Cambria Math" panose="02040503050406030204" pitchFamily="18" charset="0"/>
              </a:rPr>
              <a:t>Deterministic:     </a:t>
            </a:r>
            <a:r>
              <a:rPr lang="el-GR" sz="3100">
                <a:solidFill>
                  <a:srgbClr val="2459D3"/>
                </a:solidFill>
                <a:latin typeface="Cambria Math" panose="02040503050406030204" pitchFamily="18" charset="0"/>
              </a:rPr>
              <a:t>π(</a:t>
            </a:r>
            <a:r>
              <a:rPr lang="en-IL" sz="3100">
                <a:solidFill>
                  <a:srgbClr val="2459D3"/>
                </a:solidFill>
                <a:latin typeface="Cambria Math" panose="02040503050406030204" pitchFamily="18" charset="0"/>
              </a:rPr>
              <a:t>s) ∈ A(s)</a:t>
            </a:r>
          </a:p>
        </p:txBody>
      </p:sp>
      <p:sp>
        <p:nvSpPr>
          <p:cNvPr id="9" name="text_8">
            <a:extLst>
              <a:ext uri="{FF2B5EF4-FFF2-40B4-BE49-F238E27FC236}">
                <a16:creationId xmlns:a16="http://schemas.microsoft.com/office/drawing/2014/main" id="{01C2E9F9-011F-6AF2-DCD5-1F1F8B2A76A4}"/>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Stochastic:         </a:t>
            </a:r>
            <a:r>
              <a:rPr lang="el-GR" sz="3100">
                <a:solidFill>
                  <a:srgbClr val="15283B"/>
                </a:solidFill>
                <a:latin typeface="Cambria Math" panose="02040503050406030204" pitchFamily="18" charset="0"/>
              </a:rPr>
              <a:t>π(</a:t>
            </a:r>
            <a:r>
              <a:rPr lang="en-IL" sz="3100">
                <a:solidFill>
                  <a:srgbClr val="15283B"/>
                </a:solidFill>
                <a:latin typeface="Cambria Math" panose="02040503050406030204" pitchFamily="18" charset="0"/>
              </a:rPr>
              <a:t>a | s) ≥ 0,   ∑</a:t>
            </a:r>
            <a:r>
              <a:rPr lang="en-IL" sz="2232" baseline="-22000">
                <a:solidFill>
                  <a:srgbClr val="15283B"/>
                </a:solidFill>
                <a:latin typeface="Cambria Math" panose="02040503050406030204" pitchFamily="18" charset="0"/>
              </a:rPr>
              <a:t>a</a:t>
            </a:r>
            <a:r>
              <a:rPr lang="en-IL" sz="3100">
                <a:solidFill>
                  <a:srgbClr val="15283B"/>
                </a:solidFill>
                <a:latin typeface="Cambria Math" panose="02040503050406030204" pitchFamily="18" charset="0"/>
              </a:rPr>
              <a:t> </a:t>
            </a:r>
            <a:r>
              <a:rPr lang="el-GR" sz="3100">
                <a:solidFill>
                  <a:srgbClr val="15283B"/>
                </a:solidFill>
                <a:latin typeface="Cambria Math" panose="02040503050406030204" pitchFamily="18" charset="0"/>
              </a:rPr>
              <a:t>π(</a:t>
            </a:r>
            <a:r>
              <a:rPr lang="en-IL" sz="3100">
                <a:solidFill>
                  <a:srgbClr val="15283B"/>
                </a:solidFill>
                <a:latin typeface="Cambria Math" panose="02040503050406030204" pitchFamily="18" charset="0"/>
              </a:rPr>
              <a:t>a | s) = 1</a:t>
            </a:r>
          </a:p>
        </p:txBody>
      </p:sp>
      <p:sp>
        <p:nvSpPr>
          <p:cNvPr id="10" name="text_9">
            <a:extLst>
              <a:ext uri="{FF2B5EF4-FFF2-40B4-BE49-F238E27FC236}">
                <a16:creationId xmlns:a16="http://schemas.microsoft.com/office/drawing/2014/main" id="{08FAA252-7FC7-616F-41C4-B5605D78FEB6}"/>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Example:             </a:t>
            </a:r>
            <a:r>
              <a:rPr lang="el-GR" sz="3100">
                <a:solidFill>
                  <a:srgbClr val="15283B"/>
                </a:solidFill>
                <a:latin typeface="Cambria Math" panose="02040503050406030204" pitchFamily="18" charset="0"/>
              </a:rPr>
              <a:t>π(</a:t>
            </a:r>
            <a:r>
              <a:rPr lang="en-IL" sz="3100">
                <a:solidFill>
                  <a:srgbClr val="15283B"/>
                </a:solidFill>
                <a:latin typeface="Cambria Math" panose="02040503050406030204" pitchFamily="18" charset="0"/>
              </a:rPr>
              <a:t>start) = risky</a:t>
            </a:r>
          </a:p>
        </p:txBody>
      </p:sp>
      <p:sp>
        <p:nvSpPr>
          <p:cNvPr id="11" name="text_10">
            <a:extLst>
              <a:ext uri="{FF2B5EF4-FFF2-40B4-BE49-F238E27FC236}">
                <a16:creationId xmlns:a16="http://schemas.microsoft.com/office/drawing/2014/main" id="{7FBC4976-A2B4-8B10-A8E7-011C430EB754}"/>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At detour: finish. At either terminal: stay.</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068257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FA65EABF-C982-EAED-D12E-53040E733E5B}"/>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FCCA4EC0-7C37-B5AB-BFD6-2F546B0EA9D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Reward now; value of the future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AE4C812B-3045-3F39-27D9-4336A937A7D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Do not count the arrival reward twice.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A0EAEF0-92BE-8B0D-5B33-27D95AA3329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D3EF009-D1EE-6482-937F-8C087D54042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AAAB5B2-A5CC-2BD5-58AE-60A75CC74A2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08</a:t>
            </a:r>
          </a:p>
        </p:txBody>
      </p:sp>
      <p:sp>
        <p:nvSpPr>
          <p:cNvPr id="8" name="text_7">
            <a:extLst>
              <a:ext uri="{FF2B5EF4-FFF2-40B4-BE49-F238E27FC236}">
                <a16:creationId xmlns:a16="http://schemas.microsoft.com/office/drawing/2014/main" id="{2A9D8341-6D9F-81EF-0244-D91AC1CB8446}"/>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US" sz="3100">
                <a:solidFill>
                  <a:srgbClr val="2459D3"/>
                </a:solidFill>
                <a:latin typeface="Cambria Math" panose="02040503050406030204" pitchFamily="18" charset="0"/>
              </a:rPr>
              <a:t>r(s,a,s′): reward on this transition</a:t>
            </a:r>
            <a:endParaRPr lang="en-IL" sz="31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C045C346-05F7-FA86-B97C-F4E886FC194A}"/>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pt-BR" sz="3100">
                <a:solidFill>
                  <a:srgbClr val="15283B"/>
                </a:solidFill>
                <a:latin typeface="Cambria Math" panose="02040503050406030204" pitchFamily="18" charset="0"/>
              </a:rPr>
              <a:t>R(s,a) = ∑</a:t>
            </a:r>
            <a:r>
              <a:rPr lang="pt-BR" sz="2232" baseline="-22000">
                <a:solidFill>
                  <a:srgbClr val="15283B"/>
                </a:solidFill>
                <a:latin typeface="Cambria Math" panose="02040503050406030204" pitchFamily="18" charset="0"/>
              </a:rPr>
              <a:t>s′</a:t>
            </a:r>
            <a:r>
              <a:rPr lang="pt-BR" sz="3100">
                <a:solidFill>
                  <a:srgbClr val="15283B"/>
                </a:solidFill>
                <a:latin typeface="Cambria Math" panose="02040503050406030204" pitchFamily="18" charset="0"/>
              </a:rPr>
              <a:t> P(s′ | s,a) r(s,a,s′)</a:t>
            </a:r>
            <a:endParaRPr lang="en-IL" sz="31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71E02EE6-C2FA-BDA6-975A-C7456D95956B}"/>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R(start,risky) = 0.8(10) + 0.2(−10) = 6</a:t>
            </a:r>
          </a:p>
        </p:txBody>
      </p:sp>
      <p:sp>
        <p:nvSpPr>
          <p:cNvPr id="11" name="text_10">
            <a:extLst>
              <a:ext uri="{FF2B5EF4-FFF2-40B4-BE49-F238E27FC236}">
                <a16:creationId xmlns:a16="http://schemas.microsoft.com/office/drawing/2014/main" id="{6F6A09D3-620F-418D-14EB-4D9C75620D32}"/>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Delivered / failed: later rewards = 0, so terminal values = 0.</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574702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5F01B27-F0A7-A59E-923D-AA7DF51959E1}"/>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F8ACC606-6C73-0BC6-2A11-67DE4D6A83B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Return and discounting</a:t>
            </a:r>
          </a:p>
        </p:txBody>
      </p:sp>
      <p:sp>
        <p:nvSpPr>
          <p:cNvPr id="4" name="text_3">
            <a:extLst>
              <a:ext uri="{FF2B5EF4-FFF2-40B4-BE49-F238E27FC236}">
                <a16:creationId xmlns:a16="http://schemas.microsoft.com/office/drawing/2014/main" id="{3DDA3422-16C6-0DC6-71A2-9E812E4B7A6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Return adds rewards along one trajectory.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917A5ACC-D60B-34A1-CFE2-47781D80A96B}"/>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38A1738-4419-974F-AC2D-D5E9B034280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4F2B6E7-09C6-443E-0110-6B69BC69EFBF}"/>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09</a:t>
            </a:r>
          </a:p>
        </p:txBody>
      </p:sp>
      <p:sp>
        <p:nvSpPr>
          <p:cNvPr id="8" name="text_7">
            <a:extLst>
              <a:ext uri="{FF2B5EF4-FFF2-40B4-BE49-F238E27FC236}">
                <a16:creationId xmlns:a16="http://schemas.microsoft.com/office/drawing/2014/main" id="{CCB7D0D3-B0E2-154D-3307-7DCF71425873}"/>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100">
                <a:solidFill>
                  <a:srgbClr val="2459D3"/>
                </a:solidFill>
                <a:latin typeface="Cambria Math" panose="02040503050406030204" pitchFamily="18" charset="0"/>
              </a:rPr>
              <a:t>G</a:t>
            </a:r>
            <a:r>
              <a:rPr lang="en-IL" sz="2232" baseline="-22000">
                <a:solidFill>
                  <a:srgbClr val="2459D3"/>
                </a:solidFill>
                <a:latin typeface="Cambria Math" panose="02040503050406030204" pitchFamily="18" charset="0"/>
              </a:rPr>
              <a:t>t</a:t>
            </a:r>
            <a:r>
              <a:rPr lang="en-IL" sz="3100">
                <a:solidFill>
                  <a:srgbClr val="2459D3"/>
                </a:solidFill>
                <a:latin typeface="Cambria Math" panose="02040503050406030204" pitchFamily="18" charset="0"/>
              </a:rPr>
              <a:t> = ∑</a:t>
            </a:r>
            <a:r>
              <a:rPr lang="en-IL" sz="2232" baseline="-22000">
                <a:solidFill>
                  <a:srgbClr val="2459D3"/>
                </a:solidFill>
                <a:latin typeface="Cambria Math" panose="02040503050406030204" pitchFamily="18" charset="0"/>
              </a:rPr>
              <a:t>k=0</a:t>
            </a:r>
            <a:r>
              <a:rPr lang="en-IL" sz="2232" baseline="32000">
                <a:solidFill>
                  <a:srgbClr val="2459D3"/>
                </a:solidFill>
                <a:latin typeface="Cambria Math" panose="02040503050406030204" pitchFamily="18" charset="0"/>
              </a:rPr>
              <a:t>∞</a:t>
            </a:r>
            <a:r>
              <a:rPr lang="en-IL" sz="3100">
                <a:solidFill>
                  <a:srgbClr val="2459D3"/>
                </a:solidFill>
                <a:latin typeface="Cambria Math" panose="02040503050406030204" pitchFamily="18" charset="0"/>
              </a:rPr>
              <a:t> </a:t>
            </a:r>
            <a:r>
              <a:rPr lang="el-GR" sz="3100">
                <a:solidFill>
                  <a:srgbClr val="2459D3"/>
                </a:solidFill>
                <a:latin typeface="Cambria Math" panose="02040503050406030204" pitchFamily="18" charset="0"/>
              </a:rPr>
              <a:t>γ</a:t>
            </a:r>
            <a:r>
              <a:rPr lang="en-IL" sz="2232" baseline="32000">
                <a:solidFill>
                  <a:srgbClr val="2459D3"/>
                </a:solidFill>
                <a:latin typeface="Cambria Math" panose="02040503050406030204" pitchFamily="18" charset="0"/>
              </a:rPr>
              <a:t>k</a:t>
            </a:r>
            <a:r>
              <a:rPr lang="en-IL" sz="3100">
                <a:solidFill>
                  <a:srgbClr val="2459D3"/>
                </a:solidFill>
                <a:latin typeface="Cambria Math" panose="02040503050406030204" pitchFamily="18" charset="0"/>
              </a:rPr>
              <a:t> R</a:t>
            </a:r>
            <a:r>
              <a:rPr lang="en-IL" sz="2232" baseline="-22000">
                <a:solidFill>
                  <a:srgbClr val="2459D3"/>
                </a:solidFill>
                <a:latin typeface="Cambria Math" panose="02040503050406030204" pitchFamily="18" charset="0"/>
              </a:rPr>
              <a:t>t+k</a:t>
            </a:r>
          </a:p>
        </p:txBody>
      </p:sp>
      <p:sp>
        <p:nvSpPr>
          <p:cNvPr id="9" name="text_8">
            <a:extLst>
              <a:ext uri="{FF2B5EF4-FFF2-40B4-BE49-F238E27FC236}">
                <a16:creationId xmlns:a16="http://schemas.microsoft.com/office/drawing/2014/main" id="{4FF27CD3-D3FB-61FB-738C-FC9522964263}"/>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G</a:t>
            </a:r>
            <a:r>
              <a:rPr lang="en-IL" sz="2232" baseline="-22000">
                <a:solidFill>
                  <a:srgbClr val="15283B"/>
                </a:solidFill>
                <a:latin typeface="Cambria Math" panose="02040503050406030204" pitchFamily="18" charset="0"/>
              </a:rPr>
              <a:t>t</a:t>
            </a:r>
            <a:r>
              <a:rPr lang="en-IL" sz="3100">
                <a:solidFill>
                  <a:srgbClr val="15283B"/>
                </a:solidFill>
                <a:latin typeface="Cambria Math" panose="02040503050406030204" pitchFamily="18" charset="0"/>
              </a:rPr>
              <a:t> = R</a:t>
            </a:r>
            <a:r>
              <a:rPr lang="en-IL" sz="2232" baseline="-22000">
                <a:solidFill>
                  <a:srgbClr val="15283B"/>
                </a:solidFill>
                <a:latin typeface="Cambria Math" panose="02040503050406030204" pitchFamily="18" charset="0"/>
              </a:rPr>
              <a:t>t</a:t>
            </a:r>
            <a:r>
              <a:rPr lang="en-IL" sz="3100">
                <a:solidFill>
                  <a:srgbClr val="15283B"/>
                </a:solidFill>
                <a:latin typeface="Cambria Math" panose="02040503050406030204" pitchFamily="18" charset="0"/>
              </a:rPr>
              <a:t> + </a:t>
            </a:r>
            <a:r>
              <a:rPr lang="el-GR" sz="3100">
                <a:solidFill>
                  <a:srgbClr val="15283B"/>
                </a:solidFill>
                <a:latin typeface="Cambria Math" panose="02040503050406030204" pitchFamily="18" charset="0"/>
              </a:rPr>
              <a:t>γ</a:t>
            </a:r>
            <a:r>
              <a:rPr lang="en-IL" sz="3100">
                <a:solidFill>
                  <a:srgbClr val="15283B"/>
                </a:solidFill>
                <a:latin typeface="Cambria Math" panose="02040503050406030204" pitchFamily="18" charset="0"/>
              </a:rPr>
              <a:t>R</a:t>
            </a:r>
            <a:r>
              <a:rPr lang="en-IL" sz="2232" baseline="-22000">
                <a:solidFill>
                  <a:srgbClr val="15283B"/>
                </a:solidFill>
                <a:latin typeface="Cambria Math" panose="02040503050406030204" pitchFamily="18" charset="0"/>
              </a:rPr>
              <a:t>t+1</a:t>
            </a:r>
            <a:r>
              <a:rPr lang="en-IL" sz="3100">
                <a:solidFill>
                  <a:srgbClr val="15283B"/>
                </a:solidFill>
                <a:latin typeface="Cambria Math" panose="02040503050406030204" pitchFamily="18" charset="0"/>
              </a:rPr>
              <a:t> + </a:t>
            </a:r>
            <a:r>
              <a:rPr lang="el-GR" sz="3100">
                <a:solidFill>
                  <a:srgbClr val="15283B"/>
                </a:solidFill>
                <a:latin typeface="Cambria Math" panose="02040503050406030204" pitchFamily="18" charset="0"/>
              </a:rPr>
              <a:t>γ</a:t>
            </a:r>
            <a:r>
              <a:rPr lang="el-GR" sz="2232" baseline="32000">
                <a:solidFill>
                  <a:srgbClr val="15283B"/>
                </a:solidFill>
                <a:latin typeface="Cambria Math" panose="02040503050406030204" pitchFamily="18" charset="0"/>
              </a:rPr>
              <a:t>2</a:t>
            </a:r>
            <a:r>
              <a:rPr lang="en-IL" sz="3100">
                <a:solidFill>
                  <a:srgbClr val="15283B"/>
                </a:solidFill>
                <a:latin typeface="Cambria Math" panose="02040503050406030204" pitchFamily="18" charset="0"/>
              </a:rPr>
              <a:t>R</a:t>
            </a:r>
            <a:r>
              <a:rPr lang="en-IL" sz="2232" baseline="-22000">
                <a:solidFill>
                  <a:srgbClr val="15283B"/>
                </a:solidFill>
                <a:latin typeface="Cambria Math" panose="02040503050406030204" pitchFamily="18" charset="0"/>
              </a:rPr>
              <a:t>t+2</a:t>
            </a:r>
            <a:r>
              <a:rPr lang="en-IL" sz="3100">
                <a:solidFill>
                  <a:srgbClr val="15283B"/>
                </a:solidFill>
                <a:latin typeface="Cambria Math" panose="02040503050406030204" pitchFamily="18" charset="0"/>
              </a:rPr>
              <a:t> + ⋯</a:t>
            </a:r>
          </a:p>
        </p:txBody>
      </p:sp>
      <p:sp>
        <p:nvSpPr>
          <p:cNvPr id="10" name="text_9">
            <a:extLst>
              <a:ext uri="{FF2B5EF4-FFF2-40B4-BE49-F238E27FC236}">
                <a16:creationId xmlns:a16="http://schemas.microsoft.com/office/drawing/2014/main" id="{16A0C6C1-F0BE-6506-ABC4-16352B0532F7}"/>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Safe:    G = −1 + 0.9(8) = 6.2</a:t>
            </a:r>
          </a:p>
        </p:txBody>
      </p:sp>
      <p:sp>
        <p:nvSpPr>
          <p:cNvPr id="11" name="text_10">
            <a:extLst>
              <a:ext uri="{FF2B5EF4-FFF2-40B4-BE49-F238E27FC236}">
                <a16:creationId xmlns:a16="http://schemas.microsoft.com/office/drawing/2014/main" id="{68E5259A-B39C-8166-18C7-D7902A91E759}"/>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Risky: one trajectory returns +10 or −10. Expected return is 6.</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775504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C761305-9883-A303-E7F7-27ACE376CCA0}"/>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54589BBB-4293-78FD-0348-7B42A704A1F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State values and action values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ACBEC150-98DC-66CF-9169-FD555B10498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Both average future return under a policy.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E9995DF-F25A-C140-8EEF-30726FD1A25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F66B2EA-B6D2-73EE-7E73-075ACA4BD6F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E450FBA-8179-B1D9-FA9E-2FB60E95B78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10</a:t>
            </a:r>
          </a:p>
        </p:txBody>
      </p:sp>
      <p:sp>
        <p:nvSpPr>
          <p:cNvPr id="8" name="text_7">
            <a:extLst>
              <a:ext uri="{FF2B5EF4-FFF2-40B4-BE49-F238E27FC236}">
                <a16:creationId xmlns:a16="http://schemas.microsoft.com/office/drawing/2014/main" id="{7523EAF8-03F5-BA7B-E531-17D2FE0E59BF}"/>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US" sz="3100">
                <a:solidFill>
                  <a:srgbClr val="2459D3"/>
                </a:solidFill>
                <a:latin typeface="Cambria Math" panose="02040503050406030204" pitchFamily="18" charset="0"/>
              </a:rPr>
              <a:t>V</a:t>
            </a:r>
            <a:r>
              <a:rPr lang="en-US" sz="2232" baseline="32000">
                <a:solidFill>
                  <a:srgbClr val="2459D3"/>
                </a:solidFill>
                <a:latin typeface="Cambria Math" panose="02040503050406030204" pitchFamily="18" charset="0"/>
              </a:rPr>
              <a:t>π</a:t>
            </a:r>
            <a:r>
              <a:rPr lang="en-US" sz="3100">
                <a:solidFill>
                  <a:srgbClr val="2459D3"/>
                </a:solidFill>
                <a:latin typeface="Cambria Math" panose="02040503050406030204" pitchFamily="18" charset="0"/>
              </a:rPr>
              <a:t>(s) = 𝔼</a:t>
            </a:r>
            <a:r>
              <a:rPr lang="en-US" sz="2232" baseline="-22000">
                <a:solidFill>
                  <a:srgbClr val="2459D3"/>
                </a:solidFill>
                <a:latin typeface="Cambria Math" panose="02040503050406030204" pitchFamily="18" charset="0"/>
              </a:rPr>
              <a:t>π</a:t>
            </a:r>
            <a:r>
              <a:rPr lang="en-US" sz="3100">
                <a:solidFill>
                  <a:srgbClr val="2459D3"/>
                </a:solidFill>
                <a:latin typeface="Cambria Math" panose="02040503050406030204" pitchFamily="18" charset="0"/>
              </a:rPr>
              <a:t>[G</a:t>
            </a:r>
            <a:r>
              <a:rPr lang="en-US" sz="2232" baseline="-22000">
                <a:solidFill>
                  <a:srgbClr val="2459D3"/>
                </a:solidFill>
                <a:latin typeface="Cambria Math" panose="02040503050406030204" pitchFamily="18" charset="0"/>
              </a:rPr>
              <a:t>t</a:t>
            </a:r>
            <a:r>
              <a:rPr lang="en-US" sz="3100">
                <a:solidFill>
                  <a:srgbClr val="2459D3"/>
                </a:solidFill>
                <a:latin typeface="Cambria Math" panose="02040503050406030204" pitchFamily="18" charset="0"/>
              </a:rPr>
              <a:t> | S</a:t>
            </a:r>
            <a:r>
              <a:rPr lang="en-US" sz="2232" baseline="-22000">
                <a:solidFill>
                  <a:srgbClr val="2459D3"/>
                </a:solidFill>
                <a:latin typeface="Cambria Math" panose="02040503050406030204" pitchFamily="18" charset="0"/>
              </a:rPr>
              <a:t>t</a:t>
            </a:r>
            <a:r>
              <a:rPr lang="en-US" sz="3100">
                <a:solidFill>
                  <a:srgbClr val="2459D3"/>
                </a:solidFill>
                <a:latin typeface="Cambria Math" panose="02040503050406030204" pitchFamily="18" charset="0"/>
              </a:rPr>
              <a:t> = s]</a:t>
            </a:r>
            <a:endParaRPr lang="en-IL" sz="31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BB3068A3-6CF7-160A-CA00-547D92BDD3EA}"/>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US" sz="3100">
                <a:solidFill>
                  <a:srgbClr val="15283B"/>
                </a:solidFill>
                <a:latin typeface="Cambria Math" panose="02040503050406030204" pitchFamily="18" charset="0"/>
              </a:rPr>
              <a:t>Q</a:t>
            </a:r>
            <a:r>
              <a:rPr lang="en-US" sz="2232" baseline="32000">
                <a:solidFill>
                  <a:srgbClr val="15283B"/>
                </a:solidFill>
                <a:latin typeface="Cambria Math" panose="02040503050406030204" pitchFamily="18" charset="0"/>
              </a:rPr>
              <a:t>π</a:t>
            </a:r>
            <a:r>
              <a:rPr lang="en-US" sz="3100">
                <a:solidFill>
                  <a:srgbClr val="15283B"/>
                </a:solidFill>
                <a:latin typeface="Cambria Math" panose="02040503050406030204" pitchFamily="18" charset="0"/>
              </a:rPr>
              <a:t>(s,a) = 𝔼</a:t>
            </a:r>
            <a:r>
              <a:rPr lang="en-US" sz="2232" baseline="-22000">
                <a:solidFill>
                  <a:srgbClr val="15283B"/>
                </a:solidFill>
                <a:latin typeface="Cambria Math" panose="02040503050406030204" pitchFamily="18" charset="0"/>
              </a:rPr>
              <a:t>π</a:t>
            </a:r>
            <a:r>
              <a:rPr lang="en-US" sz="3100">
                <a:solidFill>
                  <a:srgbClr val="15283B"/>
                </a:solidFill>
                <a:latin typeface="Cambria Math" panose="02040503050406030204" pitchFamily="18" charset="0"/>
              </a:rPr>
              <a:t>[G</a:t>
            </a:r>
            <a:r>
              <a:rPr lang="en-US" sz="2232" baseline="-22000">
                <a:solidFill>
                  <a:srgbClr val="15283B"/>
                </a:solidFill>
                <a:latin typeface="Cambria Math" panose="02040503050406030204" pitchFamily="18" charset="0"/>
              </a:rPr>
              <a:t>t</a:t>
            </a:r>
            <a:r>
              <a:rPr lang="en-US" sz="3100">
                <a:solidFill>
                  <a:srgbClr val="15283B"/>
                </a:solidFill>
                <a:latin typeface="Cambria Math" panose="02040503050406030204" pitchFamily="18" charset="0"/>
              </a:rPr>
              <a:t> | S</a:t>
            </a:r>
            <a:r>
              <a:rPr lang="en-US" sz="2232" baseline="-22000">
                <a:solidFill>
                  <a:srgbClr val="15283B"/>
                </a:solidFill>
                <a:latin typeface="Cambria Math" panose="02040503050406030204" pitchFamily="18" charset="0"/>
              </a:rPr>
              <a:t>t</a:t>
            </a:r>
            <a:r>
              <a:rPr lang="en-US" sz="3100">
                <a:solidFill>
                  <a:srgbClr val="15283B"/>
                </a:solidFill>
                <a:latin typeface="Cambria Math" panose="02040503050406030204" pitchFamily="18" charset="0"/>
              </a:rPr>
              <a:t>=s, A</a:t>
            </a:r>
            <a:r>
              <a:rPr lang="en-US" sz="2232" baseline="-22000">
                <a:solidFill>
                  <a:srgbClr val="15283B"/>
                </a:solidFill>
                <a:latin typeface="Cambria Math" panose="02040503050406030204" pitchFamily="18" charset="0"/>
              </a:rPr>
              <a:t>t</a:t>
            </a:r>
            <a:r>
              <a:rPr lang="en-US" sz="3100">
                <a:solidFill>
                  <a:srgbClr val="15283B"/>
                </a:solidFill>
                <a:latin typeface="Cambria Math" panose="02040503050406030204" pitchFamily="18" charset="0"/>
              </a:rPr>
              <a:t>=a]</a:t>
            </a:r>
            <a:endParaRPr lang="en-IL" sz="31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78E73B2C-5643-9AC4-676D-4BBE5B372691}"/>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V: follow π now. Q: take a now, then follow π.</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643176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C06C3A1-0980-93CF-8BBC-C522264F5709}"/>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3E269015-6604-D69E-D784-676A950E78D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Derive the Bellman recursion</a:t>
            </a:r>
          </a:p>
        </p:txBody>
      </p:sp>
      <p:sp>
        <p:nvSpPr>
          <p:cNvPr id="4" name="text_3">
            <a:extLst>
              <a:ext uri="{FF2B5EF4-FFF2-40B4-BE49-F238E27FC236}">
                <a16:creationId xmlns:a16="http://schemas.microsoft.com/office/drawing/2014/main" id="{1F0928BB-A352-8646-B284-8FBD3DE11A5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One reward now, then the same problem at the next state.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91603D59-44C2-C3DA-9C13-D87467D53E1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D881550-735D-A5DB-ECA5-25B0AD8CCA5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63664D6-6986-6D8A-0257-3E48CE5F446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11</a:t>
            </a:r>
          </a:p>
        </p:txBody>
      </p:sp>
      <p:sp>
        <p:nvSpPr>
          <p:cNvPr id="8" name="text_7">
            <a:extLst>
              <a:ext uri="{FF2B5EF4-FFF2-40B4-BE49-F238E27FC236}">
                <a16:creationId xmlns:a16="http://schemas.microsoft.com/office/drawing/2014/main" id="{6EC13F1B-A722-1F8E-7803-85F3278C71D3}"/>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100">
                <a:solidFill>
                  <a:srgbClr val="2459D3"/>
                </a:solidFill>
                <a:latin typeface="Cambria Math" panose="02040503050406030204" pitchFamily="18" charset="0"/>
              </a:rPr>
              <a:t>G</a:t>
            </a:r>
            <a:r>
              <a:rPr lang="en-IL" sz="2232" baseline="-22000">
                <a:solidFill>
                  <a:srgbClr val="2459D3"/>
                </a:solidFill>
                <a:latin typeface="Cambria Math" panose="02040503050406030204" pitchFamily="18" charset="0"/>
              </a:rPr>
              <a:t>t</a:t>
            </a:r>
            <a:r>
              <a:rPr lang="en-IL" sz="3100">
                <a:solidFill>
                  <a:srgbClr val="2459D3"/>
                </a:solidFill>
                <a:latin typeface="Cambria Math" panose="02040503050406030204" pitchFamily="18" charset="0"/>
              </a:rPr>
              <a:t> = R</a:t>
            </a:r>
            <a:r>
              <a:rPr lang="en-IL" sz="2232" baseline="-22000">
                <a:solidFill>
                  <a:srgbClr val="2459D3"/>
                </a:solidFill>
                <a:latin typeface="Cambria Math" panose="02040503050406030204" pitchFamily="18" charset="0"/>
              </a:rPr>
              <a:t>t</a:t>
            </a:r>
            <a:r>
              <a:rPr lang="en-IL" sz="3100">
                <a:solidFill>
                  <a:srgbClr val="2459D3"/>
                </a:solidFill>
                <a:latin typeface="Cambria Math" panose="02040503050406030204" pitchFamily="18" charset="0"/>
              </a:rPr>
              <a:t> + </a:t>
            </a:r>
            <a:r>
              <a:rPr lang="el-GR" sz="3100">
                <a:solidFill>
                  <a:srgbClr val="2459D3"/>
                </a:solidFill>
                <a:latin typeface="Cambria Math" panose="02040503050406030204" pitchFamily="18" charset="0"/>
              </a:rPr>
              <a:t>γ</a:t>
            </a:r>
            <a:r>
              <a:rPr lang="en-IL" sz="3100">
                <a:solidFill>
                  <a:srgbClr val="2459D3"/>
                </a:solidFill>
                <a:latin typeface="Cambria Math" panose="02040503050406030204" pitchFamily="18" charset="0"/>
              </a:rPr>
              <a:t>G</a:t>
            </a:r>
            <a:r>
              <a:rPr lang="en-IL" sz="2232" baseline="-22000">
                <a:solidFill>
                  <a:srgbClr val="2459D3"/>
                </a:solidFill>
                <a:latin typeface="Cambria Math" panose="02040503050406030204" pitchFamily="18" charset="0"/>
              </a:rPr>
              <a:t>t+1</a:t>
            </a:r>
          </a:p>
        </p:txBody>
      </p:sp>
      <p:sp>
        <p:nvSpPr>
          <p:cNvPr id="9" name="text_8">
            <a:extLst>
              <a:ext uri="{FF2B5EF4-FFF2-40B4-BE49-F238E27FC236}">
                <a16:creationId xmlns:a16="http://schemas.microsoft.com/office/drawing/2014/main" id="{18DDCC28-2473-6908-9D60-452FBFA103B2}"/>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US" sz="3100">
                <a:solidFill>
                  <a:srgbClr val="15283B"/>
                </a:solidFill>
                <a:latin typeface="Cambria Math" panose="02040503050406030204" pitchFamily="18" charset="0"/>
              </a:rPr>
              <a:t>V</a:t>
            </a:r>
            <a:r>
              <a:rPr lang="en-US" sz="2232" baseline="32000">
                <a:solidFill>
                  <a:srgbClr val="15283B"/>
                </a:solidFill>
                <a:latin typeface="Cambria Math" panose="02040503050406030204" pitchFamily="18" charset="0"/>
              </a:rPr>
              <a:t>π</a:t>
            </a:r>
            <a:r>
              <a:rPr lang="en-US" sz="3100">
                <a:solidFill>
                  <a:srgbClr val="15283B"/>
                </a:solidFill>
                <a:latin typeface="Cambria Math" panose="02040503050406030204" pitchFamily="18" charset="0"/>
              </a:rPr>
              <a:t>(s) = 𝔼</a:t>
            </a:r>
            <a:r>
              <a:rPr lang="en-US" sz="2232" baseline="-22000">
                <a:solidFill>
                  <a:srgbClr val="15283B"/>
                </a:solidFill>
                <a:latin typeface="Cambria Math" panose="02040503050406030204" pitchFamily="18" charset="0"/>
              </a:rPr>
              <a:t>π</a:t>
            </a:r>
            <a:r>
              <a:rPr lang="en-US" sz="3100">
                <a:solidFill>
                  <a:srgbClr val="15283B"/>
                </a:solidFill>
                <a:latin typeface="Cambria Math" panose="02040503050406030204" pitchFamily="18" charset="0"/>
              </a:rPr>
              <a:t>[R</a:t>
            </a:r>
            <a:r>
              <a:rPr lang="en-US" sz="2232" baseline="-22000">
                <a:solidFill>
                  <a:srgbClr val="15283B"/>
                </a:solidFill>
                <a:latin typeface="Cambria Math" panose="02040503050406030204" pitchFamily="18" charset="0"/>
              </a:rPr>
              <a:t>t</a:t>
            </a:r>
            <a:r>
              <a:rPr lang="en-US" sz="3100">
                <a:solidFill>
                  <a:srgbClr val="15283B"/>
                </a:solidFill>
                <a:latin typeface="Cambria Math" panose="02040503050406030204" pitchFamily="18" charset="0"/>
              </a:rPr>
              <a:t> + γG</a:t>
            </a:r>
            <a:r>
              <a:rPr lang="en-US" sz="2232" baseline="-22000">
                <a:solidFill>
                  <a:srgbClr val="15283B"/>
                </a:solidFill>
                <a:latin typeface="Cambria Math" panose="02040503050406030204" pitchFamily="18" charset="0"/>
              </a:rPr>
              <a:t>t+1</a:t>
            </a:r>
            <a:r>
              <a:rPr lang="en-US" sz="3100">
                <a:solidFill>
                  <a:srgbClr val="15283B"/>
                </a:solidFill>
                <a:latin typeface="Cambria Math" panose="02040503050406030204" pitchFamily="18" charset="0"/>
              </a:rPr>
              <a:t> | S</a:t>
            </a:r>
            <a:r>
              <a:rPr lang="en-US" sz="2232" baseline="-22000">
                <a:solidFill>
                  <a:srgbClr val="15283B"/>
                </a:solidFill>
                <a:latin typeface="Cambria Math" panose="02040503050406030204" pitchFamily="18" charset="0"/>
              </a:rPr>
              <a:t>t</a:t>
            </a:r>
            <a:r>
              <a:rPr lang="en-US" sz="3100">
                <a:solidFill>
                  <a:srgbClr val="15283B"/>
                </a:solidFill>
                <a:latin typeface="Cambria Math" panose="02040503050406030204" pitchFamily="18" charset="0"/>
              </a:rPr>
              <a:t>=s]</a:t>
            </a:r>
            <a:endParaRPr lang="en-IL" sz="31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5A431D34-A3B7-0EB1-3665-0FEE8FC9FA92}"/>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US" sz="3100">
                <a:solidFill>
                  <a:srgbClr val="15283B"/>
                </a:solidFill>
                <a:latin typeface="Cambria Math" panose="02040503050406030204" pitchFamily="18" charset="0"/>
              </a:rPr>
              <a:t>= 𝔼</a:t>
            </a:r>
            <a:r>
              <a:rPr lang="en-US" sz="2232" baseline="-22000">
                <a:solidFill>
                  <a:srgbClr val="15283B"/>
                </a:solidFill>
                <a:latin typeface="Cambria Math" panose="02040503050406030204" pitchFamily="18" charset="0"/>
              </a:rPr>
              <a:t>π</a:t>
            </a:r>
            <a:r>
              <a:rPr lang="en-US" sz="3100">
                <a:solidFill>
                  <a:srgbClr val="15283B"/>
                </a:solidFill>
                <a:latin typeface="Cambria Math" panose="02040503050406030204" pitchFamily="18" charset="0"/>
              </a:rPr>
              <a:t>[r(s,A</a:t>
            </a:r>
            <a:r>
              <a:rPr lang="en-US" sz="2232" baseline="-22000">
                <a:solidFill>
                  <a:srgbClr val="15283B"/>
                </a:solidFill>
                <a:latin typeface="Cambria Math" panose="02040503050406030204" pitchFamily="18" charset="0"/>
              </a:rPr>
              <a:t>t</a:t>
            </a:r>
            <a:r>
              <a:rPr lang="en-US" sz="3100">
                <a:solidFill>
                  <a:srgbClr val="15283B"/>
                </a:solidFill>
                <a:latin typeface="Cambria Math" panose="02040503050406030204" pitchFamily="18" charset="0"/>
              </a:rPr>
              <a:t>,S</a:t>
            </a:r>
            <a:r>
              <a:rPr lang="en-US" sz="2232" baseline="-22000">
                <a:solidFill>
                  <a:srgbClr val="15283B"/>
                </a:solidFill>
                <a:latin typeface="Cambria Math" panose="02040503050406030204" pitchFamily="18" charset="0"/>
              </a:rPr>
              <a:t>t+1</a:t>
            </a:r>
            <a:r>
              <a:rPr lang="en-US" sz="3100">
                <a:solidFill>
                  <a:srgbClr val="15283B"/>
                </a:solidFill>
                <a:latin typeface="Cambria Math" panose="02040503050406030204" pitchFamily="18" charset="0"/>
              </a:rPr>
              <a:t>) + γV</a:t>
            </a:r>
            <a:r>
              <a:rPr lang="en-US" sz="2232" baseline="32000">
                <a:solidFill>
                  <a:srgbClr val="15283B"/>
                </a:solidFill>
                <a:latin typeface="Cambria Math" panose="02040503050406030204" pitchFamily="18" charset="0"/>
              </a:rPr>
              <a:t>π</a:t>
            </a:r>
            <a:r>
              <a:rPr lang="en-US" sz="3100">
                <a:solidFill>
                  <a:srgbClr val="15283B"/>
                </a:solidFill>
                <a:latin typeface="Cambria Math" panose="02040503050406030204" pitchFamily="18" charset="0"/>
              </a:rPr>
              <a:t>(S</a:t>
            </a:r>
            <a:r>
              <a:rPr lang="en-US" sz="2232" baseline="-22000">
                <a:solidFill>
                  <a:srgbClr val="15283B"/>
                </a:solidFill>
                <a:latin typeface="Cambria Math" panose="02040503050406030204" pitchFamily="18" charset="0"/>
              </a:rPr>
              <a:t>t+1</a:t>
            </a:r>
            <a:r>
              <a:rPr lang="en-US" sz="3100">
                <a:solidFill>
                  <a:srgbClr val="15283B"/>
                </a:solidFill>
                <a:latin typeface="Cambria Math" panose="02040503050406030204" pitchFamily="18" charset="0"/>
              </a:rPr>
              <a:t>) | S</a:t>
            </a:r>
            <a:r>
              <a:rPr lang="en-US" sz="2232" baseline="-22000">
                <a:solidFill>
                  <a:srgbClr val="15283B"/>
                </a:solidFill>
                <a:latin typeface="Cambria Math" panose="02040503050406030204" pitchFamily="18" charset="0"/>
              </a:rPr>
              <a:t>t</a:t>
            </a:r>
            <a:r>
              <a:rPr lang="en-US" sz="3100">
                <a:solidFill>
                  <a:srgbClr val="15283B"/>
                </a:solidFill>
                <a:latin typeface="Cambria Math" panose="02040503050406030204" pitchFamily="18" charset="0"/>
              </a:rPr>
              <a:t>=s]</a:t>
            </a:r>
            <a:endParaRPr lang="en-IL" sz="31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DDF2B414-53BF-FCB8-D2B4-6838A7EFDDC6}"/>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Condition on the chosen action and successor; apply the Markov property.</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066969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AF2C85E-470B-9C9E-A2DD-E7C986E577C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1EED74C8-BC76-3854-9611-7C0C7712C82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Evaluate a fixed policy</a:t>
            </a:r>
          </a:p>
        </p:txBody>
      </p:sp>
      <p:sp>
        <p:nvSpPr>
          <p:cNvPr id="4" name="text_3">
            <a:extLst>
              <a:ext uri="{FF2B5EF4-FFF2-40B4-BE49-F238E27FC236}">
                <a16:creationId xmlns:a16="http://schemas.microsoft.com/office/drawing/2014/main" id="{FC2FE521-3853-6D23-A9D2-809CA9C24E4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Average actions and outcomes; keep the policy fixed.</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E02BDC2-26EB-0DCA-1778-AB63F12D65D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6683BEB-82B6-4D48-FD88-E841671CFA4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DE05C91-1A6B-F02F-CB28-BC8A103D69D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12</a:t>
            </a:r>
          </a:p>
        </p:txBody>
      </p:sp>
      <p:sp>
        <p:nvSpPr>
          <p:cNvPr id="8" name="Rectangle: Rounded Corners 7">
            <a:extLst>
              <a:ext uri="{FF2B5EF4-FFF2-40B4-BE49-F238E27FC236}">
                <a16:creationId xmlns:a16="http://schemas.microsoft.com/office/drawing/2014/main" id="{FC1A2B6A-A183-6F74-7B89-695B15B5657F}"/>
              </a:ext>
            </a:extLst>
          </p:cNvPr>
          <p:cNvSpPr/>
          <p:nvPr/>
        </p:nvSpPr>
        <p:spPr>
          <a:xfrm>
            <a:off x="685800" y="2628900"/>
            <a:ext cx="10820400" cy="1955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3AA54749-3E33-0E2D-E970-44EBF2DEF815}"/>
              </a:ext>
            </a:extLst>
          </p:cNvPr>
          <p:cNvSpPr txBox="1"/>
          <p:nvPr/>
        </p:nvSpPr>
        <p:spPr>
          <a:xfrm>
            <a:off x="927100" y="2806699"/>
            <a:ext cx="10350500" cy="762000"/>
          </a:xfrm>
          <a:prstGeom prst="rect">
            <a:avLst/>
          </a:prstGeom>
          <a:noFill/>
        </p:spPr>
        <p:txBody>
          <a:bodyPr vert="horz" wrap="square" lIns="0" tIns="0" rIns="0" bIns="0" rtlCol="0" anchor="t">
            <a:noAutofit/>
          </a:bodyPr>
          <a:lstStyle/>
          <a:p>
            <a:r>
              <a:rPr lang="en-IL" sz="3400">
                <a:solidFill>
                  <a:srgbClr val="2459D3"/>
                </a:solidFill>
                <a:latin typeface="Cambria Math" panose="02040503050406030204" pitchFamily="18" charset="0"/>
              </a:rPr>
              <a:t>V</a:t>
            </a:r>
            <a:r>
              <a:rPr lang="el-GR" sz="2448" baseline="32000">
                <a:solidFill>
                  <a:srgbClr val="2459D3"/>
                </a:solidFill>
                <a:latin typeface="Cambria Math" panose="02040503050406030204" pitchFamily="18" charset="0"/>
              </a:rPr>
              <a:t>π</a:t>
            </a:r>
            <a:r>
              <a:rPr lang="el-GR" sz="3400">
                <a:solidFill>
                  <a:srgbClr val="2459D3"/>
                </a:solidFill>
                <a:latin typeface="Cambria Math" panose="02040503050406030204" pitchFamily="18" charset="0"/>
              </a:rPr>
              <a:t>(</a:t>
            </a:r>
            <a:r>
              <a:rPr lang="en-IL" sz="3400">
                <a:solidFill>
                  <a:srgbClr val="2459D3"/>
                </a:solidFill>
                <a:latin typeface="Cambria Math" panose="02040503050406030204" pitchFamily="18" charset="0"/>
              </a:rPr>
              <a:t>s) = ∑</a:t>
            </a:r>
            <a:r>
              <a:rPr lang="en-IL" sz="2448" baseline="-22000">
                <a:solidFill>
                  <a:srgbClr val="2459D3"/>
                </a:solidFill>
                <a:latin typeface="Cambria Math" panose="02040503050406030204" pitchFamily="18" charset="0"/>
              </a:rPr>
              <a:t>a∈A(s)</a:t>
            </a:r>
            <a:r>
              <a:rPr lang="en-IL" sz="3400">
                <a:solidFill>
                  <a:srgbClr val="2459D3"/>
                </a:solidFill>
                <a:latin typeface="Cambria Math" panose="02040503050406030204" pitchFamily="18" charset="0"/>
              </a:rPr>
              <a:t> </a:t>
            </a:r>
            <a:r>
              <a:rPr lang="el-GR" sz="3400">
                <a:solidFill>
                  <a:srgbClr val="2459D3"/>
                </a:solidFill>
                <a:latin typeface="Cambria Math" panose="02040503050406030204" pitchFamily="18" charset="0"/>
              </a:rPr>
              <a:t>π(</a:t>
            </a:r>
            <a:r>
              <a:rPr lang="en-IL" sz="3400">
                <a:solidFill>
                  <a:srgbClr val="2459D3"/>
                </a:solidFill>
                <a:latin typeface="Cambria Math" panose="02040503050406030204" pitchFamily="18" charset="0"/>
              </a:rPr>
              <a:t>a | s) {</a:t>
            </a:r>
          </a:p>
        </p:txBody>
      </p:sp>
      <p:sp>
        <p:nvSpPr>
          <p:cNvPr id="10" name="text_9">
            <a:extLst>
              <a:ext uri="{FF2B5EF4-FFF2-40B4-BE49-F238E27FC236}">
                <a16:creationId xmlns:a16="http://schemas.microsoft.com/office/drawing/2014/main" id="{DDC12DBD-593E-54FC-6A97-46BFAE7C4BAD}"/>
              </a:ext>
            </a:extLst>
          </p:cNvPr>
          <p:cNvSpPr txBox="1"/>
          <p:nvPr/>
        </p:nvSpPr>
        <p:spPr>
          <a:xfrm>
            <a:off x="927100" y="3657599"/>
            <a:ext cx="10350500" cy="762000"/>
          </a:xfrm>
          <a:prstGeom prst="rect">
            <a:avLst/>
          </a:prstGeom>
          <a:noFill/>
        </p:spPr>
        <p:txBody>
          <a:bodyPr vert="horz" wrap="square" lIns="0" tIns="0" rIns="0" bIns="0" rtlCol="0" anchor="t">
            <a:noAutofit/>
          </a:bodyPr>
          <a:lstStyle/>
          <a:p>
            <a:r>
              <a:rPr lang="pt-BR" sz="2900">
                <a:solidFill>
                  <a:srgbClr val="2459D3"/>
                </a:solidFill>
                <a:latin typeface="Cambria Math" panose="02040503050406030204" pitchFamily="18" charset="0"/>
              </a:rPr>
              <a:t>∑</a:t>
            </a:r>
            <a:r>
              <a:rPr lang="pt-BR" sz="2088" baseline="-22000">
                <a:solidFill>
                  <a:srgbClr val="2459D3"/>
                </a:solidFill>
                <a:latin typeface="Cambria Math" panose="02040503050406030204" pitchFamily="18" charset="0"/>
              </a:rPr>
              <a:t>s′∈S</a:t>
            </a:r>
            <a:r>
              <a:rPr lang="pt-BR" sz="2900">
                <a:solidFill>
                  <a:srgbClr val="2459D3"/>
                </a:solidFill>
                <a:latin typeface="Cambria Math" panose="02040503050406030204" pitchFamily="18" charset="0"/>
              </a:rPr>
              <a:t> P(s′ | s,a) [r(s,a,s′) + γV</a:t>
            </a:r>
            <a:r>
              <a:rPr lang="pt-BR" sz="2088" baseline="32000">
                <a:solidFill>
                  <a:srgbClr val="2459D3"/>
                </a:solidFill>
                <a:latin typeface="Cambria Math" panose="02040503050406030204" pitchFamily="18" charset="0"/>
              </a:rPr>
              <a:t>π</a:t>
            </a:r>
            <a:r>
              <a:rPr lang="pt-BR" sz="2900">
                <a:solidFill>
                  <a:srgbClr val="2459D3"/>
                </a:solidFill>
                <a:latin typeface="Cambria Math" panose="02040503050406030204" pitchFamily="18" charset="0"/>
              </a:rPr>
              <a:t>(s′)] }</a:t>
            </a:r>
            <a:endParaRPr lang="en-IL" sz="2900">
              <a:solidFill>
                <a:srgbClr val="2459D3"/>
              </a:solidFill>
              <a:latin typeface="Cambria Math" panose="02040503050406030204" pitchFamily="18" charset="0"/>
            </a:endParaRPr>
          </a:p>
        </p:txBody>
      </p:sp>
      <p:sp>
        <p:nvSpPr>
          <p:cNvPr id="11" name="text_10">
            <a:extLst>
              <a:ext uri="{FF2B5EF4-FFF2-40B4-BE49-F238E27FC236}">
                <a16:creationId xmlns:a16="http://schemas.microsoft.com/office/drawing/2014/main" id="{D729D458-D1AF-A354-F73C-DBC0B5CC1C7B}"/>
              </a:ext>
            </a:extLst>
          </p:cNvPr>
          <p:cNvSpPr txBox="1"/>
          <p:nvPr/>
        </p:nvSpPr>
        <p:spPr>
          <a:xfrm>
            <a:off x="685800" y="4991099"/>
            <a:ext cx="10820400" cy="698500"/>
          </a:xfrm>
          <a:prstGeom prst="rect">
            <a:avLst/>
          </a:prstGeom>
          <a:noFill/>
        </p:spPr>
        <p:txBody>
          <a:bodyPr vert="horz" wrap="square" lIns="0" tIns="0" rIns="0" bIns="0" rtlCol="0" anchor="t">
            <a:noAutofit/>
          </a:bodyPr>
          <a:lstStyle/>
          <a:p>
            <a:r>
              <a:rPr lang="en-IL" sz="3100">
                <a:solidFill>
                  <a:srgbClr val="137F79"/>
                </a:solidFill>
                <a:latin typeface="Cambria Math" panose="02040503050406030204" pitchFamily="18" charset="0"/>
              </a:rPr>
              <a:t>Deterministic:    V</a:t>
            </a:r>
            <a:r>
              <a:rPr lang="el-GR" sz="2232" baseline="32000">
                <a:solidFill>
                  <a:srgbClr val="137F79"/>
                </a:solidFill>
                <a:latin typeface="Cambria Math" panose="02040503050406030204" pitchFamily="18" charset="0"/>
              </a:rPr>
              <a:t>π</a:t>
            </a:r>
            <a:r>
              <a:rPr lang="el-GR" sz="3100">
                <a:solidFill>
                  <a:srgbClr val="137F79"/>
                </a:solidFill>
                <a:latin typeface="Cambria Math" panose="02040503050406030204" pitchFamily="18" charset="0"/>
              </a:rPr>
              <a:t>(</a:t>
            </a:r>
            <a:r>
              <a:rPr lang="en-IL" sz="3100">
                <a:solidFill>
                  <a:srgbClr val="137F79"/>
                </a:solidFill>
                <a:latin typeface="Cambria Math" panose="02040503050406030204" pitchFamily="18" charset="0"/>
              </a:rPr>
              <a:t>s) = Q</a:t>
            </a:r>
            <a:r>
              <a:rPr lang="el-GR" sz="2232" baseline="32000">
                <a:solidFill>
                  <a:srgbClr val="137F79"/>
                </a:solidFill>
                <a:latin typeface="Cambria Math" panose="02040503050406030204" pitchFamily="18" charset="0"/>
              </a:rPr>
              <a:t>π</a:t>
            </a:r>
            <a:r>
              <a:rPr lang="el-GR" sz="3100">
                <a:solidFill>
                  <a:srgbClr val="137F79"/>
                </a:solidFill>
                <a:latin typeface="Cambria Math" panose="02040503050406030204" pitchFamily="18" charset="0"/>
              </a:rPr>
              <a:t>(</a:t>
            </a:r>
            <a:r>
              <a:rPr lang="en-IL" sz="3100">
                <a:solidFill>
                  <a:srgbClr val="137F79"/>
                </a:solidFill>
                <a:latin typeface="Cambria Math" panose="02040503050406030204" pitchFamily="18" charset="0"/>
              </a:rPr>
              <a:t>s, </a:t>
            </a:r>
            <a:r>
              <a:rPr lang="el-GR" sz="3100">
                <a:solidFill>
                  <a:srgbClr val="137F79"/>
                </a:solidFill>
                <a:latin typeface="Cambria Math" panose="02040503050406030204" pitchFamily="18" charset="0"/>
              </a:rPr>
              <a:t>π(</a:t>
            </a:r>
            <a:r>
              <a:rPr lang="en-IL" sz="3100">
                <a:solidFill>
                  <a:srgbClr val="137F79"/>
                </a:solidFill>
                <a:latin typeface="Cambria Math" panose="02040503050406030204" pitchFamily="18" charset="0"/>
              </a:rPr>
              <a:t>s))</a:t>
            </a:r>
          </a:p>
        </p:txBody>
      </p:sp>
      <p:sp>
        <p:nvSpPr>
          <p:cNvPr id="12" name="text_11">
            <a:extLst>
              <a:ext uri="{FF2B5EF4-FFF2-40B4-BE49-F238E27FC236}">
                <a16:creationId xmlns:a16="http://schemas.microsoft.com/office/drawing/2014/main" id="{F262DE24-7E98-C5DE-3B3A-A5AFE6A6CFF7}"/>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There is no max: evaluation asks how good this policy is.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255841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0AACF6D-19B0-46D4-515B-3F17ED62EE7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D057FDEC-98F0-BDDE-5AD9-A17D596766E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Evaluate the risky policy by hand</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D478FDE6-FC69-61B8-D838-CA4E1A01DE9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π(start) = risky; π(detour) = finish.</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3D16F8D-1D33-63EA-F044-32505752DB6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E2C9ADA-A227-0AAF-A310-728989055A1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BA3CA58-750F-FF3C-58E2-918D8082A79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13</a:t>
            </a:r>
          </a:p>
        </p:txBody>
      </p:sp>
      <p:sp>
        <p:nvSpPr>
          <p:cNvPr id="8" name="text_7">
            <a:extLst>
              <a:ext uri="{FF2B5EF4-FFF2-40B4-BE49-F238E27FC236}">
                <a16:creationId xmlns:a16="http://schemas.microsoft.com/office/drawing/2014/main" id="{437B1E3B-F341-525F-2F50-11E208C16872}"/>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US" sz="2900">
                <a:solidFill>
                  <a:srgbClr val="2459D3"/>
                </a:solidFill>
                <a:latin typeface="Cambria Math" panose="02040503050406030204" pitchFamily="18" charset="0"/>
              </a:rPr>
              <a:t>V</a:t>
            </a:r>
            <a:r>
              <a:rPr lang="en-US" sz="2088" baseline="32000">
                <a:solidFill>
                  <a:srgbClr val="2459D3"/>
                </a:solidFill>
                <a:latin typeface="Cambria Math" panose="02040503050406030204" pitchFamily="18" charset="0"/>
              </a:rPr>
              <a:t>π</a:t>
            </a:r>
            <a:r>
              <a:rPr lang="en-US" sz="2900">
                <a:solidFill>
                  <a:srgbClr val="2459D3"/>
                </a:solidFill>
                <a:latin typeface="Cambria Math" panose="02040503050406030204" pitchFamily="18" charset="0"/>
              </a:rPr>
              <a:t>(delivered) = V</a:t>
            </a:r>
            <a:r>
              <a:rPr lang="en-US" sz="2088" baseline="32000">
                <a:solidFill>
                  <a:srgbClr val="2459D3"/>
                </a:solidFill>
                <a:latin typeface="Cambria Math" panose="02040503050406030204" pitchFamily="18" charset="0"/>
              </a:rPr>
              <a:t>π</a:t>
            </a:r>
            <a:r>
              <a:rPr lang="en-US" sz="2900">
                <a:solidFill>
                  <a:srgbClr val="2459D3"/>
                </a:solidFill>
                <a:latin typeface="Cambria Math" panose="02040503050406030204" pitchFamily="18" charset="0"/>
              </a:rPr>
              <a:t>(failed) = 0</a:t>
            </a:r>
            <a:endParaRPr lang="en-IL" sz="29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9ABBF2B6-56F1-F393-2298-F167FB2196A0}"/>
              </a:ext>
            </a:extLst>
          </p:cNvPr>
          <p:cNvSpPr txBox="1"/>
          <p:nvPr/>
        </p:nvSpPr>
        <p:spPr>
          <a:xfrm>
            <a:off x="685800" y="3378199"/>
            <a:ext cx="10820400" cy="711200"/>
          </a:xfrm>
          <a:prstGeom prst="rect">
            <a:avLst/>
          </a:prstGeom>
          <a:noFill/>
        </p:spPr>
        <p:txBody>
          <a:bodyPr vert="horz" wrap="square" lIns="0" tIns="0" rIns="0" bIns="0" rtlCol="0" anchor="t">
            <a:noAutofit/>
          </a:bodyPr>
          <a:lstStyle/>
          <a:p>
            <a:r>
              <a:rPr lang="fr-FR" sz="2900">
                <a:solidFill>
                  <a:srgbClr val="15283B"/>
                </a:solidFill>
                <a:latin typeface="Cambria Math" panose="02040503050406030204" pitchFamily="18" charset="0"/>
              </a:rPr>
              <a:t>V</a:t>
            </a:r>
            <a:r>
              <a:rPr lang="fr-FR" sz="2088" baseline="32000">
                <a:solidFill>
                  <a:srgbClr val="15283B"/>
                </a:solidFill>
                <a:latin typeface="Cambria Math" panose="02040503050406030204" pitchFamily="18" charset="0"/>
              </a:rPr>
              <a:t>π</a:t>
            </a:r>
            <a:r>
              <a:rPr lang="fr-FR" sz="2900">
                <a:solidFill>
                  <a:srgbClr val="15283B"/>
                </a:solidFill>
                <a:latin typeface="Cambria Math" panose="02040503050406030204" pitchFamily="18" charset="0"/>
              </a:rPr>
              <a:t>(detour) = 1[8 + 0.9(0)] = 8</a:t>
            </a:r>
            <a:endParaRPr lang="en-IL" sz="29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B3E5997A-463B-E1F4-4100-726D18356A5B}"/>
              </a:ext>
            </a:extLst>
          </p:cNvPr>
          <p:cNvSpPr txBox="1"/>
          <p:nvPr/>
        </p:nvSpPr>
        <p:spPr>
          <a:xfrm>
            <a:off x="685800" y="4127499"/>
            <a:ext cx="10820400" cy="711200"/>
          </a:xfrm>
          <a:prstGeom prst="rect">
            <a:avLst/>
          </a:prstGeom>
          <a:noFill/>
        </p:spPr>
        <p:txBody>
          <a:bodyPr vert="horz" wrap="square" lIns="0" tIns="0" rIns="0" bIns="0" rtlCol="0" anchor="t">
            <a:noAutofit/>
          </a:bodyPr>
          <a:lstStyle/>
          <a:p>
            <a:r>
              <a:rPr lang="en-US" sz="2900">
                <a:solidFill>
                  <a:srgbClr val="15283B"/>
                </a:solidFill>
                <a:latin typeface="Cambria Math" panose="02040503050406030204" pitchFamily="18" charset="0"/>
              </a:rPr>
              <a:t>V</a:t>
            </a:r>
            <a:r>
              <a:rPr lang="en-US" sz="2088" baseline="32000">
                <a:solidFill>
                  <a:srgbClr val="15283B"/>
                </a:solidFill>
                <a:latin typeface="Cambria Math" panose="02040503050406030204" pitchFamily="18" charset="0"/>
              </a:rPr>
              <a:t>π</a:t>
            </a:r>
            <a:r>
              <a:rPr lang="en-US" sz="2900">
                <a:solidFill>
                  <a:srgbClr val="15283B"/>
                </a:solidFill>
                <a:latin typeface="Cambria Math" panose="02040503050406030204" pitchFamily="18" charset="0"/>
              </a:rPr>
              <a:t>(start) = 0.8[10+0.9(0)] + 0.2[−10+0.9(0)]</a:t>
            </a:r>
            <a:endParaRPr lang="en-IL" sz="29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15CA3E27-1FCF-90C0-7CB3-7748025A8581}"/>
              </a:ext>
            </a:extLst>
          </p:cNvPr>
          <p:cNvSpPr txBox="1"/>
          <p:nvPr/>
        </p:nvSpPr>
        <p:spPr>
          <a:xfrm>
            <a:off x="685800" y="48767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 6</a:t>
            </a:r>
          </a:p>
        </p:txBody>
      </p:sp>
      <p:sp>
        <p:nvSpPr>
          <p:cNvPr id="12" name="text_11">
            <a:extLst>
              <a:ext uri="{FF2B5EF4-FFF2-40B4-BE49-F238E27FC236}">
                <a16:creationId xmlns:a16="http://schemas.microsoft.com/office/drawing/2014/main" id="{A1BA0FF4-161C-2B41-0A27-747E8D64E62B}"/>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The policy's value at detour is defined even if start → risky never visits it.</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706848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85C055B-2C57-4E60-300C-8059B1248C0C}"/>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8D7540AA-9054-C10A-0FF8-F3E00191CCC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Policy evaluation as linear algebra</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EF05E69F-EAD2-A823-B55F-37CA79DF3A3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One equation per nonterminal state.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020E153-4819-EB4A-9017-FF575701F24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3C36372-47E8-DCC1-B287-5103C1EB2DC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B61006C0-2A5A-AC27-C360-7DEC79C7E28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14</a:t>
            </a:r>
          </a:p>
        </p:txBody>
      </p:sp>
      <p:sp>
        <p:nvSpPr>
          <p:cNvPr id="8" name="text_7">
            <a:extLst>
              <a:ext uri="{FF2B5EF4-FFF2-40B4-BE49-F238E27FC236}">
                <a16:creationId xmlns:a16="http://schemas.microsoft.com/office/drawing/2014/main" id="{A7FE43BC-F2F2-428C-232D-1ED2140E53DA}"/>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2900">
                <a:solidFill>
                  <a:srgbClr val="2459D3"/>
                </a:solidFill>
                <a:latin typeface="Cambria Math" panose="02040503050406030204" pitchFamily="18" charset="0"/>
              </a:rPr>
              <a:t>P</a:t>
            </a:r>
            <a:r>
              <a:rPr lang="el-GR" sz="2088" baseline="-22000">
                <a:solidFill>
                  <a:srgbClr val="2459D3"/>
                </a:solidFill>
                <a:latin typeface="Cambria Math" panose="02040503050406030204" pitchFamily="18" charset="0"/>
              </a:rPr>
              <a:t>π</a:t>
            </a:r>
            <a:r>
              <a:rPr lang="el-GR" sz="2900">
                <a:solidFill>
                  <a:srgbClr val="2459D3"/>
                </a:solidFill>
                <a:latin typeface="Cambria Math" panose="02040503050406030204" pitchFamily="18" charset="0"/>
              </a:rPr>
              <a:t>(</a:t>
            </a:r>
            <a:r>
              <a:rPr lang="en-IL" sz="2900">
                <a:solidFill>
                  <a:srgbClr val="2459D3"/>
                </a:solidFill>
                <a:latin typeface="Cambria Math" panose="02040503050406030204" pitchFamily="18" charset="0"/>
              </a:rPr>
              <a:t>i,j) = ∑</a:t>
            </a:r>
            <a:r>
              <a:rPr lang="en-IL" sz="2088" baseline="-22000">
                <a:solidFill>
                  <a:srgbClr val="2459D3"/>
                </a:solidFill>
                <a:latin typeface="Cambria Math" panose="02040503050406030204" pitchFamily="18" charset="0"/>
              </a:rPr>
              <a:t>a</a:t>
            </a:r>
            <a:r>
              <a:rPr lang="en-IL" sz="2900">
                <a:solidFill>
                  <a:srgbClr val="2459D3"/>
                </a:solidFill>
                <a:latin typeface="Cambria Math" panose="02040503050406030204" pitchFamily="18" charset="0"/>
              </a:rPr>
              <a:t> </a:t>
            </a:r>
            <a:r>
              <a:rPr lang="el-GR" sz="2900">
                <a:solidFill>
                  <a:srgbClr val="2459D3"/>
                </a:solidFill>
                <a:latin typeface="Cambria Math" panose="02040503050406030204" pitchFamily="18" charset="0"/>
              </a:rPr>
              <a:t>π(</a:t>
            </a:r>
            <a:r>
              <a:rPr lang="en-IL" sz="2900">
                <a:solidFill>
                  <a:srgbClr val="2459D3"/>
                </a:solidFill>
                <a:latin typeface="Cambria Math" panose="02040503050406030204" pitchFamily="18" charset="0"/>
              </a:rPr>
              <a:t>a | i) P(j | i,a)</a:t>
            </a:r>
          </a:p>
        </p:txBody>
      </p:sp>
      <p:sp>
        <p:nvSpPr>
          <p:cNvPr id="9" name="text_8">
            <a:extLst>
              <a:ext uri="{FF2B5EF4-FFF2-40B4-BE49-F238E27FC236}">
                <a16:creationId xmlns:a16="http://schemas.microsoft.com/office/drawing/2014/main" id="{1CE64D06-69A3-562F-E563-85D5C562544E}"/>
              </a:ext>
            </a:extLst>
          </p:cNvPr>
          <p:cNvSpPr txBox="1"/>
          <p:nvPr/>
        </p:nvSpPr>
        <p:spPr>
          <a:xfrm>
            <a:off x="685800" y="3378199"/>
            <a:ext cx="10820400" cy="711200"/>
          </a:xfrm>
          <a:prstGeom prst="rect">
            <a:avLst/>
          </a:prstGeom>
          <a:noFill/>
        </p:spPr>
        <p:txBody>
          <a:bodyPr vert="horz" wrap="square" lIns="0" tIns="0" rIns="0" bIns="0" rtlCol="0" anchor="t">
            <a:noAutofit/>
          </a:bodyPr>
          <a:lstStyle/>
          <a:p>
            <a:r>
              <a:rPr lang="pt-BR" sz="2900">
                <a:solidFill>
                  <a:srgbClr val="15283B"/>
                </a:solidFill>
                <a:latin typeface="Cambria Math" panose="02040503050406030204" pitchFamily="18" charset="0"/>
              </a:rPr>
              <a:t>R</a:t>
            </a:r>
            <a:r>
              <a:rPr lang="pt-BR" sz="2088" baseline="-22000">
                <a:solidFill>
                  <a:srgbClr val="15283B"/>
                </a:solidFill>
                <a:latin typeface="Cambria Math" panose="02040503050406030204" pitchFamily="18" charset="0"/>
              </a:rPr>
              <a:t>π</a:t>
            </a:r>
            <a:r>
              <a:rPr lang="pt-BR" sz="2900">
                <a:solidFill>
                  <a:srgbClr val="15283B"/>
                </a:solidFill>
                <a:latin typeface="Cambria Math" panose="02040503050406030204" pitchFamily="18" charset="0"/>
              </a:rPr>
              <a:t>(i) = ∑</a:t>
            </a:r>
            <a:r>
              <a:rPr lang="pt-BR" sz="2088" baseline="-22000">
                <a:solidFill>
                  <a:srgbClr val="15283B"/>
                </a:solidFill>
                <a:latin typeface="Cambria Math" panose="02040503050406030204" pitchFamily="18" charset="0"/>
              </a:rPr>
              <a:t>a</a:t>
            </a:r>
            <a:r>
              <a:rPr lang="pt-BR" sz="2900">
                <a:solidFill>
                  <a:srgbClr val="15283B"/>
                </a:solidFill>
                <a:latin typeface="Cambria Math" panose="02040503050406030204" pitchFamily="18" charset="0"/>
              </a:rPr>
              <a:t> π(a | i) ∑</a:t>
            </a:r>
            <a:r>
              <a:rPr lang="pt-BR" sz="2088" baseline="-22000">
                <a:solidFill>
                  <a:srgbClr val="15283B"/>
                </a:solidFill>
                <a:latin typeface="Cambria Math" panose="02040503050406030204" pitchFamily="18" charset="0"/>
              </a:rPr>
              <a:t>s′</a:t>
            </a:r>
            <a:r>
              <a:rPr lang="pt-BR" sz="2900">
                <a:solidFill>
                  <a:srgbClr val="15283B"/>
                </a:solidFill>
                <a:latin typeface="Cambria Math" panose="02040503050406030204" pitchFamily="18" charset="0"/>
              </a:rPr>
              <a:t> P(s′ | i,a) r(i,a,s′)</a:t>
            </a:r>
            <a:endParaRPr lang="en-IL" sz="29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12434018-410A-89E4-183D-703BA28D78A8}"/>
              </a:ext>
            </a:extLst>
          </p:cNvPr>
          <p:cNvSpPr txBox="1"/>
          <p:nvPr/>
        </p:nvSpPr>
        <p:spPr>
          <a:xfrm>
            <a:off x="685800" y="41274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V</a:t>
            </a:r>
            <a:r>
              <a:rPr lang="el-GR" sz="2088" baseline="32000">
                <a:solidFill>
                  <a:srgbClr val="15283B"/>
                </a:solidFill>
                <a:latin typeface="Cambria Math" panose="02040503050406030204" pitchFamily="18" charset="0"/>
              </a:rPr>
              <a:t>π</a:t>
            </a:r>
            <a:r>
              <a:rPr lang="el-GR" sz="2900">
                <a:solidFill>
                  <a:srgbClr val="15283B"/>
                </a:solidFill>
                <a:latin typeface="Cambria Math" panose="02040503050406030204" pitchFamily="18" charset="0"/>
              </a:rPr>
              <a:t> = </a:t>
            </a:r>
            <a:r>
              <a:rPr lang="en-IL" sz="2900">
                <a:solidFill>
                  <a:srgbClr val="15283B"/>
                </a:solidFill>
                <a:latin typeface="Cambria Math" panose="02040503050406030204" pitchFamily="18" charset="0"/>
              </a:rPr>
              <a:t>R</a:t>
            </a:r>
            <a:r>
              <a:rPr lang="el-GR" sz="2088" baseline="-22000">
                <a:solidFill>
                  <a:srgbClr val="15283B"/>
                </a:solidFill>
                <a:latin typeface="Cambria Math" panose="02040503050406030204" pitchFamily="18" charset="0"/>
              </a:rPr>
              <a:t>π</a:t>
            </a:r>
            <a:r>
              <a:rPr lang="el-GR" sz="2900">
                <a:solidFill>
                  <a:srgbClr val="15283B"/>
                </a:solidFill>
                <a:latin typeface="Cambria Math" panose="02040503050406030204" pitchFamily="18" charset="0"/>
              </a:rPr>
              <a:t> + γ</a:t>
            </a:r>
            <a:r>
              <a:rPr lang="en-IL" sz="2900">
                <a:solidFill>
                  <a:srgbClr val="15283B"/>
                </a:solidFill>
                <a:latin typeface="Cambria Math" panose="02040503050406030204" pitchFamily="18" charset="0"/>
              </a:rPr>
              <a:t>P</a:t>
            </a:r>
            <a:r>
              <a:rPr lang="el-GR" sz="2088" baseline="-22000">
                <a:solidFill>
                  <a:srgbClr val="15283B"/>
                </a:solidFill>
                <a:latin typeface="Cambria Math" panose="02040503050406030204" pitchFamily="18" charset="0"/>
              </a:rPr>
              <a:t>π</a:t>
            </a:r>
            <a:r>
              <a:rPr lang="en-IL" sz="2900">
                <a:solidFill>
                  <a:srgbClr val="15283B"/>
                </a:solidFill>
                <a:latin typeface="Cambria Math" panose="02040503050406030204" pitchFamily="18" charset="0"/>
              </a:rPr>
              <a:t>V</a:t>
            </a:r>
            <a:r>
              <a:rPr lang="el-GR" sz="2088" baseline="32000">
                <a:solidFill>
                  <a:srgbClr val="15283B"/>
                </a:solidFill>
                <a:latin typeface="Cambria Math" panose="02040503050406030204" pitchFamily="18" charset="0"/>
              </a:rPr>
              <a:t>π</a:t>
            </a:r>
            <a:endParaRPr lang="en-IL" sz="2088" baseline="320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EE14E714-3E94-AB16-7511-B9161E9A338A}"/>
              </a:ext>
            </a:extLst>
          </p:cNvPr>
          <p:cNvSpPr txBox="1"/>
          <p:nvPr/>
        </p:nvSpPr>
        <p:spPr>
          <a:xfrm>
            <a:off x="685800" y="48767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(I − </a:t>
            </a:r>
            <a:r>
              <a:rPr lang="el-GR" sz="2900">
                <a:solidFill>
                  <a:srgbClr val="15283B"/>
                </a:solidFill>
                <a:latin typeface="Cambria Math" panose="02040503050406030204" pitchFamily="18" charset="0"/>
              </a:rPr>
              <a:t>γ</a:t>
            </a:r>
            <a:r>
              <a:rPr lang="en-IL" sz="2900">
                <a:solidFill>
                  <a:srgbClr val="15283B"/>
                </a:solidFill>
                <a:latin typeface="Cambria Math" panose="02040503050406030204" pitchFamily="18" charset="0"/>
              </a:rPr>
              <a:t>P</a:t>
            </a:r>
            <a:r>
              <a:rPr lang="el-GR" sz="2088" baseline="-22000">
                <a:solidFill>
                  <a:srgbClr val="15283B"/>
                </a:solidFill>
                <a:latin typeface="Cambria Math" panose="02040503050406030204" pitchFamily="18" charset="0"/>
              </a:rPr>
              <a:t>π</a:t>
            </a:r>
            <a:r>
              <a:rPr lang="el-GR" sz="2900">
                <a:solidFill>
                  <a:srgbClr val="15283B"/>
                </a:solidFill>
                <a:latin typeface="Cambria Math" panose="02040503050406030204" pitchFamily="18" charset="0"/>
              </a:rPr>
              <a:t>)</a:t>
            </a:r>
            <a:r>
              <a:rPr lang="en-IL" sz="2900">
                <a:solidFill>
                  <a:srgbClr val="15283B"/>
                </a:solidFill>
                <a:latin typeface="Cambria Math" panose="02040503050406030204" pitchFamily="18" charset="0"/>
              </a:rPr>
              <a:t>V</a:t>
            </a:r>
            <a:r>
              <a:rPr lang="el-GR" sz="2088" baseline="32000">
                <a:solidFill>
                  <a:srgbClr val="15283B"/>
                </a:solidFill>
                <a:latin typeface="Cambria Math" panose="02040503050406030204" pitchFamily="18" charset="0"/>
              </a:rPr>
              <a:t>π</a:t>
            </a:r>
            <a:r>
              <a:rPr lang="el-GR" sz="2900">
                <a:solidFill>
                  <a:srgbClr val="15283B"/>
                </a:solidFill>
                <a:latin typeface="Cambria Math" panose="02040503050406030204" pitchFamily="18" charset="0"/>
              </a:rPr>
              <a:t> = </a:t>
            </a:r>
            <a:r>
              <a:rPr lang="en-IL" sz="2900">
                <a:solidFill>
                  <a:srgbClr val="15283B"/>
                </a:solidFill>
                <a:latin typeface="Cambria Math" panose="02040503050406030204" pitchFamily="18" charset="0"/>
              </a:rPr>
              <a:t>R</a:t>
            </a:r>
            <a:r>
              <a:rPr lang="el-GR" sz="2088" baseline="-22000">
                <a:solidFill>
                  <a:srgbClr val="15283B"/>
                </a:solidFill>
                <a:latin typeface="Cambria Math" panose="02040503050406030204" pitchFamily="18" charset="0"/>
              </a:rPr>
              <a:t>π</a:t>
            </a:r>
            <a:endParaRPr lang="en-IL" sz="2088" baseline="-220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AF9AAD23-E3C7-9A35-C199-EED080A9AE55}"/>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Vector order: [start, detour]. Solve a 2 × 2 linear system.</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948614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F1A34D0C-A2BB-25A9-9B0F-B6D82AD4F0FA}"/>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DE3628C4-891F-E821-434F-B86BB03904D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Solve the safe policy's system</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56E90104-C2B5-AF17-D34D-BD122568312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Rows and columns use [start, detour].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95E8C0A-9E7E-8863-0A89-1940BB36448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E3B6FED-CE03-A782-F5E7-57ED930F84B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793A27F-A7C0-B07F-D545-ACA2CC7F09A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15</a:t>
            </a:r>
          </a:p>
        </p:txBody>
      </p:sp>
      <p:sp>
        <p:nvSpPr>
          <p:cNvPr id="8" name="text_7">
            <a:extLst>
              <a:ext uri="{FF2B5EF4-FFF2-40B4-BE49-F238E27FC236}">
                <a16:creationId xmlns:a16="http://schemas.microsoft.com/office/drawing/2014/main" id="{7A84F9B9-5001-1DE1-610B-EA959C36D110}"/>
              </a:ext>
            </a:extLst>
          </p:cNvPr>
          <p:cNvSpPr txBox="1"/>
          <p:nvPr/>
        </p:nvSpPr>
        <p:spPr>
          <a:xfrm>
            <a:off x="685800" y="2552699"/>
            <a:ext cx="10820400" cy="596900"/>
          </a:xfrm>
          <a:prstGeom prst="rect">
            <a:avLst/>
          </a:prstGeom>
          <a:noFill/>
        </p:spPr>
        <p:txBody>
          <a:bodyPr vert="horz" wrap="square" lIns="0" tIns="0" rIns="0" bIns="0" rtlCol="0" anchor="t">
            <a:noAutofit/>
          </a:bodyPr>
          <a:lstStyle/>
          <a:p>
            <a:r>
              <a:rPr lang="en-IL" sz="2900">
                <a:solidFill>
                  <a:srgbClr val="526477"/>
                </a:solidFill>
                <a:latin typeface="Cambria Math" panose="02040503050406030204" pitchFamily="18" charset="0"/>
              </a:rPr>
              <a:t>P</a:t>
            </a:r>
            <a:r>
              <a:rPr lang="el-GR" sz="2088" baseline="-22000">
                <a:solidFill>
                  <a:srgbClr val="526477"/>
                </a:solidFill>
                <a:latin typeface="Cambria Math" panose="02040503050406030204" pitchFamily="18" charset="0"/>
              </a:rPr>
              <a:t>π</a:t>
            </a:r>
            <a:r>
              <a:rPr lang="el-GR" sz="2900">
                <a:solidFill>
                  <a:srgbClr val="526477"/>
                </a:solidFill>
                <a:latin typeface="Cambria Math" panose="02040503050406030204" pitchFamily="18" charset="0"/>
              </a:rPr>
              <a:t> = [0  1; 0  0]        </a:t>
            </a:r>
            <a:r>
              <a:rPr lang="en-IL" sz="2900">
                <a:solidFill>
                  <a:srgbClr val="526477"/>
                </a:solidFill>
                <a:latin typeface="Cambria Math" panose="02040503050406030204" pitchFamily="18" charset="0"/>
              </a:rPr>
              <a:t>R</a:t>
            </a:r>
            <a:r>
              <a:rPr lang="el-GR" sz="2088" baseline="-22000">
                <a:solidFill>
                  <a:srgbClr val="526477"/>
                </a:solidFill>
                <a:latin typeface="Cambria Math" panose="02040503050406030204" pitchFamily="18" charset="0"/>
              </a:rPr>
              <a:t>π</a:t>
            </a:r>
            <a:r>
              <a:rPr lang="el-GR" sz="2900">
                <a:solidFill>
                  <a:srgbClr val="526477"/>
                </a:solidFill>
                <a:latin typeface="Cambria Math" panose="02040503050406030204" pitchFamily="18" charset="0"/>
              </a:rPr>
              <a:t> = [−1  8]</a:t>
            </a:r>
            <a:r>
              <a:rPr lang="en-IL" sz="2088" baseline="32000">
                <a:solidFill>
                  <a:srgbClr val="526477"/>
                </a:solidFill>
                <a:latin typeface="Cambria Math" panose="02040503050406030204" pitchFamily="18" charset="0"/>
              </a:rPr>
              <a:t>T</a:t>
            </a:r>
          </a:p>
        </p:txBody>
      </p:sp>
      <p:cxnSp>
        <p:nvCxnSpPr>
          <p:cNvPr id="9" name="Straight Connector 8">
            <a:extLst>
              <a:ext uri="{FF2B5EF4-FFF2-40B4-BE49-F238E27FC236}">
                <a16:creationId xmlns:a16="http://schemas.microsoft.com/office/drawing/2014/main" id="{402C263F-E287-9B92-BA3D-6AB300CEE320}"/>
              </a:ext>
            </a:extLst>
          </p:cNvPr>
          <p:cNvCxnSpPr/>
          <p:nvPr/>
        </p:nvCxnSpPr>
        <p:spPr>
          <a:xfrm>
            <a:off x="1168400" y="3505200"/>
            <a:ext cx="0" cy="156210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D1DFBCE-26B7-DB6B-395E-2652FC7E07F7}"/>
              </a:ext>
            </a:extLst>
          </p:cNvPr>
          <p:cNvCxnSpPr/>
          <p:nvPr/>
        </p:nvCxnSpPr>
        <p:spPr>
          <a:xfrm>
            <a:off x="1168400" y="3505200"/>
            <a:ext cx="10160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7CCC43A-F80E-6121-DD81-FD4D954F3116}"/>
              </a:ext>
            </a:extLst>
          </p:cNvPr>
          <p:cNvCxnSpPr/>
          <p:nvPr/>
        </p:nvCxnSpPr>
        <p:spPr>
          <a:xfrm>
            <a:off x="1168400" y="5067300"/>
            <a:ext cx="10160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AC37221-E3F8-FB0A-EAD6-F976A0F9DB68}"/>
              </a:ext>
            </a:extLst>
          </p:cNvPr>
          <p:cNvCxnSpPr/>
          <p:nvPr/>
        </p:nvCxnSpPr>
        <p:spPr>
          <a:xfrm>
            <a:off x="3962400" y="3505200"/>
            <a:ext cx="0" cy="156210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57638DB-5347-574B-B2FE-1175C02E0660}"/>
              </a:ext>
            </a:extLst>
          </p:cNvPr>
          <p:cNvCxnSpPr/>
          <p:nvPr/>
        </p:nvCxnSpPr>
        <p:spPr>
          <a:xfrm flipH="1">
            <a:off x="3860800" y="3505200"/>
            <a:ext cx="10160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76EEBC0D-10C5-451A-D945-63BFD4BC32C1}"/>
              </a:ext>
            </a:extLst>
          </p:cNvPr>
          <p:cNvCxnSpPr/>
          <p:nvPr/>
        </p:nvCxnSpPr>
        <p:spPr>
          <a:xfrm flipH="1">
            <a:off x="3860800" y="5067300"/>
            <a:ext cx="10160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sp>
        <p:nvSpPr>
          <p:cNvPr id="15" name="text_14">
            <a:extLst>
              <a:ext uri="{FF2B5EF4-FFF2-40B4-BE49-F238E27FC236}">
                <a16:creationId xmlns:a16="http://schemas.microsoft.com/office/drawing/2014/main" id="{AD0D5B2B-E48A-10E8-D9B5-EE9537CDFDAD}"/>
              </a:ext>
            </a:extLst>
          </p:cNvPr>
          <p:cNvSpPr txBox="1"/>
          <p:nvPr/>
        </p:nvSpPr>
        <p:spPr>
          <a:xfrm>
            <a:off x="1308100" y="3555999"/>
            <a:ext cx="1257300" cy="730250"/>
          </a:xfrm>
          <a:prstGeom prst="rect">
            <a:avLst/>
          </a:prstGeom>
          <a:noFill/>
        </p:spPr>
        <p:txBody>
          <a:bodyPr vert="horz" wrap="square" lIns="0" tIns="0" rIns="0" bIns="0" rtlCol="0" anchor="t">
            <a:noAutofit/>
          </a:bodyPr>
          <a:lstStyle/>
          <a:p>
            <a:pPr algn="ctr"/>
            <a:r>
              <a:rPr lang="en-IL" sz="3400">
                <a:solidFill>
                  <a:srgbClr val="2459D3"/>
                </a:solidFill>
                <a:latin typeface="Cambria Math" panose="02040503050406030204" pitchFamily="18" charset="0"/>
              </a:rPr>
              <a:t>1</a:t>
            </a:r>
          </a:p>
        </p:txBody>
      </p:sp>
      <p:sp>
        <p:nvSpPr>
          <p:cNvPr id="16" name="text_15">
            <a:extLst>
              <a:ext uri="{FF2B5EF4-FFF2-40B4-BE49-F238E27FC236}">
                <a16:creationId xmlns:a16="http://schemas.microsoft.com/office/drawing/2014/main" id="{FDE4B430-9F27-9178-B662-1B5E114AE508}"/>
              </a:ext>
            </a:extLst>
          </p:cNvPr>
          <p:cNvSpPr txBox="1"/>
          <p:nvPr/>
        </p:nvSpPr>
        <p:spPr>
          <a:xfrm>
            <a:off x="2565400" y="3555999"/>
            <a:ext cx="1257300" cy="730250"/>
          </a:xfrm>
          <a:prstGeom prst="rect">
            <a:avLst/>
          </a:prstGeom>
          <a:noFill/>
        </p:spPr>
        <p:txBody>
          <a:bodyPr vert="horz" wrap="square" lIns="0" tIns="0" rIns="0" bIns="0" rtlCol="0" anchor="t">
            <a:noAutofit/>
          </a:bodyPr>
          <a:lstStyle/>
          <a:p>
            <a:pPr algn="ctr"/>
            <a:r>
              <a:rPr lang="en-IL" sz="3400">
                <a:solidFill>
                  <a:srgbClr val="2459D3"/>
                </a:solidFill>
                <a:latin typeface="Cambria Math" panose="02040503050406030204" pitchFamily="18" charset="0"/>
              </a:rPr>
              <a:t>−0.9</a:t>
            </a:r>
          </a:p>
        </p:txBody>
      </p:sp>
      <p:sp>
        <p:nvSpPr>
          <p:cNvPr id="17" name="text_16">
            <a:extLst>
              <a:ext uri="{FF2B5EF4-FFF2-40B4-BE49-F238E27FC236}">
                <a16:creationId xmlns:a16="http://schemas.microsoft.com/office/drawing/2014/main" id="{BB754B1E-F0CA-4483-0F8D-BF6570313E25}"/>
              </a:ext>
            </a:extLst>
          </p:cNvPr>
          <p:cNvSpPr txBox="1"/>
          <p:nvPr/>
        </p:nvSpPr>
        <p:spPr>
          <a:xfrm>
            <a:off x="1308100" y="4337049"/>
            <a:ext cx="1257300" cy="730250"/>
          </a:xfrm>
          <a:prstGeom prst="rect">
            <a:avLst/>
          </a:prstGeom>
          <a:noFill/>
        </p:spPr>
        <p:txBody>
          <a:bodyPr vert="horz" wrap="square" lIns="0" tIns="0" rIns="0" bIns="0" rtlCol="0" anchor="t">
            <a:noAutofit/>
          </a:bodyPr>
          <a:lstStyle/>
          <a:p>
            <a:pPr algn="ctr"/>
            <a:r>
              <a:rPr lang="en-IL" sz="3400">
                <a:solidFill>
                  <a:srgbClr val="2459D3"/>
                </a:solidFill>
                <a:latin typeface="Cambria Math" panose="02040503050406030204" pitchFamily="18" charset="0"/>
              </a:rPr>
              <a:t>0</a:t>
            </a:r>
          </a:p>
        </p:txBody>
      </p:sp>
      <p:sp>
        <p:nvSpPr>
          <p:cNvPr id="18" name="text_17">
            <a:extLst>
              <a:ext uri="{FF2B5EF4-FFF2-40B4-BE49-F238E27FC236}">
                <a16:creationId xmlns:a16="http://schemas.microsoft.com/office/drawing/2014/main" id="{8927182A-70F3-D404-ED2F-77375AB68344}"/>
              </a:ext>
            </a:extLst>
          </p:cNvPr>
          <p:cNvSpPr txBox="1"/>
          <p:nvPr/>
        </p:nvSpPr>
        <p:spPr>
          <a:xfrm>
            <a:off x="2565400" y="4337049"/>
            <a:ext cx="1257300" cy="730250"/>
          </a:xfrm>
          <a:prstGeom prst="rect">
            <a:avLst/>
          </a:prstGeom>
          <a:noFill/>
        </p:spPr>
        <p:txBody>
          <a:bodyPr vert="horz" wrap="square" lIns="0" tIns="0" rIns="0" bIns="0" rtlCol="0" anchor="t">
            <a:noAutofit/>
          </a:bodyPr>
          <a:lstStyle/>
          <a:p>
            <a:pPr algn="ctr"/>
            <a:r>
              <a:rPr lang="en-IL" sz="3400">
                <a:solidFill>
                  <a:srgbClr val="2459D3"/>
                </a:solidFill>
                <a:latin typeface="Cambria Math" panose="02040503050406030204" pitchFamily="18" charset="0"/>
              </a:rPr>
              <a:t>1</a:t>
            </a:r>
          </a:p>
        </p:txBody>
      </p:sp>
      <p:cxnSp>
        <p:nvCxnSpPr>
          <p:cNvPr id="19" name="Straight Connector 18">
            <a:extLst>
              <a:ext uri="{FF2B5EF4-FFF2-40B4-BE49-F238E27FC236}">
                <a16:creationId xmlns:a16="http://schemas.microsoft.com/office/drawing/2014/main" id="{6C269BA0-845D-F3B0-1C5A-E1C8F725CA5A}"/>
              </a:ext>
            </a:extLst>
          </p:cNvPr>
          <p:cNvCxnSpPr/>
          <p:nvPr/>
        </p:nvCxnSpPr>
        <p:spPr>
          <a:xfrm>
            <a:off x="4445000" y="3505200"/>
            <a:ext cx="0" cy="15621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6073C244-D957-2004-6C5A-2D20F31518D4}"/>
              </a:ext>
            </a:extLst>
          </p:cNvPr>
          <p:cNvCxnSpPr/>
          <p:nvPr/>
        </p:nvCxnSpPr>
        <p:spPr>
          <a:xfrm>
            <a:off x="4445000" y="35052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D924640-CC44-57FA-A957-24C0840EC0AF}"/>
              </a:ext>
            </a:extLst>
          </p:cNvPr>
          <p:cNvCxnSpPr/>
          <p:nvPr/>
        </p:nvCxnSpPr>
        <p:spPr>
          <a:xfrm>
            <a:off x="4445000" y="5067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E6A45BC-3488-F3DF-62B2-BB56EA00F07D}"/>
              </a:ext>
            </a:extLst>
          </p:cNvPr>
          <p:cNvCxnSpPr/>
          <p:nvPr/>
        </p:nvCxnSpPr>
        <p:spPr>
          <a:xfrm>
            <a:off x="7899400" y="3505200"/>
            <a:ext cx="0" cy="15621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D67D0BAA-BAA4-7207-862A-D2DF84B94522}"/>
              </a:ext>
            </a:extLst>
          </p:cNvPr>
          <p:cNvCxnSpPr/>
          <p:nvPr/>
        </p:nvCxnSpPr>
        <p:spPr>
          <a:xfrm flipH="1">
            <a:off x="7797800" y="35052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ABAC48E0-57AF-AED1-68B4-A069F6F5933C}"/>
              </a:ext>
            </a:extLst>
          </p:cNvPr>
          <p:cNvCxnSpPr/>
          <p:nvPr/>
        </p:nvCxnSpPr>
        <p:spPr>
          <a:xfrm flipH="1">
            <a:off x="7797800" y="50673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25" name="text_24">
            <a:extLst>
              <a:ext uri="{FF2B5EF4-FFF2-40B4-BE49-F238E27FC236}">
                <a16:creationId xmlns:a16="http://schemas.microsoft.com/office/drawing/2014/main" id="{140F8146-A451-612F-3F8E-9D111D22C2F5}"/>
              </a:ext>
            </a:extLst>
          </p:cNvPr>
          <p:cNvSpPr txBox="1"/>
          <p:nvPr/>
        </p:nvSpPr>
        <p:spPr>
          <a:xfrm>
            <a:off x="4584700" y="3555999"/>
            <a:ext cx="3175000" cy="730250"/>
          </a:xfrm>
          <a:prstGeom prst="rect">
            <a:avLst/>
          </a:prstGeom>
          <a:noFill/>
        </p:spPr>
        <p:txBody>
          <a:bodyPr vert="horz" wrap="square" lIns="0" tIns="0" rIns="0" bIns="0" rtlCol="0" anchor="t">
            <a:noAutofit/>
          </a:bodyPr>
          <a:lstStyle/>
          <a:p>
            <a:pPr algn="ctr"/>
            <a:r>
              <a:rPr lang="en-IL" sz="2900">
                <a:solidFill>
                  <a:srgbClr val="15283B"/>
                </a:solidFill>
                <a:latin typeface="Cambria Math" panose="02040503050406030204" pitchFamily="18" charset="0"/>
              </a:rPr>
              <a:t>V</a:t>
            </a:r>
            <a:r>
              <a:rPr lang="el-GR" sz="2088" baseline="32000">
                <a:solidFill>
                  <a:srgbClr val="15283B"/>
                </a:solidFill>
                <a:latin typeface="Cambria Math" panose="02040503050406030204" pitchFamily="18" charset="0"/>
              </a:rPr>
              <a:t>π</a:t>
            </a:r>
            <a:r>
              <a:rPr lang="el-GR" sz="2900">
                <a:solidFill>
                  <a:srgbClr val="15283B"/>
                </a:solidFill>
                <a:latin typeface="Cambria Math" panose="02040503050406030204" pitchFamily="18" charset="0"/>
              </a:rPr>
              <a:t>(</a:t>
            </a:r>
            <a:r>
              <a:rPr lang="en-IL" sz="2900">
                <a:solidFill>
                  <a:srgbClr val="15283B"/>
                </a:solidFill>
                <a:latin typeface="Cambria Math" panose="02040503050406030204" pitchFamily="18" charset="0"/>
              </a:rPr>
              <a:t>start)</a:t>
            </a:r>
          </a:p>
        </p:txBody>
      </p:sp>
      <p:sp>
        <p:nvSpPr>
          <p:cNvPr id="26" name="text_25">
            <a:extLst>
              <a:ext uri="{FF2B5EF4-FFF2-40B4-BE49-F238E27FC236}">
                <a16:creationId xmlns:a16="http://schemas.microsoft.com/office/drawing/2014/main" id="{3C7929AE-89C6-60DC-FB5B-41B583D13583}"/>
              </a:ext>
            </a:extLst>
          </p:cNvPr>
          <p:cNvSpPr txBox="1"/>
          <p:nvPr/>
        </p:nvSpPr>
        <p:spPr>
          <a:xfrm>
            <a:off x="4584700" y="4337049"/>
            <a:ext cx="3175000" cy="730250"/>
          </a:xfrm>
          <a:prstGeom prst="rect">
            <a:avLst/>
          </a:prstGeom>
          <a:noFill/>
        </p:spPr>
        <p:txBody>
          <a:bodyPr vert="horz" wrap="square" lIns="0" tIns="0" rIns="0" bIns="0" rtlCol="0" anchor="t">
            <a:noAutofit/>
          </a:bodyPr>
          <a:lstStyle/>
          <a:p>
            <a:pPr algn="ctr"/>
            <a:r>
              <a:rPr lang="en-IL" sz="2900">
                <a:solidFill>
                  <a:srgbClr val="15283B"/>
                </a:solidFill>
                <a:latin typeface="Cambria Math" panose="02040503050406030204" pitchFamily="18" charset="0"/>
              </a:rPr>
              <a:t>V</a:t>
            </a:r>
            <a:r>
              <a:rPr lang="el-GR" sz="2088" baseline="32000">
                <a:solidFill>
                  <a:srgbClr val="15283B"/>
                </a:solidFill>
                <a:latin typeface="Cambria Math" panose="02040503050406030204" pitchFamily="18" charset="0"/>
              </a:rPr>
              <a:t>π</a:t>
            </a:r>
            <a:r>
              <a:rPr lang="el-GR" sz="2900">
                <a:solidFill>
                  <a:srgbClr val="15283B"/>
                </a:solidFill>
                <a:latin typeface="Cambria Math" panose="02040503050406030204" pitchFamily="18" charset="0"/>
              </a:rPr>
              <a:t>(</a:t>
            </a:r>
            <a:r>
              <a:rPr lang="en-IL" sz="2900">
                <a:solidFill>
                  <a:srgbClr val="15283B"/>
                </a:solidFill>
                <a:latin typeface="Cambria Math" panose="02040503050406030204" pitchFamily="18" charset="0"/>
              </a:rPr>
              <a:t>detour)</a:t>
            </a:r>
          </a:p>
        </p:txBody>
      </p:sp>
      <p:sp>
        <p:nvSpPr>
          <p:cNvPr id="27" name="text_26">
            <a:extLst>
              <a:ext uri="{FF2B5EF4-FFF2-40B4-BE49-F238E27FC236}">
                <a16:creationId xmlns:a16="http://schemas.microsoft.com/office/drawing/2014/main" id="{935D6CFE-E850-E0FF-7D44-F453C0599128}"/>
              </a:ext>
            </a:extLst>
          </p:cNvPr>
          <p:cNvSpPr txBox="1"/>
          <p:nvPr/>
        </p:nvSpPr>
        <p:spPr>
          <a:xfrm>
            <a:off x="8191500" y="4013199"/>
            <a:ext cx="508000" cy="596900"/>
          </a:xfrm>
          <a:prstGeom prst="rect">
            <a:avLst/>
          </a:prstGeom>
          <a:noFill/>
        </p:spPr>
        <p:txBody>
          <a:bodyPr vert="horz" wrap="square" lIns="0" tIns="0" rIns="0" bIns="0" rtlCol="0" anchor="t">
            <a:noAutofit/>
          </a:bodyPr>
          <a:lstStyle/>
          <a:p>
            <a:r>
              <a:rPr lang="en-IL" sz="3800">
                <a:solidFill>
                  <a:srgbClr val="137F79"/>
                </a:solidFill>
                <a:latin typeface="Cambria Math" panose="02040503050406030204" pitchFamily="18" charset="0"/>
              </a:rPr>
              <a:t>=</a:t>
            </a:r>
          </a:p>
        </p:txBody>
      </p:sp>
      <p:cxnSp>
        <p:nvCxnSpPr>
          <p:cNvPr id="28" name="Straight Connector 27">
            <a:extLst>
              <a:ext uri="{FF2B5EF4-FFF2-40B4-BE49-F238E27FC236}">
                <a16:creationId xmlns:a16="http://schemas.microsoft.com/office/drawing/2014/main" id="{B3DA240F-569E-BA9C-50DB-0B16A8439BC6}"/>
              </a:ext>
            </a:extLst>
          </p:cNvPr>
          <p:cNvCxnSpPr/>
          <p:nvPr/>
        </p:nvCxnSpPr>
        <p:spPr>
          <a:xfrm>
            <a:off x="9194800" y="3505200"/>
            <a:ext cx="0" cy="156210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2F49785-0861-059C-1F0E-B65A1FB80751}"/>
              </a:ext>
            </a:extLst>
          </p:cNvPr>
          <p:cNvCxnSpPr/>
          <p:nvPr/>
        </p:nvCxnSpPr>
        <p:spPr>
          <a:xfrm>
            <a:off x="9194800" y="3505200"/>
            <a:ext cx="101600" cy="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682FF7E5-10D0-B754-9F5A-BE0AEE287B98}"/>
              </a:ext>
            </a:extLst>
          </p:cNvPr>
          <p:cNvCxnSpPr/>
          <p:nvPr/>
        </p:nvCxnSpPr>
        <p:spPr>
          <a:xfrm>
            <a:off x="9194800" y="5067300"/>
            <a:ext cx="101600" cy="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D4406D7D-6A04-8F22-0188-9C6273D6AE9E}"/>
              </a:ext>
            </a:extLst>
          </p:cNvPr>
          <p:cNvCxnSpPr/>
          <p:nvPr/>
        </p:nvCxnSpPr>
        <p:spPr>
          <a:xfrm>
            <a:off x="10845800" y="3505200"/>
            <a:ext cx="0" cy="156210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A33CD65D-E727-E237-3F80-E47291885C57}"/>
              </a:ext>
            </a:extLst>
          </p:cNvPr>
          <p:cNvCxnSpPr/>
          <p:nvPr/>
        </p:nvCxnSpPr>
        <p:spPr>
          <a:xfrm flipH="1">
            <a:off x="10744200" y="3505200"/>
            <a:ext cx="101600" cy="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D1D51B1-542D-8A7B-4CFB-1CE1A7CA0398}"/>
              </a:ext>
            </a:extLst>
          </p:cNvPr>
          <p:cNvCxnSpPr/>
          <p:nvPr/>
        </p:nvCxnSpPr>
        <p:spPr>
          <a:xfrm flipH="1">
            <a:off x="10744200" y="5067300"/>
            <a:ext cx="101600" cy="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sp>
        <p:nvSpPr>
          <p:cNvPr id="34" name="text_33">
            <a:extLst>
              <a:ext uri="{FF2B5EF4-FFF2-40B4-BE49-F238E27FC236}">
                <a16:creationId xmlns:a16="http://schemas.microsoft.com/office/drawing/2014/main" id="{56EEC183-B363-4421-ED49-01847B391AB9}"/>
              </a:ext>
            </a:extLst>
          </p:cNvPr>
          <p:cNvSpPr txBox="1"/>
          <p:nvPr/>
        </p:nvSpPr>
        <p:spPr>
          <a:xfrm>
            <a:off x="9334500" y="3555999"/>
            <a:ext cx="1371600" cy="730250"/>
          </a:xfrm>
          <a:prstGeom prst="rect">
            <a:avLst/>
          </a:prstGeom>
          <a:noFill/>
        </p:spPr>
        <p:txBody>
          <a:bodyPr vert="horz" wrap="square" lIns="0" tIns="0" rIns="0" bIns="0" rtlCol="0" anchor="t">
            <a:noAutofit/>
          </a:bodyPr>
          <a:lstStyle/>
          <a:p>
            <a:pPr algn="ctr"/>
            <a:r>
              <a:rPr lang="en-IL" sz="3400">
                <a:solidFill>
                  <a:srgbClr val="137F79"/>
                </a:solidFill>
                <a:latin typeface="Cambria Math" panose="02040503050406030204" pitchFamily="18" charset="0"/>
              </a:rPr>
              <a:t>−1</a:t>
            </a:r>
          </a:p>
        </p:txBody>
      </p:sp>
      <p:sp>
        <p:nvSpPr>
          <p:cNvPr id="35" name="text_34">
            <a:extLst>
              <a:ext uri="{FF2B5EF4-FFF2-40B4-BE49-F238E27FC236}">
                <a16:creationId xmlns:a16="http://schemas.microsoft.com/office/drawing/2014/main" id="{CBCBCCA8-8A88-82F4-D12B-E1043B5EE96D}"/>
              </a:ext>
            </a:extLst>
          </p:cNvPr>
          <p:cNvSpPr txBox="1"/>
          <p:nvPr/>
        </p:nvSpPr>
        <p:spPr>
          <a:xfrm>
            <a:off x="9334500" y="4337049"/>
            <a:ext cx="1371600" cy="730250"/>
          </a:xfrm>
          <a:prstGeom prst="rect">
            <a:avLst/>
          </a:prstGeom>
          <a:noFill/>
        </p:spPr>
        <p:txBody>
          <a:bodyPr vert="horz" wrap="square" lIns="0" tIns="0" rIns="0" bIns="0" rtlCol="0" anchor="t">
            <a:noAutofit/>
          </a:bodyPr>
          <a:lstStyle/>
          <a:p>
            <a:pPr algn="ctr"/>
            <a:r>
              <a:rPr lang="en-IL" sz="3400">
                <a:solidFill>
                  <a:srgbClr val="137F79"/>
                </a:solidFill>
                <a:latin typeface="Cambria Math" panose="02040503050406030204" pitchFamily="18" charset="0"/>
              </a:rPr>
              <a:t>8</a:t>
            </a:r>
          </a:p>
        </p:txBody>
      </p:sp>
      <p:sp>
        <p:nvSpPr>
          <p:cNvPr id="36" name="text_35">
            <a:extLst>
              <a:ext uri="{FF2B5EF4-FFF2-40B4-BE49-F238E27FC236}">
                <a16:creationId xmlns:a16="http://schemas.microsoft.com/office/drawing/2014/main" id="{ED1A4A43-C988-BB5E-7AFD-36D4670E4BD3}"/>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V(detour) = 8   ⇒   V(start) = −1 + 0.9(8) = 6.2</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708755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F9937CC8-7807-B248-E283-A7D29A4049A7}"/>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72AEC478-76F0-F9C3-3B76-0500568ECB0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Choose actions; average outcomes</a:t>
            </a:r>
          </a:p>
        </p:txBody>
      </p:sp>
      <p:sp>
        <p:nvSpPr>
          <p:cNvPr id="4" name="text_3">
            <a:extLst>
              <a:ext uri="{FF2B5EF4-FFF2-40B4-BE49-F238E27FC236}">
                <a16:creationId xmlns:a16="http://schemas.microsoft.com/office/drawing/2014/main" id="{CDFDC6BE-F84D-7A62-D130-3AF5244B489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Bellman optimality separates control from uncertainty.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83EA8E8-81D2-546A-196A-D0E996A5814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EFB22EC-4D16-58E7-1907-492EA073EBA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07DBA51-0B38-E85B-835D-7F92B2D34A9F}"/>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16</a:t>
            </a:r>
          </a:p>
        </p:txBody>
      </p:sp>
      <p:sp>
        <p:nvSpPr>
          <p:cNvPr id="8" name="text_7">
            <a:extLst>
              <a:ext uri="{FF2B5EF4-FFF2-40B4-BE49-F238E27FC236}">
                <a16:creationId xmlns:a16="http://schemas.microsoft.com/office/drawing/2014/main" id="{DC7944EE-AB2E-B7FD-4024-71B0BE975FAA}"/>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pt-BR" sz="3100">
                <a:solidFill>
                  <a:srgbClr val="2459D3"/>
                </a:solidFill>
                <a:latin typeface="Cambria Math" panose="02040503050406030204" pitchFamily="18" charset="0"/>
              </a:rPr>
              <a:t>Q</a:t>
            </a:r>
            <a:r>
              <a:rPr lang="pt-BR" sz="2232" baseline="-22000">
                <a:solidFill>
                  <a:srgbClr val="2459D3"/>
                </a:solidFill>
                <a:latin typeface="Cambria Math" panose="02040503050406030204" pitchFamily="18" charset="0"/>
              </a:rPr>
              <a:t>V</a:t>
            </a:r>
            <a:r>
              <a:rPr lang="pt-BR" sz="3100">
                <a:solidFill>
                  <a:srgbClr val="2459D3"/>
                </a:solidFill>
                <a:latin typeface="Cambria Math" panose="02040503050406030204" pitchFamily="18" charset="0"/>
              </a:rPr>
              <a:t>(s,a) = ∑</a:t>
            </a:r>
            <a:r>
              <a:rPr lang="pt-BR" sz="2232" baseline="-22000">
                <a:solidFill>
                  <a:srgbClr val="2459D3"/>
                </a:solidFill>
                <a:latin typeface="Cambria Math" panose="02040503050406030204" pitchFamily="18" charset="0"/>
              </a:rPr>
              <a:t>s′</a:t>
            </a:r>
            <a:r>
              <a:rPr lang="pt-BR" sz="3100">
                <a:solidFill>
                  <a:srgbClr val="2459D3"/>
                </a:solidFill>
                <a:latin typeface="Cambria Math" panose="02040503050406030204" pitchFamily="18" charset="0"/>
              </a:rPr>
              <a:t> P(s′ | s,a)[r(s,a,s′)+γV(s′)]</a:t>
            </a:r>
            <a:endParaRPr lang="en-IL" sz="31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00FF6FF1-D908-BA3D-773D-BEF239D783CA}"/>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V</a:t>
            </a:r>
            <a:r>
              <a:rPr lang="en-IL" sz="2232" baseline="32000">
                <a:solidFill>
                  <a:srgbClr val="15283B"/>
                </a:solidFill>
                <a:latin typeface="Cambria Math" panose="02040503050406030204" pitchFamily="18" charset="0"/>
              </a:rPr>
              <a:t>*</a:t>
            </a:r>
            <a:r>
              <a:rPr lang="en-IL" sz="3100">
                <a:solidFill>
                  <a:srgbClr val="15283B"/>
                </a:solidFill>
                <a:latin typeface="Cambria Math" panose="02040503050406030204" pitchFamily="18" charset="0"/>
              </a:rPr>
              <a:t>(s) = max</a:t>
            </a:r>
            <a:r>
              <a:rPr lang="en-IL" sz="2232" baseline="-22000">
                <a:solidFill>
                  <a:srgbClr val="15283B"/>
                </a:solidFill>
                <a:latin typeface="Cambria Math" panose="02040503050406030204" pitchFamily="18" charset="0"/>
              </a:rPr>
              <a:t>a∈A(s)</a:t>
            </a:r>
            <a:r>
              <a:rPr lang="en-IL" sz="3100">
                <a:solidFill>
                  <a:srgbClr val="15283B"/>
                </a:solidFill>
                <a:latin typeface="Cambria Math" panose="02040503050406030204" pitchFamily="18" charset="0"/>
              </a:rPr>
              <a:t> Q</a:t>
            </a:r>
            <a:r>
              <a:rPr lang="en-IL" sz="2232" baseline="32000">
                <a:solidFill>
                  <a:srgbClr val="15283B"/>
                </a:solidFill>
                <a:latin typeface="Cambria Math" panose="02040503050406030204" pitchFamily="18" charset="0"/>
              </a:rPr>
              <a:t>*</a:t>
            </a:r>
            <a:r>
              <a:rPr lang="en-IL" sz="3100">
                <a:solidFill>
                  <a:srgbClr val="15283B"/>
                </a:solidFill>
                <a:latin typeface="Cambria Math" panose="02040503050406030204" pitchFamily="18" charset="0"/>
              </a:rPr>
              <a:t>(s,a)</a:t>
            </a:r>
          </a:p>
        </p:txBody>
      </p:sp>
      <p:sp>
        <p:nvSpPr>
          <p:cNvPr id="10" name="text_9">
            <a:extLst>
              <a:ext uri="{FF2B5EF4-FFF2-40B4-BE49-F238E27FC236}">
                <a16:creationId xmlns:a16="http://schemas.microsoft.com/office/drawing/2014/main" id="{76BC27D2-286B-40C5-2AF7-74ADD4AAC9F0}"/>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At start:    max{−1 + 0.9(8), 6} = 6.2</a:t>
            </a:r>
          </a:p>
        </p:txBody>
      </p:sp>
      <p:sp>
        <p:nvSpPr>
          <p:cNvPr id="11" name="text_10">
            <a:extLst>
              <a:ext uri="{FF2B5EF4-FFF2-40B4-BE49-F238E27FC236}">
                <a16:creationId xmlns:a16="http://schemas.microsoft.com/office/drawing/2014/main" id="{7A113FB7-9A6F-792B-1DC1-CBDE7487629F}"/>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Sum over successor states. Max over actions.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528630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D9B7BFF-A8C1-2A7D-65AC-790567E0DB14}"/>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CC4FE54C-99A7-AEF7-8910-478DEB1B30E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Value iteration</a:t>
            </a:r>
          </a:p>
        </p:txBody>
      </p:sp>
      <p:sp>
        <p:nvSpPr>
          <p:cNvPr id="4" name="text_3">
            <a:extLst>
              <a:ext uri="{FF2B5EF4-FFF2-40B4-BE49-F238E27FC236}">
                <a16:creationId xmlns:a16="http://schemas.microsoft.com/office/drawing/2014/main" id="{4015BAE2-2AA8-C842-AD93-D9D271B966C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Improve values through repeated maximizing backups.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E6F90A6-63A8-5F05-3BCE-96F239130AD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458A78D-63F4-3B97-4D61-8AF66C8281B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F6FABC5-D3C6-31A1-A45A-DD9C7BA9EAF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17</a:t>
            </a:r>
          </a:p>
        </p:txBody>
      </p:sp>
      <p:sp>
        <p:nvSpPr>
          <p:cNvPr id="8" name="text_7">
            <a:extLst>
              <a:ext uri="{FF2B5EF4-FFF2-40B4-BE49-F238E27FC236}">
                <a16:creationId xmlns:a16="http://schemas.microsoft.com/office/drawing/2014/main" id="{6B8184AD-AB94-D8CC-DC74-68BB91532902}"/>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100">
                <a:solidFill>
                  <a:srgbClr val="2459D3"/>
                </a:solidFill>
                <a:latin typeface="Cambria Math" panose="02040503050406030204" pitchFamily="18" charset="0"/>
              </a:rPr>
              <a:t>Initialize:    V</a:t>
            </a:r>
            <a:r>
              <a:rPr lang="en-IL" sz="2232" baseline="-22000">
                <a:solidFill>
                  <a:srgbClr val="2459D3"/>
                </a:solidFill>
                <a:latin typeface="Cambria Math" panose="02040503050406030204" pitchFamily="18" charset="0"/>
              </a:rPr>
              <a:t>0</a:t>
            </a:r>
            <a:r>
              <a:rPr lang="en-IL" sz="3100">
                <a:solidFill>
                  <a:srgbClr val="2459D3"/>
                </a:solidFill>
                <a:latin typeface="Cambria Math" panose="02040503050406030204" pitchFamily="18" charset="0"/>
              </a:rPr>
              <a:t>(s) = 0</a:t>
            </a:r>
          </a:p>
        </p:txBody>
      </p:sp>
      <p:sp>
        <p:nvSpPr>
          <p:cNvPr id="9" name="text_8">
            <a:extLst>
              <a:ext uri="{FF2B5EF4-FFF2-40B4-BE49-F238E27FC236}">
                <a16:creationId xmlns:a16="http://schemas.microsoft.com/office/drawing/2014/main" id="{C27936C8-C037-218D-9670-DD3368606EFC}"/>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pt-BR" sz="3100">
                <a:solidFill>
                  <a:srgbClr val="15283B"/>
                </a:solidFill>
                <a:latin typeface="Cambria Math" panose="02040503050406030204" pitchFamily="18" charset="0"/>
              </a:rPr>
              <a:t>V</a:t>
            </a:r>
            <a:r>
              <a:rPr lang="pt-BR" sz="2232" baseline="-22000">
                <a:solidFill>
                  <a:srgbClr val="15283B"/>
                </a:solidFill>
                <a:latin typeface="Cambria Math" panose="02040503050406030204" pitchFamily="18" charset="0"/>
              </a:rPr>
              <a:t>k+1</a:t>
            </a:r>
            <a:r>
              <a:rPr lang="pt-BR" sz="3100">
                <a:solidFill>
                  <a:srgbClr val="15283B"/>
                </a:solidFill>
                <a:latin typeface="Cambria Math" panose="02040503050406030204" pitchFamily="18" charset="0"/>
              </a:rPr>
              <a:t>(s) = max</a:t>
            </a:r>
            <a:r>
              <a:rPr lang="pt-BR" sz="2232" baseline="-22000">
                <a:solidFill>
                  <a:srgbClr val="15283B"/>
                </a:solidFill>
                <a:latin typeface="Cambria Math" panose="02040503050406030204" pitchFamily="18" charset="0"/>
              </a:rPr>
              <a:t>a</a:t>
            </a:r>
            <a:r>
              <a:rPr lang="pt-BR" sz="3100">
                <a:solidFill>
                  <a:srgbClr val="15283B"/>
                </a:solidFill>
                <a:latin typeface="Cambria Math" panose="02040503050406030204" pitchFamily="18" charset="0"/>
              </a:rPr>
              <a:t> ∑</a:t>
            </a:r>
            <a:r>
              <a:rPr lang="pt-BR" sz="2232" baseline="-22000">
                <a:solidFill>
                  <a:srgbClr val="15283B"/>
                </a:solidFill>
                <a:latin typeface="Cambria Math" panose="02040503050406030204" pitchFamily="18" charset="0"/>
              </a:rPr>
              <a:t>s′</a:t>
            </a:r>
            <a:r>
              <a:rPr lang="pt-BR" sz="3100">
                <a:solidFill>
                  <a:srgbClr val="15283B"/>
                </a:solidFill>
                <a:latin typeface="Cambria Math" panose="02040503050406030204" pitchFamily="18" charset="0"/>
              </a:rPr>
              <a:t> P(s′ | s,a)[r(s,a,s′)+γV</a:t>
            </a:r>
            <a:r>
              <a:rPr lang="pt-BR" sz="2232" baseline="-22000">
                <a:solidFill>
                  <a:srgbClr val="15283B"/>
                </a:solidFill>
                <a:latin typeface="Cambria Math" panose="02040503050406030204" pitchFamily="18" charset="0"/>
              </a:rPr>
              <a:t>k</a:t>
            </a:r>
            <a:r>
              <a:rPr lang="pt-BR" sz="3100">
                <a:solidFill>
                  <a:srgbClr val="15283B"/>
                </a:solidFill>
                <a:latin typeface="Cambria Math" panose="02040503050406030204" pitchFamily="18" charset="0"/>
              </a:rPr>
              <a:t>(s′)]</a:t>
            </a:r>
            <a:endParaRPr lang="en-IL" sz="31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263E52E2-6E5F-AA6B-88C5-CE9E581591E0}"/>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l-GR" sz="3100">
                <a:solidFill>
                  <a:srgbClr val="15283B"/>
                </a:solidFill>
                <a:latin typeface="Cambria Math" panose="02040503050406030204" pitchFamily="18" charset="0"/>
              </a:rPr>
              <a:t>Δ</a:t>
            </a:r>
            <a:r>
              <a:rPr lang="en-IL" sz="2232" baseline="-22000">
                <a:solidFill>
                  <a:srgbClr val="15283B"/>
                </a:solidFill>
                <a:latin typeface="Cambria Math" panose="02040503050406030204" pitchFamily="18" charset="0"/>
              </a:rPr>
              <a:t>k</a:t>
            </a:r>
            <a:r>
              <a:rPr lang="en-IL" sz="3100">
                <a:solidFill>
                  <a:srgbClr val="15283B"/>
                </a:solidFill>
                <a:latin typeface="Cambria Math" panose="02040503050406030204" pitchFamily="18" charset="0"/>
              </a:rPr>
              <a:t> = max</a:t>
            </a:r>
            <a:r>
              <a:rPr lang="en-IL" sz="2232" baseline="-22000">
                <a:solidFill>
                  <a:srgbClr val="15283B"/>
                </a:solidFill>
                <a:latin typeface="Cambria Math" panose="02040503050406030204" pitchFamily="18" charset="0"/>
              </a:rPr>
              <a:t>s</a:t>
            </a:r>
            <a:r>
              <a:rPr lang="en-IL" sz="3100">
                <a:solidFill>
                  <a:srgbClr val="15283B"/>
                </a:solidFill>
                <a:latin typeface="Cambria Math" panose="02040503050406030204" pitchFamily="18" charset="0"/>
              </a:rPr>
              <a:t> |V</a:t>
            </a:r>
            <a:r>
              <a:rPr lang="en-IL" sz="2232" baseline="-22000">
                <a:solidFill>
                  <a:srgbClr val="15283B"/>
                </a:solidFill>
                <a:latin typeface="Cambria Math" panose="02040503050406030204" pitchFamily="18" charset="0"/>
              </a:rPr>
              <a:t>k+1</a:t>
            </a:r>
            <a:r>
              <a:rPr lang="en-IL" sz="3100">
                <a:solidFill>
                  <a:srgbClr val="15283B"/>
                </a:solidFill>
                <a:latin typeface="Cambria Math" panose="02040503050406030204" pitchFamily="18" charset="0"/>
              </a:rPr>
              <a:t>(s) − V</a:t>
            </a:r>
            <a:r>
              <a:rPr lang="en-IL" sz="2232" baseline="-22000">
                <a:solidFill>
                  <a:srgbClr val="15283B"/>
                </a:solidFill>
                <a:latin typeface="Cambria Math" panose="02040503050406030204" pitchFamily="18" charset="0"/>
              </a:rPr>
              <a:t>k</a:t>
            </a:r>
            <a:r>
              <a:rPr lang="en-IL" sz="3100">
                <a:solidFill>
                  <a:srgbClr val="15283B"/>
                </a:solidFill>
                <a:latin typeface="Cambria Math" panose="02040503050406030204" pitchFamily="18" charset="0"/>
              </a:rPr>
              <a:t>(s)|</a:t>
            </a:r>
          </a:p>
        </p:txBody>
      </p:sp>
      <p:sp>
        <p:nvSpPr>
          <p:cNvPr id="11" name="text_10">
            <a:extLst>
              <a:ext uri="{FF2B5EF4-FFF2-40B4-BE49-F238E27FC236}">
                <a16:creationId xmlns:a16="http://schemas.microsoft.com/office/drawing/2014/main" id="{2561DCFD-DCB3-2307-5514-FED3D8CA0687}"/>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Read the complete old vector; write a separate new vector.</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111784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70D3BEB-AECF-1644-3FE2-83F1811DC88A}"/>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9C8D76F8-C435-CF43-233C-CFC127E3C9F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Value iteration by hand</a:t>
            </a:r>
          </a:p>
        </p:txBody>
      </p:sp>
      <p:sp>
        <p:nvSpPr>
          <p:cNvPr id="4" name="text_3">
            <a:extLst>
              <a:ext uri="{FF2B5EF4-FFF2-40B4-BE49-F238E27FC236}">
                <a16:creationId xmlns:a16="http://schemas.microsoft.com/office/drawing/2014/main" id="{357D9DAE-9F33-05A4-44C3-107894E50B96}"/>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Every row uses the complete preceding row.</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9A73D6CE-A5F1-2FFE-9393-7A5E22EDD69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BAC8290-4221-7531-7A6A-A1D3EA651B3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E68EE64-31F3-55C8-0DC5-41A1D20E697B}"/>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18</a:t>
            </a:r>
          </a:p>
        </p:txBody>
      </p:sp>
      <p:sp>
        <p:nvSpPr>
          <p:cNvPr id="8" name="Rectangle: Rounded Corners 7">
            <a:extLst>
              <a:ext uri="{FF2B5EF4-FFF2-40B4-BE49-F238E27FC236}">
                <a16:creationId xmlns:a16="http://schemas.microsoft.com/office/drawing/2014/main" id="{B2D43726-0B00-9D3E-0A1E-48A78B1C4D5E}"/>
              </a:ext>
            </a:extLst>
          </p:cNvPr>
          <p:cNvSpPr/>
          <p:nvPr/>
        </p:nvSpPr>
        <p:spPr>
          <a:xfrm>
            <a:off x="685800" y="2578100"/>
            <a:ext cx="1536700" cy="584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449E459F-4D8E-649D-BE17-D2F683A95E10}"/>
              </a:ext>
            </a:extLst>
          </p:cNvPr>
          <p:cNvSpPr txBox="1"/>
          <p:nvPr/>
        </p:nvSpPr>
        <p:spPr>
          <a:xfrm>
            <a:off x="762000" y="2666999"/>
            <a:ext cx="1384300" cy="4191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Sweep</a:t>
            </a:r>
          </a:p>
        </p:txBody>
      </p:sp>
      <p:sp>
        <p:nvSpPr>
          <p:cNvPr id="10" name="Rectangle: Rounded Corners 9">
            <a:extLst>
              <a:ext uri="{FF2B5EF4-FFF2-40B4-BE49-F238E27FC236}">
                <a16:creationId xmlns:a16="http://schemas.microsoft.com/office/drawing/2014/main" id="{CB4BD4C7-5D6A-18FC-D667-64948BCB1B77}"/>
              </a:ext>
            </a:extLst>
          </p:cNvPr>
          <p:cNvSpPr/>
          <p:nvPr/>
        </p:nvSpPr>
        <p:spPr>
          <a:xfrm>
            <a:off x="2451100" y="2578100"/>
            <a:ext cx="1981200" cy="584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CCC68E50-E939-A263-0383-0056CFA78621}"/>
              </a:ext>
            </a:extLst>
          </p:cNvPr>
          <p:cNvSpPr txBox="1"/>
          <p:nvPr/>
        </p:nvSpPr>
        <p:spPr>
          <a:xfrm>
            <a:off x="2527300" y="2666999"/>
            <a:ext cx="1828800" cy="4191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start</a:t>
            </a:r>
          </a:p>
        </p:txBody>
      </p:sp>
      <p:sp>
        <p:nvSpPr>
          <p:cNvPr id="12" name="Rectangle: Rounded Corners 11">
            <a:extLst>
              <a:ext uri="{FF2B5EF4-FFF2-40B4-BE49-F238E27FC236}">
                <a16:creationId xmlns:a16="http://schemas.microsoft.com/office/drawing/2014/main" id="{7D602D2B-DF18-35D6-34D2-F8FF80440B8D}"/>
              </a:ext>
            </a:extLst>
          </p:cNvPr>
          <p:cNvSpPr/>
          <p:nvPr/>
        </p:nvSpPr>
        <p:spPr>
          <a:xfrm>
            <a:off x="4660900" y="2578100"/>
            <a:ext cx="1993900" cy="584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E4942317-74A3-E6EF-990F-95FCFF6B11A9}"/>
              </a:ext>
            </a:extLst>
          </p:cNvPr>
          <p:cNvSpPr txBox="1"/>
          <p:nvPr/>
        </p:nvSpPr>
        <p:spPr>
          <a:xfrm>
            <a:off x="4737100" y="2666999"/>
            <a:ext cx="1841500" cy="4191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detour</a:t>
            </a:r>
          </a:p>
        </p:txBody>
      </p:sp>
      <p:sp>
        <p:nvSpPr>
          <p:cNvPr id="14" name="Rectangle: Rounded Corners 13">
            <a:extLst>
              <a:ext uri="{FF2B5EF4-FFF2-40B4-BE49-F238E27FC236}">
                <a16:creationId xmlns:a16="http://schemas.microsoft.com/office/drawing/2014/main" id="{548D6F27-7070-7533-AA4A-2CC317255F9D}"/>
              </a:ext>
            </a:extLst>
          </p:cNvPr>
          <p:cNvSpPr/>
          <p:nvPr/>
        </p:nvSpPr>
        <p:spPr>
          <a:xfrm>
            <a:off x="6883400" y="2578100"/>
            <a:ext cx="2082800" cy="584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7821D5DA-17A7-E79C-056D-25FC6E5B7865}"/>
              </a:ext>
            </a:extLst>
          </p:cNvPr>
          <p:cNvSpPr txBox="1"/>
          <p:nvPr/>
        </p:nvSpPr>
        <p:spPr>
          <a:xfrm>
            <a:off x="6959600" y="2666999"/>
            <a:ext cx="1930400" cy="4191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delivered</a:t>
            </a:r>
          </a:p>
        </p:txBody>
      </p:sp>
      <p:sp>
        <p:nvSpPr>
          <p:cNvPr id="16" name="Rectangle: Rounded Corners 15">
            <a:extLst>
              <a:ext uri="{FF2B5EF4-FFF2-40B4-BE49-F238E27FC236}">
                <a16:creationId xmlns:a16="http://schemas.microsoft.com/office/drawing/2014/main" id="{A25132FF-A394-6A75-6E02-12728CF69F00}"/>
              </a:ext>
            </a:extLst>
          </p:cNvPr>
          <p:cNvSpPr/>
          <p:nvPr/>
        </p:nvSpPr>
        <p:spPr>
          <a:xfrm>
            <a:off x="9194800" y="2578100"/>
            <a:ext cx="2311400" cy="584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A7540491-4705-360B-3DEF-03B08EA11D80}"/>
              </a:ext>
            </a:extLst>
          </p:cNvPr>
          <p:cNvSpPr txBox="1"/>
          <p:nvPr/>
        </p:nvSpPr>
        <p:spPr>
          <a:xfrm>
            <a:off x="9271000" y="2666999"/>
            <a:ext cx="2159000" cy="4191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failed</a:t>
            </a:r>
          </a:p>
        </p:txBody>
      </p:sp>
      <p:sp>
        <p:nvSpPr>
          <p:cNvPr id="18" name="Rectangle: Rounded Corners 17">
            <a:extLst>
              <a:ext uri="{FF2B5EF4-FFF2-40B4-BE49-F238E27FC236}">
                <a16:creationId xmlns:a16="http://schemas.microsoft.com/office/drawing/2014/main" id="{C173F4BF-D326-0919-6987-03A0EFC6EB7C}"/>
              </a:ext>
            </a:extLst>
          </p:cNvPr>
          <p:cNvSpPr/>
          <p:nvPr/>
        </p:nvSpPr>
        <p:spPr>
          <a:xfrm>
            <a:off x="685800" y="3289300"/>
            <a:ext cx="1536700" cy="495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03AF697A-DBAF-80B5-C34D-900283A04902}"/>
              </a:ext>
            </a:extLst>
          </p:cNvPr>
          <p:cNvSpPr txBox="1"/>
          <p:nvPr/>
        </p:nvSpPr>
        <p:spPr>
          <a:xfrm>
            <a:off x="762000" y="3327399"/>
            <a:ext cx="1384300" cy="419100"/>
          </a:xfrm>
          <a:prstGeom prst="rect">
            <a:avLst/>
          </a:prstGeom>
          <a:noFill/>
        </p:spPr>
        <p:txBody>
          <a:bodyPr vert="horz" wrap="square" lIns="0" tIns="0" rIns="0" bIns="0" rtlCol="0" anchor="t">
            <a:noAutofit/>
          </a:bodyPr>
          <a:lstStyle/>
          <a:p>
            <a:pPr algn="ctr"/>
            <a:r>
              <a:rPr lang="en-IL" sz="2600" b="1">
                <a:solidFill>
                  <a:srgbClr val="15283B"/>
                </a:solidFill>
                <a:latin typeface="Aptos" panose="020B0004020202020204" pitchFamily="34" charset="0"/>
              </a:rPr>
              <a:t>V₀</a:t>
            </a:r>
          </a:p>
        </p:txBody>
      </p:sp>
      <p:sp>
        <p:nvSpPr>
          <p:cNvPr id="20" name="Rectangle: Rounded Corners 19">
            <a:extLst>
              <a:ext uri="{FF2B5EF4-FFF2-40B4-BE49-F238E27FC236}">
                <a16:creationId xmlns:a16="http://schemas.microsoft.com/office/drawing/2014/main" id="{6EED0242-5BC7-D6EC-55BD-AEB5C503E444}"/>
              </a:ext>
            </a:extLst>
          </p:cNvPr>
          <p:cNvSpPr/>
          <p:nvPr/>
        </p:nvSpPr>
        <p:spPr>
          <a:xfrm>
            <a:off x="2451100" y="3289300"/>
            <a:ext cx="1981200" cy="495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42B78DFB-38E0-9360-1AF4-4A700FC82003}"/>
              </a:ext>
            </a:extLst>
          </p:cNvPr>
          <p:cNvSpPr txBox="1"/>
          <p:nvPr/>
        </p:nvSpPr>
        <p:spPr>
          <a:xfrm>
            <a:off x="2527300" y="3327399"/>
            <a:ext cx="18288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0</a:t>
            </a:r>
          </a:p>
        </p:txBody>
      </p:sp>
      <p:sp>
        <p:nvSpPr>
          <p:cNvPr id="22" name="Rectangle: Rounded Corners 21">
            <a:extLst>
              <a:ext uri="{FF2B5EF4-FFF2-40B4-BE49-F238E27FC236}">
                <a16:creationId xmlns:a16="http://schemas.microsoft.com/office/drawing/2014/main" id="{29CD8D3C-7152-0960-81EB-224B1E9E8140}"/>
              </a:ext>
            </a:extLst>
          </p:cNvPr>
          <p:cNvSpPr/>
          <p:nvPr/>
        </p:nvSpPr>
        <p:spPr>
          <a:xfrm>
            <a:off x="4660900" y="3289300"/>
            <a:ext cx="1993900" cy="495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_22">
            <a:extLst>
              <a:ext uri="{FF2B5EF4-FFF2-40B4-BE49-F238E27FC236}">
                <a16:creationId xmlns:a16="http://schemas.microsoft.com/office/drawing/2014/main" id="{2D38E905-0C40-0601-EAA0-329F6E7F99A0}"/>
              </a:ext>
            </a:extLst>
          </p:cNvPr>
          <p:cNvSpPr txBox="1"/>
          <p:nvPr/>
        </p:nvSpPr>
        <p:spPr>
          <a:xfrm>
            <a:off x="4737100" y="3327399"/>
            <a:ext cx="18415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0</a:t>
            </a:r>
          </a:p>
        </p:txBody>
      </p:sp>
      <p:sp>
        <p:nvSpPr>
          <p:cNvPr id="24" name="Rectangle: Rounded Corners 23">
            <a:extLst>
              <a:ext uri="{FF2B5EF4-FFF2-40B4-BE49-F238E27FC236}">
                <a16:creationId xmlns:a16="http://schemas.microsoft.com/office/drawing/2014/main" id="{1C4F42F2-D79F-31C3-C508-0C45D17F0592}"/>
              </a:ext>
            </a:extLst>
          </p:cNvPr>
          <p:cNvSpPr/>
          <p:nvPr/>
        </p:nvSpPr>
        <p:spPr>
          <a:xfrm>
            <a:off x="6883400" y="3289300"/>
            <a:ext cx="2082800" cy="495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text_24">
            <a:extLst>
              <a:ext uri="{FF2B5EF4-FFF2-40B4-BE49-F238E27FC236}">
                <a16:creationId xmlns:a16="http://schemas.microsoft.com/office/drawing/2014/main" id="{7EDA56E1-8377-22A7-0750-A4C32AAAE646}"/>
              </a:ext>
            </a:extLst>
          </p:cNvPr>
          <p:cNvSpPr txBox="1"/>
          <p:nvPr/>
        </p:nvSpPr>
        <p:spPr>
          <a:xfrm>
            <a:off x="6959600" y="3327399"/>
            <a:ext cx="19304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0</a:t>
            </a:r>
          </a:p>
        </p:txBody>
      </p:sp>
      <p:sp>
        <p:nvSpPr>
          <p:cNvPr id="26" name="Rectangle: Rounded Corners 25">
            <a:extLst>
              <a:ext uri="{FF2B5EF4-FFF2-40B4-BE49-F238E27FC236}">
                <a16:creationId xmlns:a16="http://schemas.microsoft.com/office/drawing/2014/main" id="{7A2AD944-195A-67B0-A9BE-C4D779859E54}"/>
              </a:ext>
            </a:extLst>
          </p:cNvPr>
          <p:cNvSpPr/>
          <p:nvPr/>
        </p:nvSpPr>
        <p:spPr>
          <a:xfrm>
            <a:off x="9194800" y="3289300"/>
            <a:ext cx="2311400" cy="495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text_26">
            <a:extLst>
              <a:ext uri="{FF2B5EF4-FFF2-40B4-BE49-F238E27FC236}">
                <a16:creationId xmlns:a16="http://schemas.microsoft.com/office/drawing/2014/main" id="{1E67D04E-1FD4-9A81-304E-1D73DAE77478}"/>
              </a:ext>
            </a:extLst>
          </p:cNvPr>
          <p:cNvSpPr txBox="1"/>
          <p:nvPr/>
        </p:nvSpPr>
        <p:spPr>
          <a:xfrm>
            <a:off x="9271000" y="3327399"/>
            <a:ext cx="21590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0</a:t>
            </a:r>
          </a:p>
        </p:txBody>
      </p:sp>
      <p:sp>
        <p:nvSpPr>
          <p:cNvPr id="28" name="Rectangle: Rounded Corners 27">
            <a:extLst>
              <a:ext uri="{FF2B5EF4-FFF2-40B4-BE49-F238E27FC236}">
                <a16:creationId xmlns:a16="http://schemas.microsoft.com/office/drawing/2014/main" id="{91F89E6F-3BEE-D5D0-DFF6-E196B4E678C2}"/>
              </a:ext>
            </a:extLst>
          </p:cNvPr>
          <p:cNvSpPr/>
          <p:nvPr/>
        </p:nvSpPr>
        <p:spPr>
          <a:xfrm>
            <a:off x="685800" y="3860800"/>
            <a:ext cx="1536700" cy="495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text_28">
            <a:extLst>
              <a:ext uri="{FF2B5EF4-FFF2-40B4-BE49-F238E27FC236}">
                <a16:creationId xmlns:a16="http://schemas.microsoft.com/office/drawing/2014/main" id="{7998C066-0289-E201-A305-DE54F1581B46}"/>
              </a:ext>
            </a:extLst>
          </p:cNvPr>
          <p:cNvSpPr txBox="1"/>
          <p:nvPr/>
        </p:nvSpPr>
        <p:spPr>
          <a:xfrm>
            <a:off x="762000" y="3898899"/>
            <a:ext cx="1384300" cy="419100"/>
          </a:xfrm>
          <a:prstGeom prst="rect">
            <a:avLst/>
          </a:prstGeom>
          <a:noFill/>
        </p:spPr>
        <p:txBody>
          <a:bodyPr vert="horz" wrap="square" lIns="0" tIns="0" rIns="0" bIns="0" rtlCol="0" anchor="t">
            <a:noAutofit/>
          </a:bodyPr>
          <a:lstStyle/>
          <a:p>
            <a:pPr algn="ctr"/>
            <a:r>
              <a:rPr lang="en-IL" sz="2600" b="1">
                <a:solidFill>
                  <a:srgbClr val="15283B"/>
                </a:solidFill>
                <a:latin typeface="Aptos" panose="020B0004020202020204" pitchFamily="34" charset="0"/>
              </a:rPr>
              <a:t>V₁</a:t>
            </a:r>
          </a:p>
        </p:txBody>
      </p:sp>
      <p:sp>
        <p:nvSpPr>
          <p:cNvPr id="30" name="Rectangle: Rounded Corners 29">
            <a:extLst>
              <a:ext uri="{FF2B5EF4-FFF2-40B4-BE49-F238E27FC236}">
                <a16:creationId xmlns:a16="http://schemas.microsoft.com/office/drawing/2014/main" id="{3B0ED470-32F7-BD1E-2EB2-823C57916F32}"/>
              </a:ext>
            </a:extLst>
          </p:cNvPr>
          <p:cNvSpPr/>
          <p:nvPr/>
        </p:nvSpPr>
        <p:spPr>
          <a:xfrm>
            <a:off x="2451100" y="3860800"/>
            <a:ext cx="1981200" cy="495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text_30">
            <a:extLst>
              <a:ext uri="{FF2B5EF4-FFF2-40B4-BE49-F238E27FC236}">
                <a16:creationId xmlns:a16="http://schemas.microsoft.com/office/drawing/2014/main" id="{B9D13FFF-E4ED-2097-AC0F-B552ED8FB11A}"/>
              </a:ext>
            </a:extLst>
          </p:cNvPr>
          <p:cNvSpPr txBox="1"/>
          <p:nvPr/>
        </p:nvSpPr>
        <p:spPr>
          <a:xfrm>
            <a:off x="2527300" y="3898899"/>
            <a:ext cx="18288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6</a:t>
            </a:r>
          </a:p>
        </p:txBody>
      </p:sp>
      <p:sp>
        <p:nvSpPr>
          <p:cNvPr id="32" name="Rectangle: Rounded Corners 31">
            <a:extLst>
              <a:ext uri="{FF2B5EF4-FFF2-40B4-BE49-F238E27FC236}">
                <a16:creationId xmlns:a16="http://schemas.microsoft.com/office/drawing/2014/main" id="{3567A778-55A7-72F2-C370-2D2304EB3A88}"/>
              </a:ext>
            </a:extLst>
          </p:cNvPr>
          <p:cNvSpPr/>
          <p:nvPr/>
        </p:nvSpPr>
        <p:spPr>
          <a:xfrm>
            <a:off x="4660900" y="3860800"/>
            <a:ext cx="1993900" cy="495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text_32">
            <a:extLst>
              <a:ext uri="{FF2B5EF4-FFF2-40B4-BE49-F238E27FC236}">
                <a16:creationId xmlns:a16="http://schemas.microsoft.com/office/drawing/2014/main" id="{F39038D5-9925-A3F4-6552-24EE925C8766}"/>
              </a:ext>
            </a:extLst>
          </p:cNvPr>
          <p:cNvSpPr txBox="1"/>
          <p:nvPr/>
        </p:nvSpPr>
        <p:spPr>
          <a:xfrm>
            <a:off x="4737100" y="3898899"/>
            <a:ext cx="18415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8</a:t>
            </a:r>
          </a:p>
        </p:txBody>
      </p:sp>
      <p:sp>
        <p:nvSpPr>
          <p:cNvPr id="34" name="Rectangle: Rounded Corners 33">
            <a:extLst>
              <a:ext uri="{FF2B5EF4-FFF2-40B4-BE49-F238E27FC236}">
                <a16:creationId xmlns:a16="http://schemas.microsoft.com/office/drawing/2014/main" id="{99A9D656-E3F7-29A8-35CE-337096DFBD27}"/>
              </a:ext>
            </a:extLst>
          </p:cNvPr>
          <p:cNvSpPr/>
          <p:nvPr/>
        </p:nvSpPr>
        <p:spPr>
          <a:xfrm>
            <a:off x="6883400" y="3860800"/>
            <a:ext cx="2082800" cy="495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5" name="text_34">
            <a:extLst>
              <a:ext uri="{FF2B5EF4-FFF2-40B4-BE49-F238E27FC236}">
                <a16:creationId xmlns:a16="http://schemas.microsoft.com/office/drawing/2014/main" id="{6E54A6FC-B6FF-0F24-705C-B4D73D332F0E}"/>
              </a:ext>
            </a:extLst>
          </p:cNvPr>
          <p:cNvSpPr txBox="1"/>
          <p:nvPr/>
        </p:nvSpPr>
        <p:spPr>
          <a:xfrm>
            <a:off x="6959600" y="3898899"/>
            <a:ext cx="19304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0</a:t>
            </a:r>
          </a:p>
        </p:txBody>
      </p:sp>
      <p:sp>
        <p:nvSpPr>
          <p:cNvPr id="36" name="Rectangle: Rounded Corners 35">
            <a:extLst>
              <a:ext uri="{FF2B5EF4-FFF2-40B4-BE49-F238E27FC236}">
                <a16:creationId xmlns:a16="http://schemas.microsoft.com/office/drawing/2014/main" id="{6421DB43-5DB6-1ECD-2CC7-0CC1EEA4CAA4}"/>
              </a:ext>
            </a:extLst>
          </p:cNvPr>
          <p:cNvSpPr/>
          <p:nvPr/>
        </p:nvSpPr>
        <p:spPr>
          <a:xfrm>
            <a:off x="9194800" y="3860800"/>
            <a:ext cx="2311400" cy="495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7" name="text_36">
            <a:extLst>
              <a:ext uri="{FF2B5EF4-FFF2-40B4-BE49-F238E27FC236}">
                <a16:creationId xmlns:a16="http://schemas.microsoft.com/office/drawing/2014/main" id="{722A4E0B-BA6C-741D-D836-3B7744F48F8D}"/>
              </a:ext>
            </a:extLst>
          </p:cNvPr>
          <p:cNvSpPr txBox="1"/>
          <p:nvPr/>
        </p:nvSpPr>
        <p:spPr>
          <a:xfrm>
            <a:off x="9271000" y="3898899"/>
            <a:ext cx="21590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0</a:t>
            </a:r>
          </a:p>
        </p:txBody>
      </p:sp>
      <p:sp>
        <p:nvSpPr>
          <p:cNvPr id="38" name="Rectangle: Rounded Corners 37">
            <a:extLst>
              <a:ext uri="{FF2B5EF4-FFF2-40B4-BE49-F238E27FC236}">
                <a16:creationId xmlns:a16="http://schemas.microsoft.com/office/drawing/2014/main" id="{1CBEF81F-5DAA-8DE5-61E1-B0426B2DB35E}"/>
              </a:ext>
            </a:extLst>
          </p:cNvPr>
          <p:cNvSpPr/>
          <p:nvPr/>
        </p:nvSpPr>
        <p:spPr>
          <a:xfrm>
            <a:off x="685800" y="4432300"/>
            <a:ext cx="1536700" cy="495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text_38">
            <a:extLst>
              <a:ext uri="{FF2B5EF4-FFF2-40B4-BE49-F238E27FC236}">
                <a16:creationId xmlns:a16="http://schemas.microsoft.com/office/drawing/2014/main" id="{2765BB97-AC4C-B61E-A22F-5CFB1A3EE8F6}"/>
              </a:ext>
            </a:extLst>
          </p:cNvPr>
          <p:cNvSpPr txBox="1"/>
          <p:nvPr/>
        </p:nvSpPr>
        <p:spPr>
          <a:xfrm>
            <a:off x="762000" y="4470399"/>
            <a:ext cx="1384300" cy="419100"/>
          </a:xfrm>
          <a:prstGeom prst="rect">
            <a:avLst/>
          </a:prstGeom>
          <a:noFill/>
        </p:spPr>
        <p:txBody>
          <a:bodyPr vert="horz" wrap="square" lIns="0" tIns="0" rIns="0" bIns="0" rtlCol="0" anchor="t">
            <a:noAutofit/>
          </a:bodyPr>
          <a:lstStyle/>
          <a:p>
            <a:pPr algn="ctr"/>
            <a:r>
              <a:rPr lang="en-IL" sz="2600" b="1">
                <a:solidFill>
                  <a:srgbClr val="15283B"/>
                </a:solidFill>
                <a:latin typeface="Aptos" panose="020B0004020202020204" pitchFamily="34" charset="0"/>
              </a:rPr>
              <a:t>V₂</a:t>
            </a:r>
          </a:p>
        </p:txBody>
      </p:sp>
      <p:sp>
        <p:nvSpPr>
          <p:cNvPr id="40" name="Rectangle: Rounded Corners 39">
            <a:extLst>
              <a:ext uri="{FF2B5EF4-FFF2-40B4-BE49-F238E27FC236}">
                <a16:creationId xmlns:a16="http://schemas.microsoft.com/office/drawing/2014/main" id="{0F5AEAFC-B42D-A3DB-B21D-CADCBBB649BA}"/>
              </a:ext>
            </a:extLst>
          </p:cNvPr>
          <p:cNvSpPr/>
          <p:nvPr/>
        </p:nvSpPr>
        <p:spPr>
          <a:xfrm>
            <a:off x="2451100" y="4432300"/>
            <a:ext cx="1981200" cy="495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1" name="text_40">
            <a:extLst>
              <a:ext uri="{FF2B5EF4-FFF2-40B4-BE49-F238E27FC236}">
                <a16:creationId xmlns:a16="http://schemas.microsoft.com/office/drawing/2014/main" id="{72F7048D-908C-1F72-B04E-7C8C6E4710DE}"/>
              </a:ext>
            </a:extLst>
          </p:cNvPr>
          <p:cNvSpPr txBox="1"/>
          <p:nvPr/>
        </p:nvSpPr>
        <p:spPr>
          <a:xfrm>
            <a:off x="2527300" y="4470399"/>
            <a:ext cx="18288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6.2</a:t>
            </a:r>
          </a:p>
        </p:txBody>
      </p:sp>
      <p:sp>
        <p:nvSpPr>
          <p:cNvPr id="42" name="Rectangle: Rounded Corners 41">
            <a:extLst>
              <a:ext uri="{FF2B5EF4-FFF2-40B4-BE49-F238E27FC236}">
                <a16:creationId xmlns:a16="http://schemas.microsoft.com/office/drawing/2014/main" id="{19EAB54A-90D7-0A33-5BBE-75858BFF91EC}"/>
              </a:ext>
            </a:extLst>
          </p:cNvPr>
          <p:cNvSpPr/>
          <p:nvPr/>
        </p:nvSpPr>
        <p:spPr>
          <a:xfrm>
            <a:off x="4660900" y="4432300"/>
            <a:ext cx="1993900" cy="495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3" name="text_42">
            <a:extLst>
              <a:ext uri="{FF2B5EF4-FFF2-40B4-BE49-F238E27FC236}">
                <a16:creationId xmlns:a16="http://schemas.microsoft.com/office/drawing/2014/main" id="{061C533B-3338-2936-1EE9-134B136E5E7F}"/>
              </a:ext>
            </a:extLst>
          </p:cNvPr>
          <p:cNvSpPr txBox="1"/>
          <p:nvPr/>
        </p:nvSpPr>
        <p:spPr>
          <a:xfrm>
            <a:off x="4737100" y="4470399"/>
            <a:ext cx="18415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8</a:t>
            </a:r>
          </a:p>
        </p:txBody>
      </p:sp>
      <p:sp>
        <p:nvSpPr>
          <p:cNvPr id="44" name="Rectangle: Rounded Corners 43">
            <a:extLst>
              <a:ext uri="{FF2B5EF4-FFF2-40B4-BE49-F238E27FC236}">
                <a16:creationId xmlns:a16="http://schemas.microsoft.com/office/drawing/2014/main" id="{9AD62021-B14C-D387-22F8-4D9DA7946CB7}"/>
              </a:ext>
            </a:extLst>
          </p:cNvPr>
          <p:cNvSpPr/>
          <p:nvPr/>
        </p:nvSpPr>
        <p:spPr>
          <a:xfrm>
            <a:off x="6883400" y="4432300"/>
            <a:ext cx="2082800" cy="495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5" name="text_44">
            <a:extLst>
              <a:ext uri="{FF2B5EF4-FFF2-40B4-BE49-F238E27FC236}">
                <a16:creationId xmlns:a16="http://schemas.microsoft.com/office/drawing/2014/main" id="{C1E3EFA6-6E4E-D1EB-C66D-567EC90ABEA8}"/>
              </a:ext>
            </a:extLst>
          </p:cNvPr>
          <p:cNvSpPr txBox="1"/>
          <p:nvPr/>
        </p:nvSpPr>
        <p:spPr>
          <a:xfrm>
            <a:off x="6959600" y="4470399"/>
            <a:ext cx="19304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0</a:t>
            </a:r>
          </a:p>
        </p:txBody>
      </p:sp>
      <p:sp>
        <p:nvSpPr>
          <p:cNvPr id="46" name="Rectangle: Rounded Corners 45">
            <a:extLst>
              <a:ext uri="{FF2B5EF4-FFF2-40B4-BE49-F238E27FC236}">
                <a16:creationId xmlns:a16="http://schemas.microsoft.com/office/drawing/2014/main" id="{90B41B61-8847-F8BF-442F-1CE45E9705F5}"/>
              </a:ext>
            </a:extLst>
          </p:cNvPr>
          <p:cNvSpPr/>
          <p:nvPr/>
        </p:nvSpPr>
        <p:spPr>
          <a:xfrm>
            <a:off x="9194800" y="4432300"/>
            <a:ext cx="2311400" cy="495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7" name="text_46">
            <a:extLst>
              <a:ext uri="{FF2B5EF4-FFF2-40B4-BE49-F238E27FC236}">
                <a16:creationId xmlns:a16="http://schemas.microsoft.com/office/drawing/2014/main" id="{BE64D596-2174-793F-5083-4AAF5631F3EA}"/>
              </a:ext>
            </a:extLst>
          </p:cNvPr>
          <p:cNvSpPr txBox="1"/>
          <p:nvPr/>
        </p:nvSpPr>
        <p:spPr>
          <a:xfrm>
            <a:off x="9271000" y="4470399"/>
            <a:ext cx="21590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0</a:t>
            </a:r>
          </a:p>
        </p:txBody>
      </p:sp>
      <p:sp>
        <p:nvSpPr>
          <p:cNvPr id="48" name="Rectangle: Rounded Corners 47">
            <a:extLst>
              <a:ext uri="{FF2B5EF4-FFF2-40B4-BE49-F238E27FC236}">
                <a16:creationId xmlns:a16="http://schemas.microsoft.com/office/drawing/2014/main" id="{194E719A-1740-25E2-56B6-D516A82007FB}"/>
              </a:ext>
            </a:extLst>
          </p:cNvPr>
          <p:cNvSpPr/>
          <p:nvPr/>
        </p:nvSpPr>
        <p:spPr>
          <a:xfrm>
            <a:off x="685800" y="5003800"/>
            <a:ext cx="1536700" cy="495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9" name="text_48">
            <a:extLst>
              <a:ext uri="{FF2B5EF4-FFF2-40B4-BE49-F238E27FC236}">
                <a16:creationId xmlns:a16="http://schemas.microsoft.com/office/drawing/2014/main" id="{5A4F8E4F-6406-9AF5-4BF7-B42EDE828EC0}"/>
              </a:ext>
            </a:extLst>
          </p:cNvPr>
          <p:cNvSpPr txBox="1"/>
          <p:nvPr/>
        </p:nvSpPr>
        <p:spPr>
          <a:xfrm>
            <a:off x="762000" y="5041899"/>
            <a:ext cx="1384300" cy="419100"/>
          </a:xfrm>
          <a:prstGeom prst="rect">
            <a:avLst/>
          </a:prstGeom>
          <a:noFill/>
        </p:spPr>
        <p:txBody>
          <a:bodyPr vert="horz" wrap="square" lIns="0" tIns="0" rIns="0" bIns="0" rtlCol="0" anchor="t">
            <a:noAutofit/>
          </a:bodyPr>
          <a:lstStyle/>
          <a:p>
            <a:pPr algn="ctr"/>
            <a:r>
              <a:rPr lang="en-IL" sz="2600" b="1">
                <a:solidFill>
                  <a:srgbClr val="15283B"/>
                </a:solidFill>
                <a:latin typeface="Aptos" panose="020B0004020202020204" pitchFamily="34" charset="0"/>
              </a:rPr>
              <a:t>V₃</a:t>
            </a:r>
          </a:p>
        </p:txBody>
      </p:sp>
      <p:sp>
        <p:nvSpPr>
          <p:cNvPr id="50" name="Rectangle: Rounded Corners 49">
            <a:extLst>
              <a:ext uri="{FF2B5EF4-FFF2-40B4-BE49-F238E27FC236}">
                <a16:creationId xmlns:a16="http://schemas.microsoft.com/office/drawing/2014/main" id="{D1852E13-EB68-BAFB-A3B3-E6C49D29D6DD}"/>
              </a:ext>
            </a:extLst>
          </p:cNvPr>
          <p:cNvSpPr/>
          <p:nvPr/>
        </p:nvSpPr>
        <p:spPr>
          <a:xfrm>
            <a:off x="2451100" y="5003800"/>
            <a:ext cx="1981200" cy="495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1" name="text_50">
            <a:extLst>
              <a:ext uri="{FF2B5EF4-FFF2-40B4-BE49-F238E27FC236}">
                <a16:creationId xmlns:a16="http://schemas.microsoft.com/office/drawing/2014/main" id="{1A7C861A-90F5-48E3-A5BF-B2BE86FA67DE}"/>
              </a:ext>
            </a:extLst>
          </p:cNvPr>
          <p:cNvSpPr txBox="1"/>
          <p:nvPr/>
        </p:nvSpPr>
        <p:spPr>
          <a:xfrm>
            <a:off x="2527300" y="5041899"/>
            <a:ext cx="18288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6.2</a:t>
            </a:r>
          </a:p>
        </p:txBody>
      </p:sp>
      <p:sp>
        <p:nvSpPr>
          <p:cNvPr id="52" name="Rectangle: Rounded Corners 51">
            <a:extLst>
              <a:ext uri="{FF2B5EF4-FFF2-40B4-BE49-F238E27FC236}">
                <a16:creationId xmlns:a16="http://schemas.microsoft.com/office/drawing/2014/main" id="{22333050-5EAC-B1F8-7BE0-327FB6C5AB2F}"/>
              </a:ext>
            </a:extLst>
          </p:cNvPr>
          <p:cNvSpPr/>
          <p:nvPr/>
        </p:nvSpPr>
        <p:spPr>
          <a:xfrm>
            <a:off x="4660900" y="5003800"/>
            <a:ext cx="1993900" cy="495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3" name="text_52">
            <a:extLst>
              <a:ext uri="{FF2B5EF4-FFF2-40B4-BE49-F238E27FC236}">
                <a16:creationId xmlns:a16="http://schemas.microsoft.com/office/drawing/2014/main" id="{669607E3-99DA-336F-7620-EF6C502FDE4E}"/>
              </a:ext>
            </a:extLst>
          </p:cNvPr>
          <p:cNvSpPr txBox="1"/>
          <p:nvPr/>
        </p:nvSpPr>
        <p:spPr>
          <a:xfrm>
            <a:off x="4737100" y="5041899"/>
            <a:ext cx="18415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8</a:t>
            </a:r>
          </a:p>
        </p:txBody>
      </p:sp>
      <p:sp>
        <p:nvSpPr>
          <p:cNvPr id="54" name="Rectangle: Rounded Corners 53">
            <a:extLst>
              <a:ext uri="{FF2B5EF4-FFF2-40B4-BE49-F238E27FC236}">
                <a16:creationId xmlns:a16="http://schemas.microsoft.com/office/drawing/2014/main" id="{5FE69464-AF2F-F89B-274C-9328775764C8}"/>
              </a:ext>
            </a:extLst>
          </p:cNvPr>
          <p:cNvSpPr/>
          <p:nvPr/>
        </p:nvSpPr>
        <p:spPr>
          <a:xfrm>
            <a:off x="6883400" y="5003800"/>
            <a:ext cx="2082800" cy="495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5" name="text_54">
            <a:extLst>
              <a:ext uri="{FF2B5EF4-FFF2-40B4-BE49-F238E27FC236}">
                <a16:creationId xmlns:a16="http://schemas.microsoft.com/office/drawing/2014/main" id="{CB9CF44C-5C47-0A97-8B34-E50610BBCAB8}"/>
              </a:ext>
            </a:extLst>
          </p:cNvPr>
          <p:cNvSpPr txBox="1"/>
          <p:nvPr/>
        </p:nvSpPr>
        <p:spPr>
          <a:xfrm>
            <a:off x="6959600" y="5041899"/>
            <a:ext cx="19304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0</a:t>
            </a:r>
          </a:p>
        </p:txBody>
      </p:sp>
      <p:sp>
        <p:nvSpPr>
          <p:cNvPr id="56" name="Rectangle: Rounded Corners 55">
            <a:extLst>
              <a:ext uri="{FF2B5EF4-FFF2-40B4-BE49-F238E27FC236}">
                <a16:creationId xmlns:a16="http://schemas.microsoft.com/office/drawing/2014/main" id="{A9ACA59B-9D99-187F-FE97-5DEF74D1D25A}"/>
              </a:ext>
            </a:extLst>
          </p:cNvPr>
          <p:cNvSpPr/>
          <p:nvPr/>
        </p:nvSpPr>
        <p:spPr>
          <a:xfrm>
            <a:off x="9194800" y="5003800"/>
            <a:ext cx="2311400" cy="495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7" name="text_56">
            <a:extLst>
              <a:ext uri="{FF2B5EF4-FFF2-40B4-BE49-F238E27FC236}">
                <a16:creationId xmlns:a16="http://schemas.microsoft.com/office/drawing/2014/main" id="{FB145704-AD34-7FA5-C785-112AD5D712E4}"/>
              </a:ext>
            </a:extLst>
          </p:cNvPr>
          <p:cNvSpPr txBox="1"/>
          <p:nvPr/>
        </p:nvSpPr>
        <p:spPr>
          <a:xfrm>
            <a:off x="9271000" y="5041899"/>
            <a:ext cx="2159000" cy="419100"/>
          </a:xfrm>
          <a:prstGeom prst="rect">
            <a:avLst/>
          </a:prstGeom>
          <a:noFill/>
        </p:spPr>
        <p:txBody>
          <a:bodyPr vert="horz" wrap="square" lIns="0" tIns="0" rIns="0" bIns="0" rtlCol="0" anchor="t">
            <a:noAutofit/>
          </a:bodyPr>
          <a:lstStyle/>
          <a:p>
            <a:pPr algn="ctr"/>
            <a:r>
              <a:rPr lang="en-IL" sz="2600">
                <a:solidFill>
                  <a:srgbClr val="15283B"/>
                </a:solidFill>
                <a:latin typeface="Aptos" panose="020B0004020202020204" pitchFamily="34" charset="0"/>
              </a:rPr>
              <a:t>0</a:t>
            </a:r>
          </a:p>
        </p:txBody>
      </p:sp>
      <p:sp>
        <p:nvSpPr>
          <p:cNvPr id="58" name="text_57">
            <a:extLst>
              <a:ext uri="{FF2B5EF4-FFF2-40B4-BE49-F238E27FC236}">
                <a16:creationId xmlns:a16="http://schemas.microsoft.com/office/drawing/2014/main" id="{5891D8FB-2E75-F179-0A08-A7BC326EB69E}"/>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nl-NL" sz="2400" b="1">
                <a:solidFill>
                  <a:srgbClr val="526477"/>
                </a:solidFill>
                <a:latin typeface="Aptos" panose="020B0004020202020204" pitchFamily="34" charset="0"/>
              </a:rPr>
              <a:t>V₁(start): max{−1, 6} = 6.    V₂(start): max{6.2, 6} = 6.2.</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533902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D0DE98B-105B-D9E4-9B45-227996AE7157}"/>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664F2E7F-C346-419F-3B4F-747B608C2BD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Extract a policy from the displayed V</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614D4D22-9126-0BB5-95EC-5041EA4B774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greedy action uses a fresh one-step lookahead.</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CAD925A-D87C-5EED-3C64-BC1433A0403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936FE6A-39BF-5202-73CA-33DC452DC1A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278F090C-2EFE-2344-EFFF-4323E2ACA77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19</a:t>
            </a:r>
          </a:p>
        </p:txBody>
      </p:sp>
      <p:sp>
        <p:nvSpPr>
          <p:cNvPr id="8" name="text_7">
            <a:extLst>
              <a:ext uri="{FF2B5EF4-FFF2-40B4-BE49-F238E27FC236}">
                <a16:creationId xmlns:a16="http://schemas.microsoft.com/office/drawing/2014/main" id="{D03B79F1-C13B-C1A5-9BA8-3462998DBCB5}"/>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pt-BR" sz="3100">
                <a:solidFill>
                  <a:srgbClr val="2459D3"/>
                </a:solidFill>
                <a:latin typeface="Cambria Math" panose="02040503050406030204" pitchFamily="18" charset="0"/>
              </a:rPr>
              <a:t>π</a:t>
            </a:r>
            <a:r>
              <a:rPr lang="pt-BR" sz="2232" baseline="-22000">
                <a:solidFill>
                  <a:srgbClr val="2459D3"/>
                </a:solidFill>
                <a:latin typeface="Cambria Math" panose="02040503050406030204" pitchFamily="18" charset="0"/>
              </a:rPr>
              <a:t>V</a:t>
            </a:r>
            <a:r>
              <a:rPr lang="pt-BR" sz="3100">
                <a:solidFill>
                  <a:srgbClr val="2459D3"/>
                </a:solidFill>
                <a:latin typeface="Cambria Math" panose="02040503050406030204" pitchFamily="18" charset="0"/>
              </a:rPr>
              <a:t>(s) ∈ argmax</a:t>
            </a:r>
            <a:r>
              <a:rPr lang="pt-BR" sz="2232" baseline="-22000">
                <a:solidFill>
                  <a:srgbClr val="2459D3"/>
                </a:solidFill>
                <a:latin typeface="Cambria Math" panose="02040503050406030204" pitchFamily="18" charset="0"/>
              </a:rPr>
              <a:t>a</a:t>
            </a:r>
            <a:r>
              <a:rPr lang="pt-BR" sz="3100">
                <a:solidFill>
                  <a:srgbClr val="2459D3"/>
                </a:solidFill>
                <a:latin typeface="Cambria Math" panose="02040503050406030204" pitchFamily="18" charset="0"/>
              </a:rPr>
              <a:t> Q</a:t>
            </a:r>
            <a:r>
              <a:rPr lang="pt-BR" sz="2232" baseline="-22000">
                <a:solidFill>
                  <a:srgbClr val="2459D3"/>
                </a:solidFill>
                <a:latin typeface="Cambria Math" panose="02040503050406030204" pitchFamily="18" charset="0"/>
              </a:rPr>
              <a:t>V</a:t>
            </a:r>
            <a:r>
              <a:rPr lang="pt-BR" sz="3100">
                <a:solidFill>
                  <a:srgbClr val="2459D3"/>
                </a:solidFill>
                <a:latin typeface="Cambria Math" panose="02040503050406030204" pitchFamily="18" charset="0"/>
              </a:rPr>
              <a:t>(s,a)</a:t>
            </a:r>
            <a:endParaRPr lang="en-IL" sz="31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E2AC8C8C-29DC-45C5-7FBF-703744A02345}"/>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US" sz="3100">
                <a:solidFill>
                  <a:srgbClr val="15283B"/>
                </a:solidFill>
                <a:latin typeface="Cambria Math" panose="02040503050406030204" pitchFamily="18" charset="0"/>
              </a:rPr>
              <a:t>Using V</a:t>
            </a:r>
            <a:r>
              <a:rPr lang="en-US" sz="2232" baseline="-22000">
                <a:solidFill>
                  <a:srgbClr val="15283B"/>
                </a:solidFill>
                <a:latin typeface="Cambria Math" panose="02040503050406030204" pitchFamily="18" charset="0"/>
              </a:rPr>
              <a:t>1</a:t>
            </a:r>
            <a:r>
              <a:rPr lang="en-US" sz="3100">
                <a:solidFill>
                  <a:srgbClr val="15283B"/>
                </a:solidFill>
                <a:latin typeface="Cambria Math" panose="02040503050406030204" pitchFamily="18" charset="0"/>
              </a:rPr>
              <a:t>:    Q</a:t>
            </a:r>
            <a:r>
              <a:rPr lang="en-US" sz="2232" baseline="-22000">
                <a:solidFill>
                  <a:srgbClr val="15283B"/>
                </a:solidFill>
                <a:latin typeface="Cambria Math" panose="02040503050406030204" pitchFamily="18" charset="0"/>
              </a:rPr>
              <a:t>V₁</a:t>
            </a:r>
            <a:r>
              <a:rPr lang="en-US" sz="3100">
                <a:solidFill>
                  <a:srgbClr val="15283B"/>
                </a:solidFill>
                <a:latin typeface="Cambria Math" panose="02040503050406030204" pitchFamily="18" charset="0"/>
              </a:rPr>
              <a:t>(start,safe) = −1 + 0.9(8) = 6.2</a:t>
            </a:r>
            <a:endParaRPr lang="en-IL" sz="31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77E1A930-BD4A-1C2A-8A22-006C6C1B911B}"/>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US" sz="3100">
                <a:solidFill>
                  <a:srgbClr val="15283B"/>
                </a:solidFill>
                <a:latin typeface="Cambria Math" panose="02040503050406030204" pitchFamily="18" charset="0"/>
              </a:rPr>
              <a:t>Using V</a:t>
            </a:r>
            <a:r>
              <a:rPr lang="en-US" sz="2232" baseline="-22000">
                <a:solidFill>
                  <a:srgbClr val="15283B"/>
                </a:solidFill>
                <a:latin typeface="Cambria Math" panose="02040503050406030204" pitchFamily="18" charset="0"/>
              </a:rPr>
              <a:t>1</a:t>
            </a:r>
            <a:r>
              <a:rPr lang="en-US" sz="3100">
                <a:solidFill>
                  <a:srgbClr val="15283B"/>
                </a:solidFill>
                <a:latin typeface="Cambria Math" panose="02040503050406030204" pitchFamily="18" charset="0"/>
              </a:rPr>
              <a:t>:    Q</a:t>
            </a:r>
            <a:r>
              <a:rPr lang="en-US" sz="2232" baseline="-22000">
                <a:solidFill>
                  <a:srgbClr val="15283B"/>
                </a:solidFill>
                <a:latin typeface="Cambria Math" panose="02040503050406030204" pitchFamily="18" charset="0"/>
              </a:rPr>
              <a:t>V₁</a:t>
            </a:r>
            <a:r>
              <a:rPr lang="en-US" sz="3100">
                <a:solidFill>
                  <a:srgbClr val="15283B"/>
                </a:solidFill>
                <a:latin typeface="Cambria Math" panose="02040503050406030204" pitchFamily="18" charset="0"/>
              </a:rPr>
              <a:t>(start,risky) = 6</a:t>
            </a:r>
            <a:endParaRPr lang="en-IL" sz="31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D8F18FAF-2166-18B9-6B69-EAC18D4D6E37}"/>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V₁(start) = 6, but the greedy action from V₁ is already safe.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1459016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4CBB546-E8EE-CD21-E58E-B889D2056E1B}"/>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6BC9522A-FEE7-DA35-E23C-9C0938F7B27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Policy iteration</a:t>
            </a:r>
          </a:p>
        </p:txBody>
      </p:sp>
      <p:sp>
        <p:nvSpPr>
          <p:cNvPr id="4" name="text_3">
            <a:extLst>
              <a:ext uri="{FF2B5EF4-FFF2-40B4-BE49-F238E27FC236}">
                <a16:creationId xmlns:a16="http://schemas.microsoft.com/office/drawing/2014/main" id="{ECF00EDC-972A-46BB-DC1A-B3364D50154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Evaluate a policy completely, then improve it.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5BFD023-F16B-E72C-5EFE-E171B5DCD3B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42FB347-1E83-BAEA-16C7-65C0F17AC81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0F63F4E-5EB2-8565-5BB0-B61AA3DAEEC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20</a:t>
            </a:r>
          </a:p>
        </p:txBody>
      </p:sp>
      <p:sp>
        <p:nvSpPr>
          <p:cNvPr id="8" name="text_7">
            <a:extLst>
              <a:ext uri="{FF2B5EF4-FFF2-40B4-BE49-F238E27FC236}">
                <a16:creationId xmlns:a16="http://schemas.microsoft.com/office/drawing/2014/main" id="{124E8819-F3E3-2189-F955-E3DBEB31FDB0}"/>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100">
                <a:solidFill>
                  <a:srgbClr val="2459D3"/>
                </a:solidFill>
                <a:latin typeface="Cambria Math" panose="02040503050406030204" pitchFamily="18" charset="0"/>
              </a:rPr>
              <a:t>Evaluate:    (I − </a:t>
            </a:r>
            <a:r>
              <a:rPr lang="el-GR" sz="3100">
                <a:solidFill>
                  <a:srgbClr val="2459D3"/>
                </a:solidFill>
                <a:latin typeface="Cambria Math" panose="02040503050406030204" pitchFamily="18" charset="0"/>
              </a:rPr>
              <a:t>γ</a:t>
            </a:r>
            <a:r>
              <a:rPr lang="en-IL" sz="3100">
                <a:solidFill>
                  <a:srgbClr val="2459D3"/>
                </a:solidFill>
                <a:latin typeface="Cambria Math" panose="02040503050406030204" pitchFamily="18" charset="0"/>
              </a:rPr>
              <a:t>P</a:t>
            </a:r>
            <a:r>
              <a:rPr lang="el-GR" sz="2232" baseline="-22000">
                <a:solidFill>
                  <a:srgbClr val="2459D3"/>
                </a:solidFill>
                <a:latin typeface="Cambria Math" panose="02040503050406030204" pitchFamily="18" charset="0"/>
              </a:rPr>
              <a:t>π</a:t>
            </a:r>
            <a:r>
              <a:rPr lang="en-IL" sz="2232" baseline="-22000">
                <a:solidFill>
                  <a:srgbClr val="2459D3"/>
                </a:solidFill>
                <a:latin typeface="Cambria Math" panose="02040503050406030204" pitchFamily="18" charset="0"/>
              </a:rPr>
              <a:t>ₖ</a:t>
            </a:r>
            <a:r>
              <a:rPr lang="en-IL" sz="3100">
                <a:solidFill>
                  <a:srgbClr val="2459D3"/>
                </a:solidFill>
                <a:latin typeface="Cambria Math" panose="02040503050406030204" pitchFamily="18" charset="0"/>
              </a:rPr>
              <a:t>)V</a:t>
            </a:r>
            <a:r>
              <a:rPr lang="el-GR" sz="2232" baseline="32000">
                <a:solidFill>
                  <a:srgbClr val="2459D3"/>
                </a:solidFill>
                <a:latin typeface="Cambria Math" panose="02040503050406030204" pitchFamily="18" charset="0"/>
              </a:rPr>
              <a:t>π</a:t>
            </a:r>
            <a:r>
              <a:rPr lang="en-IL" sz="2232" baseline="32000">
                <a:solidFill>
                  <a:srgbClr val="2459D3"/>
                </a:solidFill>
                <a:latin typeface="Cambria Math" panose="02040503050406030204" pitchFamily="18" charset="0"/>
              </a:rPr>
              <a:t>ₖ</a:t>
            </a:r>
            <a:r>
              <a:rPr lang="en-IL" sz="3100">
                <a:solidFill>
                  <a:srgbClr val="2459D3"/>
                </a:solidFill>
                <a:latin typeface="Cambria Math" panose="02040503050406030204" pitchFamily="18" charset="0"/>
              </a:rPr>
              <a:t> = R</a:t>
            </a:r>
            <a:r>
              <a:rPr lang="el-GR" sz="2232" baseline="-22000">
                <a:solidFill>
                  <a:srgbClr val="2459D3"/>
                </a:solidFill>
                <a:latin typeface="Cambria Math" panose="02040503050406030204" pitchFamily="18" charset="0"/>
              </a:rPr>
              <a:t>π</a:t>
            </a:r>
            <a:r>
              <a:rPr lang="en-IL" sz="2232" baseline="-22000">
                <a:solidFill>
                  <a:srgbClr val="2459D3"/>
                </a:solidFill>
                <a:latin typeface="Cambria Math" panose="02040503050406030204" pitchFamily="18" charset="0"/>
              </a:rPr>
              <a:t>ₖ</a:t>
            </a:r>
          </a:p>
        </p:txBody>
      </p:sp>
      <p:sp>
        <p:nvSpPr>
          <p:cNvPr id="9" name="text_8">
            <a:extLst>
              <a:ext uri="{FF2B5EF4-FFF2-40B4-BE49-F238E27FC236}">
                <a16:creationId xmlns:a16="http://schemas.microsoft.com/office/drawing/2014/main" id="{8EAAD98C-AF87-FAA2-59EC-7C606AD8E386}"/>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pt-BR" sz="3100">
                <a:solidFill>
                  <a:srgbClr val="15283B"/>
                </a:solidFill>
                <a:latin typeface="Cambria Math" panose="02040503050406030204" pitchFamily="18" charset="0"/>
              </a:rPr>
              <a:t>Improve:     π</a:t>
            </a:r>
            <a:r>
              <a:rPr lang="pt-BR" sz="2232" baseline="-22000">
                <a:solidFill>
                  <a:srgbClr val="15283B"/>
                </a:solidFill>
                <a:latin typeface="Cambria Math" panose="02040503050406030204" pitchFamily="18" charset="0"/>
              </a:rPr>
              <a:t>k+1</a:t>
            </a:r>
            <a:r>
              <a:rPr lang="pt-BR" sz="3100">
                <a:solidFill>
                  <a:srgbClr val="15283B"/>
                </a:solidFill>
                <a:latin typeface="Cambria Math" panose="02040503050406030204" pitchFamily="18" charset="0"/>
              </a:rPr>
              <a:t>(s) ∈ argmax</a:t>
            </a:r>
            <a:r>
              <a:rPr lang="pt-BR" sz="2232" baseline="-22000">
                <a:solidFill>
                  <a:srgbClr val="15283B"/>
                </a:solidFill>
                <a:latin typeface="Cambria Math" panose="02040503050406030204" pitchFamily="18" charset="0"/>
              </a:rPr>
              <a:t>a</a:t>
            </a:r>
            <a:r>
              <a:rPr lang="pt-BR" sz="3100">
                <a:solidFill>
                  <a:srgbClr val="15283B"/>
                </a:solidFill>
                <a:latin typeface="Cambria Math" panose="02040503050406030204" pitchFamily="18" charset="0"/>
              </a:rPr>
              <a:t> Q</a:t>
            </a:r>
            <a:r>
              <a:rPr lang="pt-BR" sz="2232" baseline="32000">
                <a:solidFill>
                  <a:srgbClr val="15283B"/>
                </a:solidFill>
                <a:latin typeface="Cambria Math" panose="02040503050406030204" pitchFamily="18" charset="0"/>
              </a:rPr>
              <a:t>πₖ</a:t>
            </a:r>
            <a:r>
              <a:rPr lang="pt-BR" sz="3100">
                <a:solidFill>
                  <a:srgbClr val="15283B"/>
                </a:solidFill>
                <a:latin typeface="Cambria Math" panose="02040503050406030204" pitchFamily="18" charset="0"/>
              </a:rPr>
              <a:t>(s,a)</a:t>
            </a:r>
            <a:endParaRPr lang="en-IL" sz="31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DEFD3380-F9D2-BEF5-1317-7CF222B16A54}"/>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Repeat until the policy is unchanged and the optimality residual is small.</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483463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44AF202-0C1A-1E60-D941-3A448B9AABF8}"/>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0F9DC9F7-DEE0-DAAE-1BA6-1E300649678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Policy iteration by hand</a:t>
            </a:r>
          </a:p>
        </p:txBody>
      </p:sp>
      <p:sp>
        <p:nvSpPr>
          <p:cNvPr id="4" name="text_3">
            <a:extLst>
              <a:ext uri="{FF2B5EF4-FFF2-40B4-BE49-F238E27FC236}">
                <a16:creationId xmlns:a16="http://schemas.microsoft.com/office/drawing/2014/main" id="{93244A4D-22A5-6CB0-FB03-95215076116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visualization deliberately starts with risky.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2A0E25A7-A9DB-A955-B0F5-338A7873950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ED6B4C2-513F-990B-4D86-DBBEBD4D6BE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BDAE8051-5DFB-6023-6363-5283F730BD2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21</a:t>
            </a:r>
          </a:p>
        </p:txBody>
      </p:sp>
      <p:sp>
        <p:nvSpPr>
          <p:cNvPr id="8" name="Rectangle: Rounded Corners 7">
            <a:extLst>
              <a:ext uri="{FF2B5EF4-FFF2-40B4-BE49-F238E27FC236}">
                <a16:creationId xmlns:a16="http://schemas.microsoft.com/office/drawing/2014/main" id="{C9812CB4-9B0C-CA24-630A-657612DE8730}"/>
              </a:ext>
            </a:extLst>
          </p:cNvPr>
          <p:cNvSpPr/>
          <p:nvPr/>
        </p:nvSpPr>
        <p:spPr>
          <a:xfrm>
            <a:off x="685800" y="2679700"/>
            <a:ext cx="5207000" cy="2743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7A0ED157-DBA1-F096-5467-E3231171180C}"/>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Round 0 · risky</a:t>
            </a:r>
          </a:p>
        </p:txBody>
      </p:sp>
      <p:sp>
        <p:nvSpPr>
          <p:cNvPr id="10" name="text_9">
            <a:extLst>
              <a:ext uri="{FF2B5EF4-FFF2-40B4-BE49-F238E27FC236}">
                <a16:creationId xmlns:a16="http://schemas.microsoft.com/office/drawing/2014/main" id="{82992DA8-2CB3-4F66-F4D4-C21180B12A15}"/>
              </a:ext>
            </a:extLst>
          </p:cNvPr>
          <p:cNvSpPr txBox="1"/>
          <p:nvPr/>
        </p:nvSpPr>
        <p:spPr>
          <a:xfrm>
            <a:off x="914400" y="3492499"/>
            <a:ext cx="4749800" cy="18796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Evaluate: V(start) = 6
Compare: safe = 6.2
Improve: choose safe</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ECACBC40-DCDF-9FE8-BAF5-E8DA2C7C712D}"/>
              </a:ext>
            </a:extLst>
          </p:cNvPr>
          <p:cNvSpPr/>
          <p:nvPr/>
        </p:nvSpPr>
        <p:spPr>
          <a:xfrm>
            <a:off x="6172200" y="2679700"/>
            <a:ext cx="5334000" cy="27432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93A53A07-E451-EE1F-FD54-C50A1636E0E6}"/>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Round 1 · safe</a:t>
            </a:r>
          </a:p>
        </p:txBody>
      </p:sp>
      <p:sp>
        <p:nvSpPr>
          <p:cNvPr id="13" name="text_12">
            <a:extLst>
              <a:ext uri="{FF2B5EF4-FFF2-40B4-BE49-F238E27FC236}">
                <a16:creationId xmlns:a16="http://schemas.microsoft.com/office/drawing/2014/main" id="{1BAD9874-7D99-040C-853C-768DC65A3941}"/>
              </a:ext>
            </a:extLst>
          </p:cNvPr>
          <p:cNvSpPr txBox="1"/>
          <p:nvPr/>
        </p:nvSpPr>
        <p:spPr>
          <a:xfrm>
            <a:off x="6400800" y="3492499"/>
            <a:ext cx="4876800" cy="18796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Evaluate: V(start) = 6.2
Improve: still safe
Stable policy; residual = 0</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E1E385E5-BF6D-CE2C-7288-9667122FECBE}"/>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Evaluate → improve → evaluate again → unchanged.</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375879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B286D97-3BCD-0DE7-6082-45F037F5194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F5E6CA4A-AC45-7DE9-C688-2BC8116272D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Keep three operations separate</a:t>
            </a:r>
          </a:p>
        </p:txBody>
      </p:sp>
      <p:sp>
        <p:nvSpPr>
          <p:cNvPr id="4" name="text_3">
            <a:extLst>
              <a:ext uri="{FF2B5EF4-FFF2-40B4-BE49-F238E27FC236}">
                <a16:creationId xmlns:a16="http://schemas.microsoft.com/office/drawing/2014/main" id="{3440B488-946F-CC85-968F-A06C28732DA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Identify what is fixed before reading an equation.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D98BCB48-1529-EF4F-F1B7-E7AF04211A1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C505AFC-4B30-42B6-F33E-B9308918B13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2B3FAFEE-F6C3-BEB1-F4A8-FC7B7B7BEB4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22</a:t>
            </a:r>
          </a:p>
        </p:txBody>
      </p:sp>
      <p:sp>
        <p:nvSpPr>
          <p:cNvPr id="8" name="Rectangle: Rounded Corners 7">
            <a:extLst>
              <a:ext uri="{FF2B5EF4-FFF2-40B4-BE49-F238E27FC236}">
                <a16:creationId xmlns:a16="http://schemas.microsoft.com/office/drawing/2014/main" id="{62410DE0-1575-806D-B8D6-826294C38E68}"/>
              </a:ext>
            </a:extLst>
          </p:cNvPr>
          <p:cNvSpPr/>
          <p:nvPr/>
        </p:nvSpPr>
        <p:spPr>
          <a:xfrm>
            <a:off x="685800" y="2679700"/>
            <a:ext cx="3454400" cy="2882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FBFC1455-E7D5-4959-E20F-430ED43E137E}"/>
              </a:ext>
            </a:extLst>
          </p:cNvPr>
          <p:cNvSpPr txBox="1"/>
          <p:nvPr/>
        </p:nvSpPr>
        <p:spPr>
          <a:xfrm>
            <a:off x="914400" y="28701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Policy evaluation</a:t>
            </a:r>
          </a:p>
        </p:txBody>
      </p:sp>
      <p:sp>
        <p:nvSpPr>
          <p:cNvPr id="10" name="text_9">
            <a:extLst>
              <a:ext uri="{FF2B5EF4-FFF2-40B4-BE49-F238E27FC236}">
                <a16:creationId xmlns:a16="http://schemas.microsoft.com/office/drawing/2014/main" id="{BB0575C5-DBEE-C566-85CD-1BB07270EFA2}"/>
              </a:ext>
            </a:extLst>
          </p:cNvPr>
          <p:cNvSpPr txBox="1"/>
          <p:nvPr/>
        </p:nvSpPr>
        <p:spPr>
          <a:xfrm>
            <a:off x="914400" y="3492499"/>
            <a:ext cx="2997200" cy="20193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Fixed: policy + model
Compute: V</a:t>
            </a:r>
            <a:r>
              <a:rPr lang="el-GR" sz="2400">
                <a:solidFill>
                  <a:srgbClr val="15283B"/>
                </a:solidFill>
                <a:latin typeface="Aptos" panose="020B0004020202020204" pitchFamily="34" charset="0"/>
              </a:rPr>
              <a:t>π</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249CD5FD-A1D8-41C2-02A1-C7EAD70D43C4}"/>
              </a:ext>
            </a:extLst>
          </p:cNvPr>
          <p:cNvSpPr/>
          <p:nvPr/>
        </p:nvSpPr>
        <p:spPr>
          <a:xfrm>
            <a:off x="4368800" y="2679700"/>
            <a:ext cx="3454400" cy="28829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0DC74B84-7ECD-FE06-22B2-DD86A45CEF7E}"/>
              </a:ext>
            </a:extLst>
          </p:cNvPr>
          <p:cNvSpPr txBox="1"/>
          <p:nvPr/>
        </p:nvSpPr>
        <p:spPr>
          <a:xfrm>
            <a:off x="4597400" y="2870199"/>
            <a:ext cx="29972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Value iteration</a:t>
            </a:r>
          </a:p>
        </p:txBody>
      </p:sp>
      <p:sp>
        <p:nvSpPr>
          <p:cNvPr id="13" name="text_12">
            <a:extLst>
              <a:ext uri="{FF2B5EF4-FFF2-40B4-BE49-F238E27FC236}">
                <a16:creationId xmlns:a16="http://schemas.microsoft.com/office/drawing/2014/main" id="{14487609-8EBC-8F1E-FAF2-3A6BEF24FDAE}"/>
              </a:ext>
            </a:extLst>
          </p:cNvPr>
          <p:cNvSpPr txBox="1"/>
          <p:nvPr/>
        </p:nvSpPr>
        <p:spPr>
          <a:xfrm>
            <a:off x="4597400" y="3492499"/>
            <a:ext cx="2997200" cy="20193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Fixed: model
Maximizing value backups</a:t>
            </a:r>
            <a:endParaRPr lang="en-IL" sz="2400">
              <a:solidFill>
                <a:srgbClr val="15283B"/>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B098C161-78C1-2814-BD44-4969FF8AFA45}"/>
              </a:ext>
            </a:extLst>
          </p:cNvPr>
          <p:cNvSpPr/>
          <p:nvPr/>
        </p:nvSpPr>
        <p:spPr>
          <a:xfrm>
            <a:off x="8051800" y="2679700"/>
            <a:ext cx="3454400" cy="2882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B11BF539-37B1-7D00-A8BD-39089E0AD805}"/>
              </a:ext>
            </a:extLst>
          </p:cNvPr>
          <p:cNvSpPr txBox="1"/>
          <p:nvPr/>
        </p:nvSpPr>
        <p:spPr>
          <a:xfrm>
            <a:off x="8280400" y="28701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Policy iteration</a:t>
            </a:r>
          </a:p>
        </p:txBody>
      </p:sp>
      <p:sp>
        <p:nvSpPr>
          <p:cNvPr id="16" name="text_15">
            <a:extLst>
              <a:ext uri="{FF2B5EF4-FFF2-40B4-BE49-F238E27FC236}">
                <a16:creationId xmlns:a16="http://schemas.microsoft.com/office/drawing/2014/main" id="{B05CC787-5611-0AC4-DF05-04652FD40DE2}"/>
              </a:ext>
            </a:extLst>
          </p:cNvPr>
          <p:cNvSpPr txBox="1"/>
          <p:nvPr/>
        </p:nvSpPr>
        <p:spPr>
          <a:xfrm>
            <a:off x="8280400" y="3492499"/>
            <a:ext cx="2997200" cy="20193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Fixed: model
Evaluate + improve policy</a:t>
            </a:r>
            <a:endParaRPr lang="en-IL" sz="2400">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5921B2F2-768E-CB60-737F-FF2952B08D8F}"/>
              </a:ext>
            </a:extLst>
          </p:cNvPr>
          <p:cNvSpPr txBox="1"/>
          <p:nvPr/>
        </p:nvSpPr>
        <p:spPr>
          <a:xfrm>
            <a:off x="685800" y="5727699"/>
            <a:ext cx="10820400" cy="444500"/>
          </a:xfrm>
          <a:prstGeom prst="rect">
            <a:avLst/>
          </a:prstGeom>
          <a:noFill/>
        </p:spPr>
        <p:txBody>
          <a:bodyPr vert="horz" wrap="square" lIns="0" tIns="0" rIns="0" bIns="0" rtlCol="0" anchor="t">
            <a:noAutofit/>
          </a:bodyPr>
          <a:lstStyle/>
          <a:p>
            <a:r>
              <a:rPr lang="en-US" sz="2500" b="1">
                <a:solidFill>
                  <a:srgbClr val="526477"/>
                </a:solidFill>
                <a:latin typeface="Aptos" panose="020B0004020202020204" pitchFamily="34" charset="0"/>
              </a:rPr>
              <a:t>Known model → planning. No probability learning in this demo.</a:t>
            </a:r>
            <a:endParaRPr lang="en-IL" sz="2500" b="1">
              <a:solidFill>
                <a:srgbClr val="526477"/>
              </a:solidFill>
              <a:latin typeface="Aptos" panose="020B0004020202020204" pitchFamily="34" charset="0"/>
            </a:endParaRPr>
          </a:p>
        </p:txBody>
      </p:sp>
    </p:spTree>
    <p:extLst>
      <p:ext uri="{BB962C8B-B14F-4D97-AF65-F5344CB8AC3E}">
        <p14:creationId xmlns:p14="http://schemas.microsoft.com/office/powerpoint/2010/main" val="42443426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A77FDD1-BEF2-A07D-24E6-99FAE2D1E0EE}"/>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6C262077-1DB5-9B73-B221-BAE01010FF0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Change risk; change the policy</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22047988-7953-C22A-C78F-3D6CFF79904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Predict before selecting failure probability 0.1.</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DA344B3-679C-F929-C34B-ADB3D3B9E9D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8AA8D11-3C85-4F8D-1FDD-7CC13D116F6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335CE96-44D9-56CA-7FA5-24E77414B92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23</a:t>
            </a:r>
          </a:p>
        </p:txBody>
      </p:sp>
      <p:sp>
        <p:nvSpPr>
          <p:cNvPr id="8" name="text_7">
            <a:extLst>
              <a:ext uri="{FF2B5EF4-FFF2-40B4-BE49-F238E27FC236}">
                <a16:creationId xmlns:a16="http://schemas.microsoft.com/office/drawing/2014/main" id="{31492120-F8BB-8BB1-1E56-8F7C896094B1}"/>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100">
                <a:solidFill>
                  <a:srgbClr val="2459D3"/>
                </a:solidFill>
                <a:latin typeface="Cambria Math" panose="02040503050406030204" pitchFamily="18" charset="0"/>
              </a:rPr>
              <a:t>Risky at p=0.2:    0.8(10) + 0.2(−10) = 6</a:t>
            </a:r>
          </a:p>
        </p:txBody>
      </p:sp>
      <p:sp>
        <p:nvSpPr>
          <p:cNvPr id="9" name="text_8">
            <a:extLst>
              <a:ext uri="{FF2B5EF4-FFF2-40B4-BE49-F238E27FC236}">
                <a16:creationId xmlns:a16="http://schemas.microsoft.com/office/drawing/2014/main" id="{4021DCBD-9204-6FC9-6336-FFD47DC719E4}"/>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Risky at p=0.1:    0.9(10) + 0.1(−10) = 8</a:t>
            </a:r>
          </a:p>
        </p:txBody>
      </p:sp>
      <p:sp>
        <p:nvSpPr>
          <p:cNvPr id="10" name="text_9">
            <a:extLst>
              <a:ext uri="{FF2B5EF4-FFF2-40B4-BE49-F238E27FC236}">
                <a16:creationId xmlns:a16="http://schemas.microsoft.com/office/drawing/2014/main" id="{8E4A875F-45CA-6140-7569-05A9DE960712}"/>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Safe remains:      −1 + 0.9(8) = 6.2</a:t>
            </a:r>
          </a:p>
        </p:txBody>
      </p:sp>
      <p:sp>
        <p:nvSpPr>
          <p:cNvPr id="11" name="text_10">
            <a:extLst>
              <a:ext uri="{FF2B5EF4-FFF2-40B4-BE49-F238E27FC236}">
                <a16:creationId xmlns:a16="http://schemas.microsoft.com/office/drawing/2014/main" id="{C0E3D567-6DB6-A67D-FF63-F2AFF628150C}"/>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The optimal start action changes: safe → risky.</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095691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C7D8A6A-E426-E8DB-02EB-A7E87643DE9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AEDBDACC-D0B9-F28D-4900-24B2172F54D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Predict, then visualize</a:t>
            </a:r>
          </a:p>
        </p:txBody>
      </p:sp>
      <p:sp>
        <p:nvSpPr>
          <p:cNvPr id="4" name="text_3">
            <a:extLst>
              <a:ext uri="{FF2B5EF4-FFF2-40B4-BE49-F238E27FC236}">
                <a16:creationId xmlns:a16="http://schemas.microsoft.com/office/drawing/2014/main" id="{241BF1AF-26F7-C5CE-0617-09B687CAE54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program applies the equations we just calculated.</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8E34984-4438-43CA-7077-F5BBA63E6E2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AC7B4B2-0881-E06B-F686-3DC12E29D70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E2A0A4A5-A140-B4D9-DC06-7584C40E666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24</a:t>
            </a:r>
          </a:p>
        </p:txBody>
      </p:sp>
      <p:pic>
        <p:nvPicPr>
          <p:cNvPr id="9" name="Picture 8">
            <a:extLst>
              <a:ext uri="{FF2B5EF4-FFF2-40B4-BE49-F238E27FC236}">
                <a16:creationId xmlns:a16="http://schemas.microsoft.com/office/drawing/2014/main" id="{5A9853A4-3B85-465B-C406-EA1D99D14EE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2628900"/>
            <a:ext cx="6794500" cy="3657600"/>
          </a:xfrm>
          <a:prstGeom prst="rect">
            <a:avLst/>
          </a:prstGeom>
        </p:spPr>
      </p:pic>
      <p:sp>
        <p:nvSpPr>
          <p:cNvPr id="10" name="text_8">
            <a:extLst>
              <a:ext uri="{FF2B5EF4-FFF2-40B4-BE49-F238E27FC236}">
                <a16:creationId xmlns:a16="http://schemas.microsoft.com/office/drawing/2014/main" id="{5A5584E4-5A94-E83C-36F0-7EE9DCB27E4A}"/>
              </a:ext>
            </a:extLst>
          </p:cNvPr>
          <p:cNvSpPr txBox="1"/>
          <p:nvPr/>
        </p:nvSpPr>
        <p:spPr>
          <a:xfrm>
            <a:off x="7912100" y="2743199"/>
            <a:ext cx="3594100" cy="9906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Predict the first backup.</a:t>
            </a:r>
          </a:p>
        </p:txBody>
      </p:sp>
      <p:sp>
        <p:nvSpPr>
          <p:cNvPr id="11" name="text_9">
            <a:extLst>
              <a:ext uri="{FF2B5EF4-FFF2-40B4-BE49-F238E27FC236}">
                <a16:creationId xmlns:a16="http://schemas.microsoft.com/office/drawing/2014/main" id="{9FA5E841-0541-FEE5-B6AD-ABCE58C73993}"/>
              </a:ext>
            </a:extLst>
          </p:cNvPr>
          <p:cNvSpPr txBox="1"/>
          <p:nvPr/>
        </p:nvSpPr>
        <p:spPr>
          <a:xfrm>
            <a:off x="7912100" y="3898899"/>
            <a:ext cx="3594100" cy="9906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Explain the green arrows.</a:t>
            </a:r>
          </a:p>
        </p:txBody>
      </p:sp>
      <p:sp>
        <p:nvSpPr>
          <p:cNvPr id="12" name="text_10">
            <a:extLst>
              <a:ext uri="{FF2B5EF4-FFF2-40B4-BE49-F238E27FC236}">
                <a16:creationId xmlns:a16="http://schemas.microsoft.com/office/drawing/2014/main" id="{E422A7DE-37DD-6BCC-D06F-3D411CBE6444}"/>
              </a:ext>
            </a:extLst>
          </p:cNvPr>
          <p:cNvSpPr txBox="1"/>
          <p:nvPr/>
        </p:nvSpPr>
        <p:spPr>
          <a:xfrm>
            <a:off x="7912100" y="5143499"/>
            <a:ext cx="3594100" cy="10033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Change risk. Predict again.</a:t>
            </a:r>
          </a:p>
        </p:txBody>
      </p:sp>
    </p:spTree>
    <p:extLst>
      <p:ext uri="{BB962C8B-B14F-4D97-AF65-F5344CB8AC3E}">
        <p14:creationId xmlns:p14="http://schemas.microsoft.com/office/powerpoint/2010/main" val="2070877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CC6AB5D-3F9D-40C4-388A-CE1AF5A6A18B}"/>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06 / MARKOV DECISION PROCESSES</a:t>
            </a:r>
          </a:p>
        </p:txBody>
      </p:sp>
      <p:sp>
        <p:nvSpPr>
          <p:cNvPr id="3" name="text_2">
            <a:extLst>
              <a:ext uri="{FF2B5EF4-FFF2-40B4-BE49-F238E27FC236}">
                <a16:creationId xmlns:a16="http://schemas.microsoft.com/office/drawing/2014/main" id="{F4319268-1BF6-631B-692C-E85563181AF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Checkpoint &amp; HW3</a:t>
            </a:r>
          </a:p>
        </p:txBody>
      </p:sp>
      <p:sp>
        <p:nvSpPr>
          <p:cNvPr id="4" name="text_3">
            <a:extLst>
              <a:ext uri="{FF2B5EF4-FFF2-40B4-BE49-F238E27FC236}">
                <a16:creationId xmlns:a16="http://schemas.microsoft.com/office/drawing/2014/main" id="{B4620101-6578-CF0A-7B8E-0FB099D9F1E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Explain the calculation, not just the final number.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224C79C-EC09-3AE3-A25C-6B40FA0318C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FC846868-A167-7956-CDF4-5A2C32A1EE7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D99423B-D15C-F457-1629-265B1A84A85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25</a:t>
            </a:r>
          </a:p>
        </p:txBody>
      </p:sp>
      <p:sp>
        <p:nvSpPr>
          <p:cNvPr id="8" name="Rectangle: Rounded Corners 7">
            <a:extLst>
              <a:ext uri="{FF2B5EF4-FFF2-40B4-BE49-F238E27FC236}">
                <a16:creationId xmlns:a16="http://schemas.microsoft.com/office/drawing/2014/main" id="{95E76FB0-3402-2107-0A5A-3136CB87AF6B}"/>
              </a:ext>
            </a:extLst>
          </p:cNvPr>
          <p:cNvSpPr/>
          <p:nvPr/>
        </p:nvSpPr>
        <p:spPr>
          <a:xfrm>
            <a:off x="685800" y="2679700"/>
            <a:ext cx="5207000" cy="2578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021342EF-D93B-1378-92FD-F87A91446AEC}"/>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Model + policy</a:t>
            </a:r>
          </a:p>
        </p:txBody>
      </p:sp>
      <p:sp>
        <p:nvSpPr>
          <p:cNvPr id="10" name="text_9">
            <a:extLst>
              <a:ext uri="{FF2B5EF4-FFF2-40B4-BE49-F238E27FC236}">
                <a16:creationId xmlns:a16="http://schemas.microsoft.com/office/drawing/2014/main" id="{363689C2-62B0-CD70-7215-99A99E6C3201}"/>
              </a:ext>
            </a:extLst>
          </p:cNvPr>
          <p:cNvSpPr txBox="1"/>
          <p:nvPr/>
        </p:nvSpPr>
        <p:spPr>
          <a:xfrm>
            <a:off x="914400" y="3492499"/>
            <a:ext cx="4749800" cy="17145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What does P(s′ | s,a) mean?</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B17D663C-9C25-3844-D352-DC17E3F876D3}"/>
              </a:ext>
            </a:extLst>
          </p:cNvPr>
          <p:cNvSpPr/>
          <p:nvPr/>
        </p:nvSpPr>
        <p:spPr>
          <a:xfrm>
            <a:off x="6172200" y="2679700"/>
            <a:ext cx="5334000" cy="2578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0D212BC5-02DC-7430-3BC8-FF2AE153463B}"/>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Bellman operations</a:t>
            </a:r>
          </a:p>
        </p:txBody>
      </p:sp>
      <p:sp>
        <p:nvSpPr>
          <p:cNvPr id="13" name="text_12">
            <a:extLst>
              <a:ext uri="{FF2B5EF4-FFF2-40B4-BE49-F238E27FC236}">
                <a16:creationId xmlns:a16="http://schemas.microsoft.com/office/drawing/2014/main" id="{F9933BE6-6B74-CBC0-DCD6-FCFD649071ED}"/>
              </a:ext>
            </a:extLst>
          </p:cNvPr>
          <p:cNvSpPr txBox="1"/>
          <p:nvPr/>
        </p:nvSpPr>
        <p:spPr>
          <a:xfrm>
            <a:off x="6400800" y="3492499"/>
            <a:ext cx="4876800" cy="17145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Why sum outcomes but maximize actions?</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5D6BE71F-0AC9-16C2-FB4A-5665B0457895}"/>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Why terminal V = 0? Why V₁ ≠ V₂? How do VI and PI differ?</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590621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9718290-72D0-99FC-9F4D-4E5851752DBF}"/>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91855708-38F7-C08D-6F40-32C5E949403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Why value iteration converges</a:t>
            </a:r>
          </a:p>
        </p:txBody>
      </p:sp>
      <p:sp>
        <p:nvSpPr>
          <p:cNvPr id="4" name="text_3">
            <a:extLst>
              <a:ext uri="{FF2B5EF4-FFF2-40B4-BE49-F238E27FC236}">
                <a16:creationId xmlns:a16="http://schemas.microsoft.com/office/drawing/2014/main" id="{7794820E-619F-9D71-029F-EC3236FE7E6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Finite model, bounded rewards, 0 ≤ γ &lt; 1.</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B8B7104-41EA-15FD-8520-1F2988DDE02B}"/>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AE0E315-CD8A-EC8C-AB60-63162FF7D84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60851C0-149E-4FBC-5E46-D7CD12A6E5F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26</a:t>
            </a:r>
          </a:p>
        </p:txBody>
      </p:sp>
      <p:sp>
        <p:nvSpPr>
          <p:cNvPr id="8" name="text_7">
            <a:extLst>
              <a:ext uri="{FF2B5EF4-FFF2-40B4-BE49-F238E27FC236}">
                <a16:creationId xmlns:a16="http://schemas.microsoft.com/office/drawing/2014/main" id="{67A3530C-156B-E655-99F1-F4447D94503D}"/>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pt-BR" sz="3100">
                <a:solidFill>
                  <a:srgbClr val="2459D3"/>
                </a:solidFill>
                <a:latin typeface="Cambria Math" panose="02040503050406030204" pitchFamily="18" charset="0"/>
              </a:rPr>
              <a:t>(TV)(s) = max</a:t>
            </a:r>
            <a:r>
              <a:rPr lang="pt-BR" sz="2232" baseline="-22000">
                <a:solidFill>
                  <a:srgbClr val="2459D3"/>
                </a:solidFill>
                <a:latin typeface="Cambria Math" panose="02040503050406030204" pitchFamily="18" charset="0"/>
              </a:rPr>
              <a:t>a</a:t>
            </a:r>
            <a:r>
              <a:rPr lang="pt-BR" sz="3100">
                <a:solidFill>
                  <a:srgbClr val="2459D3"/>
                </a:solidFill>
                <a:latin typeface="Cambria Math" panose="02040503050406030204" pitchFamily="18" charset="0"/>
              </a:rPr>
              <a:t> Q</a:t>
            </a:r>
            <a:r>
              <a:rPr lang="pt-BR" sz="2232" baseline="-22000">
                <a:solidFill>
                  <a:srgbClr val="2459D3"/>
                </a:solidFill>
                <a:latin typeface="Cambria Math" panose="02040503050406030204" pitchFamily="18" charset="0"/>
              </a:rPr>
              <a:t>V</a:t>
            </a:r>
            <a:r>
              <a:rPr lang="pt-BR" sz="3100">
                <a:solidFill>
                  <a:srgbClr val="2459D3"/>
                </a:solidFill>
                <a:latin typeface="Cambria Math" panose="02040503050406030204" pitchFamily="18" charset="0"/>
              </a:rPr>
              <a:t>(s,a)</a:t>
            </a:r>
            <a:endParaRPr lang="en-IL" sz="31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8539852A-F447-8335-5FB6-16B657361E6C}"/>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‖TV − TW‖</a:t>
            </a:r>
            <a:r>
              <a:rPr lang="en-IL" sz="2232" baseline="-22000">
                <a:solidFill>
                  <a:srgbClr val="15283B"/>
                </a:solidFill>
                <a:latin typeface="Cambria Math" panose="02040503050406030204" pitchFamily="18" charset="0"/>
              </a:rPr>
              <a:t>∞</a:t>
            </a:r>
            <a:r>
              <a:rPr lang="en-IL" sz="3100">
                <a:solidFill>
                  <a:srgbClr val="15283B"/>
                </a:solidFill>
                <a:latin typeface="Cambria Math" panose="02040503050406030204" pitchFamily="18" charset="0"/>
              </a:rPr>
              <a:t> ≤ </a:t>
            </a:r>
            <a:r>
              <a:rPr lang="el-GR" sz="3100">
                <a:solidFill>
                  <a:srgbClr val="15283B"/>
                </a:solidFill>
                <a:latin typeface="Cambria Math" panose="02040503050406030204" pitchFamily="18" charset="0"/>
              </a:rPr>
              <a:t>γ‖</a:t>
            </a:r>
            <a:r>
              <a:rPr lang="en-IL" sz="3100">
                <a:solidFill>
                  <a:srgbClr val="15283B"/>
                </a:solidFill>
                <a:latin typeface="Cambria Math" panose="02040503050406030204" pitchFamily="18" charset="0"/>
              </a:rPr>
              <a:t>V − W‖</a:t>
            </a:r>
            <a:r>
              <a:rPr lang="en-IL" sz="2232" baseline="-22000">
                <a:solidFill>
                  <a:srgbClr val="15283B"/>
                </a:solidFill>
                <a:latin typeface="Cambria Math" panose="02040503050406030204" pitchFamily="18" charset="0"/>
              </a:rPr>
              <a:t>∞</a:t>
            </a:r>
          </a:p>
        </p:txBody>
      </p:sp>
      <p:sp>
        <p:nvSpPr>
          <p:cNvPr id="10" name="text_9">
            <a:extLst>
              <a:ext uri="{FF2B5EF4-FFF2-40B4-BE49-F238E27FC236}">
                <a16:creationId xmlns:a16="http://schemas.microsoft.com/office/drawing/2014/main" id="{7D429D0E-D516-0809-B524-18BE10E9A108}"/>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‖V</a:t>
            </a:r>
            <a:r>
              <a:rPr lang="en-IL" sz="2232" baseline="-22000">
                <a:solidFill>
                  <a:srgbClr val="15283B"/>
                </a:solidFill>
                <a:latin typeface="Cambria Math" panose="02040503050406030204" pitchFamily="18" charset="0"/>
              </a:rPr>
              <a:t>k</a:t>
            </a:r>
            <a:r>
              <a:rPr lang="en-IL" sz="3100">
                <a:solidFill>
                  <a:srgbClr val="15283B"/>
                </a:solidFill>
                <a:latin typeface="Cambria Math" panose="02040503050406030204" pitchFamily="18" charset="0"/>
              </a:rPr>
              <a:t> − V</a:t>
            </a:r>
            <a:r>
              <a:rPr lang="en-IL" sz="2232" baseline="32000">
                <a:solidFill>
                  <a:srgbClr val="15283B"/>
                </a:solidFill>
                <a:latin typeface="Cambria Math" panose="02040503050406030204" pitchFamily="18" charset="0"/>
              </a:rPr>
              <a:t>*</a:t>
            </a:r>
            <a:r>
              <a:rPr lang="en-IL" sz="3100">
                <a:solidFill>
                  <a:srgbClr val="15283B"/>
                </a:solidFill>
                <a:latin typeface="Cambria Math" panose="02040503050406030204" pitchFamily="18" charset="0"/>
              </a:rPr>
              <a:t>‖</a:t>
            </a:r>
            <a:r>
              <a:rPr lang="en-IL" sz="2232" baseline="-22000">
                <a:solidFill>
                  <a:srgbClr val="15283B"/>
                </a:solidFill>
                <a:latin typeface="Cambria Math" panose="02040503050406030204" pitchFamily="18" charset="0"/>
              </a:rPr>
              <a:t>∞</a:t>
            </a:r>
            <a:r>
              <a:rPr lang="en-IL" sz="3100">
                <a:solidFill>
                  <a:srgbClr val="15283B"/>
                </a:solidFill>
                <a:latin typeface="Cambria Math" panose="02040503050406030204" pitchFamily="18" charset="0"/>
              </a:rPr>
              <a:t> ≤ </a:t>
            </a:r>
            <a:r>
              <a:rPr lang="el-GR" sz="3100">
                <a:solidFill>
                  <a:srgbClr val="15283B"/>
                </a:solidFill>
                <a:latin typeface="Cambria Math" panose="02040503050406030204" pitchFamily="18" charset="0"/>
              </a:rPr>
              <a:t>γ</a:t>
            </a:r>
            <a:r>
              <a:rPr lang="en-IL" sz="2232" baseline="32000">
                <a:solidFill>
                  <a:srgbClr val="15283B"/>
                </a:solidFill>
                <a:latin typeface="Cambria Math" panose="02040503050406030204" pitchFamily="18" charset="0"/>
              </a:rPr>
              <a:t>k</a:t>
            </a:r>
            <a:r>
              <a:rPr lang="en-IL" sz="3100">
                <a:solidFill>
                  <a:srgbClr val="15283B"/>
                </a:solidFill>
                <a:latin typeface="Cambria Math" panose="02040503050406030204" pitchFamily="18" charset="0"/>
              </a:rPr>
              <a:t> ‖V</a:t>
            </a:r>
            <a:r>
              <a:rPr lang="en-IL" sz="2232" baseline="-22000">
                <a:solidFill>
                  <a:srgbClr val="15283B"/>
                </a:solidFill>
                <a:latin typeface="Cambria Math" panose="02040503050406030204" pitchFamily="18" charset="0"/>
              </a:rPr>
              <a:t>0</a:t>
            </a:r>
            <a:r>
              <a:rPr lang="en-IL" sz="3100">
                <a:solidFill>
                  <a:srgbClr val="15283B"/>
                </a:solidFill>
                <a:latin typeface="Cambria Math" panose="02040503050406030204" pitchFamily="18" charset="0"/>
              </a:rPr>
              <a:t> − V</a:t>
            </a:r>
            <a:r>
              <a:rPr lang="en-IL" sz="2232" baseline="32000">
                <a:solidFill>
                  <a:srgbClr val="15283B"/>
                </a:solidFill>
                <a:latin typeface="Cambria Math" panose="02040503050406030204" pitchFamily="18" charset="0"/>
              </a:rPr>
              <a:t>*</a:t>
            </a:r>
            <a:r>
              <a:rPr lang="en-IL" sz="3100">
                <a:solidFill>
                  <a:srgbClr val="15283B"/>
                </a:solidFill>
                <a:latin typeface="Cambria Math" panose="02040503050406030204" pitchFamily="18" charset="0"/>
              </a:rPr>
              <a:t>‖</a:t>
            </a:r>
            <a:r>
              <a:rPr lang="en-IL" sz="2232" baseline="-22000">
                <a:solidFill>
                  <a:srgbClr val="15283B"/>
                </a:solidFill>
                <a:latin typeface="Cambria Math" panose="02040503050406030204" pitchFamily="18" charset="0"/>
              </a:rPr>
              <a:t>∞</a:t>
            </a:r>
          </a:p>
        </p:txBody>
      </p:sp>
      <p:sp>
        <p:nvSpPr>
          <p:cNvPr id="11" name="text_10">
            <a:extLst>
              <a:ext uri="{FF2B5EF4-FFF2-40B4-BE49-F238E27FC236}">
                <a16:creationId xmlns:a16="http://schemas.microsoft.com/office/drawing/2014/main" id="{228BABA0-228B-33A0-C879-23A79C3D9C3E}"/>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 contraction has a unique fixed point: TV* = V*.</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6985076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5775D7C-433D-5208-056A-DF5683A6EE4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345E19D8-4FEC-916B-5462-52CDC60FC14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Stopping and numerical error</a:t>
            </a:r>
          </a:p>
        </p:txBody>
      </p:sp>
      <p:sp>
        <p:nvSpPr>
          <p:cNvPr id="4" name="text_3">
            <a:extLst>
              <a:ext uri="{FF2B5EF4-FFF2-40B4-BE49-F238E27FC236}">
                <a16:creationId xmlns:a16="http://schemas.microsoft.com/office/drawing/2014/main" id="{D732492C-F575-965B-7205-22C21C580A6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small update is evidence of a small residual.</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4115AA1-A298-D6A8-A732-FED62B787F6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A7D1556-BC86-56D8-1203-E13AE44B93E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8010D4D-2130-86E9-21F9-DE1BE31207C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27</a:t>
            </a:r>
          </a:p>
        </p:txBody>
      </p:sp>
      <p:sp>
        <p:nvSpPr>
          <p:cNvPr id="8" name="text_7">
            <a:extLst>
              <a:ext uri="{FF2B5EF4-FFF2-40B4-BE49-F238E27FC236}">
                <a16:creationId xmlns:a16="http://schemas.microsoft.com/office/drawing/2014/main" id="{D074E601-5605-139A-647D-A5FA39F6E6E0}"/>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l-GR" sz="2900">
                <a:solidFill>
                  <a:srgbClr val="2459D3"/>
                </a:solidFill>
                <a:latin typeface="Cambria Math" panose="02040503050406030204" pitchFamily="18" charset="0"/>
              </a:rPr>
              <a:t>δ(</a:t>
            </a:r>
            <a:r>
              <a:rPr lang="en-IL" sz="2900">
                <a:solidFill>
                  <a:srgbClr val="2459D3"/>
                </a:solidFill>
                <a:latin typeface="Cambria Math" panose="02040503050406030204" pitchFamily="18" charset="0"/>
              </a:rPr>
              <a:t>V) = ‖TV − V‖</a:t>
            </a:r>
            <a:r>
              <a:rPr lang="en-IL" sz="2088" baseline="-22000">
                <a:solidFill>
                  <a:srgbClr val="2459D3"/>
                </a:solidFill>
                <a:latin typeface="Cambria Math" panose="02040503050406030204" pitchFamily="18" charset="0"/>
              </a:rPr>
              <a:t>∞</a:t>
            </a:r>
          </a:p>
        </p:txBody>
      </p:sp>
      <p:sp>
        <p:nvSpPr>
          <p:cNvPr id="9" name="text_8">
            <a:extLst>
              <a:ext uri="{FF2B5EF4-FFF2-40B4-BE49-F238E27FC236}">
                <a16:creationId xmlns:a16="http://schemas.microsoft.com/office/drawing/2014/main" id="{C47342B6-0490-69BB-9D9F-8E5E59327852}"/>
              </a:ext>
            </a:extLst>
          </p:cNvPr>
          <p:cNvSpPr txBox="1"/>
          <p:nvPr/>
        </p:nvSpPr>
        <p:spPr>
          <a:xfrm>
            <a:off x="685800" y="33781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‖V − V</a:t>
            </a:r>
            <a:r>
              <a:rPr lang="en-IL" sz="2088" baseline="32000">
                <a:solidFill>
                  <a:srgbClr val="15283B"/>
                </a:solidFill>
                <a:latin typeface="Cambria Math" panose="02040503050406030204" pitchFamily="18" charset="0"/>
              </a:rPr>
              <a:t>*</a:t>
            </a:r>
            <a:r>
              <a:rPr lang="en-IL" sz="2900">
                <a:solidFill>
                  <a:srgbClr val="15283B"/>
                </a:solidFill>
                <a:latin typeface="Cambria Math" panose="02040503050406030204" pitchFamily="18" charset="0"/>
              </a:rPr>
              <a:t>‖</a:t>
            </a:r>
            <a:r>
              <a:rPr lang="en-IL" sz="2088" baseline="-22000">
                <a:solidFill>
                  <a:srgbClr val="15283B"/>
                </a:solidFill>
                <a:latin typeface="Cambria Math" panose="02040503050406030204" pitchFamily="18" charset="0"/>
              </a:rPr>
              <a:t>∞</a:t>
            </a:r>
            <a:r>
              <a:rPr lang="en-IL" sz="2900">
                <a:solidFill>
                  <a:srgbClr val="15283B"/>
                </a:solidFill>
                <a:latin typeface="Cambria Math" panose="02040503050406030204" pitchFamily="18" charset="0"/>
              </a:rPr>
              <a:t> ≤ </a:t>
            </a:r>
            <a:r>
              <a:rPr lang="el-GR" sz="2900">
                <a:solidFill>
                  <a:srgbClr val="15283B"/>
                </a:solidFill>
                <a:latin typeface="Cambria Math" panose="02040503050406030204" pitchFamily="18" charset="0"/>
              </a:rPr>
              <a:t>δ(</a:t>
            </a:r>
            <a:r>
              <a:rPr lang="en-IL" sz="2900">
                <a:solidFill>
                  <a:srgbClr val="15283B"/>
                </a:solidFill>
                <a:latin typeface="Cambria Math" panose="02040503050406030204" pitchFamily="18" charset="0"/>
              </a:rPr>
              <a:t>V) / (1−</a:t>
            </a:r>
            <a:r>
              <a:rPr lang="el-GR" sz="2900">
                <a:solidFill>
                  <a:srgbClr val="15283B"/>
                </a:solidFill>
                <a:latin typeface="Cambria Math" panose="02040503050406030204" pitchFamily="18" charset="0"/>
              </a:rPr>
              <a:t>γ)</a:t>
            </a:r>
            <a:endParaRPr lang="en-IL" sz="29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7A9C4521-283F-0CA7-B202-B51870E58189}"/>
              </a:ext>
            </a:extLst>
          </p:cNvPr>
          <p:cNvSpPr txBox="1"/>
          <p:nvPr/>
        </p:nvSpPr>
        <p:spPr>
          <a:xfrm>
            <a:off x="685800" y="4127499"/>
            <a:ext cx="10820400" cy="711200"/>
          </a:xfrm>
          <a:prstGeom prst="rect">
            <a:avLst/>
          </a:prstGeom>
          <a:noFill/>
        </p:spPr>
        <p:txBody>
          <a:bodyPr vert="horz" wrap="square" lIns="0" tIns="0" rIns="0" bIns="0" rtlCol="0" anchor="t">
            <a:noAutofit/>
          </a:bodyPr>
          <a:lstStyle/>
          <a:p>
            <a:r>
              <a:rPr lang="el-GR" sz="2900">
                <a:solidFill>
                  <a:srgbClr val="15283B"/>
                </a:solidFill>
                <a:latin typeface="Cambria Math" panose="02040503050406030204" pitchFamily="18" charset="0"/>
              </a:rPr>
              <a:t>Δ</a:t>
            </a:r>
            <a:r>
              <a:rPr lang="en-IL" sz="2088" baseline="-22000">
                <a:solidFill>
                  <a:srgbClr val="15283B"/>
                </a:solidFill>
                <a:latin typeface="Cambria Math" panose="02040503050406030204" pitchFamily="18" charset="0"/>
              </a:rPr>
              <a:t>k</a:t>
            </a:r>
            <a:r>
              <a:rPr lang="en-IL" sz="2900">
                <a:solidFill>
                  <a:srgbClr val="15283B"/>
                </a:solidFill>
                <a:latin typeface="Cambria Math" panose="02040503050406030204" pitchFamily="18" charset="0"/>
              </a:rPr>
              <a:t> = ‖V</a:t>
            </a:r>
            <a:r>
              <a:rPr lang="en-IL" sz="2088" baseline="-22000">
                <a:solidFill>
                  <a:srgbClr val="15283B"/>
                </a:solidFill>
                <a:latin typeface="Cambria Math" panose="02040503050406030204" pitchFamily="18" charset="0"/>
              </a:rPr>
              <a:t>k+1</a:t>
            </a:r>
            <a:r>
              <a:rPr lang="en-IL" sz="2900">
                <a:solidFill>
                  <a:srgbClr val="15283B"/>
                </a:solidFill>
                <a:latin typeface="Cambria Math" panose="02040503050406030204" pitchFamily="18" charset="0"/>
              </a:rPr>
              <a:t>−V</a:t>
            </a:r>
            <a:r>
              <a:rPr lang="en-IL" sz="2088" baseline="-22000">
                <a:solidFill>
                  <a:srgbClr val="15283B"/>
                </a:solidFill>
                <a:latin typeface="Cambria Math" panose="02040503050406030204" pitchFamily="18" charset="0"/>
              </a:rPr>
              <a:t>k</a:t>
            </a:r>
            <a:r>
              <a:rPr lang="en-IL" sz="2900">
                <a:solidFill>
                  <a:srgbClr val="15283B"/>
                </a:solidFill>
                <a:latin typeface="Cambria Math" panose="02040503050406030204" pitchFamily="18" charset="0"/>
              </a:rPr>
              <a:t>‖</a:t>
            </a:r>
            <a:r>
              <a:rPr lang="en-IL" sz="2088" baseline="-22000">
                <a:solidFill>
                  <a:srgbClr val="15283B"/>
                </a:solidFill>
                <a:latin typeface="Cambria Math" panose="02040503050406030204" pitchFamily="18" charset="0"/>
              </a:rPr>
              <a:t>∞</a:t>
            </a:r>
          </a:p>
        </p:txBody>
      </p:sp>
      <p:sp>
        <p:nvSpPr>
          <p:cNvPr id="11" name="text_10">
            <a:extLst>
              <a:ext uri="{FF2B5EF4-FFF2-40B4-BE49-F238E27FC236}">
                <a16:creationId xmlns:a16="http://schemas.microsoft.com/office/drawing/2014/main" id="{84793672-A6BE-7122-C521-BCA6373C0F8C}"/>
              </a:ext>
            </a:extLst>
          </p:cNvPr>
          <p:cNvSpPr txBox="1"/>
          <p:nvPr/>
        </p:nvSpPr>
        <p:spPr>
          <a:xfrm>
            <a:off x="685800" y="48767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‖V</a:t>
            </a:r>
            <a:r>
              <a:rPr lang="en-IL" sz="2088" baseline="-22000">
                <a:solidFill>
                  <a:srgbClr val="15283B"/>
                </a:solidFill>
                <a:latin typeface="Cambria Math" panose="02040503050406030204" pitchFamily="18" charset="0"/>
              </a:rPr>
              <a:t>k+1</a:t>
            </a:r>
            <a:r>
              <a:rPr lang="en-IL" sz="2900">
                <a:solidFill>
                  <a:srgbClr val="15283B"/>
                </a:solidFill>
                <a:latin typeface="Cambria Math" panose="02040503050406030204" pitchFamily="18" charset="0"/>
              </a:rPr>
              <a:t>−V</a:t>
            </a:r>
            <a:r>
              <a:rPr lang="en-IL" sz="2088" baseline="32000">
                <a:solidFill>
                  <a:srgbClr val="15283B"/>
                </a:solidFill>
                <a:latin typeface="Cambria Math" panose="02040503050406030204" pitchFamily="18" charset="0"/>
              </a:rPr>
              <a:t>*</a:t>
            </a:r>
            <a:r>
              <a:rPr lang="en-IL" sz="2900">
                <a:solidFill>
                  <a:srgbClr val="15283B"/>
                </a:solidFill>
                <a:latin typeface="Cambria Math" panose="02040503050406030204" pitchFamily="18" charset="0"/>
              </a:rPr>
              <a:t>‖</a:t>
            </a:r>
            <a:r>
              <a:rPr lang="en-IL" sz="2088" baseline="-22000">
                <a:solidFill>
                  <a:srgbClr val="15283B"/>
                </a:solidFill>
                <a:latin typeface="Cambria Math" panose="02040503050406030204" pitchFamily="18" charset="0"/>
              </a:rPr>
              <a:t>∞</a:t>
            </a:r>
            <a:r>
              <a:rPr lang="en-IL" sz="2900">
                <a:solidFill>
                  <a:srgbClr val="15283B"/>
                </a:solidFill>
                <a:latin typeface="Cambria Math" panose="02040503050406030204" pitchFamily="18" charset="0"/>
              </a:rPr>
              <a:t> ≤ </a:t>
            </a:r>
            <a:r>
              <a:rPr lang="el-GR" sz="2900">
                <a:solidFill>
                  <a:srgbClr val="15283B"/>
                </a:solidFill>
                <a:latin typeface="Cambria Math" panose="02040503050406030204" pitchFamily="18" charset="0"/>
              </a:rPr>
              <a:t>γΔ</a:t>
            </a:r>
            <a:r>
              <a:rPr lang="en-IL" sz="2088" baseline="-22000">
                <a:solidFill>
                  <a:srgbClr val="15283B"/>
                </a:solidFill>
                <a:latin typeface="Cambria Math" panose="02040503050406030204" pitchFamily="18" charset="0"/>
              </a:rPr>
              <a:t>k</a:t>
            </a:r>
            <a:r>
              <a:rPr lang="en-IL" sz="2900">
                <a:solidFill>
                  <a:srgbClr val="15283B"/>
                </a:solidFill>
                <a:latin typeface="Cambria Math" panose="02040503050406030204" pitchFamily="18" charset="0"/>
              </a:rPr>
              <a:t> / (1−</a:t>
            </a:r>
            <a:r>
              <a:rPr lang="el-GR" sz="2900">
                <a:solidFill>
                  <a:srgbClr val="15283B"/>
                </a:solidFill>
                <a:latin typeface="Cambria Math" panose="02040503050406030204" pitchFamily="18" charset="0"/>
              </a:rPr>
              <a:t>γ)</a:t>
            </a:r>
            <a:endParaRPr lang="en-IL" sz="29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7D6459BA-3AD9-2E20-A3C2-D013EE363F6C}"/>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Label the returned vector correctly; the two bounds use different indices.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2426391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A488A26-1582-14AF-BD33-3A6B38732C48}"/>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9D8A19F1-6481-FC71-031E-E00EDDAEB3B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A stochastic policy worked example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62129930-2A6B-6897-E9C2-D4E56C1154C6}"/>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At start choose safe or risky with probability 0.5 each.</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9E4F86A-56D7-F8CD-2743-8D7484274B5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F328CA5-0920-B4B5-ED4E-02AC109BDEB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FBE209A4-9E32-2649-1FBC-AF59209E0C7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28</a:t>
            </a:r>
          </a:p>
        </p:txBody>
      </p:sp>
      <p:sp>
        <p:nvSpPr>
          <p:cNvPr id="8" name="text_7">
            <a:extLst>
              <a:ext uri="{FF2B5EF4-FFF2-40B4-BE49-F238E27FC236}">
                <a16:creationId xmlns:a16="http://schemas.microsoft.com/office/drawing/2014/main" id="{0E6E9748-F471-1395-6BB9-1A333750BA2F}"/>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l-GR" sz="2900">
                <a:solidFill>
                  <a:srgbClr val="2459D3"/>
                </a:solidFill>
                <a:latin typeface="Cambria Math" panose="02040503050406030204" pitchFamily="18" charset="0"/>
              </a:rPr>
              <a:t>π(</a:t>
            </a:r>
            <a:r>
              <a:rPr lang="en-IL" sz="2900">
                <a:solidFill>
                  <a:srgbClr val="2459D3"/>
                </a:solidFill>
                <a:latin typeface="Cambria Math" panose="02040503050406030204" pitchFamily="18" charset="0"/>
              </a:rPr>
              <a:t>safe | start) = </a:t>
            </a:r>
            <a:r>
              <a:rPr lang="el-GR" sz="2900">
                <a:solidFill>
                  <a:srgbClr val="2459D3"/>
                </a:solidFill>
                <a:latin typeface="Cambria Math" panose="02040503050406030204" pitchFamily="18" charset="0"/>
              </a:rPr>
              <a:t>π(</a:t>
            </a:r>
            <a:r>
              <a:rPr lang="en-IL" sz="2900">
                <a:solidFill>
                  <a:srgbClr val="2459D3"/>
                </a:solidFill>
                <a:latin typeface="Cambria Math" panose="02040503050406030204" pitchFamily="18" charset="0"/>
              </a:rPr>
              <a:t>risky | start) = 0.5</a:t>
            </a:r>
          </a:p>
        </p:txBody>
      </p:sp>
      <p:sp>
        <p:nvSpPr>
          <p:cNvPr id="9" name="text_8">
            <a:extLst>
              <a:ext uri="{FF2B5EF4-FFF2-40B4-BE49-F238E27FC236}">
                <a16:creationId xmlns:a16="http://schemas.microsoft.com/office/drawing/2014/main" id="{EAB835EE-D9F2-34DE-2CDA-2B48E46AA36E}"/>
              </a:ext>
            </a:extLst>
          </p:cNvPr>
          <p:cNvSpPr txBox="1"/>
          <p:nvPr/>
        </p:nvSpPr>
        <p:spPr>
          <a:xfrm>
            <a:off x="685800" y="33781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V</a:t>
            </a:r>
            <a:r>
              <a:rPr lang="el-GR" sz="2088" baseline="32000">
                <a:solidFill>
                  <a:srgbClr val="15283B"/>
                </a:solidFill>
                <a:latin typeface="Cambria Math" panose="02040503050406030204" pitchFamily="18" charset="0"/>
              </a:rPr>
              <a:t>π</a:t>
            </a:r>
            <a:r>
              <a:rPr lang="el-GR" sz="2900">
                <a:solidFill>
                  <a:srgbClr val="15283B"/>
                </a:solidFill>
                <a:latin typeface="Cambria Math" panose="02040503050406030204" pitchFamily="18" charset="0"/>
              </a:rPr>
              <a:t>(</a:t>
            </a:r>
            <a:r>
              <a:rPr lang="en-IL" sz="2900">
                <a:solidFill>
                  <a:srgbClr val="15283B"/>
                </a:solidFill>
                <a:latin typeface="Cambria Math" panose="02040503050406030204" pitchFamily="18" charset="0"/>
              </a:rPr>
              <a:t>detour) = 8</a:t>
            </a:r>
          </a:p>
        </p:txBody>
      </p:sp>
      <p:sp>
        <p:nvSpPr>
          <p:cNvPr id="10" name="text_9">
            <a:extLst>
              <a:ext uri="{FF2B5EF4-FFF2-40B4-BE49-F238E27FC236}">
                <a16:creationId xmlns:a16="http://schemas.microsoft.com/office/drawing/2014/main" id="{DC1794A7-E842-0304-2196-965D9B5EF155}"/>
              </a:ext>
            </a:extLst>
          </p:cNvPr>
          <p:cNvSpPr txBox="1"/>
          <p:nvPr/>
        </p:nvSpPr>
        <p:spPr>
          <a:xfrm>
            <a:off x="685800" y="4127499"/>
            <a:ext cx="10820400" cy="711200"/>
          </a:xfrm>
          <a:prstGeom prst="rect">
            <a:avLst/>
          </a:prstGeom>
          <a:noFill/>
        </p:spPr>
        <p:txBody>
          <a:bodyPr vert="horz" wrap="square" lIns="0" tIns="0" rIns="0" bIns="0" rtlCol="0" anchor="t">
            <a:noAutofit/>
          </a:bodyPr>
          <a:lstStyle/>
          <a:p>
            <a:r>
              <a:rPr lang="en-US" sz="2900">
                <a:solidFill>
                  <a:srgbClr val="15283B"/>
                </a:solidFill>
                <a:latin typeface="Cambria Math" panose="02040503050406030204" pitchFamily="18" charset="0"/>
              </a:rPr>
              <a:t>V</a:t>
            </a:r>
            <a:r>
              <a:rPr lang="en-US" sz="2088" baseline="32000">
                <a:solidFill>
                  <a:srgbClr val="15283B"/>
                </a:solidFill>
                <a:latin typeface="Cambria Math" panose="02040503050406030204" pitchFamily="18" charset="0"/>
              </a:rPr>
              <a:t>π</a:t>
            </a:r>
            <a:r>
              <a:rPr lang="en-US" sz="2900">
                <a:solidFill>
                  <a:srgbClr val="15283B"/>
                </a:solidFill>
                <a:latin typeface="Cambria Math" panose="02040503050406030204" pitchFamily="18" charset="0"/>
              </a:rPr>
              <a:t>(start) = 0.5[−1+0.9(8)] + 0.5[0.8(10)+0.2(−10)]</a:t>
            </a:r>
            <a:endParaRPr lang="en-IL" sz="29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4A4C0749-79F2-A13B-7186-D495AB247A8D}"/>
              </a:ext>
            </a:extLst>
          </p:cNvPr>
          <p:cNvSpPr txBox="1"/>
          <p:nvPr/>
        </p:nvSpPr>
        <p:spPr>
          <a:xfrm>
            <a:off x="685800" y="48767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 0.5(6.2) + 0.5(6) = 6.1</a:t>
            </a:r>
          </a:p>
        </p:txBody>
      </p:sp>
      <p:sp>
        <p:nvSpPr>
          <p:cNvPr id="12" name="text_11">
            <a:extLst>
              <a:ext uri="{FF2B5EF4-FFF2-40B4-BE49-F238E27FC236}">
                <a16:creationId xmlns:a16="http://schemas.microsoft.com/office/drawing/2014/main" id="{88647AA4-4A25-0541-7F98-076AED15F3E3}"/>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First average action choices; within risky, average successor outcomes.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792135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D10B146-4B71-1E0C-29B6-561446F3A195}"/>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B01B15E6-7BB6-01C1-1D84-883F03BBC66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A cyclic MDP needs repeated backups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158BFB60-1A15-0FC1-D325-7591EC594B7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One state, one action: wait earns +1 and returns to itself.</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928674E2-D71B-988D-64ED-EC24562C2E8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1F1DFB9-EF79-A122-8C51-249BE5DF40C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32A148E-2AB3-E903-0E75-28199427DEA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29</a:t>
            </a:r>
          </a:p>
        </p:txBody>
      </p:sp>
      <p:sp>
        <p:nvSpPr>
          <p:cNvPr id="8" name="text_7">
            <a:extLst>
              <a:ext uri="{FF2B5EF4-FFF2-40B4-BE49-F238E27FC236}">
                <a16:creationId xmlns:a16="http://schemas.microsoft.com/office/drawing/2014/main" id="{534D2802-311C-912D-00AE-63F1E206D695}"/>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100">
                <a:solidFill>
                  <a:srgbClr val="2459D3"/>
                </a:solidFill>
                <a:latin typeface="Cambria Math" panose="02040503050406030204" pitchFamily="18" charset="0"/>
              </a:rPr>
              <a:t>V = 1 + 0.9V     ⇒     0.1V = 1     ⇒     V = 10</a:t>
            </a:r>
          </a:p>
        </p:txBody>
      </p:sp>
      <p:sp>
        <p:nvSpPr>
          <p:cNvPr id="9" name="text_8">
            <a:extLst>
              <a:ext uri="{FF2B5EF4-FFF2-40B4-BE49-F238E27FC236}">
                <a16:creationId xmlns:a16="http://schemas.microsoft.com/office/drawing/2014/main" id="{1D8C46EA-CD22-46D7-9872-FFA8673FC7FD}"/>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V</a:t>
            </a:r>
            <a:r>
              <a:rPr lang="en-IL" sz="2232" baseline="-22000">
                <a:solidFill>
                  <a:srgbClr val="15283B"/>
                </a:solidFill>
                <a:latin typeface="Cambria Math" panose="02040503050406030204" pitchFamily="18" charset="0"/>
              </a:rPr>
              <a:t>0</a:t>
            </a:r>
            <a:r>
              <a:rPr lang="en-IL" sz="3100">
                <a:solidFill>
                  <a:srgbClr val="15283B"/>
                </a:solidFill>
                <a:latin typeface="Cambria Math" panose="02040503050406030204" pitchFamily="18" charset="0"/>
              </a:rPr>
              <a:t> = 0,   V</a:t>
            </a:r>
            <a:r>
              <a:rPr lang="en-IL" sz="2232" baseline="-22000">
                <a:solidFill>
                  <a:srgbClr val="15283B"/>
                </a:solidFill>
                <a:latin typeface="Cambria Math" panose="02040503050406030204" pitchFamily="18" charset="0"/>
              </a:rPr>
              <a:t>1</a:t>
            </a:r>
            <a:r>
              <a:rPr lang="en-IL" sz="3100">
                <a:solidFill>
                  <a:srgbClr val="15283B"/>
                </a:solidFill>
                <a:latin typeface="Cambria Math" panose="02040503050406030204" pitchFamily="18" charset="0"/>
              </a:rPr>
              <a:t> = 1,   V</a:t>
            </a:r>
            <a:r>
              <a:rPr lang="en-IL" sz="2232" baseline="-22000">
                <a:solidFill>
                  <a:srgbClr val="15283B"/>
                </a:solidFill>
                <a:latin typeface="Cambria Math" panose="02040503050406030204" pitchFamily="18" charset="0"/>
              </a:rPr>
              <a:t>2</a:t>
            </a:r>
            <a:r>
              <a:rPr lang="en-IL" sz="3100">
                <a:solidFill>
                  <a:srgbClr val="15283B"/>
                </a:solidFill>
                <a:latin typeface="Cambria Math" panose="02040503050406030204" pitchFamily="18" charset="0"/>
              </a:rPr>
              <a:t> = 1.9,   V</a:t>
            </a:r>
            <a:r>
              <a:rPr lang="en-IL" sz="2232" baseline="-22000">
                <a:solidFill>
                  <a:srgbClr val="15283B"/>
                </a:solidFill>
                <a:latin typeface="Cambria Math" panose="02040503050406030204" pitchFamily="18" charset="0"/>
              </a:rPr>
              <a:t>3</a:t>
            </a:r>
            <a:r>
              <a:rPr lang="en-IL" sz="3100">
                <a:solidFill>
                  <a:srgbClr val="15283B"/>
                </a:solidFill>
                <a:latin typeface="Cambria Math" panose="02040503050406030204" pitchFamily="18" charset="0"/>
              </a:rPr>
              <a:t> = 2.71</a:t>
            </a:r>
          </a:p>
        </p:txBody>
      </p:sp>
      <p:sp>
        <p:nvSpPr>
          <p:cNvPr id="10" name="text_9">
            <a:extLst>
              <a:ext uri="{FF2B5EF4-FFF2-40B4-BE49-F238E27FC236}">
                <a16:creationId xmlns:a16="http://schemas.microsoft.com/office/drawing/2014/main" id="{41EDB711-BE04-5F8C-4197-A363DF911E69}"/>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V</a:t>
            </a:r>
            <a:r>
              <a:rPr lang="en-IL" sz="2232" baseline="-22000">
                <a:solidFill>
                  <a:srgbClr val="15283B"/>
                </a:solidFill>
                <a:latin typeface="Cambria Math" panose="02040503050406030204" pitchFamily="18" charset="0"/>
              </a:rPr>
              <a:t>k</a:t>
            </a:r>
            <a:r>
              <a:rPr lang="en-IL" sz="3100">
                <a:solidFill>
                  <a:srgbClr val="15283B"/>
                </a:solidFill>
                <a:latin typeface="Cambria Math" panose="02040503050406030204" pitchFamily="18" charset="0"/>
              </a:rPr>
              <a:t> = (1 − 0.9</a:t>
            </a:r>
            <a:r>
              <a:rPr lang="en-IL" sz="2232" baseline="32000">
                <a:solidFill>
                  <a:srgbClr val="15283B"/>
                </a:solidFill>
                <a:latin typeface="Cambria Math" panose="02040503050406030204" pitchFamily="18" charset="0"/>
              </a:rPr>
              <a:t>k</a:t>
            </a:r>
            <a:r>
              <a:rPr lang="en-IL" sz="3100">
                <a:solidFill>
                  <a:srgbClr val="15283B"/>
                </a:solidFill>
                <a:latin typeface="Cambria Math" panose="02040503050406030204" pitchFamily="18" charset="0"/>
              </a:rPr>
              <a:t>) / (1 − 0.9)</a:t>
            </a:r>
          </a:p>
        </p:txBody>
      </p:sp>
      <p:sp>
        <p:nvSpPr>
          <p:cNvPr id="11" name="text_10">
            <a:extLst>
              <a:ext uri="{FF2B5EF4-FFF2-40B4-BE49-F238E27FC236}">
                <a16:creationId xmlns:a16="http://schemas.microsoft.com/office/drawing/2014/main" id="{7CE5AA86-51BD-39FF-760E-BC880D50972B}"/>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Unlike the delivery example, values approach the limit over many sweeps.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881586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FBB2B6E-7203-49E8-0F95-EBE31AB7F0C5}"/>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569CB0B5-0CDB-0E59-C0DF-CB94FCF8FCF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When does the decision switch?</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A4F2B06A-36FC-5F7E-0F7A-5D894D35A6A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Compare the two expected returns algebraically.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C1538EC-CB0C-AA74-93C7-2C6F517A912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F8706542-481F-37FF-2E0D-D47BD306B5F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Decisions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F90E29A5-1BA2-F284-4DB0-D278252EDE6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30</a:t>
            </a:r>
          </a:p>
        </p:txBody>
      </p:sp>
      <p:sp>
        <p:nvSpPr>
          <p:cNvPr id="8" name="text_7">
            <a:extLst>
              <a:ext uri="{FF2B5EF4-FFF2-40B4-BE49-F238E27FC236}">
                <a16:creationId xmlns:a16="http://schemas.microsoft.com/office/drawing/2014/main" id="{D355CD17-98F2-DF01-B5A5-F7EB70DEA4F5}"/>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2900">
                <a:solidFill>
                  <a:srgbClr val="2459D3"/>
                </a:solidFill>
                <a:latin typeface="Cambria Math" panose="02040503050406030204" pitchFamily="18" charset="0"/>
              </a:rPr>
              <a:t>Q</a:t>
            </a:r>
            <a:r>
              <a:rPr lang="en-IL" sz="2088" baseline="-22000">
                <a:solidFill>
                  <a:srgbClr val="2459D3"/>
                </a:solidFill>
                <a:latin typeface="Cambria Math" panose="02040503050406030204" pitchFamily="18" charset="0"/>
              </a:rPr>
              <a:t>risky</a:t>
            </a:r>
            <a:r>
              <a:rPr lang="en-IL" sz="2900">
                <a:solidFill>
                  <a:srgbClr val="2459D3"/>
                </a:solidFill>
                <a:latin typeface="Cambria Math" panose="02040503050406030204" pitchFamily="18" charset="0"/>
              </a:rPr>
              <a:t> = (1−p)10 + p(−10) = 10 − 20p</a:t>
            </a:r>
          </a:p>
        </p:txBody>
      </p:sp>
      <p:sp>
        <p:nvSpPr>
          <p:cNvPr id="9" name="text_8">
            <a:extLst>
              <a:ext uri="{FF2B5EF4-FFF2-40B4-BE49-F238E27FC236}">
                <a16:creationId xmlns:a16="http://schemas.microsoft.com/office/drawing/2014/main" id="{8E5918BC-2916-E376-7E94-75CDDA7FD17A}"/>
              </a:ext>
            </a:extLst>
          </p:cNvPr>
          <p:cNvSpPr txBox="1"/>
          <p:nvPr/>
        </p:nvSpPr>
        <p:spPr>
          <a:xfrm>
            <a:off x="685800" y="33781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Q</a:t>
            </a:r>
            <a:r>
              <a:rPr lang="en-IL" sz="2088" baseline="-22000">
                <a:solidFill>
                  <a:srgbClr val="15283B"/>
                </a:solidFill>
                <a:latin typeface="Cambria Math" panose="02040503050406030204" pitchFamily="18" charset="0"/>
              </a:rPr>
              <a:t>safe</a:t>
            </a:r>
            <a:r>
              <a:rPr lang="en-IL" sz="2900">
                <a:solidFill>
                  <a:srgbClr val="15283B"/>
                </a:solidFill>
                <a:latin typeface="Cambria Math" panose="02040503050406030204" pitchFamily="18" charset="0"/>
              </a:rPr>
              <a:t> = −1 + 8</a:t>
            </a:r>
            <a:r>
              <a:rPr lang="el-GR" sz="2900">
                <a:solidFill>
                  <a:srgbClr val="15283B"/>
                </a:solidFill>
                <a:latin typeface="Cambria Math" panose="02040503050406030204" pitchFamily="18" charset="0"/>
              </a:rPr>
              <a:t>γ</a:t>
            </a:r>
            <a:endParaRPr lang="en-IL" sz="29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B0B23B43-4020-0178-A68E-5B9761702D05}"/>
              </a:ext>
            </a:extLst>
          </p:cNvPr>
          <p:cNvSpPr txBox="1"/>
          <p:nvPr/>
        </p:nvSpPr>
        <p:spPr>
          <a:xfrm>
            <a:off x="685800" y="41274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At </a:t>
            </a:r>
            <a:r>
              <a:rPr lang="el-GR" sz="2900">
                <a:solidFill>
                  <a:srgbClr val="15283B"/>
                </a:solidFill>
                <a:latin typeface="Cambria Math" panose="02040503050406030204" pitchFamily="18" charset="0"/>
              </a:rPr>
              <a:t>γ=0.9:    10−20</a:t>
            </a:r>
            <a:r>
              <a:rPr lang="en-IL" sz="2900">
                <a:solidFill>
                  <a:srgbClr val="15283B"/>
                </a:solidFill>
                <a:latin typeface="Cambria Math" panose="02040503050406030204" pitchFamily="18" charset="0"/>
              </a:rPr>
              <a:t>p = 6.2    ⇒    p = 0.19</a:t>
            </a:r>
          </a:p>
        </p:txBody>
      </p:sp>
      <p:sp>
        <p:nvSpPr>
          <p:cNvPr id="11" name="text_10">
            <a:extLst>
              <a:ext uri="{FF2B5EF4-FFF2-40B4-BE49-F238E27FC236}">
                <a16:creationId xmlns:a16="http://schemas.microsoft.com/office/drawing/2014/main" id="{5B04DF36-2203-7D34-FC67-829E1686D95A}"/>
              </a:ext>
            </a:extLst>
          </p:cNvPr>
          <p:cNvSpPr txBox="1"/>
          <p:nvPr/>
        </p:nvSpPr>
        <p:spPr>
          <a:xfrm>
            <a:off x="685800" y="48767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At p=0.2:    −1+8</a:t>
            </a:r>
            <a:r>
              <a:rPr lang="el-GR" sz="2900">
                <a:solidFill>
                  <a:srgbClr val="15283B"/>
                </a:solidFill>
                <a:latin typeface="Cambria Math" panose="02040503050406030204" pitchFamily="18" charset="0"/>
              </a:rPr>
              <a:t>γ = 6    ⇒    γ = 0.875</a:t>
            </a:r>
            <a:endParaRPr lang="en-IL" sz="29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A701DDC9-C765-FA0A-9D0B-5FB32C443771}"/>
              </a:ext>
            </a:extLst>
          </p:cNvPr>
          <p:cNvSpPr txBox="1"/>
          <p:nvPr/>
        </p:nvSpPr>
        <p:spPr>
          <a:xfrm>
            <a:off x="685800" y="5765799"/>
            <a:ext cx="10820400" cy="5080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At equality both actions maximize expected return.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2794010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9397</Words>
  <Application>Microsoft Office PowerPoint</Application>
  <PresentationFormat>Custom</PresentationFormat>
  <Paragraphs>574</Paragraphs>
  <Slides>30</Slides>
  <Notes>30</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גלעד ליפשיץ</dc:creator>
  <cp:lastModifiedBy>גלעד ליפשיץ</cp:lastModifiedBy>
  <cp:revision>1</cp:revision>
  <dcterms:created xsi:type="dcterms:W3CDTF">2026-10-05T06:47:18Z</dcterms:created>
  <dcterms:modified xsi:type="dcterms:W3CDTF">2026-10-05T06:47:18Z</dcterms:modified>
</cp:coreProperties>
</file>