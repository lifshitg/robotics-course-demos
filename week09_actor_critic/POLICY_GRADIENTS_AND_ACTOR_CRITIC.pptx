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3D3B04-DB5C-4615-A5C1-321EAA0E4A00}" type="datetimeFigureOut">
              <a:rPr lang="en-IL" smtClean="0"/>
              <a:t>05/10/2026</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4C0A95-6183-4E8D-ACAB-7A23528DA5FC}" type="slidenum">
              <a:rPr lang="en-IL" smtClean="0"/>
              <a:t>‹#›</a:t>
            </a:fld>
            <a:endParaRPr lang="en-IL"/>
          </a:p>
        </p:txBody>
      </p:sp>
    </p:spTree>
    <p:extLst>
      <p:ext uri="{BB962C8B-B14F-4D97-AF65-F5344CB8AC3E}">
        <p14:creationId xmlns:p14="http://schemas.microsoft.com/office/powerpoint/2010/main" val="1020716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Use the selected 30-minute explanation and worked-math block, 10-minute visual demo, and 5-minute recap. The protected teaching notes and demo runbook retain their previous schedule; this deck and revised plan specify the new presentation schedule. Students know MDPs, Q-learning, and imitation learning. Explain symbols as they appear. Our sequence is directly parameterized policy, policy-gradient derivation, variance and baseline, advantage, critic, then practical algorithm overviews. The demo is synchronous five-step advantage actor–critic, not PPO or SAC. There is no professor presentation supplied for this week. Prepared training figures and checkpoint results are historical, not a new training run.</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https://spinningup.openai.com/en/latest/spinningup/rl_intro3.html</a:t>
            </a:r>
          </a:p>
          <a:p>
            <a:r>
              <a:rPr lang="en-US">
                <a:latin typeface="Aptos" panose="020B0004020202020204" pitchFamily="34" charset="0"/>
              </a:rPr>
              <a:t>https://arxiv.org/abs/1602.01783</a:t>
            </a:r>
          </a:p>
          <a:p>
            <a:r>
              <a:rPr lang="en-US">
                <a:latin typeface="Aptos" panose="020B0004020202020204" pitchFamily="34" charset="0"/>
              </a:rPr>
              <a:t>Local sources: demo/networks.py, algorithm.py, train.py, evaluate.py, watch.py, compare.py, test_demo.py, README.md, classroom/settings.json and classroom/results.json.</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1</a:t>
            </a:fld>
            <a:endParaRPr lang="en-IL"/>
          </a:p>
        </p:txBody>
      </p:sp>
    </p:spTree>
    <p:extLst>
      <p:ext uri="{BB962C8B-B14F-4D97-AF65-F5344CB8AC3E}">
        <p14:creationId xmlns:p14="http://schemas.microsoft.com/office/powerpoint/2010/main" val="23859771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Recall the small Week 8 Q-table. Here the robot has four real-valued observations and one real-valued action. A deliberately illustrative discretization uses 100 bins per state dimension and 100 action bins: 100^4 states times 100 actions gives 10^10 entries. Float32 storage alone would be 40 GB in decimal units, before other costs. Finer grids grow quickly; coarser grids merge different physical situations. Storage is only part of the difficulty: experience must cover useful regions, and table entries do not automatically share what was learned. A network shares parameters across inputs and can generalize, but inaccurate generalization remains possible. Continuous control does not make every value-based method impossible; we focus on policy parameterization.</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https://spinningup.openai.com/en/latest/spinningup/rl_intro3.html</a:t>
            </a:r>
          </a:p>
          <a:p>
            <a:r>
              <a:rPr lang="en-US">
                <a:latin typeface="Aptos" panose="020B0004020202020204" pitchFamily="34" charset="0"/>
              </a:rPr>
              <a:t>Local sources: demo/networks.py, algorithm.py, train.py, evaluate.py, watch.py, compare.py, test_demo.py, README.md, classroom/settings.json and classroom/results.json.</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2</a:t>
            </a:fld>
            <a:endParaRPr lang="en-IL"/>
          </a:p>
        </p:txBody>
      </p:sp>
    </p:spTree>
    <p:extLst>
      <p:ext uri="{BB962C8B-B14F-4D97-AF65-F5344CB8AC3E}">
        <p14:creationId xmlns:p14="http://schemas.microsoft.com/office/powerpoint/2010/main" val="1393441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Compare the Week 8 route: observe state, read four Q estimates, choose via greedy or epsilon-greedy selection. A policy network instead maps observations to parameters of an action distribution. Its trainable parameters are theta. An action can be drawn from that distribution without enumerating a fine action grid. The critic later supplies value estimates to train the actor, so policy-based learning need not abandon values. Contrast with Week 7 behavior cloning: supervised labels tell us what the expert did; policy-gradient learning uses consequences and reward-weighted updates. Direct policy parameterization can also represent discrete distributions. It does not imply the model learns a dynamics model or receives an expert.</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https://spinningup.openai.com/en/latest/spinningup/rl_intro3.html</a:t>
            </a:r>
          </a:p>
          <a:p>
            <a:r>
              <a:rPr lang="en-US">
                <a:latin typeface="Aptos" panose="020B0004020202020204" pitchFamily="34" charset="0"/>
              </a:rPr>
              <a:t>Local sources: demo/networks.py, algorithm.py, train.py, evaluate.py, watch.py, compare.py, test_demo.py, README.md, classroom/settings.json and classroom/results.json.</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3</a:t>
            </a:fld>
            <a:endParaRPr lang="en-IL"/>
          </a:p>
        </p:txBody>
      </p:sp>
    </p:spTree>
    <p:extLst>
      <p:ext uri="{BB962C8B-B14F-4D97-AF65-F5344CB8AC3E}">
        <p14:creationId xmlns:p14="http://schemas.microsoft.com/office/powerpoint/2010/main" val="2973104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Use the exact InvertedPendulum-v5 demo. Observations are cart position, pole angle, cart velocity, and pole angular velocity. The single continuous actuator command lies in [-3,3]; avoid labeling it a Newton force without checking the actuator model. The pinned environment supplies reward 1 for a healthy post-step state and 0 on failure. It terminates if any observation is nonfinite or absolute pole angle exceeds 0.2 rad, and its wrapper truncates after 1000 steps. Equality to 0.2 by itself does not terminate. The reward asks for survival, rather than penalizing cart displacement or matching an expert. The presentation does not change the task, environment, or reward.</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https://gymnasium.farama.org/environments/mujoco/inverted_pendulum/</a:t>
            </a:r>
          </a:p>
          <a:p>
            <a:r>
              <a:rPr lang="en-US">
                <a:latin typeface="Aptos" panose="020B0004020202020204" pitchFamily="34" charset="0"/>
              </a:rPr>
              <a:t>Local sources: demo/networks.py, algorithm.py, train.py, evaluate.py, watch.py, compare.py, test_demo.py, README.md, classroom/settings.json and classroom/results.json.</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4</a:t>
            </a:fld>
            <a:endParaRPr lang="en-IL"/>
          </a:p>
        </p:txBody>
      </p:sp>
    </p:spTree>
    <p:extLst>
      <p:ext uri="{BB962C8B-B14F-4D97-AF65-F5344CB8AC3E}">
        <p14:creationId xmlns:p14="http://schemas.microsoft.com/office/powerpoint/2010/main" val="22544818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Teach the idea with an editable bell curve: the actor maps an observation to a Gaussian mean and spread, and training draws an action sample. The mean locates the center; spread determines dispersion, not the learning rate. For a continuous variable the curve is a density: probability comes from an interval area, and probability at an exact real-valued point is zero. Use a sample marker away from the mean to illustrate exploration. The drawn bell curve represents the underlying Gaussian idea, not an exact plot of the bounded applied-action density. In the actual demo the underlying sample is transformed to respect limits, but keep the specific function off this slide. Detailed transformation and log-density corrections belong in backup 4. Training does not use an epsilon slider.</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https://spinningup.openai.com/en/latest/spinningup/rl_intro3.html</a:t>
            </a:r>
          </a:p>
          <a:p>
            <a:r>
              <a:rPr lang="en-US">
                <a:latin typeface="Aptos" panose="020B0004020202020204" pitchFamily="34" charset="0"/>
              </a:rPr>
              <a:t>Local sources: demo/networks.py, algorithm.py, train.py, evaluate.py, watch.py, compare.py, test_demo.py, README.md, classroom/settings.json and classroom/results.json.</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5</a:t>
            </a:fld>
            <a:endParaRPr lang="en-IL"/>
          </a:p>
        </p:txBody>
      </p:sp>
    </p:spTree>
    <p:extLst>
      <p:ext uri="{BB962C8B-B14F-4D97-AF65-F5344CB8AC3E}">
        <p14:creationId xmlns:p14="http://schemas.microsoft.com/office/powerpoint/2010/main" val="37863675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Theta is the vector of trainable policy parameters, not a robot angle. Tau is a trajectory, T its horizon, gamma the reward discount, and eta the optimization step size. R_t follows A_t, matching previous lessons; some references call it R_(t+1). J is expected performance over initial states, actions, and environment outcomes. A gradient is a vector of sensitivities: how changing each parameter changes the objective locally. Ascent adds the gradient because larger return is preferred. We cannot directly observe this expectation or differentiate a single reward through the simulator in this method; we estimate the gradient using interaction. Finite updates and imperfect estimates do not guarantee improvement. The demo optimizer minimizes a negative surrogate loss.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https://spinningup.openai.com/en/latest/spinningup/rl_intro3.html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6</a:t>
            </a:fld>
            <a:endParaRPr lang="en-IL"/>
          </a:p>
        </p:txBody>
      </p:sp>
    </p:spTree>
    <p:extLst>
      <p:ext uri="{BB962C8B-B14F-4D97-AF65-F5344CB8AC3E}">
        <p14:creationId xmlns:p14="http://schemas.microsoft.com/office/powerpoint/2010/main" val="14105369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a:t>
            </a:r>
          </a:p>
          <a:p>
            <a:r>
              <a:rPr lang="en-US">
                <a:latin typeface="Aptos" panose="020B0004020202020204" pitchFamily="34" charset="0"/>
              </a:rPr>
              <a:t>Explain the product: a trajectory requires an initial state, each chosen action, and each resulting next state. Rho_0 is the initial-state distribution and P is transition probability or density. Taking the logarithm turns the product into a sum. The log-derivative identity follows from the chain rule, derivative log p = derivative p divided by p. When differentiating with respect to actor parameters, initial-state and dynamics terms vanish because these environment functions do not depend on theta. Substitute this score into the derivative of the expected trajectory return to obtain a reward-weighted sum of action log-gradients. Model-free sampling does not mean the physics has no dynamics; it means this update does not need to know or differentiate its equations. Full integration and regularity assumptions are in backup 1.</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https://spinningup.openai.com/en/latest/spinningup/rl_intro3.html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7</a:t>
            </a:fld>
            <a:endParaRPr lang="en-IL"/>
          </a:p>
        </p:txBody>
      </p:sp>
    </p:spTree>
    <p:extLst>
      <p:ext uri="{BB962C8B-B14F-4D97-AF65-F5344CB8AC3E}">
        <p14:creationId xmlns:p14="http://schemas.microsoft.com/office/powerpoint/2010/main" val="13017154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G_t discounts relative to the action at time t, while gamma^t weights that decision relative to the episode start. Earlier rewards do not depend causally on the current action, so their score-function contributions vanish in expectation; dropping them improves the credit signal. The exact discounted finite-trajectory gradient retains the outer gamma^t factor. Approximate the expectation by averaging sums from trajectories sampled under the current policy. Uppercase variables describe random states/actions/rewards; lowercase symbols describe a collected sample. The demo uses uniform rollout-sample averaging with discounted bootstrapped advantages, a practical A2C surrogate; do not identify it with the exact outer-gamma^t trajectory estimator. Backup 1 makes this distinction explicit. We are not maximizing over sampled successor outcomes.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https://spinningup.openai.com/en/latest/spinningup/rl_intro3.html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8</a:t>
            </a:fld>
            <a:endParaRPr lang="en-IL"/>
          </a:p>
        </p:txBody>
      </p:sp>
    </p:spTree>
    <p:extLst>
      <p:ext uri="{BB962C8B-B14F-4D97-AF65-F5344CB8AC3E}">
        <p14:creationId xmlns:p14="http://schemas.microsoft.com/office/powerpoint/2010/main" val="3072580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REINFORCE uses Monte Carlo reward-to-go rather than a bootstrapped critic target. The per-sample formula illustrates one term in the gradient estimate. A positive weight locally encourages the sampled action likelihood; a negative weight discourages it. Network parameters are shared, so probabilities at other states/actions can change too. Negative raw returns are possible in general, but this balancing demo has nonnegative rewards. Negative centered advantages will become meaningful even when all raw returns are positive. The actor loss is a surrogate for a gradient, not a direct measure of policy performance. Do not teach that minimizing it repeatedly on an old batch guarantees increasing return. This intuition explains likelihood weighting before introducing a baseline.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https://spinningup.openai.com/en/latest/spinningup/rl_intro3.html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9</a:t>
            </a:fld>
            <a:endParaRPr lang="en-IL"/>
          </a:p>
        </p:txBody>
      </p:sp>
    </p:spTree>
    <p:extLst>
      <p:ext uri="{BB962C8B-B14F-4D97-AF65-F5344CB8AC3E}">
        <p14:creationId xmlns:p14="http://schemas.microsoft.com/office/powerpoint/2010/main" val="16212062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Even with deterministic physics, different reset states and stochastic actions create variable episode returns. Long trajectories mix the effects of many decisions. An action taken in an easy state may have a large return mainly because most actions there would have done well. Using the entire return magnitude can make score-function updates noisy and inefficient. A reference level centers the signal around what is expected at that state. Distinguish variance of the gradient estimator from environment stochasticity and from critic approximation error. A baseline is not extra reward, a new objective, or an expert label. It changes the estimator while preserving its expected score-function gradient under the stated assumptions. Good variance reduction improves learning efficiency, not a universal finite-run convergence guarantee.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https://spinningup.openai.com/en/latest/spinningup/rl_intro3.html</a:t>
            </a:r>
          </a:p>
          <a:p>
            <a:r>
              <a:rPr lang="en-US">
                <a:latin typeface="Aptos" panose="020B0004020202020204" pitchFamily="34" charset="0"/>
              </a:rPr>
              <a:t>Local sources: demo/networks.py, algorithm.py, train.py, evaluate.py, watch.py, compare.py, test_demo.py, README.md, classroom/settings.json and classroom/results.json.</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10</a:t>
            </a:fld>
            <a:endParaRPr lang="en-IL"/>
          </a:p>
        </p:txBody>
      </p:sp>
    </p:spTree>
    <p:extLst>
      <p:ext uri="{BB962C8B-B14F-4D97-AF65-F5344CB8AC3E}">
        <p14:creationId xmlns:p14="http://schemas.microsoft.com/office/powerpoint/2010/main" val="39787254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Fix a state s. Multiplying the action score by b(s), then averaging over actions, gives b(s) times the integral of the policy derivative. A normalized policy integrates to one, whose derivative is zero. For discrete actions the integral is replaced by a sum. Thus subtracting an action-independent baseline leaves the expected score-function gradient unchanged. Hold the baseline fixed while differentiating the actor loss; otherwise extra derivatives are introduced. A state-value estimate is a useful choice, but it is not universally the mathematically optimal variance-minimizing baseline. An arbitrary poor baseline may increase variance. This cancellation proof concerns baseline subtraction; replacing full returns with imperfect bootstrapped targets can introduce a separate source of bias.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https://spinningup.openai.com/en/latest/spinningup/rl_intro3.html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11</a:t>
            </a:fld>
            <a:endParaRPr lang="en-IL"/>
          </a:p>
        </p:txBody>
      </p:sp>
    </p:spTree>
    <p:extLst>
      <p:ext uri="{BB962C8B-B14F-4D97-AF65-F5344CB8AC3E}">
        <p14:creationId xmlns:p14="http://schemas.microsoft.com/office/powerpoint/2010/main" val="40093059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Illustrate two outcomes at the same state with a fixed baseline of 6. An outcome return 8 gives weight +2; a return 4 gives weight -2. Both raw returns were positive, but the second did worse than the reference. These two illustrative observations do not prove an unbiased empirical estimate or establish that 6 is the true value. The cancellation result is about expectation over the policy, not an arbitrary two-sample batch. Subtracting the baseline does not alter the environment rewards or observed episode return. Explain local encourage/discourage behavior using the corresponding action log-gradient, not a direct addition to the force command. This motivates evaluating actions relative to average performance at the current state.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https://spinningup.openai.com/en/latest/spinningup/rl_intro3.html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12</a:t>
            </a:fld>
            <a:endParaRPr lang="en-IL"/>
          </a:p>
        </p:txBody>
      </p:sp>
    </p:spTree>
    <p:extLst>
      <p:ext uri="{BB962C8B-B14F-4D97-AF65-F5344CB8AC3E}">
        <p14:creationId xmlns:p14="http://schemas.microsoft.com/office/powerpoint/2010/main" val="3748997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Reconnect to Week 6 definitions. V^pi averages actions according to the policy at the current state; Q^pi fixes this first action and follows the policy thereafter. Advantage measures the difference. Under the same policy, the action-weighted average of true advantage is zero. Positive means better than average continuation at that state, not better than every possible action or globally optimal. Distinguish pi, the policy label, from an exponent. A hat denotes an estimate computed from finite samples and a learned critic. Replacing the return with a suitable action-value or advantage signal is the bridge to actor–critic. In this demo the critic estimates V, and the return target supplies an approximate action-conditioned outcome signal.</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https://spinningup.openai.com/en/latest/spinningup/rl_intro3.html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13</a:t>
            </a:fld>
            <a:endParaRPr lang="en-IL"/>
          </a:p>
        </p:txBody>
      </p:sp>
    </p:spTree>
    <p:extLst>
      <p:ext uri="{BB962C8B-B14F-4D97-AF65-F5344CB8AC3E}">
        <p14:creationId xmlns:p14="http://schemas.microsoft.com/office/powerpoint/2010/main" val="38093069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Draw separate actor and critic networks receiving the same observation. Actor parameters theta specify a distribution over actions. Critic parameters phi map the observation to one scalar V_phi(s). Experience supplies rewards, next observations, and target returns used to fit the critic. The estimated advantage supplies the actor learning weight. A learned baseline adapts to different states rather than subtracting a single constant. Bootstrapped targets allow updates without waiting for a whole episode, potentially reducing variance, with critic approximation and bootstrap bias as tradeoffs. The actor still collects real reward-bearing experience, and the critic does not choose the correct action or modify simulator physics. The demo uses separate networks, although other architectures can share features.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https://spinningup.openai.com/en/latest/spinningup/rl_intro3.html</a:t>
            </a:r>
          </a:p>
          <a:p>
            <a:r>
              <a:rPr lang="en-US">
                <a:latin typeface="Aptos" panose="020B0004020202020204" pitchFamily="34" charset="0"/>
              </a:rPr>
              <a:t>https://arxiv.org/abs/1602.01783</a:t>
            </a:r>
          </a:p>
          <a:p>
            <a:r>
              <a:rPr lang="en-US">
                <a:latin typeface="Aptos" panose="020B0004020202020204" pitchFamily="34" charset="0"/>
              </a:rPr>
              <a:t>Local sources: demo/networks.py, algorithm.py, train.py, evaluate.py, watch.py, compare.py, test_demo.py, README.md, classroom/settings.json and classroom/results.json.</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14</a:t>
            </a:fld>
            <a:endParaRPr lang="en-IL"/>
          </a:p>
        </p:txBody>
      </p:sp>
    </p:spTree>
    <p:extLst>
      <p:ext uri="{BB962C8B-B14F-4D97-AF65-F5344CB8AC3E}">
        <p14:creationId xmlns:p14="http://schemas.microsoft.com/office/powerpoint/2010/main" val="282070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The one-step target includes immediate reward and discounted next-state value. d_t means true task termination, not merely stopping collection. At failure, there is no continuation; an external time limit still bootstraps from the final pre-reset observation. With an exact V^pi, the conditional expectation of this TD residual at a fixed state/action equals the true advantage. With a learned critic it is an approximate signal and may be biased. The sampled sign can also be noisy. The critic learns toward y_t; the actor weights the sampled-action log-gradient by the residual. Contrast Week 8: there is no maximum over next actions because this critic evaluates the current stochastic policy rather than computing a Q-learning optimality target.</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https://spinningup.openai.com/en/latest/spinningup/rl_intro3.html</a:t>
            </a:r>
          </a:p>
          <a:p>
            <a:r>
              <a:rPr lang="en-US">
                <a:latin typeface="Aptos" panose="020B0004020202020204" pitchFamily="34" charset="0"/>
              </a:rPr>
              <a:t>https://arxiv.org/abs/1602.01783</a:t>
            </a:r>
          </a:p>
          <a:p>
            <a:r>
              <a:rPr lang="en-US">
                <a:latin typeface="Aptos" panose="020B0004020202020204" pitchFamily="34" charset="0"/>
              </a:rPr>
              <a:t>https://gymnasium.farama.org/tutorials/gymnasium_basics/handling_time_limits/</a:t>
            </a:r>
          </a:p>
          <a:p>
            <a:r>
              <a:rPr lang="en-US">
                <a:latin typeface="Aptos" panose="020B0004020202020204" pitchFamily="34" charset="0"/>
              </a:rPr>
              <a:t>Local sources: demo/networks.py, algorithm.py, train.py, evaluate.py, watch.py, compare.py, test_demo.py, README.md, classroom/settings.json and classroom/results.json.</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15</a:t>
            </a:fld>
            <a:endParaRPr lang="en-IL"/>
          </a:p>
        </p:txBody>
      </p:sp>
    </p:spTree>
    <p:extLst>
      <p:ext uri="{BB962C8B-B14F-4D97-AF65-F5344CB8AC3E}">
        <p14:creationId xmlns:p14="http://schemas.microsoft.com/office/powerpoint/2010/main" val="500004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This is a nonterminal illustrative transition, not a measured state from the checkpoint. Keep the prediction 5, future prediction 6, target 6.94, and advantage 1.94 distinct. The critic prediction is below the target, so minimizing squared error moves its local output upward. The positive detached advantage increases the sampled action likelihood locally through the actor update. It does not add 1.94 to the actuator command. The actual parameter change depends on network derivatives and the optimizer. If the target were below 5, the advantage would be negative. The existing target unit test checks 6.94 and 1.94. The scalar squared error 3.7636 provides a concrete link to critic fitting before discussing averaged minibatch losses.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sources: demo/networks.py, algorithm.py, train.py, evaluate.py, watch.py, compare.py, test_demo.py, README.md, classroom/settings.json and classroom/results.json.</a:t>
            </a:r>
          </a:p>
          <a:p>
            <a:r>
              <a:rPr lang="en-US">
                <a:latin typeface="Aptos" panose="020B0004020202020204" pitchFamily="34" charset="0"/>
              </a:rPr>
              <a:t>https://arxiv.org/abs/1602.01783</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16</a:t>
            </a:fld>
            <a:endParaRPr lang="en-IL"/>
          </a:p>
        </p:txBody>
      </p:sp>
    </p:spTree>
    <p:extLst>
      <p:ext uri="{BB962C8B-B14F-4D97-AF65-F5344CB8AC3E}">
        <p14:creationId xmlns:p14="http://schemas.microsoft.com/office/powerpoint/2010/main" val="16771345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The displayed formula assumes no boundary within those n steps. The demo collects five steps from eight environments and builds targets backward. Earlier samples can include up to five observed rewards; later rollout samples have a shorter return to the rollout end. The critic supplies the tail. More observed rewards reduce reliance on the immediate bootstrap but can increase sampling variance. At termination the tail is zero, while truncation uses that transition final-observation value. Stop at either reset boundary: never include the rewards or value of the next episode as continuation of the old one. The collector computes next values before resetting. This is n-step A2C, not a GAE implementation. The general formula and boundary example are expanded in backup 3.</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https://arxiv.org/abs/1602.01783</a:t>
            </a:r>
          </a:p>
          <a:p>
            <a:r>
              <a:rPr lang="en-US">
                <a:latin typeface="Aptos" panose="020B0004020202020204" pitchFamily="34" charset="0"/>
              </a:rPr>
              <a:t>https://gymnasium.farama.org/tutorials/gymnasium_basics/handling_time_limits/</a:t>
            </a:r>
          </a:p>
          <a:p>
            <a:r>
              <a:rPr lang="en-US">
                <a:latin typeface="Aptos" panose="020B0004020202020204" pitchFamily="34" charset="0"/>
              </a:rPr>
              <a:t>Local sources: demo/networks.py, algorithm.py, train.py, evaluate.py, watch.py, compare.py, test_demo.py, README.md, classroom/settings.json and classroom/results.json.</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17</a:t>
            </a:fld>
            <a:endParaRPr lang="en-IL"/>
          </a:p>
        </p:txBody>
      </p:sp>
    </p:spTree>
    <p:extLst>
      <p:ext uri="{BB962C8B-B14F-4D97-AF65-F5344CB8AC3E}">
        <p14:creationId xmlns:p14="http://schemas.microsoft.com/office/powerpoint/2010/main" val="19465736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N is the number of transitions in the batch, 40 here. stopgrad means keep the numerical quantity fixed during differentiation. It prevents actor-loss gradients flowing through the value baseline, and prevents critic fitting from chasing gradients through its own return target. The policy likelihood is differentiated at the already sampled action, not through the simulator or a reparameterized action sample. The code uses separate networks and one optimizer over their parameters; the gradient split matches the two roles, with critic coefficient 0.5. Plain gradient-descent arrows explain direction; actual training uses RMSprop and gradient clipping, so these are conceptual update equations rather than a literal optimizer implementation. The actor loss is not a direct performance metric. Show short exact excerpts in notes/backup.</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https://arxiv.org/abs/1602.01783</a:t>
            </a:r>
          </a:p>
          <a:p>
            <a:r>
              <a:rPr lang="en-US">
                <a:latin typeface="Aptos" panose="020B0004020202020204" pitchFamily="34" charset="0"/>
              </a:rPr>
              <a:t>Local sources: demo/networks.py, algorithm.py, train.py, evaluate.py, watch.py, compare.py, test_demo.py, README.md, classroom/settings.json and classroom/results.json.</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18</a:t>
            </a:fld>
            <a:endParaRPr lang="en-IL"/>
          </a:p>
        </p:txBody>
      </p:sp>
    </p:spTree>
    <p:extLst>
      <p:ext uri="{BB962C8B-B14F-4D97-AF65-F5344CB8AC3E}">
        <p14:creationId xmlns:p14="http://schemas.microsoft.com/office/powerpoint/2010/main" val="33344907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Synchronous advantage actor–critic collects all eight environment streams under the same current policy, builds bootstrapped targets, computes advantages and losses, and performs one optimizer step. Then it obtains fresh experience from the changed policy. The environment instances have independently seeded streams; they do not imply this implementation steps simulator processes concurrently. This synchronous method differs from the asynchronous A3C paper cited for the underlying multi-step actor–critic mathematics. The demo has no replay buffer and does not repeatedly optimize old rollout batches. Defaults are gamma .99, RMSprop learning rate .0007, gradient norm limit .5, and no entropy bonus. Actor and critic each use separate 64–64 tanh hidden layers. These settings go in notes, not the main loop diagram.</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https://arxiv.org/abs/1602.01783</a:t>
            </a:r>
          </a:p>
          <a:p>
            <a:r>
              <a:rPr lang="en-US">
                <a:latin typeface="Aptos" panose="020B0004020202020204" pitchFamily="34" charset="0"/>
              </a:rPr>
              <a:t>Local sources: demo/networks.py, algorithm.py, train.py, evaluate.py, watch.py, compare.py, test_demo.py, README.md, classroom/settings.json and classroom/results.json.</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19</a:t>
            </a:fld>
            <a:endParaRPr lang="en-IL"/>
          </a:p>
        </p:txBody>
      </p:sp>
    </p:spTree>
    <p:extLst>
      <p:ext uri="{BB962C8B-B14F-4D97-AF65-F5344CB8AC3E}">
        <p14:creationId xmlns:p14="http://schemas.microsoft.com/office/powerpoint/2010/main" val="5561318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 minutes.</a:t>
            </a:r>
          </a:p>
          <a:p>
            <a:r>
              <a:rPr lang="en-US">
                <a:latin typeface="Aptos" panose="020B0004020202020204" pitchFamily="34" charset="0"/>
              </a:rPr>
              <a:t>Training draws actions from the learned Gaussian distribution; its learned state-independent spread provides exploration. There is no epsilon-greedy switch or guaranteed monotonic reduction of randomness. The standard deviation is numerically bounded by the code, but detailed ranges stay in preparation notes. Evaluation uses the deterministic bounded action associated with the Gaussian mean and no weight updates. That action is not generally the expected action after a nonlinear transformation. The critic learned discounted return under stochastic training behavior, while the viewer displays its estimate during deterministic evaluation and also shows undiscounted reward accumulated so far. These quantities need not agree. Separate validation starts select checkpoints; held-out test starts provide final reporting, not selection.</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sources: demo/networks.py, algorithm.py, train.py, evaluate.py, watch.py, compare.py, test_demo.py, README.md, classroom/settings.json and classroom/results.json.</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20</a:t>
            </a:fld>
            <a:endParaRPr lang="en-IL"/>
          </a:p>
        </p:txBody>
      </p:sp>
    </p:spTree>
    <p:extLst>
      <p:ext uri="{BB962C8B-B14F-4D97-AF65-F5344CB8AC3E}">
        <p14:creationId xmlns:p14="http://schemas.microsoft.com/office/powerpoint/2010/main" val="4387015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a:t>
            </a:r>
          </a:p>
          <a:p>
            <a:r>
              <a:rPr lang="en-US">
                <a:latin typeface="Aptos" panose="020B0004020202020204" pitchFamily="34" charset="0"/>
              </a:rPr>
              <a:t>Explain rho as new likelihood divided by collection-policy likelihood for the same sampled action. Advantage estimates come from the old rollout and are held fixed. Clipping removes objective incentives to increase positive-advantage action likelihood too much or decrease negative-advantage likelihood too much. For epsilon_c .2, rho1.5 and advantage2 give min(3,2.4)=2.4. For rho.5 and advantage-2, min(-1,-1.6)=-1.6. It does not impose a hard bound on all ratios or guarantee safe improvement. Epsilon_c is a clipping range, not Week 8 exploration probability. PPO commonly makes several minibatch passes over a newly collected rollout and fits a value critic; it is classified as on-policy despite within-rollout policy ratios. These implementation details are overview only, not changes to our A2C demo.</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https://arxiv.org/abs/1707.06347</a:t>
            </a:r>
          </a:p>
          <a:p>
            <a:r>
              <a:rPr lang="en-US">
                <a:latin typeface="Aptos" panose="020B0004020202020204" pitchFamily="34" charset="0"/>
              </a:rPr>
              <a:t>https://spinningup.openai.com/en/latest/algorithms/ppo.html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21</a:t>
            </a:fld>
            <a:endParaRPr lang="en-IL"/>
          </a:p>
        </p:txBody>
      </p:sp>
    </p:spTree>
    <p:extLst>
      <p:ext uri="{BB962C8B-B14F-4D97-AF65-F5344CB8AC3E}">
        <p14:creationId xmlns:p14="http://schemas.microsoft.com/office/powerpoint/2010/main" val="35470744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2 minutes.</a:t>
            </a:r>
          </a:p>
          <a:p>
            <a:r>
              <a:rPr lang="en-US">
                <a:latin typeface="Aptos" panose="020B0004020202020204" pitchFamily="34" charset="0"/>
              </a:rPr>
              <a:t>Use the modern twin-Q SAC variant described in the technical guide, while citing the original paper for motivation. D is a replay buffer of transitions. The stochastic actor learns to maximize useful Q values plus policy entropy, equivalently minimizing alpha_ent log likelihood minus the smaller critic estimate. Alpha_ent is entropy temperature, not the actor learning rate eta. For continuous actions entropy is differential entropy; log density can be positive, and entropy is not a safety guarantee. Each critic fits the soft target, which samples a new next action a-prime from the current actor; it does not take a discrete max over enumerated actions. Bars denote slowly updated target critics; twin critics reduce overestimation. Reparameterized actor gradients, temperature tuning, target-network averaging and squared critic loss belong in notes. SAC is off-policy and reuses replay data. None of these mechanisms is present in our A2C demo.</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https://arxiv.org/abs/1801.01290</a:t>
            </a:r>
          </a:p>
          <a:p>
            <a:r>
              <a:rPr lang="en-US">
                <a:latin typeface="Aptos" panose="020B0004020202020204" pitchFamily="34" charset="0"/>
              </a:rPr>
              <a:t>https://spinningup.openai.com/en/latest/algorithms/sac.html</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22</a:t>
            </a:fld>
            <a:endParaRPr lang="en-IL"/>
          </a:p>
        </p:txBody>
      </p:sp>
    </p:spTree>
    <p:extLst>
      <p:ext uri="{BB962C8B-B14F-4D97-AF65-F5344CB8AC3E}">
        <p14:creationId xmlns:p14="http://schemas.microsoft.com/office/powerpoint/2010/main" val="33126879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1.5 minutes.</a:t>
            </a:r>
          </a:p>
          <a:p>
            <a:r>
              <a:rPr lang="en-US">
                <a:latin typeface="Aptos" panose="020B0004020202020204" pitchFamily="34" charset="0"/>
              </a:rPr>
              <a:t>The classroom figures and results JSON report earlier completed runs, not a new validation run. Seed 7: initial mean length 28.45, selected mean 1000, checkpoint at 100,000 transitions. Seed 0: initial 28, selected 220.15, checkpoint at 25,000. Seed 1: initial 27.95, selected 1000, checkpoint at 75,000. Each run trained for 250,000 transitions. Seeds 7 and 1 reached the cap on all 20 test starts; seed 0 did not. More training was not monotonically better. Ten validation seeds select the checkpoint; 20 separate test seeds provide final reporting. These small perturbations do not establish robustness to large disturbances or changed dynamics. A failed episode return is one less than its length; a healthy 1,000-step episode returns 1,000. Training curves use stochastic actions; evaluation is deterministic.</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sources: demo/networks.py, algorithm.py, train.py, evaluate.py, watch.py, compare.py, test_demo.py, README.md, classroom/settings.json and classroom/results.json.</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23</a:t>
            </a:fld>
            <a:endParaRPr lang="en-IL"/>
          </a:p>
        </p:txBody>
      </p:sp>
    </p:spTree>
    <p:extLst>
      <p:ext uri="{BB962C8B-B14F-4D97-AF65-F5344CB8AC3E}">
        <p14:creationId xmlns:p14="http://schemas.microsoft.com/office/powerpoint/2010/main" val="39546824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10 minutes.</a:t>
            </a:r>
          </a:p>
          <a:p>
            <a:r>
              <a:rPr lang="en-US">
                <a:latin typeface="Aptos" panose="020B0004020202020204" pitchFamily="34" charset="0"/>
              </a:rPr>
              <a:t>Use prepared classroom checkpoints, not full live training. First 2 minutes: initial policy, observations, continuous command and survival reward. Next 4 minutes: switch to trained on the same test seed and camera; pause to inspect pole angle, accumulated reward and critic V. V is a prediction, rather than reward accumulated so far. Next 2 minutes: show the prepared target/advantage/loss excerpt and connect 6.94 and 1.94 to the two learning roles. Final 2 minutes: historical validation and held-out comparisons for all three training seeds. The viewer starts paused at test seed 20000. Switching policy resets to the same start. Restart preserves pause status and policy; Next episode advances through 20 fixed test seeds. Saved plots provide a rendering fallback. Classroom viewer rehearsal remains separate from PowerPoint validation.</a:t>
            </a:r>
          </a:p>
          <a:p>
            <a:r>
              <a:rPr lang="en-US">
                <a:latin typeface="Aptos" panose="020B0004020202020204" pitchFamily="34" charset="0"/>
              </a:rPr>
              <a:t>ACTUAL SOURCE EXCERPT</a:t>
            </a:r>
          </a:p>
          <a:p>
            <a:r>
              <a:rPr lang="en-US">
                <a:latin typeface="Aptos" panose="020B0004020202020204" pitchFamily="34" charset="0"/>
              </a:rPr>
              <a:t>advantage = targets.detach()-values</a:t>
            </a:r>
          </a:p>
          <a:p>
            <a:r>
              <a:rPr lang="en-US">
                <a:latin typeface="Aptos" panose="020B0004020202020204" pitchFamily="34" charset="0"/>
              </a:rPr>
              <a:t>actor_loss = -(model.log_probability(obs,latent.detach())*advantage.detach()).mean()</a:t>
            </a:r>
          </a:p>
          <a:p>
            <a:r>
              <a:rPr lang="en-US">
                <a:latin typeface="Aptos" panose="020B0004020202020204" pitchFamily="34" charset="0"/>
              </a:rPr>
              <a:t>critic_loss = (values-targets.detach()).square().mean()</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Local sources: demo/networks.py, algorithm.py, train.py, evaluate.py, watch.py, compare.py, test_demo.py, README.md, classroom/settings.json and classroom/results.json.</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24</a:t>
            </a:fld>
            <a:endParaRPr lang="en-IL"/>
          </a:p>
        </p:txBody>
      </p:sp>
    </p:spTree>
    <p:extLst>
      <p:ext uri="{BB962C8B-B14F-4D97-AF65-F5344CB8AC3E}">
        <p14:creationId xmlns:p14="http://schemas.microsoft.com/office/powerpoint/2010/main" val="22798327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5 minutes.</a:t>
            </a:r>
          </a:p>
          <a:p>
            <a:r>
              <a:rPr lang="en-US">
                <a:latin typeface="Aptos" panose="020B0004020202020204" pitchFamily="34" charset="0"/>
              </a:rPr>
              <a:t>Use 5 minutes for questions and checks: why does the table grow with state dimension? What does a log-probability gradient do, and why weight it by return? Why can an action-independent baseline be subtracted without changing the expected score-function gradient? Calculate target 6.94 and advantage 1.94; what does positive advantage encourage? Identify actor and critic, and distinguish observed return from predicted value. Compare A2C fresh-rollout updates with PPO clipping and SAC replay/entropy. Do not require advanced PPO/SAC derivations from one overview slide. Connect HW4 training/evaluation habits and HW5 policy-gradient theory. Check that students understand the critic is not an expert controller and that no algorithm guarantees improvement from every sampled update.</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https://spinningup.openai.com/en/latest/spinningup/rl_intro3.html</a:t>
            </a:r>
          </a:p>
          <a:p>
            <a:r>
              <a:rPr lang="en-US">
                <a:latin typeface="Aptos" panose="020B0004020202020204" pitchFamily="34" charset="0"/>
              </a:rPr>
              <a:t>Local sources: demo/networks.py, algorithm.py, train.py, evaluate.py, watch.py, compare.py, test_demo.py, README.md, classroom/settings.json and classroom/results.json.</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25</a:t>
            </a:fld>
            <a:endParaRPr lang="en-IL"/>
          </a:p>
        </p:txBody>
      </p:sp>
    </p:spTree>
    <p:extLst>
      <p:ext uri="{BB962C8B-B14F-4D97-AF65-F5344CB8AC3E}">
        <p14:creationId xmlns:p14="http://schemas.microsoft.com/office/powerpoint/2010/main" val="36683928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Start from J as an integral, interchange derivative and integral under regularity assumptions, and apply the likelihood-ratio identity. Expand log trajectory density into action scores. Split the full discounted return into past and future terms for each score. Conditional on the history/state, the expected action score is zero, so past terms cancel; future terms equal gamma^t times relative discounted G_t. The exact result refers to the stated finite-horizon discounted start-state objective and uses expectations over on-policy trajectories. Infinite-horizon formulations can express related gradients through discounted occupancy measures. The uniform transition averaging in this implementation is a practical A2C surrogate using discounted targets, not a literal implementation of the outer-gamma^t trajectory estimator. Do not silently switch objectives or claim mathematical exactness of imperfect bootstrapped advantages.</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https://spinningup.openai.com/en/latest/spinningup/rl_intro3.html</a:t>
            </a:r>
          </a:p>
          <a:p>
            <a:r>
              <a:rPr lang="en-US">
                <a:latin typeface="Aptos" panose="020B0004020202020204" pitchFamily="34" charset="0"/>
              </a:rPr>
              <a:t>Local sources: demo/networks.py, algorithm.py, train.py, evaluate.py, watch.py, compare.py, test_demo.py, README.md, classroom/settings.json and classroom/results.json.</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26</a:t>
            </a:fld>
            <a:endParaRPr lang="en-IL"/>
          </a:p>
        </p:txBody>
      </p:sp>
    </p:spTree>
    <p:extLst>
      <p:ext uri="{BB962C8B-B14F-4D97-AF65-F5344CB8AC3E}">
        <p14:creationId xmlns:p14="http://schemas.microsoft.com/office/powerpoint/2010/main" val="33585646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The Gaussian derivative follows from log density = -log sigma - (z-mu)^2/(2sigma^2) plus a constant. It is evaluated at a fixed sample z. A positive advantage with a sample above the mean moves the mean toward that sample in this scalar illustration; negative advantage would reverse it. The actual bounded-policy score at fixed latent sample retains the parameter derivative of this Gaussian because its action transformation does not depend on the actor parameters. Baseline cancellation requires no dependence on the sampled action and a normalized differentiable density. A learned baseline can be inaccurate while still cancelling in expectation if treated correctly as fixed; this does not make a bootstrapped advantage estimator unbiased. V^pi is a useful but not universally minimum-variance baseline. No scalar network parameter update is claimed to reproduce the real optimizer.</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https://spinningup.openai.com/en/latest/spinningup/rl_intro3.html</a:t>
            </a:r>
          </a:p>
          <a:p>
            <a:r>
              <a:rPr lang="en-US">
                <a:latin typeface="Aptos" panose="020B0004020202020204" pitchFamily="34" charset="0"/>
              </a:rPr>
              <a:t>Local sources: demo/networks.py, algorithm.py, train.py, evaluate.py, watch.py, compare.py, test_demo.py, README.md, classroom/settings.json and classroom/results.json.</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27</a:t>
            </a:fld>
            <a:endParaRPr lang="en-IL"/>
          </a:p>
        </p:txBody>
      </p:sp>
    </p:spTree>
    <p:extLst>
      <p:ext uri="{BB962C8B-B14F-4D97-AF65-F5344CB8AC3E}">
        <p14:creationId xmlns:p14="http://schemas.microsoft.com/office/powerpoint/2010/main" val="21399454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TIMING: 0 minutes.</a:t>
            </a:r>
          </a:p>
          <a:p>
            <a:r>
              <a:rPr lang="en-US">
                <a:latin typeface="Aptos" panose="020B0004020202020204" pitchFamily="34" charset="0"/>
              </a:rPr>
              <a:t>This three-step example matches an existing return-target unit test and illustrates the same backward recursion used for five-step rollouts. In general, true termination removes future value while retaining that transition immediate reward. Actual failure reward here is0, although synthetic tests can use different rewards to isolate the recursion. Truncation bootstraps from the final observation then stops recurrence across that boundary. A two-row unit test deliberately uses rewards1 then100 in different episodes and final values6 then999: the first truncated target must be6.94, not include100. Collector values next observations before replacing them with reset observations. Monte Carlo returns avoid bootstrap approximation but can have high variance; short TD targets rely more on the learned critic. This implementation uses neither GAE nor generalized lambda-return machinery.</a:t>
            </a:r>
          </a:p>
          <a:p>
            <a:endParaRPr lang="en-US">
              <a:latin typeface="Aptos" panose="020B0004020202020204" pitchFamily="34" charset="0"/>
            </a:endParaRPr>
          </a:p>
          <a:p>
            <a:r>
              <a:rPr lang="en-US">
                <a:latin typeface="Aptos" panose="020B0004020202020204" pitchFamily="34" charset="0"/>
              </a:rPr>
              <a:t>SOURCES</a:t>
            </a:r>
          </a:p>
          <a:p>
            <a:r>
              <a:rPr lang="en-US">
                <a:latin typeface="Aptos" panose="020B0004020202020204" pitchFamily="34" charset="0"/>
              </a:rPr>
              <a:t>https://arxiv.org/abs/1602.01783</a:t>
            </a:r>
          </a:p>
          <a:p>
            <a:r>
              <a:rPr lang="en-US">
                <a:latin typeface="Aptos" panose="020B0004020202020204" pitchFamily="34" charset="0"/>
              </a:rPr>
              <a:t>https://gymnasium.farama.org/tutorials/gymnasium_basics/handling_time_limits/</a:t>
            </a:r>
          </a:p>
          <a:p>
            <a:r>
              <a:rPr lang="en-US">
                <a:latin typeface="Aptos" panose="020B0004020202020204" pitchFamily="34" charset="0"/>
              </a:rPr>
              <a:t>Local sources: demo/networks.py, algorithm.py, train.py, evaluate.py, watch.py, compare.py, test_demo.py, README.md, classroom/settings.json and classroom/results.json.</a:t>
            </a:r>
            <a:endParaRPr lang="en-IL">
              <a:latin typeface="Aptos" panose="020B0004020202020204" pitchFamily="34" charset="0"/>
            </a:endParaRPr>
          </a:p>
        </p:txBody>
      </p:sp>
      <p:sp>
        <p:nvSpPr>
          <p:cNvPr id="4" name="Slide Number Placeholder 3"/>
          <p:cNvSpPr>
            <a:spLocks noGrp="1"/>
          </p:cNvSpPr>
          <p:nvPr>
            <p:ph type="sldNum" sz="quarter" idx="5"/>
          </p:nvPr>
        </p:nvSpPr>
        <p:spPr/>
        <p:txBody>
          <a:bodyPr/>
          <a:lstStyle/>
          <a:p>
            <a:fld id="{CB4C0A95-6183-4E8D-ACAB-7A23528DA5FC}" type="slidenum">
              <a:rPr lang="en-IL" smtClean="0"/>
              <a:t>28</a:t>
            </a:fld>
            <a:endParaRPr lang="en-IL"/>
          </a:p>
        </p:txBody>
      </p:sp>
    </p:spTree>
    <p:extLst>
      <p:ext uri="{BB962C8B-B14F-4D97-AF65-F5344CB8AC3E}">
        <p14:creationId xmlns:p14="http://schemas.microsoft.com/office/powerpoint/2010/main" val="17218810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latin typeface="Aptos" panose="020B0004020202020204" pitchFamily="34" charset="0"/>
              </a:rPr>
              <a:t>TIMING: 0 minutes.</a:t>
            </a:r>
          </a:p>
          <a:p>
            <a:r>
              <a:rPr lang="en-IL">
                <a:latin typeface="Aptos" panose="020B0004020202020204" pitchFamily="34" charset="0"/>
              </a:rPr>
              <a:t>The transformation bounds actuator commands. Correct likelihoods require the change-of-variable Jacobian and scale factor. The code computes a stable expression for log Jacobian rather than directly subtracting nearly equal values when tanh saturates. Sampling uses sample(), not rsample(); latent is detached when evaluating the actor score. Advantages are detached so actor-loss backward does not train the critic through its baseline. Targets are detached while critic squared error is fitted. The existing tests compare against PyTorch TransformedDistribution, check finite densities at large latent magnitudes, and verify gradient separation. Deterministic inference uses3*tanh(mean), not generally E[3*tanh(z)]. These are implementation checks and mathematical reference details; do not insert the transformation formula into teaching slide4.</a:t>
            </a:r>
          </a:p>
          <a:p>
            <a:r>
              <a:rPr lang="en-IL">
                <a:latin typeface="Aptos" panose="020B0004020202020204" pitchFamily="34" charset="0"/>
              </a:rPr>
              <a:t>ACTUAL SOURCE EXCERPT</a:t>
            </a:r>
          </a:p>
          <a:p>
            <a:r>
              <a:rPr lang="en-IL">
                <a:latin typeface="Aptos" panose="020B0004020202020204" pitchFamily="34" charset="0"/>
              </a:rPr>
              <a:t>advantage = targets.detach()-values</a:t>
            </a:r>
          </a:p>
          <a:p>
            <a:r>
              <a:rPr lang="en-IL">
                <a:latin typeface="Aptos" panose="020B0004020202020204" pitchFamily="34" charset="0"/>
              </a:rPr>
              <a:t>actor_loss = -(model.log_probability(obs,latent.detach())*advantage.detach()).mean()</a:t>
            </a:r>
          </a:p>
          <a:p>
            <a:r>
              <a:rPr lang="en-IL">
                <a:latin typeface="Aptos" panose="020B0004020202020204" pitchFamily="34" charset="0"/>
              </a:rPr>
              <a:t>critic_loss = (values-targets.detach()).square().mean()</a:t>
            </a:r>
          </a:p>
          <a:p>
            <a:endParaRPr lang="en-IL">
              <a:latin typeface="Aptos" panose="020B0004020202020204" pitchFamily="34" charset="0"/>
            </a:endParaRPr>
          </a:p>
          <a:p>
            <a:r>
              <a:rPr lang="en-IL">
                <a:latin typeface="Aptos" panose="020B0004020202020204" pitchFamily="34" charset="0"/>
              </a:rPr>
              <a:t>SOURCES</a:t>
            </a:r>
          </a:p>
          <a:p>
            <a:r>
              <a:rPr lang="en-IL">
                <a:latin typeface="Aptos" panose="020B0004020202020204" pitchFamily="34" charset="0"/>
              </a:rPr>
              <a:t>Local sources: demo/networks.py, algorithm.py, train.py, evaluate.py, watch.py, compare.py, test_demo.py, README.md, classroom/settings.json and classroom/results.json.</a:t>
            </a:r>
          </a:p>
        </p:txBody>
      </p:sp>
      <p:sp>
        <p:nvSpPr>
          <p:cNvPr id="4" name="Slide Number Placeholder 3"/>
          <p:cNvSpPr>
            <a:spLocks noGrp="1"/>
          </p:cNvSpPr>
          <p:nvPr>
            <p:ph type="sldNum" sz="quarter" idx="5"/>
          </p:nvPr>
        </p:nvSpPr>
        <p:spPr/>
        <p:txBody>
          <a:bodyPr/>
          <a:lstStyle/>
          <a:p>
            <a:fld id="{CB4C0A95-6183-4E8D-ACAB-7A23528DA5FC}" type="slidenum">
              <a:rPr lang="en-IL" smtClean="0"/>
              <a:t>29</a:t>
            </a:fld>
            <a:endParaRPr lang="en-IL"/>
          </a:p>
        </p:txBody>
      </p:sp>
    </p:spTree>
    <p:extLst>
      <p:ext uri="{BB962C8B-B14F-4D97-AF65-F5344CB8AC3E}">
        <p14:creationId xmlns:p14="http://schemas.microsoft.com/office/powerpoint/2010/main" val="39341024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L">
                <a:latin typeface="Aptos" panose="020B0004020202020204" pitchFamily="34" charset="0"/>
              </a:rPr>
              <a:t>TIMING: 0 minutes.</a:t>
            </a:r>
          </a:p>
          <a:p>
            <a:r>
              <a:rPr lang="en-IL">
                <a:latin typeface="Aptos" panose="020B0004020202020204" pitchFamily="34" charset="0"/>
              </a:rPr>
              <a:t>A2C here: stochastic actor, V critic, fresh five-step rollouts, one update per batch, no replay, no entropy bonus. PPO: actor and V critic, clipped likelihood-ratio objective, several minibatch passes over a recent rollout. SAC: stochastic actor, twin Q critics, off-policy replay, target critics, entropy objective. These are the discussed variants; implementations vary. Demo settings: separate 64–64 tanh networks; eight environments; five steps; gamma 0.99; RMSprop learning rate 0.0007; critic coefficient 0.5; gradient norm limit 0.5; 250,000-transition budget. Validation seeds 10000–10009 choose the checkpoint; test seeds 20000–20019 assess it. Saved seed 0 results show that more training need not improve every run. Theory references do not imply this educational implementation reproduces published benchmarks.</a:t>
            </a:r>
          </a:p>
          <a:p>
            <a:endParaRPr lang="en-IL">
              <a:latin typeface="Aptos" panose="020B0004020202020204" pitchFamily="34" charset="0"/>
            </a:endParaRPr>
          </a:p>
          <a:p>
            <a:r>
              <a:rPr lang="en-IL">
                <a:latin typeface="Aptos" panose="020B0004020202020204" pitchFamily="34" charset="0"/>
              </a:rPr>
              <a:t>SOURCES</a:t>
            </a:r>
          </a:p>
          <a:p>
            <a:r>
              <a:rPr lang="en-IL">
                <a:latin typeface="Aptos" panose="020B0004020202020204" pitchFamily="34" charset="0"/>
              </a:rPr>
              <a:t>https://arxiv.org/abs/1602.01783</a:t>
            </a:r>
          </a:p>
          <a:p>
            <a:r>
              <a:rPr lang="en-IL">
                <a:latin typeface="Aptos" panose="020B0004020202020204" pitchFamily="34" charset="0"/>
              </a:rPr>
              <a:t>https://arxiv.org/abs/1707.06347</a:t>
            </a:r>
          </a:p>
          <a:p>
            <a:r>
              <a:rPr lang="en-IL">
                <a:latin typeface="Aptos" panose="020B0004020202020204" pitchFamily="34" charset="0"/>
              </a:rPr>
              <a:t>https://spinningup.openai.com/en/latest/algorithms/sac.html</a:t>
            </a:r>
          </a:p>
          <a:p>
            <a:r>
              <a:rPr lang="en-IL">
                <a:latin typeface="Aptos" panose="020B0004020202020204" pitchFamily="34" charset="0"/>
              </a:rPr>
              <a:t>Local sources: demo/networks.py, algorithm.py, train.py, evaluate.py, watch.py, compare.py, test_demo.py, README.md, classroom/settings.json and classroom/results.json.</a:t>
            </a:r>
          </a:p>
        </p:txBody>
      </p:sp>
      <p:sp>
        <p:nvSpPr>
          <p:cNvPr id="4" name="Slide Number Placeholder 3"/>
          <p:cNvSpPr>
            <a:spLocks noGrp="1"/>
          </p:cNvSpPr>
          <p:nvPr>
            <p:ph type="sldNum" sz="quarter" idx="5"/>
          </p:nvPr>
        </p:nvSpPr>
        <p:spPr/>
        <p:txBody>
          <a:bodyPr/>
          <a:lstStyle/>
          <a:p>
            <a:fld id="{CB4C0A95-6183-4E8D-ACAB-7A23528DA5FC}" type="slidenum">
              <a:rPr lang="en-IL" smtClean="0"/>
              <a:t>30</a:t>
            </a:fld>
            <a:endParaRPr lang="en-IL"/>
          </a:p>
        </p:txBody>
      </p:sp>
    </p:spTree>
    <p:extLst>
      <p:ext uri="{BB962C8B-B14F-4D97-AF65-F5344CB8AC3E}">
        <p14:creationId xmlns:p14="http://schemas.microsoft.com/office/powerpoint/2010/main" val="10547614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95593-7675-26C1-73F9-8386224F86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CCB6D9E-B48A-5BFB-8DE5-F3B90FB909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27B01A1D-0311-AEA0-BCC2-9F90E79936C7}"/>
              </a:ext>
            </a:extLst>
          </p:cNvPr>
          <p:cNvSpPr>
            <a:spLocks noGrp="1"/>
          </p:cNvSpPr>
          <p:nvPr>
            <p:ph type="dt" sz="half" idx="10"/>
          </p:nvPr>
        </p:nvSpPr>
        <p:spPr/>
        <p:txBody>
          <a:bodyPr/>
          <a:lstStyle/>
          <a:p>
            <a:fld id="{330A87E2-C751-4B3C-84BD-5275192F7EC9}" type="datetimeFigureOut">
              <a:rPr lang="en-IL" smtClean="0"/>
              <a:t>05/10/2026</a:t>
            </a:fld>
            <a:endParaRPr lang="en-IL"/>
          </a:p>
        </p:txBody>
      </p:sp>
      <p:sp>
        <p:nvSpPr>
          <p:cNvPr id="5" name="Footer Placeholder 4">
            <a:extLst>
              <a:ext uri="{FF2B5EF4-FFF2-40B4-BE49-F238E27FC236}">
                <a16:creationId xmlns:a16="http://schemas.microsoft.com/office/drawing/2014/main" id="{7D12B3A4-29DF-1F3C-9901-ACF5AA6952A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4F865ED-3302-A4CE-599E-87F0C2847982}"/>
              </a:ext>
            </a:extLst>
          </p:cNvPr>
          <p:cNvSpPr>
            <a:spLocks noGrp="1"/>
          </p:cNvSpPr>
          <p:nvPr>
            <p:ph type="sldNum" sz="quarter" idx="12"/>
          </p:nvPr>
        </p:nvSpPr>
        <p:spPr/>
        <p:txBody>
          <a:bodyPr/>
          <a:lstStyle/>
          <a:p>
            <a:fld id="{0CE44396-405A-4594-852E-D19AC024DC53}" type="slidenum">
              <a:rPr lang="en-IL" smtClean="0"/>
              <a:t>‹#›</a:t>
            </a:fld>
            <a:endParaRPr lang="en-IL"/>
          </a:p>
        </p:txBody>
      </p:sp>
    </p:spTree>
    <p:extLst>
      <p:ext uri="{BB962C8B-B14F-4D97-AF65-F5344CB8AC3E}">
        <p14:creationId xmlns:p14="http://schemas.microsoft.com/office/powerpoint/2010/main" val="3527861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EBE8B-10DB-B7F9-5EC6-78C1C6CD2BAA}"/>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ADDC2DF0-2794-DBBE-9C14-9B580E8277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27F585BB-9784-0647-4F10-DD3B63E45ACC}"/>
              </a:ext>
            </a:extLst>
          </p:cNvPr>
          <p:cNvSpPr>
            <a:spLocks noGrp="1"/>
          </p:cNvSpPr>
          <p:nvPr>
            <p:ph type="dt" sz="half" idx="10"/>
          </p:nvPr>
        </p:nvSpPr>
        <p:spPr/>
        <p:txBody>
          <a:bodyPr/>
          <a:lstStyle/>
          <a:p>
            <a:fld id="{330A87E2-C751-4B3C-84BD-5275192F7EC9}" type="datetimeFigureOut">
              <a:rPr lang="en-IL" smtClean="0"/>
              <a:t>05/10/2026</a:t>
            </a:fld>
            <a:endParaRPr lang="en-IL"/>
          </a:p>
        </p:txBody>
      </p:sp>
      <p:sp>
        <p:nvSpPr>
          <p:cNvPr id="5" name="Footer Placeholder 4">
            <a:extLst>
              <a:ext uri="{FF2B5EF4-FFF2-40B4-BE49-F238E27FC236}">
                <a16:creationId xmlns:a16="http://schemas.microsoft.com/office/drawing/2014/main" id="{824D934F-36B9-8808-9384-8AE0BB6C3F3F}"/>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041096C-1421-CB87-486E-42C9F6895646}"/>
              </a:ext>
            </a:extLst>
          </p:cNvPr>
          <p:cNvSpPr>
            <a:spLocks noGrp="1"/>
          </p:cNvSpPr>
          <p:nvPr>
            <p:ph type="sldNum" sz="quarter" idx="12"/>
          </p:nvPr>
        </p:nvSpPr>
        <p:spPr/>
        <p:txBody>
          <a:bodyPr/>
          <a:lstStyle/>
          <a:p>
            <a:fld id="{0CE44396-405A-4594-852E-D19AC024DC53}" type="slidenum">
              <a:rPr lang="en-IL" smtClean="0"/>
              <a:t>‹#›</a:t>
            </a:fld>
            <a:endParaRPr lang="en-IL"/>
          </a:p>
        </p:txBody>
      </p:sp>
    </p:spTree>
    <p:extLst>
      <p:ext uri="{BB962C8B-B14F-4D97-AF65-F5344CB8AC3E}">
        <p14:creationId xmlns:p14="http://schemas.microsoft.com/office/powerpoint/2010/main" val="4064153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EE72F-2374-99AF-7133-079368731E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41921F13-B550-B522-396A-AE0CB10B014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B08267-1F9C-E6A7-A081-F36B0A7B621C}"/>
              </a:ext>
            </a:extLst>
          </p:cNvPr>
          <p:cNvSpPr>
            <a:spLocks noGrp="1"/>
          </p:cNvSpPr>
          <p:nvPr>
            <p:ph type="dt" sz="half" idx="10"/>
          </p:nvPr>
        </p:nvSpPr>
        <p:spPr/>
        <p:txBody>
          <a:bodyPr/>
          <a:lstStyle/>
          <a:p>
            <a:fld id="{330A87E2-C751-4B3C-84BD-5275192F7EC9}" type="datetimeFigureOut">
              <a:rPr lang="en-IL" smtClean="0"/>
              <a:t>05/10/2026</a:t>
            </a:fld>
            <a:endParaRPr lang="en-IL"/>
          </a:p>
        </p:txBody>
      </p:sp>
      <p:sp>
        <p:nvSpPr>
          <p:cNvPr id="5" name="Footer Placeholder 4">
            <a:extLst>
              <a:ext uri="{FF2B5EF4-FFF2-40B4-BE49-F238E27FC236}">
                <a16:creationId xmlns:a16="http://schemas.microsoft.com/office/drawing/2014/main" id="{2C7FF91A-FB42-E745-F561-2A8DED82A831}"/>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FA675C8A-48DD-B8B1-5A7A-3BD987D70870}"/>
              </a:ext>
            </a:extLst>
          </p:cNvPr>
          <p:cNvSpPr>
            <a:spLocks noGrp="1"/>
          </p:cNvSpPr>
          <p:nvPr>
            <p:ph type="sldNum" sz="quarter" idx="12"/>
          </p:nvPr>
        </p:nvSpPr>
        <p:spPr/>
        <p:txBody>
          <a:bodyPr/>
          <a:lstStyle/>
          <a:p>
            <a:fld id="{0CE44396-405A-4594-852E-D19AC024DC53}" type="slidenum">
              <a:rPr lang="en-IL" smtClean="0"/>
              <a:t>‹#›</a:t>
            </a:fld>
            <a:endParaRPr lang="en-IL"/>
          </a:p>
        </p:txBody>
      </p:sp>
    </p:spTree>
    <p:extLst>
      <p:ext uri="{BB962C8B-B14F-4D97-AF65-F5344CB8AC3E}">
        <p14:creationId xmlns:p14="http://schemas.microsoft.com/office/powerpoint/2010/main" val="32943549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09768-0167-B0E7-A352-1EC763FD7513}"/>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0F33F767-1FF8-793A-FBD1-B504E35909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AAA469EB-7DC8-1B4F-CBBE-EE79DA5114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3CAD99E5-5E7C-F9B4-1497-35E5B48F166D}"/>
              </a:ext>
            </a:extLst>
          </p:cNvPr>
          <p:cNvSpPr>
            <a:spLocks noGrp="1"/>
          </p:cNvSpPr>
          <p:nvPr>
            <p:ph type="dt" sz="half" idx="10"/>
          </p:nvPr>
        </p:nvSpPr>
        <p:spPr/>
        <p:txBody>
          <a:bodyPr/>
          <a:lstStyle/>
          <a:p>
            <a:fld id="{330A87E2-C751-4B3C-84BD-5275192F7EC9}" type="datetimeFigureOut">
              <a:rPr lang="en-IL" smtClean="0"/>
              <a:t>05/10/2026</a:t>
            </a:fld>
            <a:endParaRPr lang="en-IL"/>
          </a:p>
        </p:txBody>
      </p:sp>
      <p:sp>
        <p:nvSpPr>
          <p:cNvPr id="6" name="Footer Placeholder 5">
            <a:extLst>
              <a:ext uri="{FF2B5EF4-FFF2-40B4-BE49-F238E27FC236}">
                <a16:creationId xmlns:a16="http://schemas.microsoft.com/office/drawing/2014/main" id="{29DAE5FB-389A-1E25-4837-E8AB5307B66B}"/>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17DB81-B677-1348-06A7-7CF2D245F319}"/>
              </a:ext>
            </a:extLst>
          </p:cNvPr>
          <p:cNvSpPr>
            <a:spLocks noGrp="1"/>
          </p:cNvSpPr>
          <p:nvPr>
            <p:ph type="sldNum" sz="quarter" idx="12"/>
          </p:nvPr>
        </p:nvSpPr>
        <p:spPr/>
        <p:txBody>
          <a:bodyPr/>
          <a:lstStyle/>
          <a:p>
            <a:fld id="{0CE44396-405A-4594-852E-D19AC024DC53}" type="slidenum">
              <a:rPr lang="en-IL" smtClean="0"/>
              <a:t>‹#›</a:t>
            </a:fld>
            <a:endParaRPr lang="en-IL"/>
          </a:p>
        </p:txBody>
      </p:sp>
    </p:spTree>
    <p:extLst>
      <p:ext uri="{BB962C8B-B14F-4D97-AF65-F5344CB8AC3E}">
        <p14:creationId xmlns:p14="http://schemas.microsoft.com/office/powerpoint/2010/main" val="2806782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1F45C-BE85-27C7-0796-1A5E85C5AF91}"/>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A2DF17A8-DEE1-873A-8336-01EA305370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D6C8C8-540A-3E2C-E541-6B3698367A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016EE901-EB5B-57E4-8907-EF82C0DAF3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946882-7E6F-666A-F4DA-9942C40D80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BC0C0A65-1AC7-FBCF-F6BB-EFD174AE4068}"/>
              </a:ext>
            </a:extLst>
          </p:cNvPr>
          <p:cNvSpPr>
            <a:spLocks noGrp="1"/>
          </p:cNvSpPr>
          <p:nvPr>
            <p:ph type="dt" sz="half" idx="10"/>
          </p:nvPr>
        </p:nvSpPr>
        <p:spPr/>
        <p:txBody>
          <a:bodyPr/>
          <a:lstStyle/>
          <a:p>
            <a:fld id="{330A87E2-C751-4B3C-84BD-5275192F7EC9}" type="datetimeFigureOut">
              <a:rPr lang="en-IL" smtClean="0"/>
              <a:t>05/10/2026</a:t>
            </a:fld>
            <a:endParaRPr lang="en-IL"/>
          </a:p>
        </p:txBody>
      </p:sp>
      <p:sp>
        <p:nvSpPr>
          <p:cNvPr id="8" name="Footer Placeholder 7">
            <a:extLst>
              <a:ext uri="{FF2B5EF4-FFF2-40B4-BE49-F238E27FC236}">
                <a16:creationId xmlns:a16="http://schemas.microsoft.com/office/drawing/2014/main" id="{B7DBBDA0-5E11-5345-FB8B-42A59175E5ED}"/>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A4FE1597-9D6B-75ED-B045-82AD1D28D720}"/>
              </a:ext>
            </a:extLst>
          </p:cNvPr>
          <p:cNvSpPr>
            <a:spLocks noGrp="1"/>
          </p:cNvSpPr>
          <p:nvPr>
            <p:ph type="sldNum" sz="quarter" idx="12"/>
          </p:nvPr>
        </p:nvSpPr>
        <p:spPr/>
        <p:txBody>
          <a:bodyPr/>
          <a:lstStyle/>
          <a:p>
            <a:fld id="{0CE44396-405A-4594-852E-D19AC024DC53}" type="slidenum">
              <a:rPr lang="en-IL" smtClean="0"/>
              <a:t>‹#›</a:t>
            </a:fld>
            <a:endParaRPr lang="en-IL"/>
          </a:p>
        </p:txBody>
      </p:sp>
    </p:spTree>
    <p:extLst>
      <p:ext uri="{BB962C8B-B14F-4D97-AF65-F5344CB8AC3E}">
        <p14:creationId xmlns:p14="http://schemas.microsoft.com/office/powerpoint/2010/main" val="2027479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D6965-B61A-D3A7-1D06-4EE20E5FB449}"/>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D3F20FF5-EE02-C9C4-F8E0-92E65510E2C7}"/>
              </a:ext>
            </a:extLst>
          </p:cNvPr>
          <p:cNvSpPr>
            <a:spLocks noGrp="1"/>
          </p:cNvSpPr>
          <p:nvPr>
            <p:ph type="dt" sz="half" idx="10"/>
          </p:nvPr>
        </p:nvSpPr>
        <p:spPr/>
        <p:txBody>
          <a:bodyPr/>
          <a:lstStyle/>
          <a:p>
            <a:fld id="{330A87E2-C751-4B3C-84BD-5275192F7EC9}" type="datetimeFigureOut">
              <a:rPr lang="en-IL" smtClean="0"/>
              <a:t>05/10/2026</a:t>
            </a:fld>
            <a:endParaRPr lang="en-IL"/>
          </a:p>
        </p:txBody>
      </p:sp>
      <p:sp>
        <p:nvSpPr>
          <p:cNvPr id="4" name="Footer Placeholder 3">
            <a:extLst>
              <a:ext uri="{FF2B5EF4-FFF2-40B4-BE49-F238E27FC236}">
                <a16:creationId xmlns:a16="http://schemas.microsoft.com/office/drawing/2014/main" id="{E262821A-2965-F774-0E8E-74FF2B87DCB9}"/>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20B517E7-CA37-9495-CE11-96CB4BC5AB4A}"/>
              </a:ext>
            </a:extLst>
          </p:cNvPr>
          <p:cNvSpPr>
            <a:spLocks noGrp="1"/>
          </p:cNvSpPr>
          <p:nvPr>
            <p:ph type="sldNum" sz="quarter" idx="12"/>
          </p:nvPr>
        </p:nvSpPr>
        <p:spPr/>
        <p:txBody>
          <a:bodyPr/>
          <a:lstStyle/>
          <a:p>
            <a:fld id="{0CE44396-405A-4594-852E-D19AC024DC53}" type="slidenum">
              <a:rPr lang="en-IL" smtClean="0"/>
              <a:t>‹#›</a:t>
            </a:fld>
            <a:endParaRPr lang="en-IL"/>
          </a:p>
        </p:txBody>
      </p:sp>
    </p:spTree>
    <p:extLst>
      <p:ext uri="{BB962C8B-B14F-4D97-AF65-F5344CB8AC3E}">
        <p14:creationId xmlns:p14="http://schemas.microsoft.com/office/powerpoint/2010/main" val="1084021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471151-1828-18EE-C631-6A27D075FDF0}"/>
              </a:ext>
            </a:extLst>
          </p:cNvPr>
          <p:cNvSpPr>
            <a:spLocks noGrp="1"/>
          </p:cNvSpPr>
          <p:nvPr>
            <p:ph type="dt" sz="half" idx="10"/>
          </p:nvPr>
        </p:nvSpPr>
        <p:spPr/>
        <p:txBody>
          <a:bodyPr/>
          <a:lstStyle/>
          <a:p>
            <a:fld id="{330A87E2-C751-4B3C-84BD-5275192F7EC9}" type="datetimeFigureOut">
              <a:rPr lang="en-IL" smtClean="0"/>
              <a:t>05/10/2026</a:t>
            </a:fld>
            <a:endParaRPr lang="en-IL"/>
          </a:p>
        </p:txBody>
      </p:sp>
      <p:sp>
        <p:nvSpPr>
          <p:cNvPr id="3" name="Footer Placeholder 2">
            <a:extLst>
              <a:ext uri="{FF2B5EF4-FFF2-40B4-BE49-F238E27FC236}">
                <a16:creationId xmlns:a16="http://schemas.microsoft.com/office/drawing/2014/main" id="{75966216-C04E-987B-6479-20A1204DB1CA}"/>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C256C4E1-73A2-8478-ED3C-5A1CC9718414}"/>
              </a:ext>
            </a:extLst>
          </p:cNvPr>
          <p:cNvSpPr>
            <a:spLocks noGrp="1"/>
          </p:cNvSpPr>
          <p:nvPr>
            <p:ph type="sldNum" sz="quarter" idx="12"/>
          </p:nvPr>
        </p:nvSpPr>
        <p:spPr/>
        <p:txBody>
          <a:bodyPr/>
          <a:lstStyle/>
          <a:p>
            <a:fld id="{0CE44396-405A-4594-852E-D19AC024DC53}" type="slidenum">
              <a:rPr lang="en-IL" smtClean="0"/>
              <a:t>‹#›</a:t>
            </a:fld>
            <a:endParaRPr lang="en-IL"/>
          </a:p>
        </p:txBody>
      </p:sp>
    </p:spTree>
    <p:extLst>
      <p:ext uri="{BB962C8B-B14F-4D97-AF65-F5344CB8AC3E}">
        <p14:creationId xmlns:p14="http://schemas.microsoft.com/office/powerpoint/2010/main" val="2531695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BB198-5674-CCD6-114E-C7D5ACD589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3AE8F5A9-E41A-BAE6-FDC1-3B395DEE60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C3EA1527-4F3E-B795-75E7-67C91CD459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BF9E92-4CFA-72B3-B9C3-E4DF4C6E98AC}"/>
              </a:ext>
            </a:extLst>
          </p:cNvPr>
          <p:cNvSpPr>
            <a:spLocks noGrp="1"/>
          </p:cNvSpPr>
          <p:nvPr>
            <p:ph type="dt" sz="half" idx="10"/>
          </p:nvPr>
        </p:nvSpPr>
        <p:spPr/>
        <p:txBody>
          <a:bodyPr/>
          <a:lstStyle/>
          <a:p>
            <a:fld id="{330A87E2-C751-4B3C-84BD-5275192F7EC9}" type="datetimeFigureOut">
              <a:rPr lang="en-IL" smtClean="0"/>
              <a:t>05/10/2026</a:t>
            </a:fld>
            <a:endParaRPr lang="en-IL"/>
          </a:p>
        </p:txBody>
      </p:sp>
      <p:sp>
        <p:nvSpPr>
          <p:cNvPr id="6" name="Footer Placeholder 5">
            <a:extLst>
              <a:ext uri="{FF2B5EF4-FFF2-40B4-BE49-F238E27FC236}">
                <a16:creationId xmlns:a16="http://schemas.microsoft.com/office/drawing/2014/main" id="{5C646272-BFE5-9BD0-B30C-58E2416711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E16259B1-61AC-FA23-DE1B-6752ED9139D0}"/>
              </a:ext>
            </a:extLst>
          </p:cNvPr>
          <p:cNvSpPr>
            <a:spLocks noGrp="1"/>
          </p:cNvSpPr>
          <p:nvPr>
            <p:ph type="sldNum" sz="quarter" idx="12"/>
          </p:nvPr>
        </p:nvSpPr>
        <p:spPr/>
        <p:txBody>
          <a:bodyPr/>
          <a:lstStyle/>
          <a:p>
            <a:fld id="{0CE44396-405A-4594-852E-D19AC024DC53}" type="slidenum">
              <a:rPr lang="en-IL" smtClean="0"/>
              <a:t>‹#›</a:t>
            </a:fld>
            <a:endParaRPr lang="en-IL"/>
          </a:p>
        </p:txBody>
      </p:sp>
    </p:spTree>
    <p:extLst>
      <p:ext uri="{BB962C8B-B14F-4D97-AF65-F5344CB8AC3E}">
        <p14:creationId xmlns:p14="http://schemas.microsoft.com/office/powerpoint/2010/main" val="2529290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E17C0-03C2-A91D-49E7-429DD66A8E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4967A50C-134B-9C0C-8183-40A0C7B09CA1}"/>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F66533AE-D969-A9EB-6CF2-A1D4636B14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88A2FE-121C-6A2C-450E-794EF0366DE2}"/>
              </a:ext>
            </a:extLst>
          </p:cNvPr>
          <p:cNvSpPr>
            <a:spLocks noGrp="1"/>
          </p:cNvSpPr>
          <p:nvPr>
            <p:ph type="dt" sz="half" idx="10"/>
          </p:nvPr>
        </p:nvSpPr>
        <p:spPr/>
        <p:txBody>
          <a:bodyPr/>
          <a:lstStyle/>
          <a:p>
            <a:fld id="{330A87E2-C751-4B3C-84BD-5275192F7EC9}" type="datetimeFigureOut">
              <a:rPr lang="en-IL" smtClean="0"/>
              <a:t>05/10/2026</a:t>
            </a:fld>
            <a:endParaRPr lang="en-IL"/>
          </a:p>
        </p:txBody>
      </p:sp>
      <p:sp>
        <p:nvSpPr>
          <p:cNvPr id="6" name="Footer Placeholder 5">
            <a:extLst>
              <a:ext uri="{FF2B5EF4-FFF2-40B4-BE49-F238E27FC236}">
                <a16:creationId xmlns:a16="http://schemas.microsoft.com/office/drawing/2014/main" id="{B6AB3073-8FCA-BF1B-3932-863772A492F8}"/>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EB814138-7F6A-CEEE-A198-1595DF7E36F9}"/>
              </a:ext>
            </a:extLst>
          </p:cNvPr>
          <p:cNvSpPr>
            <a:spLocks noGrp="1"/>
          </p:cNvSpPr>
          <p:nvPr>
            <p:ph type="sldNum" sz="quarter" idx="12"/>
          </p:nvPr>
        </p:nvSpPr>
        <p:spPr/>
        <p:txBody>
          <a:bodyPr/>
          <a:lstStyle/>
          <a:p>
            <a:fld id="{0CE44396-405A-4594-852E-D19AC024DC53}" type="slidenum">
              <a:rPr lang="en-IL" smtClean="0"/>
              <a:t>‹#›</a:t>
            </a:fld>
            <a:endParaRPr lang="en-IL"/>
          </a:p>
        </p:txBody>
      </p:sp>
    </p:spTree>
    <p:extLst>
      <p:ext uri="{BB962C8B-B14F-4D97-AF65-F5344CB8AC3E}">
        <p14:creationId xmlns:p14="http://schemas.microsoft.com/office/powerpoint/2010/main" val="1429150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829E0-F5FD-6593-D356-CF6E6F4BA533}"/>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E9C7F399-D769-1D55-7703-1AA171B6E78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BD66B4D8-4D85-2B43-EBDF-8AC9FB2AF2CC}"/>
              </a:ext>
            </a:extLst>
          </p:cNvPr>
          <p:cNvSpPr>
            <a:spLocks noGrp="1"/>
          </p:cNvSpPr>
          <p:nvPr>
            <p:ph type="dt" sz="half" idx="10"/>
          </p:nvPr>
        </p:nvSpPr>
        <p:spPr/>
        <p:txBody>
          <a:bodyPr/>
          <a:lstStyle/>
          <a:p>
            <a:fld id="{330A87E2-C751-4B3C-84BD-5275192F7EC9}" type="datetimeFigureOut">
              <a:rPr lang="en-IL" smtClean="0"/>
              <a:t>05/10/2026</a:t>
            </a:fld>
            <a:endParaRPr lang="en-IL"/>
          </a:p>
        </p:txBody>
      </p:sp>
      <p:sp>
        <p:nvSpPr>
          <p:cNvPr id="5" name="Footer Placeholder 4">
            <a:extLst>
              <a:ext uri="{FF2B5EF4-FFF2-40B4-BE49-F238E27FC236}">
                <a16:creationId xmlns:a16="http://schemas.microsoft.com/office/drawing/2014/main" id="{332395D4-C846-3C92-377A-106F70D22D4E}"/>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C2C9326C-1F3C-CEDC-5B89-7D3932C16D15}"/>
              </a:ext>
            </a:extLst>
          </p:cNvPr>
          <p:cNvSpPr>
            <a:spLocks noGrp="1"/>
          </p:cNvSpPr>
          <p:nvPr>
            <p:ph type="sldNum" sz="quarter" idx="12"/>
          </p:nvPr>
        </p:nvSpPr>
        <p:spPr/>
        <p:txBody>
          <a:bodyPr/>
          <a:lstStyle/>
          <a:p>
            <a:fld id="{0CE44396-405A-4594-852E-D19AC024DC53}" type="slidenum">
              <a:rPr lang="en-IL" smtClean="0"/>
              <a:t>‹#›</a:t>
            </a:fld>
            <a:endParaRPr lang="en-IL"/>
          </a:p>
        </p:txBody>
      </p:sp>
    </p:spTree>
    <p:extLst>
      <p:ext uri="{BB962C8B-B14F-4D97-AF65-F5344CB8AC3E}">
        <p14:creationId xmlns:p14="http://schemas.microsoft.com/office/powerpoint/2010/main" val="859401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248644-6524-5FE6-57D4-40F2D9406A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1C758129-9E89-576D-2B50-15B5983AC3D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CB4F186F-0EB1-7DCB-52B7-F87872520126}"/>
              </a:ext>
            </a:extLst>
          </p:cNvPr>
          <p:cNvSpPr>
            <a:spLocks noGrp="1"/>
          </p:cNvSpPr>
          <p:nvPr>
            <p:ph type="dt" sz="half" idx="10"/>
          </p:nvPr>
        </p:nvSpPr>
        <p:spPr/>
        <p:txBody>
          <a:bodyPr/>
          <a:lstStyle/>
          <a:p>
            <a:fld id="{330A87E2-C751-4B3C-84BD-5275192F7EC9}" type="datetimeFigureOut">
              <a:rPr lang="en-IL" smtClean="0"/>
              <a:t>05/10/2026</a:t>
            </a:fld>
            <a:endParaRPr lang="en-IL"/>
          </a:p>
        </p:txBody>
      </p:sp>
      <p:sp>
        <p:nvSpPr>
          <p:cNvPr id="5" name="Footer Placeholder 4">
            <a:extLst>
              <a:ext uri="{FF2B5EF4-FFF2-40B4-BE49-F238E27FC236}">
                <a16:creationId xmlns:a16="http://schemas.microsoft.com/office/drawing/2014/main" id="{DC83CDE3-B6F2-D53F-C296-0AA0CDFF2F29}"/>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F97FAC6F-226B-0108-02A5-DB3CB216309A}"/>
              </a:ext>
            </a:extLst>
          </p:cNvPr>
          <p:cNvSpPr>
            <a:spLocks noGrp="1"/>
          </p:cNvSpPr>
          <p:nvPr>
            <p:ph type="sldNum" sz="quarter" idx="12"/>
          </p:nvPr>
        </p:nvSpPr>
        <p:spPr/>
        <p:txBody>
          <a:bodyPr/>
          <a:lstStyle/>
          <a:p>
            <a:fld id="{0CE44396-405A-4594-852E-D19AC024DC53}" type="slidenum">
              <a:rPr lang="en-IL" smtClean="0"/>
              <a:t>‹#›</a:t>
            </a:fld>
            <a:endParaRPr lang="en-IL"/>
          </a:p>
        </p:txBody>
      </p:sp>
    </p:spTree>
    <p:extLst>
      <p:ext uri="{BB962C8B-B14F-4D97-AF65-F5344CB8AC3E}">
        <p14:creationId xmlns:p14="http://schemas.microsoft.com/office/powerpoint/2010/main" val="1038982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1A41FC-8B66-1DA7-CA36-E241FB3D1C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45C4C6C6-EC93-E3BA-3AE3-5B5C99E0A8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25681446-8BC9-9426-9F4B-3663898614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30A87E2-C751-4B3C-84BD-5275192F7EC9}" type="datetimeFigureOut">
              <a:rPr lang="en-IL" smtClean="0"/>
              <a:t>05/10/2026</a:t>
            </a:fld>
            <a:endParaRPr lang="en-IL"/>
          </a:p>
        </p:txBody>
      </p:sp>
      <p:sp>
        <p:nvSpPr>
          <p:cNvPr id="5" name="Footer Placeholder 4">
            <a:extLst>
              <a:ext uri="{FF2B5EF4-FFF2-40B4-BE49-F238E27FC236}">
                <a16:creationId xmlns:a16="http://schemas.microsoft.com/office/drawing/2014/main" id="{419F0894-EE65-CB89-75D8-870DED20B2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2361EBAE-4D18-3B2B-D7FC-D7A1199C33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E44396-405A-4594-852E-D19AC024DC53}" type="slidenum">
              <a:rPr lang="en-IL" smtClean="0"/>
              <a:t>‹#›</a:t>
            </a:fld>
            <a:endParaRPr lang="en-IL"/>
          </a:p>
        </p:txBody>
      </p:sp>
    </p:spTree>
    <p:extLst>
      <p:ext uri="{BB962C8B-B14F-4D97-AF65-F5344CB8AC3E}">
        <p14:creationId xmlns:p14="http://schemas.microsoft.com/office/powerpoint/2010/main" val="39072906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9CF29C9A-B5F2-CDFF-4758-E6BF90FB0EEB}"/>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B51B8D7C-636A-A73C-DFF5-5AF2FCB3507D}"/>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Policy gradients &amp; actor–critic</a:t>
            </a:r>
          </a:p>
        </p:txBody>
      </p:sp>
      <p:sp>
        <p:nvSpPr>
          <p:cNvPr id="4" name="text_3">
            <a:extLst>
              <a:ext uri="{FF2B5EF4-FFF2-40B4-BE49-F238E27FC236}">
                <a16:creationId xmlns:a16="http://schemas.microsoft.com/office/drawing/2014/main" id="{36964A49-0561-8707-5718-5CC8FDE91AE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Learn actions from rewards; learn values to guide the policy.</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7FC016C8-B59F-CE75-F719-916794ECC74F}"/>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F6C2129C-43FE-E4C1-F3CB-8CBFEFC3B260}"/>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6610BAA-34A4-9A32-DC50-A7BC44256D68}"/>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01</a:t>
            </a:r>
          </a:p>
        </p:txBody>
      </p:sp>
      <p:sp>
        <p:nvSpPr>
          <p:cNvPr id="8" name="Rectangle: Rounded Corners 7">
            <a:extLst>
              <a:ext uri="{FF2B5EF4-FFF2-40B4-BE49-F238E27FC236}">
                <a16:creationId xmlns:a16="http://schemas.microsoft.com/office/drawing/2014/main" id="{0FEA341A-5BCB-A3FD-A834-1B2F070F3827}"/>
              </a:ext>
            </a:extLst>
          </p:cNvPr>
          <p:cNvSpPr/>
          <p:nvPr/>
        </p:nvSpPr>
        <p:spPr>
          <a:xfrm>
            <a:off x="685800" y="2679700"/>
            <a:ext cx="5207000" cy="26035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7C3FA8FD-B405-5B4B-B7E1-1662D8FB3388}"/>
              </a:ext>
            </a:extLst>
          </p:cNvPr>
          <p:cNvSpPr txBox="1"/>
          <p:nvPr/>
        </p:nvSpPr>
        <p:spPr>
          <a:xfrm>
            <a:off x="914400" y="28701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Learn a policy</a:t>
            </a:r>
          </a:p>
        </p:txBody>
      </p:sp>
      <p:sp>
        <p:nvSpPr>
          <p:cNvPr id="10" name="text_9">
            <a:extLst>
              <a:ext uri="{FF2B5EF4-FFF2-40B4-BE49-F238E27FC236}">
                <a16:creationId xmlns:a16="http://schemas.microsoft.com/office/drawing/2014/main" id="{1C6D797E-A958-97D5-0314-FD1A5B3B043D}"/>
              </a:ext>
            </a:extLst>
          </p:cNvPr>
          <p:cNvSpPr txBox="1"/>
          <p:nvPr/>
        </p:nvSpPr>
        <p:spPr>
          <a:xfrm>
            <a:off x="914400" y="3492499"/>
            <a:ext cx="4749800" cy="17399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Expected return
Policy-gradient derivation</a:t>
            </a:r>
          </a:p>
        </p:txBody>
      </p:sp>
      <p:sp>
        <p:nvSpPr>
          <p:cNvPr id="11" name="Rectangle: Rounded Corners 10">
            <a:extLst>
              <a:ext uri="{FF2B5EF4-FFF2-40B4-BE49-F238E27FC236}">
                <a16:creationId xmlns:a16="http://schemas.microsoft.com/office/drawing/2014/main" id="{2903DE39-3DD8-5D1B-058D-2B4C596E6694}"/>
              </a:ext>
            </a:extLst>
          </p:cNvPr>
          <p:cNvSpPr/>
          <p:nvPr/>
        </p:nvSpPr>
        <p:spPr>
          <a:xfrm>
            <a:off x="6172200" y="2679700"/>
            <a:ext cx="5334000" cy="26035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95EC7DED-6FB2-4D25-43FC-3E045C7D6957}"/>
              </a:ext>
            </a:extLst>
          </p:cNvPr>
          <p:cNvSpPr txBox="1"/>
          <p:nvPr/>
        </p:nvSpPr>
        <p:spPr>
          <a:xfrm>
            <a:off x="6400800" y="28701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Guide its learning</a:t>
            </a:r>
          </a:p>
        </p:txBody>
      </p:sp>
      <p:sp>
        <p:nvSpPr>
          <p:cNvPr id="13" name="text_12">
            <a:extLst>
              <a:ext uri="{FF2B5EF4-FFF2-40B4-BE49-F238E27FC236}">
                <a16:creationId xmlns:a16="http://schemas.microsoft.com/office/drawing/2014/main" id="{0CACE38F-9795-4137-7B89-FE7F5145DC07}"/>
              </a:ext>
            </a:extLst>
          </p:cNvPr>
          <p:cNvSpPr txBox="1"/>
          <p:nvPr/>
        </p:nvSpPr>
        <p:spPr>
          <a:xfrm>
            <a:off x="6400800" y="3492499"/>
            <a:ext cx="4876800" cy="17399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Baseline and advantage
Actor and critic</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F1B887AD-B97E-B5CF-FA63-9E111D1E7BA5}"/>
              </a:ext>
            </a:extLst>
          </p:cNvPr>
          <p:cNvSpPr txBox="1"/>
          <p:nvPr/>
        </p:nvSpPr>
        <p:spPr>
          <a:xfrm>
            <a:off x="685800" y="5702299"/>
            <a:ext cx="10820400" cy="495300"/>
          </a:xfrm>
          <a:prstGeom prst="rect">
            <a:avLst/>
          </a:prstGeom>
          <a:noFill/>
        </p:spPr>
        <p:txBody>
          <a:bodyPr vert="horz" wrap="square" lIns="0" tIns="0" rIns="0" bIns="0" rtlCol="0" anchor="t">
            <a:noAutofit/>
          </a:bodyPr>
          <a:lstStyle/>
          <a:p>
            <a:r>
              <a:rPr lang="sv-SE" sz="2700" b="1">
                <a:solidFill>
                  <a:srgbClr val="526477"/>
                </a:solidFill>
                <a:latin typeface="Aptos" panose="020B0004020202020204" pitchFamily="34" charset="0"/>
              </a:rPr>
              <a:t>30 min mathematics · 10 min visual demo · 5 min recap</a:t>
            </a:r>
            <a:endParaRPr lang="en-IL" sz="2700" b="1">
              <a:solidFill>
                <a:srgbClr val="526477"/>
              </a:solidFill>
              <a:latin typeface="Aptos" panose="020B0004020202020204" pitchFamily="34" charset="0"/>
            </a:endParaRPr>
          </a:p>
        </p:txBody>
      </p:sp>
    </p:spTree>
    <p:extLst>
      <p:ext uri="{BB962C8B-B14F-4D97-AF65-F5344CB8AC3E}">
        <p14:creationId xmlns:p14="http://schemas.microsoft.com/office/powerpoint/2010/main" val="40123852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79255E0A-D839-4F08-66C6-680AEB2696A8}"/>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49FD9F75-C94A-BFB5-555A-136B8170F4CD}"/>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Why tables become impractical</a:t>
            </a:r>
          </a:p>
        </p:txBody>
      </p:sp>
      <p:sp>
        <p:nvSpPr>
          <p:cNvPr id="4" name="text_3">
            <a:extLst>
              <a:ext uri="{FF2B5EF4-FFF2-40B4-BE49-F238E27FC236}">
                <a16:creationId xmlns:a16="http://schemas.microsoft.com/office/drawing/2014/main" id="{00B5B967-4758-14A7-76AB-E23ADE06BB17}"/>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Continuous observations and actions make discretization expensive.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30E643D-2CEB-3FC1-9950-4155930FB111}"/>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42470CA5-84FC-E9DA-744D-F5D2064642CC}"/>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9F842C7-7873-3F38-91A5-3AF26474B925}"/>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02</a:t>
            </a:r>
          </a:p>
        </p:txBody>
      </p:sp>
      <p:sp>
        <p:nvSpPr>
          <p:cNvPr id="8" name="Rectangle: Rounded Corners 7">
            <a:extLst>
              <a:ext uri="{FF2B5EF4-FFF2-40B4-BE49-F238E27FC236}">
                <a16:creationId xmlns:a16="http://schemas.microsoft.com/office/drawing/2014/main" id="{12D3E57C-CC3E-87A5-76F1-E8DC56269A70}"/>
              </a:ext>
            </a:extLst>
          </p:cNvPr>
          <p:cNvSpPr/>
          <p:nvPr/>
        </p:nvSpPr>
        <p:spPr>
          <a:xfrm>
            <a:off x="685800" y="2628900"/>
            <a:ext cx="5207000" cy="16256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201C626C-56FE-37BB-8EB4-84DA26AE36A7}"/>
              </a:ext>
            </a:extLst>
          </p:cNvPr>
          <p:cNvSpPr txBox="1"/>
          <p:nvPr/>
        </p:nvSpPr>
        <p:spPr>
          <a:xfrm>
            <a:off x="889000" y="2781299"/>
            <a:ext cx="4800600" cy="8255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4 state dimensions</a:t>
            </a:r>
          </a:p>
        </p:txBody>
      </p:sp>
      <p:sp>
        <p:nvSpPr>
          <p:cNvPr id="10" name="text_9">
            <a:extLst>
              <a:ext uri="{FF2B5EF4-FFF2-40B4-BE49-F238E27FC236}">
                <a16:creationId xmlns:a16="http://schemas.microsoft.com/office/drawing/2014/main" id="{F04BF668-9165-5C23-5004-B18A8E69A71F}"/>
              </a:ext>
            </a:extLst>
          </p:cNvPr>
          <p:cNvSpPr txBox="1"/>
          <p:nvPr/>
        </p:nvSpPr>
        <p:spPr>
          <a:xfrm>
            <a:off x="889000" y="3606799"/>
            <a:ext cx="4800600" cy="5969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100 bins each → 100⁴ states</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90D20E37-DF06-2F87-C031-E601F1983501}"/>
              </a:ext>
            </a:extLst>
          </p:cNvPr>
          <p:cNvSpPr/>
          <p:nvPr/>
        </p:nvSpPr>
        <p:spPr>
          <a:xfrm>
            <a:off x="6172200" y="2628900"/>
            <a:ext cx="5334000" cy="16256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F574939D-A6F8-2984-3EA1-F94E2287BE97}"/>
              </a:ext>
            </a:extLst>
          </p:cNvPr>
          <p:cNvSpPr txBox="1"/>
          <p:nvPr/>
        </p:nvSpPr>
        <p:spPr>
          <a:xfrm>
            <a:off x="6375400" y="2781299"/>
            <a:ext cx="4927600" cy="8255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1 action dimension</a:t>
            </a:r>
          </a:p>
        </p:txBody>
      </p:sp>
      <p:sp>
        <p:nvSpPr>
          <p:cNvPr id="13" name="text_12">
            <a:extLst>
              <a:ext uri="{FF2B5EF4-FFF2-40B4-BE49-F238E27FC236}">
                <a16:creationId xmlns:a16="http://schemas.microsoft.com/office/drawing/2014/main" id="{E69758DE-DA5C-8C03-28A0-2E9A844778F9}"/>
              </a:ext>
            </a:extLst>
          </p:cNvPr>
          <p:cNvSpPr txBox="1"/>
          <p:nvPr/>
        </p:nvSpPr>
        <p:spPr>
          <a:xfrm>
            <a:off x="6375400" y="3606799"/>
            <a:ext cx="4927600" cy="5969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100 bins → 100 actions</a:t>
            </a:r>
          </a:p>
        </p:txBody>
      </p:sp>
      <p:sp>
        <p:nvSpPr>
          <p:cNvPr id="14" name="text_13">
            <a:extLst>
              <a:ext uri="{FF2B5EF4-FFF2-40B4-BE49-F238E27FC236}">
                <a16:creationId xmlns:a16="http://schemas.microsoft.com/office/drawing/2014/main" id="{EDC8DA42-42CB-8199-8EF4-F331B63D60FF}"/>
              </a:ext>
            </a:extLst>
          </p:cNvPr>
          <p:cNvSpPr txBox="1"/>
          <p:nvPr/>
        </p:nvSpPr>
        <p:spPr>
          <a:xfrm>
            <a:off x="685800" y="4584699"/>
            <a:ext cx="10820400" cy="876300"/>
          </a:xfrm>
          <a:prstGeom prst="rect">
            <a:avLst/>
          </a:prstGeom>
          <a:noFill/>
        </p:spPr>
        <p:txBody>
          <a:bodyPr vert="horz" wrap="square" lIns="0" tIns="0" rIns="0" bIns="0" rtlCol="0" anchor="t">
            <a:noAutofit/>
          </a:bodyPr>
          <a:lstStyle/>
          <a:p>
            <a:r>
              <a:rPr lang="fr-FR" sz="4200">
                <a:solidFill>
                  <a:srgbClr val="2459D3"/>
                </a:solidFill>
                <a:latin typeface="Cambria Math" panose="02040503050406030204" pitchFamily="18" charset="0"/>
              </a:rPr>
              <a:t>100</a:t>
            </a:r>
            <a:r>
              <a:rPr lang="fr-FR" sz="3024" baseline="32000">
                <a:solidFill>
                  <a:srgbClr val="2459D3"/>
                </a:solidFill>
                <a:latin typeface="Cambria Math" panose="02040503050406030204" pitchFamily="18" charset="0"/>
              </a:rPr>
              <a:t>4</a:t>
            </a:r>
            <a:r>
              <a:rPr lang="fr-FR" sz="4200">
                <a:solidFill>
                  <a:srgbClr val="2459D3"/>
                </a:solidFill>
                <a:latin typeface="Cambria Math" panose="02040503050406030204" pitchFamily="18" charset="0"/>
              </a:rPr>
              <a:t> × 100 = 10</a:t>
            </a:r>
            <a:r>
              <a:rPr lang="fr-FR" sz="3024" baseline="32000">
                <a:solidFill>
                  <a:srgbClr val="2459D3"/>
                </a:solidFill>
                <a:latin typeface="Cambria Math" panose="02040503050406030204" pitchFamily="18" charset="0"/>
              </a:rPr>
              <a:t>10</a:t>
            </a:r>
            <a:r>
              <a:rPr lang="fr-FR" sz="4200">
                <a:solidFill>
                  <a:srgbClr val="2459D3"/>
                </a:solidFill>
                <a:latin typeface="Cambria Math" panose="02040503050406030204" pitchFamily="18" charset="0"/>
              </a:rPr>
              <a:t> Q entries</a:t>
            </a:r>
            <a:endParaRPr lang="en-IL" sz="4200">
              <a:solidFill>
                <a:srgbClr val="2459D3"/>
              </a:solidFill>
              <a:latin typeface="Cambria Math" panose="02040503050406030204" pitchFamily="18" charset="0"/>
            </a:endParaRPr>
          </a:p>
        </p:txBody>
      </p:sp>
      <p:sp>
        <p:nvSpPr>
          <p:cNvPr id="15" name="text_14">
            <a:extLst>
              <a:ext uri="{FF2B5EF4-FFF2-40B4-BE49-F238E27FC236}">
                <a16:creationId xmlns:a16="http://schemas.microsoft.com/office/drawing/2014/main" id="{7A675B88-3F19-431E-B065-881E9B4D3B59}"/>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Function approximation also exists for value-based RL.</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215259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ABE26EA5-8698-2AAF-7443-6D0A03B6BAB3}"/>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18060000-CC4F-0169-B809-797D046EFC28}"/>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Learn the policy directly</a:t>
            </a:r>
          </a:p>
        </p:txBody>
      </p:sp>
      <p:sp>
        <p:nvSpPr>
          <p:cNvPr id="4" name="text_3">
            <a:extLst>
              <a:ext uri="{FF2B5EF4-FFF2-40B4-BE49-F238E27FC236}">
                <a16:creationId xmlns:a16="http://schemas.microsoft.com/office/drawing/2014/main" id="{B71C44D0-D2DF-3B14-3B2B-B521240C1099}"/>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Observation → action distribution, rather than a table lookup.</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A701E0B9-DFBC-1A87-B833-29D79544F114}"/>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19681B2-0683-56DD-056F-7897812B8F02}"/>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8AADFBC-6579-EFCF-5946-9DEBFAC0CA42}"/>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03</a:t>
            </a:r>
          </a:p>
        </p:txBody>
      </p:sp>
      <p:sp>
        <p:nvSpPr>
          <p:cNvPr id="8" name="Rectangle: Rounded Corners 7">
            <a:extLst>
              <a:ext uri="{FF2B5EF4-FFF2-40B4-BE49-F238E27FC236}">
                <a16:creationId xmlns:a16="http://schemas.microsoft.com/office/drawing/2014/main" id="{FDC7D459-6723-56A8-A587-C997127CBD9A}"/>
              </a:ext>
            </a:extLst>
          </p:cNvPr>
          <p:cNvSpPr/>
          <p:nvPr/>
        </p:nvSpPr>
        <p:spPr>
          <a:xfrm>
            <a:off x="685800" y="2679700"/>
            <a:ext cx="5207000" cy="2832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43E4F72E-150D-2E74-525B-1668CA44A630}"/>
              </a:ext>
            </a:extLst>
          </p:cNvPr>
          <p:cNvSpPr txBox="1"/>
          <p:nvPr/>
        </p:nvSpPr>
        <p:spPr>
          <a:xfrm>
            <a:off x="914400" y="28701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Week 8 · Q estimates</a:t>
            </a:r>
          </a:p>
        </p:txBody>
      </p:sp>
      <p:sp>
        <p:nvSpPr>
          <p:cNvPr id="10" name="text_9">
            <a:extLst>
              <a:ext uri="{FF2B5EF4-FFF2-40B4-BE49-F238E27FC236}">
                <a16:creationId xmlns:a16="http://schemas.microsoft.com/office/drawing/2014/main" id="{7183381A-D98B-516D-8975-57752EAAB7B4}"/>
              </a:ext>
            </a:extLst>
          </p:cNvPr>
          <p:cNvSpPr txBox="1"/>
          <p:nvPr/>
        </p:nvSpPr>
        <p:spPr>
          <a:xfrm>
            <a:off x="914400" y="3492499"/>
            <a:ext cx="4749800" cy="19685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Observation → Q table
Read action values
Choose an action</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95C6F435-BD96-71A2-0B5F-73AD3BE67E69}"/>
              </a:ext>
            </a:extLst>
          </p:cNvPr>
          <p:cNvSpPr/>
          <p:nvPr/>
        </p:nvSpPr>
        <p:spPr>
          <a:xfrm>
            <a:off x="6172200" y="2679700"/>
            <a:ext cx="5334000" cy="2832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7BADC00E-5DC9-34DA-59FC-1C9AADD2EE4D}"/>
              </a:ext>
            </a:extLst>
          </p:cNvPr>
          <p:cNvSpPr txBox="1"/>
          <p:nvPr/>
        </p:nvSpPr>
        <p:spPr>
          <a:xfrm>
            <a:off x="6400800" y="28701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Week 9 · Actor</a:t>
            </a:r>
          </a:p>
        </p:txBody>
      </p:sp>
      <p:sp>
        <p:nvSpPr>
          <p:cNvPr id="13" name="text_12">
            <a:extLst>
              <a:ext uri="{FF2B5EF4-FFF2-40B4-BE49-F238E27FC236}">
                <a16:creationId xmlns:a16="http://schemas.microsoft.com/office/drawing/2014/main" id="{4FFA894A-DA2F-E067-AFF1-36D18A2D3177}"/>
              </a:ext>
            </a:extLst>
          </p:cNvPr>
          <p:cNvSpPr txBox="1"/>
          <p:nvPr/>
        </p:nvSpPr>
        <p:spPr>
          <a:xfrm>
            <a:off x="6400800" y="3492499"/>
            <a:ext cx="4876800" cy="19685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Observation → network
Describe likely actions
Sample an action</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3447075E-E350-665F-FDA6-2A766D1BFEA2}"/>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Reward feedback supplies learning signals; there are no expert action labels.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188149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FF67DA64-7B0D-22EA-FCF8-6FCF7CE6128B}"/>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646DE004-7099-DA2B-478E-7A2856B95FF9}"/>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Our balancing task</a:t>
            </a:r>
          </a:p>
        </p:txBody>
      </p:sp>
      <p:sp>
        <p:nvSpPr>
          <p:cNvPr id="4" name="text_3">
            <a:extLst>
              <a:ext uri="{FF2B5EF4-FFF2-40B4-BE49-F238E27FC236}">
                <a16:creationId xmlns:a16="http://schemas.microsoft.com/office/drawing/2014/main" id="{77F38277-BAA1-AB5B-94F3-80879291BE1C}"/>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Move the cart to keep the pole upright.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BCA30585-F134-806E-8BF5-F2D84157E9ED}"/>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B7FFCC5B-C175-FC17-804A-7545C659E519}"/>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AAB01987-45A6-D3FF-0529-05FF96A5A894}"/>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04</a:t>
            </a:r>
          </a:p>
        </p:txBody>
      </p:sp>
      <p:cxnSp>
        <p:nvCxnSpPr>
          <p:cNvPr id="8" name="Straight Connector 7">
            <a:extLst>
              <a:ext uri="{FF2B5EF4-FFF2-40B4-BE49-F238E27FC236}">
                <a16:creationId xmlns:a16="http://schemas.microsoft.com/office/drawing/2014/main" id="{69DAA81F-2FD2-317F-194C-EAF24390E2DC}"/>
              </a:ext>
            </a:extLst>
          </p:cNvPr>
          <p:cNvCxnSpPr/>
          <p:nvPr/>
        </p:nvCxnSpPr>
        <p:spPr>
          <a:xfrm>
            <a:off x="952500" y="5435600"/>
            <a:ext cx="4356100" cy="0"/>
          </a:xfrm>
          <a:prstGeom prst="line">
            <a:avLst/>
          </a:prstGeom>
          <a:ln w="27940">
            <a:solidFill>
              <a:srgbClr val="526477"/>
            </a:solidFill>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FB3809E8-F6F0-A0CE-52E4-217B084C0D78}"/>
              </a:ext>
            </a:extLst>
          </p:cNvPr>
          <p:cNvSpPr/>
          <p:nvPr/>
        </p:nvSpPr>
        <p:spPr>
          <a:xfrm>
            <a:off x="1803400" y="4635500"/>
            <a:ext cx="2311400" cy="609600"/>
          </a:xfrm>
          <a:prstGeom prst="roundRect">
            <a:avLst>
              <a:gd name="adj" fmla="val 9000"/>
            </a:avLst>
          </a:prstGeom>
          <a:solidFill>
            <a:srgbClr val="2459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Oval 9">
            <a:extLst>
              <a:ext uri="{FF2B5EF4-FFF2-40B4-BE49-F238E27FC236}">
                <a16:creationId xmlns:a16="http://schemas.microsoft.com/office/drawing/2014/main" id="{8D299A46-E903-FC52-A0C9-F172FF5C505C}"/>
              </a:ext>
            </a:extLst>
          </p:cNvPr>
          <p:cNvSpPr/>
          <p:nvPr/>
        </p:nvSpPr>
        <p:spPr>
          <a:xfrm>
            <a:off x="2146300" y="5207000"/>
            <a:ext cx="228600" cy="2286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Oval 10">
            <a:extLst>
              <a:ext uri="{FF2B5EF4-FFF2-40B4-BE49-F238E27FC236}">
                <a16:creationId xmlns:a16="http://schemas.microsoft.com/office/drawing/2014/main" id="{55CA9E6C-3CB8-7ADF-AB2B-DB0E791F78DD}"/>
              </a:ext>
            </a:extLst>
          </p:cNvPr>
          <p:cNvSpPr/>
          <p:nvPr/>
        </p:nvSpPr>
        <p:spPr>
          <a:xfrm>
            <a:off x="3543300" y="5207000"/>
            <a:ext cx="228600" cy="228600"/>
          </a:xfrm>
          <a:prstGeom prst="ellipse">
            <a:avLst/>
          </a:prstGeom>
          <a:solidFill>
            <a:srgbClr val="1528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2" name="Straight Connector 11">
            <a:extLst>
              <a:ext uri="{FF2B5EF4-FFF2-40B4-BE49-F238E27FC236}">
                <a16:creationId xmlns:a16="http://schemas.microsoft.com/office/drawing/2014/main" id="{C7800C96-CD5B-FBD7-0ACD-57FBF63EEB6F}"/>
              </a:ext>
            </a:extLst>
          </p:cNvPr>
          <p:cNvCxnSpPr/>
          <p:nvPr/>
        </p:nvCxnSpPr>
        <p:spPr>
          <a:xfrm flipV="1">
            <a:off x="2946400" y="2743200"/>
            <a:ext cx="736600" cy="1892300"/>
          </a:xfrm>
          <a:prstGeom prst="line">
            <a:avLst/>
          </a:prstGeom>
          <a:ln w="27940">
            <a:solidFill>
              <a:srgbClr val="137F79"/>
            </a:solidFill>
          </a:ln>
        </p:spPr>
        <p:style>
          <a:lnRef idx="2">
            <a:schemeClr val="accent1"/>
          </a:lnRef>
          <a:fillRef idx="0">
            <a:schemeClr val="accent1"/>
          </a:fillRef>
          <a:effectRef idx="1">
            <a:schemeClr val="accent1"/>
          </a:effectRef>
          <a:fontRef idx="minor">
            <a:schemeClr val="tx1"/>
          </a:fontRef>
        </p:style>
      </p:cxnSp>
      <p:sp>
        <p:nvSpPr>
          <p:cNvPr id="13" name="Oval 12">
            <a:extLst>
              <a:ext uri="{FF2B5EF4-FFF2-40B4-BE49-F238E27FC236}">
                <a16:creationId xmlns:a16="http://schemas.microsoft.com/office/drawing/2014/main" id="{1F1C32A4-EB12-8A67-D138-7B42FF0D428D}"/>
              </a:ext>
            </a:extLst>
          </p:cNvPr>
          <p:cNvSpPr/>
          <p:nvPr/>
        </p:nvSpPr>
        <p:spPr>
          <a:xfrm>
            <a:off x="2857500" y="4546600"/>
            <a:ext cx="177800" cy="1778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Oval 13">
            <a:extLst>
              <a:ext uri="{FF2B5EF4-FFF2-40B4-BE49-F238E27FC236}">
                <a16:creationId xmlns:a16="http://schemas.microsoft.com/office/drawing/2014/main" id="{B9D7C5CA-5AB4-8110-13F3-75B6BC238FDA}"/>
              </a:ext>
            </a:extLst>
          </p:cNvPr>
          <p:cNvSpPr/>
          <p:nvPr/>
        </p:nvSpPr>
        <p:spPr>
          <a:xfrm>
            <a:off x="3556000" y="2616200"/>
            <a:ext cx="254000" cy="254000"/>
          </a:xfrm>
          <a:prstGeom prst="ellipse">
            <a:avLst/>
          </a:prstGeom>
          <a:solidFill>
            <a:srgbClr val="137F7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5" name="Straight Connector 14">
            <a:extLst>
              <a:ext uri="{FF2B5EF4-FFF2-40B4-BE49-F238E27FC236}">
                <a16:creationId xmlns:a16="http://schemas.microsoft.com/office/drawing/2014/main" id="{CD345525-FCBC-1A81-A69D-6AFFB61E8EF1}"/>
              </a:ext>
            </a:extLst>
          </p:cNvPr>
          <p:cNvCxnSpPr/>
          <p:nvPr/>
        </p:nvCxnSpPr>
        <p:spPr>
          <a:xfrm flipV="1">
            <a:off x="2946400" y="2654300"/>
            <a:ext cx="0" cy="1879600"/>
          </a:xfrm>
          <a:prstGeom prst="line">
            <a:avLst/>
          </a:prstGeom>
          <a:ln w="27940">
            <a:solidFill>
              <a:srgbClr val="526477"/>
            </a:solidFill>
            <a:prstDash val="dash"/>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0D6D48D-E789-9C32-D82B-4D848DD99314}"/>
              </a:ext>
            </a:extLst>
          </p:cNvPr>
          <p:cNvCxnSpPr/>
          <p:nvPr/>
        </p:nvCxnSpPr>
        <p:spPr>
          <a:xfrm>
            <a:off x="1625600" y="4305300"/>
            <a:ext cx="2692400" cy="0"/>
          </a:xfrm>
          <a:prstGeom prst="line">
            <a:avLst/>
          </a:prstGeom>
          <a:ln w="27940">
            <a:solidFill>
              <a:srgbClr val="2459D3"/>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371689FF-95FC-B735-2031-F0FA0DEA58CD}"/>
              </a:ext>
            </a:extLst>
          </p:cNvPr>
          <p:cNvSpPr/>
          <p:nvPr/>
        </p:nvSpPr>
        <p:spPr>
          <a:xfrm>
            <a:off x="5842000" y="2628900"/>
            <a:ext cx="5664200" cy="18288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9AC3D59D-E408-CA84-7262-8B0D146B65A5}"/>
              </a:ext>
            </a:extLst>
          </p:cNvPr>
          <p:cNvSpPr txBox="1"/>
          <p:nvPr/>
        </p:nvSpPr>
        <p:spPr>
          <a:xfrm>
            <a:off x="6045200" y="2781299"/>
            <a:ext cx="5257800" cy="8255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Observe</a:t>
            </a:r>
          </a:p>
        </p:txBody>
      </p:sp>
      <p:sp>
        <p:nvSpPr>
          <p:cNvPr id="19" name="text_18">
            <a:extLst>
              <a:ext uri="{FF2B5EF4-FFF2-40B4-BE49-F238E27FC236}">
                <a16:creationId xmlns:a16="http://schemas.microsoft.com/office/drawing/2014/main" id="{AF92B76F-7FA1-1358-E163-DADD225DBBD2}"/>
              </a:ext>
            </a:extLst>
          </p:cNvPr>
          <p:cNvSpPr txBox="1"/>
          <p:nvPr/>
        </p:nvSpPr>
        <p:spPr>
          <a:xfrm>
            <a:off x="6045200" y="3606799"/>
            <a:ext cx="5257800" cy="8001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Position, angle
Two velocities</a:t>
            </a:r>
          </a:p>
        </p:txBody>
      </p:sp>
      <p:sp>
        <p:nvSpPr>
          <p:cNvPr id="20" name="Rectangle: Rounded Corners 19">
            <a:extLst>
              <a:ext uri="{FF2B5EF4-FFF2-40B4-BE49-F238E27FC236}">
                <a16:creationId xmlns:a16="http://schemas.microsoft.com/office/drawing/2014/main" id="{9A224A30-5111-E3A6-E9EA-0F0901484CF7}"/>
              </a:ext>
            </a:extLst>
          </p:cNvPr>
          <p:cNvSpPr/>
          <p:nvPr/>
        </p:nvSpPr>
        <p:spPr>
          <a:xfrm>
            <a:off x="5842000" y="4635500"/>
            <a:ext cx="5664200" cy="10033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text_20">
            <a:extLst>
              <a:ext uri="{FF2B5EF4-FFF2-40B4-BE49-F238E27FC236}">
                <a16:creationId xmlns:a16="http://schemas.microsoft.com/office/drawing/2014/main" id="{9678E437-8781-1AFF-85D7-31B72E560380}"/>
              </a:ext>
            </a:extLst>
          </p:cNvPr>
          <p:cNvSpPr txBox="1"/>
          <p:nvPr/>
        </p:nvSpPr>
        <p:spPr>
          <a:xfrm>
            <a:off x="6045200" y="4787899"/>
            <a:ext cx="5257800" cy="8255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Act</a:t>
            </a:r>
          </a:p>
        </p:txBody>
      </p:sp>
      <p:sp>
        <p:nvSpPr>
          <p:cNvPr id="22" name="text_21">
            <a:extLst>
              <a:ext uri="{FF2B5EF4-FFF2-40B4-BE49-F238E27FC236}">
                <a16:creationId xmlns:a16="http://schemas.microsoft.com/office/drawing/2014/main" id="{557892B8-778A-06CF-4058-261A82319170}"/>
              </a:ext>
            </a:extLst>
          </p:cNvPr>
          <p:cNvSpPr txBox="1"/>
          <p:nvPr/>
        </p:nvSpPr>
        <p:spPr>
          <a:xfrm>
            <a:off x="7493000" y="4876799"/>
            <a:ext cx="3771900" cy="533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Continuous command</a:t>
            </a:r>
          </a:p>
        </p:txBody>
      </p:sp>
      <p:sp>
        <p:nvSpPr>
          <p:cNvPr id="23" name="text_22">
            <a:extLst>
              <a:ext uri="{FF2B5EF4-FFF2-40B4-BE49-F238E27FC236}">
                <a16:creationId xmlns:a16="http://schemas.microsoft.com/office/drawing/2014/main" id="{59E0EC8A-510B-F802-1B0B-9825058E22CA}"/>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MuJoCo supplies dynamics and reward-bearing experience.</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670356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64A1312-A21A-3E12-499B-6473EE9E41E2}"/>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057F17EB-3347-F671-BBE6-BF9A7299B15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A stochastic continuous policy</a:t>
            </a:r>
          </a:p>
        </p:txBody>
      </p:sp>
      <p:sp>
        <p:nvSpPr>
          <p:cNvPr id="4" name="text_3">
            <a:extLst>
              <a:ext uri="{FF2B5EF4-FFF2-40B4-BE49-F238E27FC236}">
                <a16:creationId xmlns:a16="http://schemas.microsoft.com/office/drawing/2014/main" id="{3838F699-386B-151C-7D94-670D9D9386D5}"/>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 distribution describes which actions are likely.</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2B6CF17A-E60F-1136-DDC8-B4525673EEF8}"/>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9CCE333-B1A2-DDD4-8486-E4C2C4FAF268}"/>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2CE98C2F-E593-52DD-5FD0-E34B96B5D61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05</a:t>
            </a:r>
          </a:p>
        </p:txBody>
      </p:sp>
      <p:sp>
        <p:nvSpPr>
          <p:cNvPr id="8" name="Rectangle: Rounded Corners 7">
            <a:extLst>
              <a:ext uri="{FF2B5EF4-FFF2-40B4-BE49-F238E27FC236}">
                <a16:creationId xmlns:a16="http://schemas.microsoft.com/office/drawing/2014/main" id="{F9DF02BD-A224-706D-1665-FFE2B1D43232}"/>
              </a:ext>
            </a:extLst>
          </p:cNvPr>
          <p:cNvSpPr/>
          <p:nvPr/>
        </p:nvSpPr>
        <p:spPr>
          <a:xfrm>
            <a:off x="685800" y="3162300"/>
            <a:ext cx="2298700" cy="19558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D9C53B5A-EFAD-2CD1-7CBE-76800655D675}"/>
              </a:ext>
            </a:extLst>
          </p:cNvPr>
          <p:cNvSpPr txBox="1"/>
          <p:nvPr/>
        </p:nvSpPr>
        <p:spPr>
          <a:xfrm>
            <a:off x="889000" y="3314699"/>
            <a:ext cx="1892300" cy="8255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Observe</a:t>
            </a:r>
          </a:p>
        </p:txBody>
      </p:sp>
      <p:sp>
        <p:nvSpPr>
          <p:cNvPr id="10" name="text_9">
            <a:extLst>
              <a:ext uri="{FF2B5EF4-FFF2-40B4-BE49-F238E27FC236}">
                <a16:creationId xmlns:a16="http://schemas.microsoft.com/office/drawing/2014/main" id="{C9BE9AD7-6723-A5A2-16E8-17A07EE9AF05}"/>
              </a:ext>
            </a:extLst>
          </p:cNvPr>
          <p:cNvSpPr txBox="1"/>
          <p:nvPr/>
        </p:nvSpPr>
        <p:spPr>
          <a:xfrm>
            <a:off x="889000" y="4140199"/>
            <a:ext cx="1892300" cy="9271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Robot state</a:t>
            </a:r>
          </a:p>
        </p:txBody>
      </p:sp>
      <p:sp>
        <p:nvSpPr>
          <p:cNvPr id="11" name="Rectangle: Rounded Corners 10">
            <a:extLst>
              <a:ext uri="{FF2B5EF4-FFF2-40B4-BE49-F238E27FC236}">
                <a16:creationId xmlns:a16="http://schemas.microsoft.com/office/drawing/2014/main" id="{77FEBC89-BCA5-FA24-8E44-A21E16A9276B}"/>
              </a:ext>
            </a:extLst>
          </p:cNvPr>
          <p:cNvSpPr/>
          <p:nvPr/>
        </p:nvSpPr>
        <p:spPr>
          <a:xfrm>
            <a:off x="3225800" y="3162300"/>
            <a:ext cx="2438400" cy="19558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199209C3-6A70-0524-FBBA-863282B194B4}"/>
              </a:ext>
            </a:extLst>
          </p:cNvPr>
          <p:cNvSpPr txBox="1"/>
          <p:nvPr/>
        </p:nvSpPr>
        <p:spPr>
          <a:xfrm>
            <a:off x="3429000" y="3314699"/>
            <a:ext cx="2032000" cy="8255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Policy</a:t>
            </a:r>
          </a:p>
        </p:txBody>
      </p:sp>
      <p:sp>
        <p:nvSpPr>
          <p:cNvPr id="13" name="text_12">
            <a:extLst>
              <a:ext uri="{FF2B5EF4-FFF2-40B4-BE49-F238E27FC236}">
                <a16:creationId xmlns:a16="http://schemas.microsoft.com/office/drawing/2014/main" id="{6B3F3277-CEA8-F826-DB1D-7E3445ED889B}"/>
              </a:ext>
            </a:extLst>
          </p:cNvPr>
          <p:cNvSpPr txBox="1"/>
          <p:nvPr/>
        </p:nvSpPr>
        <p:spPr>
          <a:xfrm>
            <a:off x="3429000" y="4140199"/>
            <a:ext cx="2032000" cy="9271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Mean + spread</a:t>
            </a:r>
          </a:p>
        </p:txBody>
      </p:sp>
      <p:cxnSp>
        <p:nvCxnSpPr>
          <p:cNvPr id="14" name="Straight Connector 13">
            <a:extLst>
              <a:ext uri="{FF2B5EF4-FFF2-40B4-BE49-F238E27FC236}">
                <a16:creationId xmlns:a16="http://schemas.microsoft.com/office/drawing/2014/main" id="{5BD395CC-16CE-AB5A-1AF8-D1E360DE5347}"/>
              </a:ext>
            </a:extLst>
          </p:cNvPr>
          <p:cNvCxnSpPr/>
          <p:nvPr/>
        </p:nvCxnSpPr>
        <p:spPr>
          <a:xfrm>
            <a:off x="3009900" y="4025900"/>
            <a:ext cx="1905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0D916A2-818B-C71F-31FC-7D28144FA171}"/>
              </a:ext>
            </a:extLst>
          </p:cNvPr>
          <p:cNvCxnSpPr/>
          <p:nvPr/>
        </p:nvCxnSpPr>
        <p:spPr>
          <a:xfrm>
            <a:off x="5689600" y="4025900"/>
            <a:ext cx="4572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6" name="text_15">
            <a:extLst>
              <a:ext uri="{FF2B5EF4-FFF2-40B4-BE49-F238E27FC236}">
                <a16:creationId xmlns:a16="http://schemas.microsoft.com/office/drawing/2014/main" id="{AA0ABECA-3332-CF53-BBAE-5BEAC6CE9DDE}"/>
              </a:ext>
            </a:extLst>
          </p:cNvPr>
          <p:cNvSpPr txBox="1"/>
          <p:nvPr/>
        </p:nvSpPr>
        <p:spPr>
          <a:xfrm>
            <a:off x="6413500" y="2616199"/>
            <a:ext cx="4686300" cy="5080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Action distribution</a:t>
            </a:r>
          </a:p>
        </p:txBody>
      </p:sp>
      <p:cxnSp>
        <p:nvCxnSpPr>
          <p:cNvPr id="17" name="Straight Connector 16">
            <a:extLst>
              <a:ext uri="{FF2B5EF4-FFF2-40B4-BE49-F238E27FC236}">
                <a16:creationId xmlns:a16="http://schemas.microsoft.com/office/drawing/2014/main" id="{60E8DDBC-9AAE-6CF5-5E88-61B1A5FF563E}"/>
              </a:ext>
            </a:extLst>
          </p:cNvPr>
          <p:cNvCxnSpPr/>
          <p:nvPr/>
        </p:nvCxnSpPr>
        <p:spPr>
          <a:xfrm>
            <a:off x="6197600" y="5080000"/>
            <a:ext cx="5232400" cy="0"/>
          </a:xfrm>
          <a:prstGeom prst="line">
            <a:avLst/>
          </a:prstGeom>
          <a:ln w="27940">
            <a:solidFill>
              <a:srgbClr val="526477"/>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16AF9D80-38D9-2C71-82E5-166081D50DE8}"/>
              </a:ext>
            </a:extLst>
          </p:cNvPr>
          <p:cNvCxnSpPr/>
          <p:nvPr/>
        </p:nvCxnSpPr>
        <p:spPr>
          <a:xfrm flipV="1">
            <a:off x="6197600" y="4989053"/>
            <a:ext cx="93980" cy="20638"/>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539789A-FB0F-1C90-BE04-D5D3B0CF238D}"/>
              </a:ext>
            </a:extLst>
          </p:cNvPr>
          <p:cNvCxnSpPr/>
          <p:nvPr/>
        </p:nvCxnSpPr>
        <p:spPr>
          <a:xfrm flipV="1">
            <a:off x="6291580" y="4963594"/>
            <a:ext cx="93980" cy="25459"/>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5BD4EC65-C118-D4C9-8F96-3CFBF1BE3ECF}"/>
              </a:ext>
            </a:extLst>
          </p:cNvPr>
          <p:cNvCxnSpPr/>
          <p:nvPr/>
        </p:nvCxnSpPr>
        <p:spPr>
          <a:xfrm flipV="1">
            <a:off x="6385560" y="4932573"/>
            <a:ext cx="93980" cy="31021"/>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2BC39E94-19C8-9FFD-2F7E-29B23B347012}"/>
              </a:ext>
            </a:extLst>
          </p:cNvPr>
          <p:cNvCxnSpPr/>
          <p:nvPr/>
        </p:nvCxnSpPr>
        <p:spPr>
          <a:xfrm flipV="1">
            <a:off x="6479540" y="4895248"/>
            <a:ext cx="93980" cy="37325"/>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81600AD1-C9E0-C463-215F-C3ABCBB8097A}"/>
              </a:ext>
            </a:extLst>
          </p:cNvPr>
          <p:cNvCxnSpPr/>
          <p:nvPr/>
        </p:nvCxnSpPr>
        <p:spPr>
          <a:xfrm flipV="1">
            <a:off x="6573520" y="4850905"/>
            <a:ext cx="93980" cy="44343"/>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E01D5FAB-C3D8-339A-E283-99BD6E8C26EE}"/>
              </a:ext>
            </a:extLst>
          </p:cNvPr>
          <p:cNvCxnSpPr/>
          <p:nvPr/>
        </p:nvCxnSpPr>
        <p:spPr>
          <a:xfrm flipV="1">
            <a:off x="6667500" y="4798906"/>
            <a:ext cx="93980" cy="51999"/>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7CF0895B-34DA-BB7D-8F32-FFA2AD99BEA3}"/>
              </a:ext>
            </a:extLst>
          </p:cNvPr>
          <p:cNvCxnSpPr/>
          <p:nvPr/>
        </p:nvCxnSpPr>
        <p:spPr>
          <a:xfrm flipV="1">
            <a:off x="6761480" y="4738727"/>
            <a:ext cx="93980" cy="60179"/>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B5CF59C-E052-7986-60A1-A3FE6475629B}"/>
              </a:ext>
            </a:extLst>
          </p:cNvPr>
          <p:cNvCxnSpPr/>
          <p:nvPr/>
        </p:nvCxnSpPr>
        <p:spPr>
          <a:xfrm flipV="1">
            <a:off x="6855460" y="4670018"/>
            <a:ext cx="93980" cy="68709"/>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BDCD2F80-9B55-67C6-5B83-1B5677631726}"/>
              </a:ext>
            </a:extLst>
          </p:cNvPr>
          <p:cNvCxnSpPr/>
          <p:nvPr/>
        </p:nvCxnSpPr>
        <p:spPr>
          <a:xfrm flipV="1">
            <a:off x="6949440" y="4592651"/>
            <a:ext cx="93980" cy="77367"/>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7093D83E-D952-63C7-526C-11D907671C43}"/>
              </a:ext>
            </a:extLst>
          </p:cNvPr>
          <p:cNvCxnSpPr/>
          <p:nvPr/>
        </p:nvCxnSpPr>
        <p:spPr>
          <a:xfrm flipV="1">
            <a:off x="7043420" y="4506772"/>
            <a:ext cx="93980" cy="85879"/>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7C26B3F2-1E35-5C16-2A87-A61905BC77AF}"/>
              </a:ext>
            </a:extLst>
          </p:cNvPr>
          <p:cNvCxnSpPr/>
          <p:nvPr/>
        </p:nvCxnSpPr>
        <p:spPr>
          <a:xfrm flipV="1">
            <a:off x="7137400" y="4412845"/>
            <a:ext cx="93980" cy="93927"/>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A8F164AE-637A-1625-F798-45A088D9F0A6}"/>
              </a:ext>
            </a:extLst>
          </p:cNvPr>
          <p:cNvCxnSpPr/>
          <p:nvPr/>
        </p:nvCxnSpPr>
        <p:spPr>
          <a:xfrm flipV="1">
            <a:off x="7231380" y="4311685"/>
            <a:ext cx="93980" cy="10116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62576FF0-C025-8F2B-5DA6-B28DB395E637}"/>
              </a:ext>
            </a:extLst>
          </p:cNvPr>
          <p:cNvCxnSpPr/>
          <p:nvPr/>
        </p:nvCxnSpPr>
        <p:spPr>
          <a:xfrm flipV="1">
            <a:off x="7325360" y="4204484"/>
            <a:ext cx="93980" cy="107201"/>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CF8F648A-E1F5-A3CF-9248-6498222789D2}"/>
              </a:ext>
            </a:extLst>
          </p:cNvPr>
          <p:cNvCxnSpPr/>
          <p:nvPr/>
        </p:nvCxnSpPr>
        <p:spPr>
          <a:xfrm flipV="1">
            <a:off x="7419340" y="4092809"/>
            <a:ext cx="93980" cy="111675"/>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3B7E473E-2E31-9E90-D0E1-F48669AD617C}"/>
              </a:ext>
            </a:extLst>
          </p:cNvPr>
          <p:cNvCxnSpPr/>
          <p:nvPr/>
        </p:nvCxnSpPr>
        <p:spPr>
          <a:xfrm flipV="1">
            <a:off x="7513320" y="3978586"/>
            <a:ext cx="93980" cy="114223"/>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5AD55E85-E881-804D-AB82-D832AD17E7F1}"/>
              </a:ext>
            </a:extLst>
          </p:cNvPr>
          <p:cNvCxnSpPr/>
          <p:nvPr/>
        </p:nvCxnSpPr>
        <p:spPr>
          <a:xfrm flipV="1">
            <a:off x="7607300" y="3864058"/>
            <a:ext cx="93980" cy="114528"/>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6B525E7D-7FAF-7201-E6F6-0388A5B679F8}"/>
              </a:ext>
            </a:extLst>
          </p:cNvPr>
          <p:cNvCxnSpPr/>
          <p:nvPr/>
        </p:nvCxnSpPr>
        <p:spPr>
          <a:xfrm flipV="1">
            <a:off x="7701280" y="3751728"/>
            <a:ext cx="93980" cy="11233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357A3E90-2629-9162-7BC5-79A302105AA0}"/>
              </a:ext>
            </a:extLst>
          </p:cNvPr>
          <p:cNvCxnSpPr/>
          <p:nvPr/>
        </p:nvCxnSpPr>
        <p:spPr>
          <a:xfrm flipV="1">
            <a:off x="7795260" y="3644266"/>
            <a:ext cx="93980" cy="107462"/>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B1DE74F7-245F-19D8-81F9-259849687FB3}"/>
              </a:ext>
            </a:extLst>
          </p:cNvPr>
          <p:cNvCxnSpPr/>
          <p:nvPr/>
        </p:nvCxnSpPr>
        <p:spPr>
          <a:xfrm flipV="1">
            <a:off x="7889240" y="3544417"/>
            <a:ext cx="93980" cy="99849"/>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80782360-C090-CD42-394A-DC83A8D40F9F}"/>
              </a:ext>
            </a:extLst>
          </p:cNvPr>
          <p:cNvCxnSpPr/>
          <p:nvPr/>
        </p:nvCxnSpPr>
        <p:spPr>
          <a:xfrm flipV="1">
            <a:off x="7983220" y="3454882"/>
            <a:ext cx="93980" cy="89535"/>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465428F8-6D57-8D38-0596-A24540C2ACD7}"/>
              </a:ext>
            </a:extLst>
          </p:cNvPr>
          <p:cNvCxnSpPr/>
          <p:nvPr/>
        </p:nvCxnSpPr>
        <p:spPr>
          <a:xfrm flipV="1">
            <a:off x="8077200" y="3378198"/>
            <a:ext cx="93980" cy="76684"/>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52D6C8B0-1844-8BA7-1C99-F2C2810D25DC}"/>
              </a:ext>
            </a:extLst>
          </p:cNvPr>
          <p:cNvCxnSpPr/>
          <p:nvPr/>
        </p:nvCxnSpPr>
        <p:spPr>
          <a:xfrm flipV="1">
            <a:off x="8171180" y="3316621"/>
            <a:ext cx="93980" cy="61577"/>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13996C0-99AF-8BFE-93D5-B52F7476A466}"/>
              </a:ext>
            </a:extLst>
          </p:cNvPr>
          <p:cNvCxnSpPr/>
          <p:nvPr/>
        </p:nvCxnSpPr>
        <p:spPr>
          <a:xfrm flipV="1">
            <a:off x="8265160" y="3272016"/>
            <a:ext cx="93980" cy="44605"/>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A0E57AE4-FA5F-3D1B-F9D1-4CE2E45E8651}"/>
              </a:ext>
            </a:extLst>
          </p:cNvPr>
          <p:cNvCxnSpPr/>
          <p:nvPr/>
        </p:nvCxnSpPr>
        <p:spPr>
          <a:xfrm flipV="1">
            <a:off x="8359140" y="3245761"/>
            <a:ext cx="93980" cy="26255"/>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045B839C-F899-DCC4-5413-F26E9717ABD0}"/>
              </a:ext>
            </a:extLst>
          </p:cNvPr>
          <p:cNvCxnSpPr/>
          <p:nvPr/>
        </p:nvCxnSpPr>
        <p:spPr>
          <a:xfrm flipV="1">
            <a:off x="8453120" y="3238678"/>
            <a:ext cx="93980" cy="7083"/>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A4BB3A41-1FCE-FDA6-D18E-56B21AB7D8FF}"/>
              </a:ext>
            </a:extLst>
          </p:cNvPr>
          <p:cNvCxnSpPr/>
          <p:nvPr/>
        </p:nvCxnSpPr>
        <p:spPr>
          <a:xfrm>
            <a:off x="8547100" y="3238678"/>
            <a:ext cx="93980" cy="12312"/>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44B77572-AFB9-2127-9324-5BDCCD5F45C3}"/>
              </a:ext>
            </a:extLst>
          </p:cNvPr>
          <p:cNvCxnSpPr/>
          <p:nvPr/>
        </p:nvCxnSpPr>
        <p:spPr>
          <a:xfrm>
            <a:off x="8641080" y="3250990"/>
            <a:ext cx="93980" cy="3132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4E71C69E-59BF-7AA7-963F-25AFCF06BFD2}"/>
              </a:ext>
            </a:extLst>
          </p:cNvPr>
          <p:cNvCxnSpPr/>
          <p:nvPr/>
        </p:nvCxnSpPr>
        <p:spPr>
          <a:xfrm>
            <a:off x="8735060" y="3282310"/>
            <a:ext cx="93980" cy="4935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000583FC-D469-2E07-5FCA-F94633B0779F}"/>
              </a:ext>
            </a:extLst>
          </p:cNvPr>
          <p:cNvCxnSpPr/>
          <p:nvPr/>
        </p:nvCxnSpPr>
        <p:spPr>
          <a:xfrm>
            <a:off x="8829040" y="3331660"/>
            <a:ext cx="93980" cy="65862"/>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05D27392-6FAD-6780-7361-E6858611BB2D}"/>
              </a:ext>
            </a:extLst>
          </p:cNvPr>
          <p:cNvCxnSpPr/>
          <p:nvPr/>
        </p:nvCxnSpPr>
        <p:spPr>
          <a:xfrm>
            <a:off x="8923020" y="3397522"/>
            <a:ext cx="93980" cy="80393"/>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8B11F791-7832-5637-5988-B86EE2820F5B}"/>
              </a:ext>
            </a:extLst>
          </p:cNvPr>
          <p:cNvCxnSpPr/>
          <p:nvPr/>
        </p:nvCxnSpPr>
        <p:spPr>
          <a:xfrm>
            <a:off x="9017000" y="3477915"/>
            <a:ext cx="93980" cy="92582"/>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7D4E1A78-2AF4-0C01-8B7C-D7A24EACD650}"/>
              </a:ext>
            </a:extLst>
          </p:cNvPr>
          <p:cNvCxnSpPr/>
          <p:nvPr/>
        </p:nvCxnSpPr>
        <p:spPr>
          <a:xfrm>
            <a:off x="9110980" y="3570497"/>
            <a:ext cx="93980" cy="102177"/>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B29DB004-CD74-A2C0-4758-9FF4A34E90D5}"/>
              </a:ext>
            </a:extLst>
          </p:cNvPr>
          <p:cNvCxnSpPr/>
          <p:nvPr/>
        </p:nvCxnSpPr>
        <p:spPr>
          <a:xfrm>
            <a:off x="9204960" y="3672674"/>
            <a:ext cx="93980" cy="109047"/>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00E1B98D-D663-FACF-21F6-44D996126DEB}"/>
              </a:ext>
            </a:extLst>
          </p:cNvPr>
          <p:cNvCxnSpPr/>
          <p:nvPr/>
        </p:nvCxnSpPr>
        <p:spPr>
          <a:xfrm>
            <a:off x="9298940" y="3781721"/>
            <a:ext cx="93980" cy="113182"/>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9A6542EC-1E63-252D-C41A-D221A7C12504}"/>
              </a:ext>
            </a:extLst>
          </p:cNvPr>
          <p:cNvCxnSpPr/>
          <p:nvPr/>
        </p:nvCxnSpPr>
        <p:spPr>
          <a:xfrm>
            <a:off x="9392920" y="3894903"/>
            <a:ext cx="93980" cy="114683"/>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22A35CC8-E27A-F181-AE33-C5678F7118B8}"/>
              </a:ext>
            </a:extLst>
          </p:cNvPr>
          <p:cNvCxnSpPr/>
          <p:nvPr/>
        </p:nvCxnSpPr>
        <p:spPr>
          <a:xfrm>
            <a:off x="9486900" y="4009586"/>
            <a:ext cx="93980" cy="113743"/>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A02135CF-CE59-B4E2-A453-810D5CBC07D7}"/>
              </a:ext>
            </a:extLst>
          </p:cNvPr>
          <p:cNvCxnSpPr/>
          <p:nvPr/>
        </p:nvCxnSpPr>
        <p:spPr>
          <a:xfrm>
            <a:off x="9580880" y="4123329"/>
            <a:ext cx="93980" cy="110642"/>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5D2296A-B96C-B664-4CA0-D4DF052F24BB}"/>
              </a:ext>
            </a:extLst>
          </p:cNvPr>
          <p:cNvCxnSpPr/>
          <p:nvPr/>
        </p:nvCxnSpPr>
        <p:spPr>
          <a:xfrm>
            <a:off x="9674860" y="4233971"/>
            <a:ext cx="93980" cy="105707"/>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1FF33849-3A7C-14FA-3E5D-E70C99351635}"/>
              </a:ext>
            </a:extLst>
          </p:cNvPr>
          <p:cNvCxnSpPr/>
          <p:nvPr/>
        </p:nvCxnSpPr>
        <p:spPr>
          <a:xfrm>
            <a:off x="9768840" y="4339678"/>
            <a:ext cx="93980" cy="99306"/>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1525854E-5A99-49C3-ADDE-79C4F686DB0C}"/>
              </a:ext>
            </a:extLst>
          </p:cNvPr>
          <p:cNvCxnSpPr/>
          <p:nvPr/>
        </p:nvCxnSpPr>
        <p:spPr>
          <a:xfrm>
            <a:off x="9862820" y="4438984"/>
            <a:ext cx="93980" cy="91818"/>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3E02A256-D40F-31AE-A6C4-4CA38026E229}"/>
              </a:ext>
            </a:extLst>
          </p:cNvPr>
          <p:cNvCxnSpPr/>
          <p:nvPr/>
        </p:nvCxnSpPr>
        <p:spPr>
          <a:xfrm>
            <a:off x="9956800" y="4530802"/>
            <a:ext cx="93980" cy="8361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E156FBBE-9811-244C-6CD5-567A19762E0B}"/>
              </a:ext>
            </a:extLst>
          </p:cNvPr>
          <p:cNvCxnSpPr/>
          <p:nvPr/>
        </p:nvCxnSpPr>
        <p:spPr>
          <a:xfrm>
            <a:off x="10050780" y="4614412"/>
            <a:ext cx="93980" cy="75029"/>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676D09F9-25BE-5433-352A-3F03B1E4248D}"/>
              </a:ext>
            </a:extLst>
          </p:cNvPr>
          <p:cNvCxnSpPr/>
          <p:nvPr/>
        </p:nvCxnSpPr>
        <p:spPr>
          <a:xfrm>
            <a:off x="10144760" y="4689441"/>
            <a:ext cx="93980" cy="6638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E2669AA3-2957-2EF9-CE91-646941EAAB28}"/>
              </a:ext>
            </a:extLst>
          </p:cNvPr>
          <p:cNvCxnSpPr/>
          <p:nvPr/>
        </p:nvCxnSpPr>
        <p:spPr>
          <a:xfrm>
            <a:off x="10238740" y="4755821"/>
            <a:ext cx="93980" cy="57926"/>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86EE9050-B59C-CF2A-04B5-7040017DC5F6}"/>
              </a:ext>
            </a:extLst>
          </p:cNvPr>
          <p:cNvCxnSpPr/>
          <p:nvPr/>
        </p:nvCxnSpPr>
        <p:spPr>
          <a:xfrm>
            <a:off x="10332720" y="4813747"/>
            <a:ext cx="93980" cy="49873"/>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59C5FC8A-F7F7-EA81-EF72-E212FDA0E6E5}"/>
              </a:ext>
            </a:extLst>
          </p:cNvPr>
          <p:cNvCxnSpPr/>
          <p:nvPr/>
        </p:nvCxnSpPr>
        <p:spPr>
          <a:xfrm>
            <a:off x="10426700" y="4863620"/>
            <a:ext cx="93980" cy="42379"/>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CA99F264-DCA9-9CB9-38A7-678AE4898C57}"/>
              </a:ext>
            </a:extLst>
          </p:cNvPr>
          <p:cNvCxnSpPr/>
          <p:nvPr/>
        </p:nvCxnSpPr>
        <p:spPr>
          <a:xfrm>
            <a:off x="10520680" y="4905999"/>
            <a:ext cx="93980" cy="35549"/>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30B4A102-5FCB-D78B-A152-7D952D9B0F1F}"/>
              </a:ext>
            </a:extLst>
          </p:cNvPr>
          <p:cNvCxnSpPr/>
          <p:nvPr/>
        </p:nvCxnSpPr>
        <p:spPr>
          <a:xfrm>
            <a:off x="10614660" y="4941548"/>
            <a:ext cx="93980" cy="29444"/>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CAC1A67C-B1F4-FD39-89FB-A406F80F51E6}"/>
              </a:ext>
            </a:extLst>
          </p:cNvPr>
          <p:cNvCxnSpPr/>
          <p:nvPr/>
        </p:nvCxnSpPr>
        <p:spPr>
          <a:xfrm>
            <a:off x="10708640" y="4970992"/>
            <a:ext cx="93980" cy="24084"/>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DA6D36A1-1030-CA99-1352-4A8D4B370563}"/>
              </a:ext>
            </a:extLst>
          </p:cNvPr>
          <p:cNvCxnSpPr/>
          <p:nvPr/>
        </p:nvCxnSpPr>
        <p:spPr>
          <a:xfrm>
            <a:off x="10802620" y="4995076"/>
            <a:ext cx="93980" cy="19458"/>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C9A42DE6-94A5-7CD6-2F67-05B420244270}"/>
              </a:ext>
            </a:extLst>
          </p:cNvPr>
          <p:cNvCxnSpPr/>
          <p:nvPr/>
        </p:nvCxnSpPr>
        <p:spPr>
          <a:xfrm>
            <a:off x="10896600" y="5014534"/>
            <a:ext cx="93980" cy="15530"/>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81FA85B9-29E1-D4FC-E253-1A3A4AEC17C7}"/>
              </a:ext>
            </a:extLst>
          </p:cNvPr>
          <p:cNvCxnSpPr/>
          <p:nvPr/>
        </p:nvCxnSpPr>
        <p:spPr>
          <a:xfrm>
            <a:off x="10990580" y="5030064"/>
            <a:ext cx="93980" cy="12246"/>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55CEDCCF-5E39-E962-FCC5-F6AFDE68800F}"/>
              </a:ext>
            </a:extLst>
          </p:cNvPr>
          <p:cNvCxnSpPr/>
          <p:nvPr/>
        </p:nvCxnSpPr>
        <p:spPr>
          <a:xfrm>
            <a:off x="11084560" y="5042310"/>
            <a:ext cx="93980" cy="9542"/>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58F15FB8-DD52-DEDF-2FDE-4B8801948ED3}"/>
              </a:ext>
            </a:extLst>
          </p:cNvPr>
          <p:cNvCxnSpPr/>
          <p:nvPr/>
        </p:nvCxnSpPr>
        <p:spPr>
          <a:xfrm>
            <a:off x="11178540" y="5051852"/>
            <a:ext cx="93980" cy="7347"/>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063F8052-3470-5AE8-3871-AA0E746C67F9}"/>
              </a:ext>
            </a:extLst>
          </p:cNvPr>
          <p:cNvCxnSpPr/>
          <p:nvPr/>
        </p:nvCxnSpPr>
        <p:spPr>
          <a:xfrm>
            <a:off x="11272520" y="5059199"/>
            <a:ext cx="93980" cy="5591"/>
          </a:xfrm>
          <a:prstGeom prst="line">
            <a:avLst/>
          </a:prstGeom>
          <a:ln w="27940">
            <a:solidFill>
              <a:srgbClr val="2459D3"/>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B6C8E7CD-F866-7D80-A34F-BB15D088B090}"/>
              </a:ext>
            </a:extLst>
          </p:cNvPr>
          <p:cNvCxnSpPr/>
          <p:nvPr/>
        </p:nvCxnSpPr>
        <p:spPr>
          <a:xfrm>
            <a:off x="8534400" y="3238500"/>
            <a:ext cx="0" cy="1866900"/>
          </a:xfrm>
          <a:prstGeom prst="line">
            <a:avLst/>
          </a:prstGeom>
          <a:ln w="27940">
            <a:solidFill>
              <a:srgbClr val="137F79"/>
            </a:solidFill>
            <a:prstDash val="dash"/>
          </a:ln>
        </p:spPr>
        <p:style>
          <a:lnRef idx="2">
            <a:schemeClr val="accent1"/>
          </a:lnRef>
          <a:fillRef idx="0">
            <a:schemeClr val="accent1"/>
          </a:fillRef>
          <a:effectRef idx="1">
            <a:schemeClr val="accent1"/>
          </a:effectRef>
          <a:fontRef idx="minor">
            <a:schemeClr val="tx1"/>
          </a:fontRef>
        </p:style>
      </p:cxnSp>
      <p:sp>
        <p:nvSpPr>
          <p:cNvPr id="74" name="text_73">
            <a:extLst>
              <a:ext uri="{FF2B5EF4-FFF2-40B4-BE49-F238E27FC236}">
                <a16:creationId xmlns:a16="http://schemas.microsoft.com/office/drawing/2014/main" id="{DBB8B3EE-A3A1-01EE-0955-48120A60F47B}"/>
              </a:ext>
            </a:extLst>
          </p:cNvPr>
          <p:cNvSpPr txBox="1"/>
          <p:nvPr/>
        </p:nvSpPr>
        <p:spPr>
          <a:xfrm>
            <a:off x="8013700" y="5194299"/>
            <a:ext cx="1257300" cy="4318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Mean</a:t>
            </a:r>
          </a:p>
        </p:txBody>
      </p:sp>
      <p:cxnSp>
        <p:nvCxnSpPr>
          <p:cNvPr id="75" name="Straight Connector 74">
            <a:extLst>
              <a:ext uri="{FF2B5EF4-FFF2-40B4-BE49-F238E27FC236}">
                <a16:creationId xmlns:a16="http://schemas.microsoft.com/office/drawing/2014/main" id="{65F35583-7FDF-88C6-866B-79B118D52FA9}"/>
              </a:ext>
            </a:extLst>
          </p:cNvPr>
          <p:cNvCxnSpPr/>
          <p:nvPr/>
        </p:nvCxnSpPr>
        <p:spPr>
          <a:xfrm>
            <a:off x="7620000" y="4152900"/>
            <a:ext cx="1828800" cy="0"/>
          </a:xfrm>
          <a:prstGeom prst="line">
            <a:avLst/>
          </a:prstGeom>
          <a:ln w="27940">
            <a:solidFill>
              <a:srgbClr val="137F79"/>
            </a:solidFill>
            <a:headEnd type="arrow"/>
          </a:ln>
        </p:spPr>
        <p:style>
          <a:lnRef idx="2">
            <a:schemeClr val="accent1"/>
          </a:lnRef>
          <a:fillRef idx="0">
            <a:schemeClr val="accent1"/>
          </a:fillRef>
          <a:effectRef idx="1">
            <a:schemeClr val="accent1"/>
          </a:effectRef>
          <a:fontRef idx="minor">
            <a:schemeClr val="tx1"/>
          </a:fontRef>
        </p:style>
      </p:cxnSp>
      <p:sp>
        <p:nvSpPr>
          <p:cNvPr id="76" name="text_75">
            <a:extLst>
              <a:ext uri="{FF2B5EF4-FFF2-40B4-BE49-F238E27FC236}">
                <a16:creationId xmlns:a16="http://schemas.microsoft.com/office/drawing/2014/main" id="{62C24B2F-33F8-3AAF-21C7-7031081C57B8}"/>
              </a:ext>
            </a:extLst>
          </p:cNvPr>
          <p:cNvSpPr txBox="1"/>
          <p:nvPr/>
        </p:nvSpPr>
        <p:spPr>
          <a:xfrm>
            <a:off x="7874000" y="3670299"/>
            <a:ext cx="1409700" cy="4191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Spread</a:t>
            </a:r>
          </a:p>
        </p:txBody>
      </p:sp>
      <p:sp>
        <p:nvSpPr>
          <p:cNvPr id="77" name="Oval 76">
            <a:extLst>
              <a:ext uri="{FF2B5EF4-FFF2-40B4-BE49-F238E27FC236}">
                <a16:creationId xmlns:a16="http://schemas.microsoft.com/office/drawing/2014/main" id="{E8CC986C-0351-8319-037B-18AB939BFA39}"/>
              </a:ext>
            </a:extLst>
          </p:cNvPr>
          <p:cNvSpPr/>
          <p:nvPr/>
        </p:nvSpPr>
        <p:spPr>
          <a:xfrm>
            <a:off x="9918700" y="4991100"/>
            <a:ext cx="177800" cy="177800"/>
          </a:xfrm>
          <a:prstGeom prst="ellipse">
            <a:avLst/>
          </a:prstGeom>
          <a:solidFill>
            <a:srgbClr val="AE651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78" name="Straight Connector 77">
            <a:extLst>
              <a:ext uri="{FF2B5EF4-FFF2-40B4-BE49-F238E27FC236}">
                <a16:creationId xmlns:a16="http://schemas.microsoft.com/office/drawing/2014/main" id="{9F2AA7F3-8813-D5C1-B453-00ED016C086E}"/>
              </a:ext>
            </a:extLst>
          </p:cNvPr>
          <p:cNvCxnSpPr/>
          <p:nvPr/>
        </p:nvCxnSpPr>
        <p:spPr>
          <a:xfrm flipV="1">
            <a:off x="10007600" y="4597400"/>
            <a:ext cx="0" cy="482600"/>
          </a:xfrm>
          <a:prstGeom prst="line">
            <a:avLst/>
          </a:prstGeom>
          <a:ln w="27940">
            <a:solidFill>
              <a:srgbClr val="AE651D"/>
            </a:solidFill>
          </a:ln>
        </p:spPr>
        <p:style>
          <a:lnRef idx="2">
            <a:schemeClr val="accent1"/>
          </a:lnRef>
          <a:fillRef idx="0">
            <a:schemeClr val="accent1"/>
          </a:fillRef>
          <a:effectRef idx="1">
            <a:schemeClr val="accent1"/>
          </a:effectRef>
          <a:fontRef idx="minor">
            <a:schemeClr val="tx1"/>
          </a:fontRef>
        </p:style>
      </p:cxnSp>
      <p:sp>
        <p:nvSpPr>
          <p:cNvPr id="79" name="text_78">
            <a:extLst>
              <a:ext uri="{FF2B5EF4-FFF2-40B4-BE49-F238E27FC236}">
                <a16:creationId xmlns:a16="http://schemas.microsoft.com/office/drawing/2014/main" id="{956CEA22-93AC-A58C-CBD8-CAE3EF294AC9}"/>
              </a:ext>
            </a:extLst>
          </p:cNvPr>
          <p:cNvSpPr txBox="1"/>
          <p:nvPr/>
        </p:nvSpPr>
        <p:spPr>
          <a:xfrm>
            <a:off x="9677400" y="4102099"/>
            <a:ext cx="1739900" cy="850900"/>
          </a:xfrm>
          <a:prstGeom prst="rect">
            <a:avLst/>
          </a:prstGeom>
          <a:noFill/>
        </p:spPr>
        <p:txBody>
          <a:bodyPr vert="horz" wrap="square" lIns="0" tIns="0" rIns="0" bIns="0" rtlCol="0" anchor="t">
            <a:noAutofit/>
          </a:bodyPr>
          <a:lstStyle/>
          <a:p>
            <a:r>
              <a:rPr lang="en-IL" sz="2400" b="1">
                <a:solidFill>
                  <a:srgbClr val="AE651D"/>
                </a:solidFill>
                <a:latin typeface="Aptos" panose="020B0004020202020204" pitchFamily="34" charset="0"/>
              </a:rPr>
              <a:t>Sampled action</a:t>
            </a:r>
          </a:p>
        </p:txBody>
      </p:sp>
      <p:sp>
        <p:nvSpPr>
          <p:cNvPr id="80" name="text_79">
            <a:extLst>
              <a:ext uri="{FF2B5EF4-FFF2-40B4-BE49-F238E27FC236}">
                <a16:creationId xmlns:a16="http://schemas.microsoft.com/office/drawing/2014/main" id="{F5E4CD2D-4F7D-4D72-BDF7-F1E571582057}"/>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Mean: central action. Spread: randomness. Respect actuator limits.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572119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97C70664-16F5-B709-C43C-345F20853886}"/>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B93D62DC-8EC7-D367-8D69-A04A70BD6E3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What are we optimizing?</a:t>
            </a:r>
          </a:p>
        </p:txBody>
      </p:sp>
      <p:sp>
        <p:nvSpPr>
          <p:cNvPr id="4" name="text_3">
            <a:extLst>
              <a:ext uri="{FF2B5EF4-FFF2-40B4-BE49-F238E27FC236}">
                <a16:creationId xmlns:a16="http://schemas.microsoft.com/office/drawing/2014/main" id="{EC69430E-1314-6196-88A0-AD29E553E734}"/>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IL" sz="2600">
                <a:solidFill>
                  <a:srgbClr val="526477"/>
                </a:solidFill>
                <a:latin typeface="Aptos" panose="020B0004020202020204" pitchFamily="34" charset="0"/>
              </a:rPr>
              <a:t>Increase expected discounted return.</a:t>
            </a:r>
          </a:p>
        </p:txBody>
      </p:sp>
      <p:cxnSp>
        <p:nvCxnSpPr>
          <p:cNvPr id="5" name="Straight Connector 4">
            <a:extLst>
              <a:ext uri="{FF2B5EF4-FFF2-40B4-BE49-F238E27FC236}">
                <a16:creationId xmlns:a16="http://schemas.microsoft.com/office/drawing/2014/main" id="{F3ECD9BC-A382-AC07-C45F-3967ACCF888D}"/>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A7BC6B62-C922-8421-D8B6-D9C546B882AA}"/>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27194342-A5FD-312F-075E-450E21468480}"/>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06</a:t>
            </a:r>
          </a:p>
        </p:txBody>
      </p:sp>
      <p:sp>
        <p:nvSpPr>
          <p:cNvPr id="8" name="text_7">
            <a:extLst>
              <a:ext uri="{FF2B5EF4-FFF2-40B4-BE49-F238E27FC236}">
                <a16:creationId xmlns:a16="http://schemas.microsoft.com/office/drawing/2014/main" id="{57189040-F6DB-01CB-CABF-8842C2054A36}"/>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3200">
                <a:solidFill>
                  <a:srgbClr val="2459D3"/>
                </a:solidFill>
                <a:latin typeface="Cambria Math" panose="02040503050406030204" pitchFamily="18" charset="0"/>
              </a:rPr>
              <a:t>J(</a:t>
            </a:r>
            <a:r>
              <a:rPr lang="el-GR" sz="3200">
                <a:solidFill>
                  <a:srgbClr val="2459D3"/>
                </a:solidFill>
                <a:latin typeface="Cambria Math" panose="02040503050406030204" pitchFamily="18" charset="0"/>
              </a:rPr>
              <a:t>θ) = 𝔼</a:t>
            </a:r>
            <a:r>
              <a:rPr lang="el-GR" sz="2304" baseline="-22000">
                <a:solidFill>
                  <a:srgbClr val="2459D3"/>
                </a:solidFill>
                <a:latin typeface="Cambria Math" panose="02040503050406030204" pitchFamily="18" charset="0"/>
              </a:rPr>
              <a:t>τ∼πθ</a:t>
            </a:r>
            <a:r>
              <a:rPr lang="el-GR" sz="3200">
                <a:solidFill>
                  <a:srgbClr val="2459D3"/>
                </a:solidFill>
                <a:latin typeface="Cambria Math" panose="02040503050406030204" pitchFamily="18" charset="0"/>
              </a:rPr>
              <a:t>[ ∑</a:t>
            </a:r>
            <a:r>
              <a:rPr lang="en-IL" sz="2304" baseline="-22000">
                <a:solidFill>
                  <a:srgbClr val="2459D3"/>
                </a:solidFill>
                <a:latin typeface="Cambria Math" panose="02040503050406030204" pitchFamily="18" charset="0"/>
              </a:rPr>
              <a:t>t=0</a:t>
            </a:r>
            <a:r>
              <a:rPr lang="en-IL" sz="2304" baseline="32000">
                <a:solidFill>
                  <a:srgbClr val="2459D3"/>
                </a:solidFill>
                <a:latin typeface="Cambria Math" panose="02040503050406030204" pitchFamily="18" charset="0"/>
              </a:rPr>
              <a:t>T−1</a:t>
            </a:r>
            <a:r>
              <a:rPr lang="en-IL" sz="3200">
                <a:solidFill>
                  <a:srgbClr val="2459D3"/>
                </a:solidFill>
                <a:latin typeface="Cambria Math" panose="02040503050406030204" pitchFamily="18" charset="0"/>
              </a:rPr>
              <a:t> </a:t>
            </a:r>
            <a:r>
              <a:rPr lang="el-GR" sz="3200">
                <a:solidFill>
                  <a:srgbClr val="2459D3"/>
                </a:solidFill>
                <a:latin typeface="Cambria Math" panose="02040503050406030204" pitchFamily="18" charset="0"/>
              </a:rPr>
              <a:t>γ</a:t>
            </a:r>
            <a:r>
              <a:rPr lang="en-IL" sz="2304" baseline="32000">
                <a:solidFill>
                  <a:srgbClr val="2459D3"/>
                </a:solidFill>
                <a:latin typeface="Cambria Math" panose="02040503050406030204" pitchFamily="18" charset="0"/>
              </a:rPr>
              <a:t>t</a:t>
            </a:r>
            <a:r>
              <a:rPr lang="en-IL" sz="3200">
                <a:solidFill>
                  <a:srgbClr val="2459D3"/>
                </a:solidFill>
                <a:latin typeface="Cambria Math" panose="02040503050406030204" pitchFamily="18" charset="0"/>
              </a:rPr>
              <a:t> R</a:t>
            </a:r>
            <a:r>
              <a:rPr lang="en-IL" sz="2304" baseline="-22000">
                <a:solidFill>
                  <a:srgbClr val="2459D3"/>
                </a:solidFill>
                <a:latin typeface="Cambria Math" panose="02040503050406030204" pitchFamily="18" charset="0"/>
              </a:rPr>
              <a:t>t</a:t>
            </a:r>
            <a:r>
              <a:rPr lang="en-IL" sz="3200">
                <a:solidFill>
                  <a:srgbClr val="2459D3"/>
                </a:solidFill>
                <a:latin typeface="Cambria Math" panose="02040503050406030204" pitchFamily="18" charset="0"/>
              </a:rPr>
              <a:t> ]</a:t>
            </a:r>
          </a:p>
        </p:txBody>
      </p:sp>
      <p:sp>
        <p:nvSpPr>
          <p:cNvPr id="9" name="text_8">
            <a:extLst>
              <a:ext uri="{FF2B5EF4-FFF2-40B4-BE49-F238E27FC236}">
                <a16:creationId xmlns:a16="http://schemas.microsoft.com/office/drawing/2014/main" id="{6C84851B-7C43-0AD7-BB1E-68BB27E8E18F}"/>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l-GR" sz="3200">
                <a:solidFill>
                  <a:srgbClr val="15283B"/>
                </a:solidFill>
                <a:latin typeface="Cambria Math" panose="02040503050406030204" pitchFamily="18" charset="0"/>
              </a:rPr>
              <a:t>θ ← θ + η ∇</a:t>
            </a:r>
            <a:r>
              <a:rPr lang="el-GR" sz="2304" baseline="-22000">
                <a:solidFill>
                  <a:srgbClr val="15283B"/>
                </a:solidFill>
                <a:latin typeface="Cambria Math" panose="02040503050406030204" pitchFamily="18" charset="0"/>
              </a:rPr>
              <a:t>θ</a:t>
            </a:r>
            <a:r>
              <a:rPr lang="el-GR" sz="3200">
                <a:solidFill>
                  <a:srgbClr val="15283B"/>
                </a:solidFill>
                <a:latin typeface="Cambria Math" panose="02040503050406030204" pitchFamily="18" charset="0"/>
              </a:rPr>
              <a:t> J(θ)</a:t>
            </a:r>
            <a:endParaRPr lang="en-IL" sz="32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09C681DB-388F-2C58-F964-88836FEF657A}"/>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θ: policy parameters · η: step size · γ: reward discount</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118615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F549075-DFB4-8A20-67A9-719490A8274E}"/>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D61D3D35-8B26-1397-F564-84D598F1534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Where the policy gradient comes from</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F9E1DC5D-E324-620E-578D-8AFD0DACAF0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Differentiate trajectory likelihood, rather than simulator physics.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CC6EDDB1-BB72-4793-CE34-294979C32085}"/>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D93B3F71-7C0A-60BA-5400-4D1EEF55A5A0}"/>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A71BE112-CBD0-CE48-677E-E16034D9FAA0}"/>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07</a:t>
            </a:r>
          </a:p>
        </p:txBody>
      </p:sp>
      <p:sp>
        <p:nvSpPr>
          <p:cNvPr id="8" name="text_7">
            <a:extLst>
              <a:ext uri="{FF2B5EF4-FFF2-40B4-BE49-F238E27FC236}">
                <a16:creationId xmlns:a16="http://schemas.microsoft.com/office/drawing/2014/main" id="{BEFBCBB3-99B4-880D-CD2E-F08E43EB456A}"/>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US" sz="3200">
                <a:solidFill>
                  <a:srgbClr val="2459D3"/>
                </a:solidFill>
                <a:latin typeface="Cambria Math" panose="02040503050406030204" pitchFamily="18" charset="0"/>
              </a:rPr>
              <a:t>p</a:t>
            </a:r>
            <a:r>
              <a:rPr lang="en-US" sz="2304" baseline="-22000">
                <a:solidFill>
                  <a:srgbClr val="2459D3"/>
                </a:solidFill>
                <a:latin typeface="Cambria Math" panose="02040503050406030204" pitchFamily="18" charset="0"/>
              </a:rPr>
              <a:t>θ</a:t>
            </a:r>
            <a:r>
              <a:rPr lang="en-US" sz="3200">
                <a:solidFill>
                  <a:srgbClr val="2459D3"/>
                </a:solidFill>
                <a:latin typeface="Cambria Math" panose="02040503050406030204" pitchFamily="18" charset="0"/>
              </a:rPr>
              <a:t>(τ) = ρ</a:t>
            </a:r>
            <a:r>
              <a:rPr lang="en-US" sz="2304" baseline="-22000">
                <a:solidFill>
                  <a:srgbClr val="2459D3"/>
                </a:solidFill>
                <a:latin typeface="Cambria Math" panose="02040503050406030204" pitchFamily="18" charset="0"/>
              </a:rPr>
              <a:t>0</a:t>
            </a:r>
            <a:r>
              <a:rPr lang="en-US" sz="3200">
                <a:solidFill>
                  <a:srgbClr val="2459D3"/>
                </a:solidFill>
                <a:latin typeface="Cambria Math" panose="02040503050406030204" pitchFamily="18" charset="0"/>
              </a:rPr>
              <a:t>(s</a:t>
            </a:r>
            <a:r>
              <a:rPr lang="en-US" sz="2304" baseline="-22000">
                <a:solidFill>
                  <a:srgbClr val="2459D3"/>
                </a:solidFill>
                <a:latin typeface="Cambria Math" panose="02040503050406030204" pitchFamily="18" charset="0"/>
              </a:rPr>
              <a:t>0</a:t>
            </a:r>
            <a:r>
              <a:rPr lang="en-US" sz="3200">
                <a:solidFill>
                  <a:srgbClr val="2459D3"/>
                </a:solidFill>
                <a:latin typeface="Cambria Math" panose="02040503050406030204" pitchFamily="18" charset="0"/>
              </a:rPr>
              <a:t>) ∏</a:t>
            </a:r>
            <a:r>
              <a:rPr lang="en-US" sz="2304" baseline="-22000">
                <a:solidFill>
                  <a:srgbClr val="2459D3"/>
                </a:solidFill>
                <a:latin typeface="Cambria Math" panose="02040503050406030204" pitchFamily="18" charset="0"/>
              </a:rPr>
              <a:t>t</a:t>
            </a:r>
            <a:r>
              <a:rPr lang="en-US" sz="3200">
                <a:solidFill>
                  <a:srgbClr val="2459D3"/>
                </a:solidFill>
                <a:latin typeface="Cambria Math" panose="02040503050406030204" pitchFamily="18" charset="0"/>
              </a:rPr>
              <a:t> π</a:t>
            </a:r>
            <a:r>
              <a:rPr lang="en-US" sz="2304" baseline="-22000">
                <a:solidFill>
                  <a:srgbClr val="2459D3"/>
                </a:solidFill>
                <a:latin typeface="Cambria Math" panose="02040503050406030204" pitchFamily="18" charset="0"/>
              </a:rPr>
              <a:t>θ</a:t>
            </a:r>
            <a:r>
              <a:rPr lang="en-US" sz="3200">
                <a:solidFill>
                  <a:srgbClr val="2459D3"/>
                </a:solidFill>
                <a:latin typeface="Cambria Math" panose="02040503050406030204" pitchFamily="18" charset="0"/>
              </a:rPr>
              <a:t>(a</a:t>
            </a:r>
            <a:r>
              <a:rPr lang="en-US" sz="2304" baseline="-22000">
                <a:solidFill>
                  <a:srgbClr val="2459D3"/>
                </a:solidFill>
                <a:latin typeface="Cambria Math" panose="02040503050406030204" pitchFamily="18" charset="0"/>
              </a:rPr>
              <a:t>t</a:t>
            </a:r>
            <a:r>
              <a:rPr lang="en-US" sz="3200">
                <a:solidFill>
                  <a:srgbClr val="2459D3"/>
                </a:solidFill>
                <a:latin typeface="Cambria Math" panose="02040503050406030204" pitchFamily="18" charset="0"/>
              </a:rPr>
              <a:t>|s</a:t>
            </a:r>
            <a:r>
              <a:rPr lang="en-US" sz="2304" baseline="-22000">
                <a:solidFill>
                  <a:srgbClr val="2459D3"/>
                </a:solidFill>
                <a:latin typeface="Cambria Math" panose="02040503050406030204" pitchFamily="18" charset="0"/>
              </a:rPr>
              <a:t>t</a:t>
            </a:r>
            <a:r>
              <a:rPr lang="en-US" sz="3200">
                <a:solidFill>
                  <a:srgbClr val="2459D3"/>
                </a:solidFill>
                <a:latin typeface="Cambria Math" panose="02040503050406030204" pitchFamily="18" charset="0"/>
              </a:rPr>
              <a:t>) P(s</a:t>
            </a:r>
            <a:r>
              <a:rPr lang="en-US" sz="2304" baseline="-22000">
                <a:solidFill>
                  <a:srgbClr val="2459D3"/>
                </a:solidFill>
                <a:latin typeface="Cambria Math" panose="02040503050406030204" pitchFamily="18" charset="0"/>
              </a:rPr>
              <a:t>t+1</a:t>
            </a:r>
            <a:r>
              <a:rPr lang="en-US" sz="3200">
                <a:solidFill>
                  <a:srgbClr val="2459D3"/>
                </a:solidFill>
                <a:latin typeface="Cambria Math" panose="02040503050406030204" pitchFamily="18" charset="0"/>
              </a:rPr>
              <a:t>|s</a:t>
            </a:r>
            <a:r>
              <a:rPr lang="en-US" sz="2304" baseline="-22000">
                <a:solidFill>
                  <a:srgbClr val="2459D3"/>
                </a:solidFill>
                <a:latin typeface="Cambria Math" panose="02040503050406030204" pitchFamily="18" charset="0"/>
              </a:rPr>
              <a:t>t</a:t>
            </a:r>
            <a:r>
              <a:rPr lang="en-US" sz="3200">
                <a:solidFill>
                  <a:srgbClr val="2459D3"/>
                </a:solidFill>
                <a:latin typeface="Cambria Math" panose="02040503050406030204" pitchFamily="18" charset="0"/>
              </a:rPr>
              <a:t>,a</a:t>
            </a:r>
            <a:r>
              <a:rPr lang="en-US" sz="2304" baseline="-22000">
                <a:solidFill>
                  <a:srgbClr val="2459D3"/>
                </a:solidFill>
                <a:latin typeface="Cambria Math" panose="02040503050406030204" pitchFamily="18" charset="0"/>
              </a:rPr>
              <a:t>t</a:t>
            </a:r>
            <a:r>
              <a:rPr lang="en-US" sz="3200">
                <a:solidFill>
                  <a:srgbClr val="2459D3"/>
                </a:solidFill>
                <a:latin typeface="Cambria Math" panose="02040503050406030204" pitchFamily="18" charset="0"/>
              </a:rPr>
              <a:t>)</a:t>
            </a:r>
            <a:endParaRPr lang="en-IL" sz="32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5286ECDF-4FC2-0A56-5993-E784F44B92D1}"/>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l-GR" sz="3200">
                <a:solidFill>
                  <a:srgbClr val="15283B"/>
                </a:solidFill>
                <a:latin typeface="Cambria Math" panose="02040503050406030204" pitchFamily="18" charset="0"/>
              </a:rPr>
              <a:t>∇</a:t>
            </a:r>
            <a:r>
              <a:rPr lang="el-GR" sz="2304" baseline="-22000">
                <a:solidFill>
                  <a:srgbClr val="15283B"/>
                </a:solidFill>
                <a:latin typeface="Cambria Math" panose="02040503050406030204" pitchFamily="18" charset="0"/>
              </a:rPr>
              <a:t>θ</a:t>
            </a:r>
            <a:r>
              <a:rPr lang="el-GR" sz="3200">
                <a:solidFill>
                  <a:srgbClr val="15283B"/>
                </a:solidFill>
                <a:latin typeface="Cambria Math" panose="02040503050406030204" pitchFamily="18" charset="0"/>
              </a:rPr>
              <a:t> </a:t>
            </a:r>
            <a:r>
              <a:rPr lang="en-IL" sz="3200">
                <a:solidFill>
                  <a:srgbClr val="15283B"/>
                </a:solidFill>
                <a:latin typeface="Cambria Math" panose="02040503050406030204" pitchFamily="18" charset="0"/>
              </a:rPr>
              <a:t>p</a:t>
            </a:r>
            <a:r>
              <a:rPr lang="el-GR" sz="2304" baseline="-22000">
                <a:solidFill>
                  <a:srgbClr val="15283B"/>
                </a:solidFill>
                <a:latin typeface="Cambria Math" panose="02040503050406030204" pitchFamily="18" charset="0"/>
              </a:rPr>
              <a:t>θ</a:t>
            </a:r>
            <a:r>
              <a:rPr lang="el-GR" sz="3200">
                <a:solidFill>
                  <a:srgbClr val="15283B"/>
                </a:solidFill>
                <a:latin typeface="Cambria Math" panose="02040503050406030204" pitchFamily="18" charset="0"/>
              </a:rPr>
              <a:t>(τ) = </a:t>
            </a:r>
            <a:r>
              <a:rPr lang="en-IL" sz="3200">
                <a:solidFill>
                  <a:srgbClr val="15283B"/>
                </a:solidFill>
                <a:latin typeface="Cambria Math" panose="02040503050406030204" pitchFamily="18" charset="0"/>
              </a:rPr>
              <a:t>p</a:t>
            </a:r>
            <a:r>
              <a:rPr lang="el-GR" sz="2304" baseline="-22000">
                <a:solidFill>
                  <a:srgbClr val="15283B"/>
                </a:solidFill>
                <a:latin typeface="Cambria Math" panose="02040503050406030204" pitchFamily="18" charset="0"/>
              </a:rPr>
              <a:t>θ</a:t>
            </a:r>
            <a:r>
              <a:rPr lang="el-GR" sz="3200">
                <a:solidFill>
                  <a:srgbClr val="15283B"/>
                </a:solidFill>
                <a:latin typeface="Cambria Math" panose="02040503050406030204" pitchFamily="18" charset="0"/>
              </a:rPr>
              <a:t>(τ) ∇</a:t>
            </a:r>
            <a:r>
              <a:rPr lang="el-GR" sz="2304" baseline="-22000">
                <a:solidFill>
                  <a:srgbClr val="15283B"/>
                </a:solidFill>
                <a:latin typeface="Cambria Math" panose="02040503050406030204" pitchFamily="18" charset="0"/>
              </a:rPr>
              <a:t>θ</a:t>
            </a:r>
            <a:r>
              <a:rPr lang="el-GR" sz="3200">
                <a:solidFill>
                  <a:srgbClr val="15283B"/>
                </a:solidFill>
                <a:latin typeface="Cambria Math" panose="02040503050406030204" pitchFamily="18" charset="0"/>
              </a:rPr>
              <a:t> </a:t>
            </a:r>
            <a:r>
              <a:rPr lang="en-IL" sz="3200">
                <a:solidFill>
                  <a:srgbClr val="15283B"/>
                </a:solidFill>
                <a:latin typeface="Cambria Math" panose="02040503050406030204" pitchFamily="18" charset="0"/>
              </a:rPr>
              <a:t>log p</a:t>
            </a:r>
            <a:r>
              <a:rPr lang="el-GR" sz="2304" baseline="-22000">
                <a:solidFill>
                  <a:srgbClr val="15283B"/>
                </a:solidFill>
                <a:latin typeface="Cambria Math" panose="02040503050406030204" pitchFamily="18" charset="0"/>
              </a:rPr>
              <a:t>θ</a:t>
            </a:r>
            <a:r>
              <a:rPr lang="el-GR" sz="3200">
                <a:solidFill>
                  <a:srgbClr val="15283B"/>
                </a:solidFill>
                <a:latin typeface="Cambria Math" panose="02040503050406030204" pitchFamily="18" charset="0"/>
              </a:rPr>
              <a:t>(τ)</a:t>
            </a:r>
            <a:endParaRPr lang="en-IL" sz="32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53694320-A384-A094-4174-4263A86F3544}"/>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l-GR" sz="3200">
                <a:solidFill>
                  <a:srgbClr val="15283B"/>
                </a:solidFill>
                <a:latin typeface="Cambria Math" panose="02040503050406030204" pitchFamily="18" charset="0"/>
              </a:rPr>
              <a:t>∇</a:t>
            </a:r>
            <a:r>
              <a:rPr lang="el-GR" sz="2304" baseline="-22000">
                <a:solidFill>
                  <a:srgbClr val="15283B"/>
                </a:solidFill>
                <a:latin typeface="Cambria Math" panose="02040503050406030204" pitchFamily="18" charset="0"/>
              </a:rPr>
              <a:t>θ</a:t>
            </a:r>
            <a:r>
              <a:rPr lang="el-GR" sz="3200">
                <a:solidFill>
                  <a:srgbClr val="15283B"/>
                </a:solidFill>
                <a:latin typeface="Cambria Math" panose="02040503050406030204" pitchFamily="18" charset="0"/>
              </a:rPr>
              <a:t> </a:t>
            </a:r>
            <a:r>
              <a:rPr lang="en-IL" sz="3200">
                <a:solidFill>
                  <a:srgbClr val="15283B"/>
                </a:solidFill>
                <a:latin typeface="Cambria Math" panose="02040503050406030204" pitchFamily="18" charset="0"/>
              </a:rPr>
              <a:t>log p</a:t>
            </a:r>
            <a:r>
              <a:rPr lang="el-GR" sz="2304" baseline="-22000">
                <a:solidFill>
                  <a:srgbClr val="15283B"/>
                </a:solidFill>
                <a:latin typeface="Cambria Math" panose="02040503050406030204" pitchFamily="18" charset="0"/>
              </a:rPr>
              <a:t>θ</a:t>
            </a:r>
            <a:r>
              <a:rPr lang="el-GR" sz="3200">
                <a:solidFill>
                  <a:srgbClr val="15283B"/>
                </a:solidFill>
                <a:latin typeface="Cambria Math" panose="02040503050406030204" pitchFamily="18" charset="0"/>
              </a:rPr>
              <a:t>(τ) = ∑</a:t>
            </a:r>
            <a:r>
              <a:rPr lang="en-IL" sz="2304" baseline="-2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 ∇</a:t>
            </a:r>
            <a:r>
              <a:rPr lang="el-GR" sz="2304" baseline="-22000">
                <a:solidFill>
                  <a:srgbClr val="15283B"/>
                </a:solidFill>
                <a:latin typeface="Cambria Math" panose="02040503050406030204" pitchFamily="18" charset="0"/>
              </a:rPr>
              <a:t>θ</a:t>
            </a:r>
            <a:r>
              <a:rPr lang="el-GR" sz="3200">
                <a:solidFill>
                  <a:srgbClr val="15283B"/>
                </a:solidFill>
                <a:latin typeface="Cambria Math" panose="02040503050406030204" pitchFamily="18" charset="0"/>
              </a:rPr>
              <a:t> </a:t>
            </a:r>
            <a:r>
              <a:rPr lang="en-IL" sz="3200">
                <a:solidFill>
                  <a:srgbClr val="15283B"/>
                </a:solidFill>
                <a:latin typeface="Cambria Math" panose="02040503050406030204" pitchFamily="18" charset="0"/>
              </a:rPr>
              <a:t>log </a:t>
            </a:r>
            <a:r>
              <a:rPr lang="el-GR" sz="3200">
                <a:solidFill>
                  <a:srgbClr val="15283B"/>
                </a:solidFill>
                <a:latin typeface="Cambria Math" panose="02040503050406030204" pitchFamily="18" charset="0"/>
              </a:rPr>
              <a:t>π</a:t>
            </a:r>
            <a:r>
              <a:rPr lang="el-GR" sz="2304" baseline="-22000">
                <a:solidFill>
                  <a:srgbClr val="15283B"/>
                </a:solidFill>
                <a:latin typeface="Cambria Math" panose="02040503050406030204" pitchFamily="18" charset="0"/>
              </a:rPr>
              <a:t>θ</a:t>
            </a:r>
            <a:r>
              <a:rPr lang="el-GR" sz="3200">
                <a:solidFill>
                  <a:srgbClr val="15283B"/>
                </a:solidFill>
                <a:latin typeface="Cambria Math" panose="02040503050406030204" pitchFamily="18" charset="0"/>
              </a:rPr>
              <a:t>(</a:t>
            </a:r>
            <a:r>
              <a:rPr lang="en-IL" sz="3200">
                <a:solidFill>
                  <a:srgbClr val="15283B"/>
                </a:solidFill>
                <a:latin typeface="Cambria Math" panose="02040503050406030204" pitchFamily="18" charset="0"/>
              </a:rPr>
              <a:t>a</a:t>
            </a:r>
            <a:r>
              <a:rPr lang="en-IL" sz="2304" baseline="-2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|s</a:t>
            </a:r>
            <a:r>
              <a:rPr lang="en-IL" sz="2304" baseline="-2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a:t>
            </a:r>
          </a:p>
        </p:txBody>
      </p:sp>
      <p:sp>
        <p:nvSpPr>
          <p:cNvPr id="11" name="text_10">
            <a:extLst>
              <a:ext uri="{FF2B5EF4-FFF2-40B4-BE49-F238E27FC236}">
                <a16:creationId xmlns:a16="http://schemas.microsoft.com/office/drawing/2014/main" id="{B35C0DBA-BD64-B489-F64F-3EAE78A85C5B}"/>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The initial-state law and environment dynamics do not depend on θ.</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4275690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E98E441E-6818-290F-9614-8C9112A88BB8}"/>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DCBB1110-DBA8-8238-B765-F474173F15A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Reward-to-go and the gradient estimate</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7CD41723-0F12-BD67-735E-0BE86055D3B7}"/>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An action receives credit for future rewards.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84158CF6-DBD2-CE94-4226-3E7C578BFA47}"/>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33EE5B1C-B410-8898-35B5-A2EDD9D2BE80}"/>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C4231278-CEDA-D2E7-E3F8-11248B4967D5}"/>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08</a:t>
            </a:r>
          </a:p>
        </p:txBody>
      </p:sp>
      <p:sp>
        <p:nvSpPr>
          <p:cNvPr id="8" name="text_7">
            <a:extLst>
              <a:ext uri="{FF2B5EF4-FFF2-40B4-BE49-F238E27FC236}">
                <a16:creationId xmlns:a16="http://schemas.microsoft.com/office/drawing/2014/main" id="{FBCA5DCB-30D0-9FB9-34C2-E42866FE1CF0}"/>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3200">
                <a:solidFill>
                  <a:srgbClr val="2459D3"/>
                </a:solidFill>
                <a:latin typeface="Cambria Math" panose="02040503050406030204" pitchFamily="18" charset="0"/>
              </a:rPr>
              <a:t>G</a:t>
            </a:r>
            <a:r>
              <a:rPr lang="en-IL" sz="2304" baseline="-22000">
                <a:solidFill>
                  <a:srgbClr val="2459D3"/>
                </a:solidFill>
                <a:latin typeface="Cambria Math" panose="02040503050406030204" pitchFamily="18" charset="0"/>
              </a:rPr>
              <a:t>t</a:t>
            </a:r>
            <a:r>
              <a:rPr lang="en-IL" sz="3200">
                <a:solidFill>
                  <a:srgbClr val="2459D3"/>
                </a:solidFill>
                <a:latin typeface="Cambria Math" panose="02040503050406030204" pitchFamily="18" charset="0"/>
              </a:rPr>
              <a:t> = ∑</a:t>
            </a:r>
            <a:r>
              <a:rPr lang="en-IL" sz="2304" baseline="-22000">
                <a:solidFill>
                  <a:srgbClr val="2459D3"/>
                </a:solidFill>
                <a:latin typeface="Cambria Math" panose="02040503050406030204" pitchFamily="18" charset="0"/>
              </a:rPr>
              <a:t>k=t</a:t>
            </a:r>
            <a:r>
              <a:rPr lang="en-IL" sz="2304" baseline="32000">
                <a:solidFill>
                  <a:srgbClr val="2459D3"/>
                </a:solidFill>
                <a:latin typeface="Cambria Math" panose="02040503050406030204" pitchFamily="18" charset="0"/>
              </a:rPr>
              <a:t>T−1</a:t>
            </a:r>
            <a:r>
              <a:rPr lang="en-IL" sz="3200">
                <a:solidFill>
                  <a:srgbClr val="2459D3"/>
                </a:solidFill>
                <a:latin typeface="Cambria Math" panose="02040503050406030204" pitchFamily="18" charset="0"/>
              </a:rPr>
              <a:t> </a:t>
            </a:r>
            <a:r>
              <a:rPr lang="el-GR" sz="3200">
                <a:solidFill>
                  <a:srgbClr val="2459D3"/>
                </a:solidFill>
                <a:latin typeface="Cambria Math" panose="02040503050406030204" pitchFamily="18" charset="0"/>
              </a:rPr>
              <a:t>γ</a:t>
            </a:r>
            <a:r>
              <a:rPr lang="en-IL" sz="2304" baseline="32000">
                <a:solidFill>
                  <a:srgbClr val="2459D3"/>
                </a:solidFill>
                <a:latin typeface="Cambria Math" panose="02040503050406030204" pitchFamily="18" charset="0"/>
              </a:rPr>
              <a:t>k−t</a:t>
            </a:r>
            <a:r>
              <a:rPr lang="en-IL" sz="3200">
                <a:solidFill>
                  <a:srgbClr val="2459D3"/>
                </a:solidFill>
                <a:latin typeface="Cambria Math" panose="02040503050406030204" pitchFamily="18" charset="0"/>
              </a:rPr>
              <a:t> R</a:t>
            </a:r>
            <a:r>
              <a:rPr lang="en-IL" sz="2304" baseline="-22000">
                <a:solidFill>
                  <a:srgbClr val="2459D3"/>
                </a:solidFill>
                <a:latin typeface="Cambria Math" panose="02040503050406030204" pitchFamily="18" charset="0"/>
              </a:rPr>
              <a:t>k</a:t>
            </a:r>
          </a:p>
        </p:txBody>
      </p:sp>
      <p:sp>
        <p:nvSpPr>
          <p:cNvPr id="9" name="text_8">
            <a:extLst>
              <a:ext uri="{FF2B5EF4-FFF2-40B4-BE49-F238E27FC236}">
                <a16:creationId xmlns:a16="http://schemas.microsoft.com/office/drawing/2014/main" id="{289AC1D3-437E-C5CE-849D-DFFB48BA7BA4}"/>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l-GR" sz="3200">
                <a:solidFill>
                  <a:srgbClr val="15283B"/>
                </a:solidFill>
                <a:latin typeface="Cambria Math" panose="02040503050406030204" pitchFamily="18" charset="0"/>
              </a:rPr>
              <a:t>∇</a:t>
            </a:r>
            <a:r>
              <a:rPr lang="el-GR" sz="2304" baseline="-22000">
                <a:solidFill>
                  <a:srgbClr val="15283B"/>
                </a:solidFill>
                <a:latin typeface="Cambria Math" panose="02040503050406030204" pitchFamily="18" charset="0"/>
              </a:rPr>
              <a:t>θ</a:t>
            </a:r>
            <a:r>
              <a:rPr lang="el-GR" sz="3200">
                <a:solidFill>
                  <a:srgbClr val="15283B"/>
                </a:solidFill>
                <a:latin typeface="Cambria Math" panose="02040503050406030204" pitchFamily="18" charset="0"/>
              </a:rPr>
              <a:t> </a:t>
            </a:r>
            <a:r>
              <a:rPr lang="en-IL" sz="3200">
                <a:solidFill>
                  <a:srgbClr val="15283B"/>
                </a:solidFill>
                <a:latin typeface="Cambria Math" panose="02040503050406030204" pitchFamily="18" charset="0"/>
              </a:rPr>
              <a:t>J = 𝔼[ ∑</a:t>
            </a:r>
            <a:r>
              <a:rPr lang="en-IL" sz="2304" baseline="-2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 </a:t>
            </a:r>
            <a:r>
              <a:rPr lang="el-GR" sz="3200">
                <a:solidFill>
                  <a:srgbClr val="15283B"/>
                </a:solidFill>
                <a:latin typeface="Cambria Math" panose="02040503050406030204" pitchFamily="18" charset="0"/>
              </a:rPr>
              <a:t>γ</a:t>
            </a:r>
            <a:r>
              <a:rPr lang="en-IL" sz="2304" baseline="3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 G</a:t>
            </a:r>
            <a:r>
              <a:rPr lang="en-IL" sz="2304" baseline="-2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 ∇</a:t>
            </a:r>
            <a:r>
              <a:rPr lang="el-GR" sz="2304" baseline="-22000">
                <a:solidFill>
                  <a:srgbClr val="15283B"/>
                </a:solidFill>
                <a:latin typeface="Cambria Math" panose="02040503050406030204" pitchFamily="18" charset="0"/>
              </a:rPr>
              <a:t>θ</a:t>
            </a:r>
            <a:r>
              <a:rPr lang="el-GR" sz="3200">
                <a:solidFill>
                  <a:srgbClr val="15283B"/>
                </a:solidFill>
                <a:latin typeface="Cambria Math" panose="02040503050406030204" pitchFamily="18" charset="0"/>
              </a:rPr>
              <a:t> </a:t>
            </a:r>
            <a:r>
              <a:rPr lang="en-IL" sz="3200">
                <a:solidFill>
                  <a:srgbClr val="15283B"/>
                </a:solidFill>
                <a:latin typeface="Cambria Math" panose="02040503050406030204" pitchFamily="18" charset="0"/>
              </a:rPr>
              <a:t>log </a:t>
            </a:r>
            <a:r>
              <a:rPr lang="el-GR" sz="3200">
                <a:solidFill>
                  <a:srgbClr val="15283B"/>
                </a:solidFill>
                <a:latin typeface="Cambria Math" panose="02040503050406030204" pitchFamily="18" charset="0"/>
              </a:rPr>
              <a:t>π</a:t>
            </a:r>
            <a:r>
              <a:rPr lang="el-GR" sz="2304" baseline="-22000">
                <a:solidFill>
                  <a:srgbClr val="15283B"/>
                </a:solidFill>
                <a:latin typeface="Cambria Math" panose="02040503050406030204" pitchFamily="18" charset="0"/>
              </a:rPr>
              <a:t>θ</a:t>
            </a:r>
            <a:r>
              <a:rPr lang="el-GR" sz="3200">
                <a:solidFill>
                  <a:srgbClr val="15283B"/>
                </a:solidFill>
                <a:latin typeface="Cambria Math" panose="02040503050406030204" pitchFamily="18" charset="0"/>
              </a:rPr>
              <a:t>(</a:t>
            </a:r>
            <a:r>
              <a:rPr lang="en-IL" sz="3200">
                <a:solidFill>
                  <a:srgbClr val="15283B"/>
                </a:solidFill>
                <a:latin typeface="Cambria Math" panose="02040503050406030204" pitchFamily="18" charset="0"/>
              </a:rPr>
              <a:t>A</a:t>
            </a:r>
            <a:r>
              <a:rPr lang="en-IL" sz="2304" baseline="-2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|S</a:t>
            </a:r>
            <a:r>
              <a:rPr lang="en-IL" sz="2304" baseline="-2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 ]</a:t>
            </a:r>
          </a:p>
        </p:txBody>
      </p:sp>
      <p:sp>
        <p:nvSpPr>
          <p:cNvPr id="10" name="text_9">
            <a:extLst>
              <a:ext uri="{FF2B5EF4-FFF2-40B4-BE49-F238E27FC236}">
                <a16:creationId xmlns:a16="http://schemas.microsoft.com/office/drawing/2014/main" id="{A314AC1A-0283-AD9D-DDC9-2BFF9EF525A5}"/>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US" sz="3200">
                <a:solidFill>
                  <a:srgbClr val="15283B"/>
                </a:solidFill>
                <a:latin typeface="Cambria Math" panose="02040503050406030204" pitchFamily="18" charset="0"/>
              </a:rPr>
              <a:t>ĝ = average of these weighted scores over trajectories</a:t>
            </a:r>
            <a:endParaRPr lang="en-IL" sz="32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5843102A-E37D-D5BF-D480-D5CA2FB56DDE}"/>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Keep γᵗ for the stated discounted start-state objective.</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612734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D6CA75F6-720D-F8DE-6BF6-C927A56AB29B}"/>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4A926BBF-CD2B-782A-F73C-D8D95ABA3947}"/>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REINFORCE intuition</a:t>
            </a:r>
          </a:p>
        </p:txBody>
      </p:sp>
      <p:sp>
        <p:nvSpPr>
          <p:cNvPr id="4" name="text_3">
            <a:extLst>
              <a:ext uri="{FF2B5EF4-FFF2-40B4-BE49-F238E27FC236}">
                <a16:creationId xmlns:a16="http://schemas.microsoft.com/office/drawing/2014/main" id="{D5357513-4DE5-2009-22EA-E4C65107A3FA}"/>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Return weights the direction of an action log-gradient.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3B64CF50-E82C-6E12-00DA-1E8519450F67}"/>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58BEF2F4-E4AF-431A-494A-C599FBFC79C5}"/>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FEE0832-4249-5373-C00A-91E36695AAB8}"/>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09</a:t>
            </a:r>
          </a:p>
        </p:txBody>
      </p:sp>
      <p:sp>
        <p:nvSpPr>
          <p:cNvPr id="8" name="text_7">
            <a:extLst>
              <a:ext uri="{FF2B5EF4-FFF2-40B4-BE49-F238E27FC236}">
                <a16:creationId xmlns:a16="http://schemas.microsoft.com/office/drawing/2014/main" id="{1301EF82-D881-9367-8DAD-DE2307206563}"/>
              </a:ext>
            </a:extLst>
          </p:cNvPr>
          <p:cNvSpPr txBox="1"/>
          <p:nvPr/>
        </p:nvSpPr>
        <p:spPr>
          <a:xfrm>
            <a:off x="685800" y="2679699"/>
            <a:ext cx="10820400" cy="939800"/>
          </a:xfrm>
          <a:prstGeom prst="rect">
            <a:avLst/>
          </a:prstGeom>
          <a:noFill/>
        </p:spPr>
        <p:txBody>
          <a:bodyPr vert="horz" wrap="square" lIns="0" tIns="0" rIns="0" bIns="0" rtlCol="0" anchor="t">
            <a:noAutofit/>
          </a:bodyPr>
          <a:lstStyle/>
          <a:p>
            <a:r>
              <a:rPr lang="el-GR" sz="3200">
                <a:solidFill>
                  <a:srgbClr val="2459D3"/>
                </a:solidFill>
                <a:latin typeface="Cambria Math" panose="02040503050406030204" pitchFamily="18" charset="0"/>
              </a:rPr>
              <a:t>θ ← θ + η γ</a:t>
            </a:r>
            <a:r>
              <a:rPr lang="en-IL" sz="2304" baseline="32000">
                <a:solidFill>
                  <a:srgbClr val="2459D3"/>
                </a:solidFill>
                <a:latin typeface="Cambria Math" panose="02040503050406030204" pitchFamily="18" charset="0"/>
              </a:rPr>
              <a:t>t</a:t>
            </a:r>
            <a:r>
              <a:rPr lang="en-IL" sz="3200">
                <a:solidFill>
                  <a:srgbClr val="2459D3"/>
                </a:solidFill>
                <a:latin typeface="Cambria Math" panose="02040503050406030204" pitchFamily="18" charset="0"/>
              </a:rPr>
              <a:t> G</a:t>
            </a:r>
            <a:r>
              <a:rPr lang="en-IL" sz="2304" baseline="-22000">
                <a:solidFill>
                  <a:srgbClr val="2459D3"/>
                </a:solidFill>
                <a:latin typeface="Cambria Math" panose="02040503050406030204" pitchFamily="18" charset="0"/>
              </a:rPr>
              <a:t>t</a:t>
            </a:r>
            <a:r>
              <a:rPr lang="en-IL" sz="3200">
                <a:solidFill>
                  <a:srgbClr val="2459D3"/>
                </a:solidFill>
                <a:latin typeface="Cambria Math" panose="02040503050406030204" pitchFamily="18" charset="0"/>
              </a:rPr>
              <a:t> ∇</a:t>
            </a:r>
            <a:r>
              <a:rPr lang="el-GR" sz="2304" baseline="-22000">
                <a:solidFill>
                  <a:srgbClr val="2459D3"/>
                </a:solidFill>
                <a:latin typeface="Cambria Math" panose="02040503050406030204" pitchFamily="18" charset="0"/>
              </a:rPr>
              <a:t>θ</a:t>
            </a:r>
            <a:r>
              <a:rPr lang="el-GR" sz="3200">
                <a:solidFill>
                  <a:srgbClr val="2459D3"/>
                </a:solidFill>
                <a:latin typeface="Cambria Math" panose="02040503050406030204" pitchFamily="18" charset="0"/>
              </a:rPr>
              <a:t> </a:t>
            </a:r>
            <a:r>
              <a:rPr lang="en-IL" sz="3200">
                <a:solidFill>
                  <a:srgbClr val="2459D3"/>
                </a:solidFill>
                <a:latin typeface="Cambria Math" panose="02040503050406030204" pitchFamily="18" charset="0"/>
              </a:rPr>
              <a:t>log </a:t>
            </a:r>
            <a:r>
              <a:rPr lang="el-GR" sz="3200">
                <a:solidFill>
                  <a:srgbClr val="2459D3"/>
                </a:solidFill>
                <a:latin typeface="Cambria Math" panose="02040503050406030204" pitchFamily="18" charset="0"/>
              </a:rPr>
              <a:t>π</a:t>
            </a:r>
            <a:r>
              <a:rPr lang="el-GR" sz="2304" baseline="-22000">
                <a:solidFill>
                  <a:srgbClr val="2459D3"/>
                </a:solidFill>
                <a:latin typeface="Cambria Math" panose="02040503050406030204" pitchFamily="18" charset="0"/>
              </a:rPr>
              <a:t>θ</a:t>
            </a:r>
            <a:r>
              <a:rPr lang="el-GR" sz="3200">
                <a:solidFill>
                  <a:srgbClr val="2459D3"/>
                </a:solidFill>
                <a:latin typeface="Cambria Math" panose="02040503050406030204" pitchFamily="18" charset="0"/>
              </a:rPr>
              <a:t>(</a:t>
            </a:r>
            <a:r>
              <a:rPr lang="en-IL" sz="3200">
                <a:solidFill>
                  <a:srgbClr val="2459D3"/>
                </a:solidFill>
                <a:latin typeface="Cambria Math" panose="02040503050406030204" pitchFamily="18" charset="0"/>
              </a:rPr>
              <a:t>a</a:t>
            </a:r>
            <a:r>
              <a:rPr lang="en-IL" sz="2304" baseline="-22000">
                <a:solidFill>
                  <a:srgbClr val="2459D3"/>
                </a:solidFill>
                <a:latin typeface="Cambria Math" panose="02040503050406030204" pitchFamily="18" charset="0"/>
              </a:rPr>
              <a:t>t</a:t>
            </a:r>
            <a:r>
              <a:rPr lang="en-IL" sz="3200">
                <a:solidFill>
                  <a:srgbClr val="2459D3"/>
                </a:solidFill>
                <a:latin typeface="Cambria Math" panose="02040503050406030204" pitchFamily="18" charset="0"/>
              </a:rPr>
              <a:t>|s</a:t>
            </a:r>
            <a:r>
              <a:rPr lang="en-IL" sz="2304" baseline="-22000">
                <a:solidFill>
                  <a:srgbClr val="2459D3"/>
                </a:solidFill>
                <a:latin typeface="Cambria Math" panose="02040503050406030204" pitchFamily="18" charset="0"/>
              </a:rPr>
              <a:t>t</a:t>
            </a:r>
            <a:r>
              <a:rPr lang="en-IL" sz="3200">
                <a:solidFill>
                  <a:srgbClr val="2459D3"/>
                </a:solidFill>
                <a:latin typeface="Cambria Math" panose="02040503050406030204" pitchFamily="18" charset="0"/>
              </a:rPr>
              <a:t>)</a:t>
            </a:r>
          </a:p>
        </p:txBody>
      </p:sp>
      <p:sp>
        <p:nvSpPr>
          <p:cNvPr id="9" name="Rectangle: Rounded Corners 8">
            <a:extLst>
              <a:ext uri="{FF2B5EF4-FFF2-40B4-BE49-F238E27FC236}">
                <a16:creationId xmlns:a16="http://schemas.microsoft.com/office/drawing/2014/main" id="{98009AB9-60FA-7513-4A07-3B14D2B3FBE2}"/>
              </a:ext>
            </a:extLst>
          </p:cNvPr>
          <p:cNvSpPr/>
          <p:nvPr/>
        </p:nvSpPr>
        <p:spPr>
          <a:xfrm>
            <a:off x="685800" y="4025900"/>
            <a:ext cx="5207000" cy="1549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text_9">
            <a:extLst>
              <a:ext uri="{FF2B5EF4-FFF2-40B4-BE49-F238E27FC236}">
                <a16:creationId xmlns:a16="http://schemas.microsoft.com/office/drawing/2014/main" id="{5422B02D-8047-BE75-84F6-CEE75844F253}"/>
              </a:ext>
            </a:extLst>
          </p:cNvPr>
          <p:cNvSpPr txBox="1"/>
          <p:nvPr/>
        </p:nvSpPr>
        <p:spPr>
          <a:xfrm>
            <a:off x="889000" y="4178299"/>
            <a:ext cx="4800600" cy="8255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Positive weight</a:t>
            </a:r>
          </a:p>
        </p:txBody>
      </p:sp>
      <p:sp>
        <p:nvSpPr>
          <p:cNvPr id="11" name="text_10">
            <a:extLst>
              <a:ext uri="{FF2B5EF4-FFF2-40B4-BE49-F238E27FC236}">
                <a16:creationId xmlns:a16="http://schemas.microsoft.com/office/drawing/2014/main" id="{4C532049-B0BA-78F9-81F4-A8A71284A054}"/>
              </a:ext>
            </a:extLst>
          </p:cNvPr>
          <p:cNvSpPr txBox="1"/>
          <p:nvPr/>
        </p:nvSpPr>
        <p:spPr>
          <a:xfrm>
            <a:off x="889000" y="5003799"/>
            <a:ext cx="4800600" cy="5207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Encourage sampled likelihood.</a:t>
            </a:r>
          </a:p>
        </p:txBody>
      </p:sp>
      <p:sp>
        <p:nvSpPr>
          <p:cNvPr id="12" name="Rectangle: Rounded Corners 11">
            <a:extLst>
              <a:ext uri="{FF2B5EF4-FFF2-40B4-BE49-F238E27FC236}">
                <a16:creationId xmlns:a16="http://schemas.microsoft.com/office/drawing/2014/main" id="{05DC8F3A-EA55-F059-83B5-216AE4426439}"/>
              </a:ext>
            </a:extLst>
          </p:cNvPr>
          <p:cNvSpPr/>
          <p:nvPr/>
        </p:nvSpPr>
        <p:spPr>
          <a:xfrm>
            <a:off x="6172200" y="4025900"/>
            <a:ext cx="5334000" cy="1549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81D88DD0-B92C-3EEB-2DA9-06DD40C295A6}"/>
              </a:ext>
            </a:extLst>
          </p:cNvPr>
          <p:cNvSpPr txBox="1"/>
          <p:nvPr/>
        </p:nvSpPr>
        <p:spPr>
          <a:xfrm>
            <a:off x="6375400" y="4178299"/>
            <a:ext cx="4927600" cy="8255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Negative weight</a:t>
            </a:r>
          </a:p>
        </p:txBody>
      </p:sp>
      <p:sp>
        <p:nvSpPr>
          <p:cNvPr id="14" name="text_13">
            <a:extLst>
              <a:ext uri="{FF2B5EF4-FFF2-40B4-BE49-F238E27FC236}">
                <a16:creationId xmlns:a16="http://schemas.microsoft.com/office/drawing/2014/main" id="{374A1BF4-6386-976D-4C15-8A8E34AA8205}"/>
              </a:ext>
            </a:extLst>
          </p:cNvPr>
          <p:cNvSpPr txBox="1"/>
          <p:nvPr/>
        </p:nvSpPr>
        <p:spPr>
          <a:xfrm>
            <a:off x="6375400" y="5003799"/>
            <a:ext cx="4927600" cy="5207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Discourage sampled likelihood.</a:t>
            </a:r>
          </a:p>
        </p:txBody>
      </p:sp>
      <p:sp>
        <p:nvSpPr>
          <p:cNvPr id="15" name="text_14">
            <a:extLst>
              <a:ext uri="{FF2B5EF4-FFF2-40B4-BE49-F238E27FC236}">
                <a16:creationId xmlns:a16="http://schemas.microsoft.com/office/drawing/2014/main" id="{8D3756ED-CBD3-5322-C9AC-638B1596C9BC}"/>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A local likelihood update is not an expert action label.</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29440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D75F3CA1-6BC1-590B-555F-F022933778A0}"/>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D99E7506-89EE-D5AF-B795-EAC6E0728FCF}"/>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Why plain returns are noisy</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1A5C82C2-1BA1-2E6D-E63D-967444682B8F}"/>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same policy can produce very different trajectories.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0B41B718-84C4-EA47-60BA-5A776DA07145}"/>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AEC1E4D2-CA65-03C3-C3B3-07D3C391E341}"/>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369437BE-8FDB-8EB2-A25C-5D072F94A6DB}"/>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10</a:t>
            </a:r>
          </a:p>
        </p:txBody>
      </p:sp>
      <p:sp>
        <p:nvSpPr>
          <p:cNvPr id="8" name="Rectangle: Rounded Corners 7">
            <a:extLst>
              <a:ext uri="{FF2B5EF4-FFF2-40B4-BE49-F238E27FC236}">
                <a16:creationId xmlns:a16="http://schemas.microsoft.com/office/drawing/2014/main" id="{0EB2C827-7918-870C-DDFF-E1217449AC44}"/>
              </a:ext>
            </a:extLst>
          </p:cNvPr>
          <p:cNvSpPr/>
          <p:nvPr/>
        </p:nvSpPr>
        <p:spPr>
          <a:xfrm>
            <a:off x="685800" y="2679700"/>
            <a:ext cx="3454400" cy="2832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BB70939C-C6DF-D81E-D4B3-488AB766F734}"/>
              </a:ext>
            </a:extLst>
          </p:cNvPr>
          <p:cNvSpPr txBox="1"/>
          <p:nvPr/>
        </p:nvSpPr>
        <p:spPr>
          <a:xfrm>
            <a:off x="889000" y="2832099"/>
            <a:ext cx="3048000" cy="8255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Different starts</a:t>
            </a:r>
          </a:p>
        </p:txBody>
      </p:sp>
      <p:sp>
        <p:nvSpPr>
          <p:cNvPr id="10" name="text_9">
            <a:extLst>
              <a:ext uri="{FF2B5EF4-FFF2-40B4-BE49-F238E27FC236}">
                <a16:creationId xmlns:a16="http://schemas.microsoft.com/office/drawing/2014/main" id="{F2567410-7486-6944-A125-D9415E140DD1}"/>
              </a:ext>
            </a:extLst>
          </p:cNvPr>
          <p:cNvSpPr txBox="1"/>
          <p:nvPr/>
        </p:nvSpPr>
        <p:spPr>
          <a:xfrm>
            <a:off x="889000" y="3657599"/>
            <a:ext cx="3048000" cy="1803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Some states are easier than others.</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EA7E7981-FFEB-415B-0FAE-2E22128FAAD7}"/>
              </a:ext>
            </a:extLst>
          </p:cNvPr>
          <p:cNvSpPr/>
          <p:nvPr/>
        </p:nvSpPr>
        <p:spPr>
          <a:xfrm>
            <a:off x="4368800" y="2679700"/>
            <a:ext cx="3454400" cy="2832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6569CAA5-E217-6F8B-3242-F76719111E17}"/>
              </a:ext>
            </a:extLst>
          </p:cNvPr>
          <p:cNvSpPr txBox="1"/>
          <p:nvPr/>
        </p:nvSpPr>
        <p:spPr>
          <a:xfrm>
            <a:off x="4572000" y="2832099"/>
            <a:ext cx="3048000" cy="8255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Sampled actions</a:t>
            </a:r>
          </a:p>
        </p:txBody>
      </p:sp>
      <p:sp>
        <p:nvSpPr>
          <p:cNvPr id="13" name="text_12">
            <a:extLst>
              <a:ext uri="{FF2B5EF4-FFF2-40B4-BE49-F238E27FC236}">
                <a16:creationId xmlns:a16="http://schemas.microsoft.com/office/drawing/2014/main" id="{8F88A2BE-B624-9887-92EC-A799E1E60A62}"/>
              </a:ext>
            </a:extLst>
          </p:cNvPr>
          <p:cNvSpPr txBox="1"/>
          <p:nvPr/>
        </p:nvSpPr>
        <p:spPr>
          <a:xfrm>
            <a:off x="4572000" y="3657599"/>
            <a:ext cx="3048000" cy="1803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Different choices change the trajectory.</a:t>
            </a:r>
            <a:endParaRPr lang="en-IL" sz="2400">
              <a:solidFill>
                <a:srgbClr val="15283B"/>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27EF35E3-E8CD-3320-2B80-121EB56C7282}"/>
              </a:ext>
            </a:extLst>
          </p:cNvPr>
          <p:cNvSpPr/>
          <p:nvPr/>
        </p:nvSpPr>
        <p:spPr>
          <a:xfrm>
            <a:off x="8051800" y="2679700"/>
            <a:ext cx="3454400" cy="2832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B40E7FC4-4694-7C6D-0518-A630B1F37C7C}"/>
              </a:ext>
            </a:extLst>
          </p:cNvPr>
          <p:cNvSpPr txBox="1"/>
          <p:nvPr/>
        </p:nvSpPr>
        <p:spPr>
          <a:xfrm>
            <a:off x="8255000" y="2832099"/>
            <a:ext cx="3048000" cy="8255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Delayed effects</a:t>
            </a:r>
          </a:p>
        </p:txBody>
      </p:sp>
      <p:sp>
        <p:nvSpPr>
          <p:cNvPr id="16" name="text_15">
            <a:extLst>
              <a:ext uri="{FF2B5EF4-FFF2-40B4-BE49-F238E27FC236}">
                <a16:creationId xmlns:a16="http://schemas.microsoft.com/office/drawing/2014/main" id="{8E01DB2F-E8B6-52A1-3901-4AB632FEAA2A}"/>
              </a:ext>
            </a:extLst>
          </p:cNvPr>
          <p:cNvSpPr txBox="1"/>
          <p:nvPr/>
        </p:nvSpPr>
        <p:spPr>
          <a:xfrm>
            <a:off x="8255000" y="3657599"/>
            <a:ext cx="3048000" cy="1803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Many decisions contribute to return.</a:t>
            </a:r>
            <a:endParaRPr lang="en-IL" sz="2400">
              <a:solidFill>
                <a:srgbClr val="15283B"/>
              </a:solidFill>
              <a:latin typeface="Aptos" panose="020B0004020202020204" pitchFamily="34" charset="0"/>
            </a:endParaRPr>
          </a:p>
        </p:txBody>
      </p:sp>
      <p:sp>
        <p:nvSpPr>
          <p:cNvPr id="17" name="text_16">
            <a:extLst>
              <a:ext uri="{FF2B5EF4-FFF2-40B4-BE49-F238E27FC236}">
                <a16:creationId xmlns:a16="http://schemas.microsoft.com/office/drawing/2014/main" id="{4CD62AC7-212C-7EBD-EDE1-700E2D91ACC7}"/>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Compare outcomes against a useful reference level.</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466923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87BEEED2-66B7-23A8-23B1-05510FDE0242}"/>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E9306554-5EE3-9F44-4B6F-E565740F6041}"/>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The baseline idea</a:t>
            </a:r>
          </a:p>
        </p:txBody>
      </p:sp>
      <p:sp>
        <p:nvSpPr>
          <p:cNvPr id="4" name="text_3">
            <a:extLst>
              <a:ext uri="{FF2B5EF4-FFF2-40B4-BE49-F238E27FC236}">
                <a16:creationId xmlns:a16="http://schemas.microsoft.com/office/drawing/2014/main" id="{42422D08-0601-5F09-96F7-165F03CDA2D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Subtract expected performance without changing the mean gradient.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6282CE81-D141-88EB-5A73-AE16AC33DDBB}"/>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21ADD6D8-9A63-B4E2-5A49-DF0F4D395719}"/>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DBE7F6B-29E5-597F-D31D-95C4A77007B6}"/>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11</a:t>
            </a:r>
          </a:p>
        </p:txBody>
      </p:sp>
      <p:sp>
        <p:nvSpPr>
          <p:cNvPr id="8" name="text_7">
            <a:extLst>
              <a:ext uri="{FF2B5EF4-FFF2-40B4-BE49-F238E27FC236}">
                <a16:creationId xmlns:a16="http://schemas.microsoft.com/office/drawing/2014/main" id="{4CF0BF25-8906-1126-3E7C-E63E950080F1}"/>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3200">
                <a:solidFill>
                  <a:srgbClr val="2459D3"/>
                </a:solidFill>
                <a:latin typeface="Cambria Math" panose="02040503050406030204" pitchFamily="18" charset="0"/>
              </a:rPr>
              <a:t>G</a:t>
            </a:r>
            <a:r>
              <a:rPr lang="en-IL" sz="2304" baseline="-22000">
                <a:solidFill>
                  <a:srgbClr val="2459D3"/>
                </a:solidFill>
                <a:latin typeface="Cambria Math" panose="02040503050406030204" pitchFamily="18" charset="0"/>
              </a:rPr>
              <a:t>t</a:t>
            </a:r>
            <a:r>
              <a:rPr lang="en-IL" sz="3200">
                <a:solidFill>
                  <a:srgbClr val="2459D3"/>
                </a:solidFill>
                <a:latin typeface="Cambria Math" panose="02040503050406030204" pitchFamily="18" charset="0"/>
              </a:rPr>
              <a:t> → G</a:t>
            </a:r>
            <a:r>
              <a:rPr lang="en-IL" sz="2304" baseline="-22000">
                <a:solidFill>
                  <a:srgbClr val="2459D3"/>
                </a:solidFill>
                <a:latin typeface="Cambria Math" panose="02040503050406030204" pitchFamily="18" charset="0"/>
              </a:rPr>
              <a:t>t</a:t>
            </a:r>
            <a:r>
              <a:rPr lang="en-IL" sz="3200">
                <a:solidFill>
                  <a:srgbClr val="2459D3"/>
                </a:solidFill>
                <a:latin typeface="Cambria Math" panose="02040503050406030204" pitchFamily="18" charset="0"/>
              </a:rPr>
              <a:t> − b(S</a:t>
            </a:r>
            <a:r>
              <a:rPr lang="en-IL" sz="2304" baseline="-22000">
                <a:solidFill>
                  <a:srgbClr val="2459D3"/>
                </a:solidFill>
                <a:latin typeface="Cambria Math" panose="02040503050406030204" pitchFamily="18" charset="0"/>
              </a:rPr>
              <a:t>t</a:t>
            </a:r>
            <a:r>
              <a:rPr lang="en-IL" sz="3200">
                <a:solidFill>
                  <a:srgbClr val="2459D3"/>
                </a:solidFill>
                <a:latin typeface="Cambria Math" panose="02040503050406030204" pitchFamily="18" charset="0"/>
              </a:rPr>
              <a:t>)</a:t>
            </a:r>
          </a:p>
        </p:txBody>
      </p:sp>
      <p:sp>
        <p:nvSpPr>
          <p:cNvPr id="9" name="text_8">
            <a:extLst>
              <a:ext uri="{FF2B5EF4-FFF2-40B4-BE49-F238E27FC236}">
                <a16:creationId xmlns:a16="http://schemas.microsoft.com/office/drawing/2014/main" id="{55DAD2F5-7646-DB07-4C93-E091960A0C16}"/>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n-IL" sz="3200">
                <a:solidFill>
                  <a:srgbClr val="15283B"/>
                </a:solidFill>
                <a:latin typeface="Cambria Math" panose="02040503050406030204" pitchFamily="18" charset="0"/>
              </a:rPr>
              <a:t>𝔼</a:t>
            </a:r>
            <a:r>
              <a:rPr lang="en-IL" sz="2304" baseline="-22000">
                <a:solidFill>
                  <a:srgbClr val="15283B"/>
                </a:solidFill>
                <a:latin typeface="Cambria Math" panose="02040503050406030204" pitchFamily="18" charset="0"/>
              </a:rPr>
              <a:t>a∼</a:t>
            </a:r>
            <a:r>
              <a:rPr lang="el-GR" sz="2304" baseline="-22000">
                <a:solidFill>
                  <a:srgbClr val="15283B"/>
                </a:solidFill>
                <a:latin typeface="Cambria Math" panose="02040503050406030204" pitchFamily="18" charset="0"/>
              </a:rPr>
              <a:t>πθ</a:t>
            </a:r>
            <a:r>
              <a:rPr lang="el-GR" sz="3200">
                <a:solidFill>
                  <a:srgbClr val="15283B"/>
                </a:solidFill>
                <a:latin typeface="Cambria Math" panose="02040503050406030204" pitchFamily="18" charset="0"/>
              </a:rPr>
              <a:t>[ </a:t>
            </a:r>
            <a:r>
              <a:rPr lang="en-IL" sz="3200">
                <a:solidFill>
                  <a:srgbClr val="15283B"/>
                </a:solidFill>
                <a:latin typeface="Cambria Math" panose="02040503050406030204" pitchFamily="18" charset="0"/>
              </a:rPr>
              <a:t>b(s) ∇</a:t>
            </a:r>
            <a:r>
              <a:rPr lang="el-GR" sz="2304" baseline="-22000">
                <a:solidFill>
                  <a:srgbClr val="15283B"/>
                </a:solidFill>
                <a:latin typeface="Cambria Math" panose="02040503050406030204" pitchFamily="18" charset="0"/>
              </a:rPr>
              <a:t>θ</a:t>
            </a:r>
            <a:r>
              <a:rPr lang="el-GR" sz="3200">
                <a:solidFill>
                  <a:srgbClr val="15283B"/>
                </a:solidFill>
                <a:latin typeface="Cambria Math" panose="02040503050406030204" pitchFamily="18" charset="0"/>
              </a:rPr>
              <a:t> </a:t>
            </a:r>
            <a:r>
              <a:rPr lang="en-IL" sz="3200">
                <a:solidFill>
                  <a:srgbClr val="15283B"/>
                </a:solidFill>
                <a:latin typeface="Cambria Math" panose="02040503050406030204" pitchFamily="18" charset="0"/>
              </a:rPr>
              <a:t>log </a:t>
            </a:r>
            <a:r>
              <a:rPr lang="el-GR" sz="3200">
                <a:solidFill>
                  <a:srgbClr val="15283B"/>
                </a:solidFill>
                <a:latin typeface="Cambria Math" panose="02040503050406030204" pitchFamily="18" charset="0"/>
              </a:rPr>
              <a:t>π</a:t>
            </a:r>
            <a:r>
              <a:rPr lang="el-GR" sz="2304" baseline="-22000">
                <a:solidFill>
                  <a:srgbClr val="15283B"/>
                </a:solidFill>
                <a:latin typeface="Cambria Math" panose="02040503050406030204" pitchFamily="18" charset="0"/>
              </a:rPr>
              <a:t>θ</a:t>
            </a:r>
            <a:r>
              <a:rPr lang="el-GR" sz="3200">
                <a:solidFill>
                  <a:srgbClr val="15283B"/>
                </a:solidFill>
                <a:latin typeface="Cambria Math" panose="02040503050406030204" pitchFamily="18" charset="0"/>
              </a:rPr>
              <a:t>(</a:t>
            </a:r>
            <a:r>
              <a:rPr lang="en-IL" sz="3200">
                <a:solidFill>
                  <a:srgbClr val="15283B"/>
                </a:solidFill>
                <a:latin typeface="Cambria Math" panose="02040503050406030204" pitchFamily="18" charset="0"/>
              </a:rPr>
              <a:t>a|s) ]</a:t>
            </a:r>
          </a:p>
        </p:txBody>
      </p:sp>
      <p:sp>
        <p:nvSpPr>
          <p:cNvPr id="10" name="text_9">
            <a:extLst>
              <a:ext uri="{FF2B5EF4-FFF2-40B4-BE49-F238E27FC236}">
                <a16:creationId xmlns:a16="http://schemas.microsoft.com/office/drawing/2014/main" id="{61E90031-DED6-B27A-884B-3A63B28DD9F1}"/>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pt-BR" sz="3200">
                <a:solidFill>
                  <a:srgbClr val="15283B"/>
                </a:solidFill>
                <a:latin typeface="Cambria Math" panose="02040503050406030204" pitchFamily="18" charset="0"/>
              </a:rPr>
              <a:t>= b(s) ∇</a:t>
            </a:r>
            <a:r>
              <a:rPr lang="pt-BR" sz="2304" baseline="-22000">
                <a:solidFill>
                  <a:srgbClr val="15283B"/>
                </a:solidFill>
                <a:latin typeface="Cambria Math" panose="02040503050406030204" pitchFamily="18" charset="0"/>
              </a:rPr>
              <a:t>θ</a:t>
            </a:r>
            <a:r>
              <a:rPr lang="pt-BR" sz="3200">
                <a:solidFill>
                  <a:srgbClr val="15283B"/>
                </a:solidFill>
                <a:latin typeface="Cambria Math" panose="02040503050406030204" pitchFamily="18" charset="0"/>
              </a:rPr>
              <a:t> ∫ π</a:t>
            </a:r>
            <a:r>
              <a:rPr lang="pt-BR" sz="2304" baseline="-22000">
                <a:solidFill>
                  <a:srgbClr val="15283B"/>
                </a:solidFill>
                <a:latin typeface="Cambria Math" panose="02040503050406030204" pitchFamily="18" charset="0"/>
              </a:rPr>
              <a:t>θ</a:t>
            </a:r>
            <a:r>
              <a:rPr lang="pt-BR" sz="3200">
                <a:solidFill>
                  <a:srgbClr val="15283B"/>
                </a:solidFill>
                <a:latin typeface="Cambria Math" panose="02040503050406030204" pitchFamily="18" charset="0"/>
              </a:rPr>
              <a:t>(a|s) da = b(s) ∇</a:t>
            </a:r>
            <a:r>
              <a:rPr lang="pt-BR" sz="2304" baseline="-22000">
                <a:solidFill>
                  <a:srgbClr val="15283B"/>
                </a:solidFill>
                <a:latin typeface="Cambria Math" panose="02040503050406030204" pitchFamily="18" charset="0"/>
              </a:rPr>
              <a:t>θ</a:t>
            </a:r>
            <a:r>
              <a:rPr lang="pt-BR" sz="3200">
                <a:solidFill>
                  <a:srgbClr val="15283B"/>
                </a:solidFill>
                <a:latin typeface="Cambria Math" panose="02040503050406030204" pitchFamily="18" charset="0"/>
              </a:rPr>
              <a:t> 1 = 0</a:t>
            </a:r>
            <a:endParaRPr lang="en-IL" sz="32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03F30961-D1A1-4A29-4682-65106CA0A10E}"/>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b(s) is action-independent and held fixed in the actor gradient.</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424922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47682BBA-0CF8-2761-444B-0D14DEB17C40}"/>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451F70B6-77ED-A251-FC22-4CCB825E7F88}"/>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Baseline worked example</a:t>
            </a:r>
          </a:p>
        </p:txBody>
      </p:sp>
      <p:sp>
        <p:nvSpPr>
          <p:cNvPr id="4" name="text_3">
            <a:extLst>
              <a:ext uri="{FF2B5EF4-FFF2-40B4-BE49-F238E27FC236}">
                <a16:creationId xmlns:a16="http://schemas.microsoft.com/office/drawing/2014/main" id="{0B9A447C-4643-93B4-589E-1A507843F81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Judge an outcome relative to what was expected.</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D68907CD-3609-6445-16BD-BCF59AE1C035}"/>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5D6A9ECE-4A08-7852-DB0C-E1AE1384B08E}"/>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ECECAB6D-023A-0F7C-600C-CAD2769A82F3}"/>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12</a:t>
            </a:r>
          </a:p>
        </p:txBody>
      </p:sp>
      <p:sp>
        <p:nvSpPr>
          <p:cNvPr id="8" name="text_7">
            <a:extLst>
              <a:ext uri="{FF2B5EF4-FFF2-40B4-BE49-F238E27FC236}">
                <a16:creationId xmlns:a16="http://schemas.microsoft.com/office/drawing/2014/main" id="{17E72E30-6629-D2D6-B78A-5C95119F3F04}"/>
              </a:ext>
            </a:extLst>
          </p:cNvPr>
          <p:cNvSpPr txBox="1"/>
          <p:nvPr/>
        </p:nvSpPr>
        <p:spPr>
          <a:xfrm>
            <a:off x="685800" y="2705099"/>
            <a:ext cx="10820400" cy="749300"/>
          </a:xfrm>
          <a:prstGeom prst="rect">
            <a:avLst/>
          </a:prstGeom>
          <a:noFill/>
        </p:spPr>
        <p:txBody>
          <a:bodyPr vert="horz" wrap="square" lIns="0" tIns="0" rIns="0" bIns="0" rtlCol="0" anchor="t">
            <a:noAutofit/>
          </a:bodyPr>
          <a:lstStyle/>
          <a:p>
            <a:r>
              <a:rPr lang="en-IL" sz="3400">
                <a:solidFill>
                  <a:srgbClr val="2459D3"/>
                </a:solidFill>
                <a:latin typeface="Cambria Math" panose="02040503050406030204" pitchFamily="18" charset="0"/>
              </a:rPr>
              <a:t>Centered weight = return − baseline</a:t>
            </a:r>
          </a:p>
        </p:txBody>
      </p:sp>
      <p:sp>
        <p:nvSpPr>
          <p:cNvPr id="9" name="Rectangle: Rounded Corners 8">
            <a:extLst>
              <a:ext uri="{FF2B5EF4-FFF2-40B4-BE49-F238E27FC236}">
                <a16:creationId xmlns:a16="http://schemas.microsoft.com/office/drawing/2014/main" id="{67239C8C-83BA-6A63-F84F-E359638CCDF5}"/>
              </a:ext>
            </a:extLst>
          </p:cNvPr>
          <p:cNvSpPr/>
          <p:nvPr/>
        </p:nvSpPr>
        <p:spPr>
          <a:xfrm>
            <a:off x="685800" y="3873500"/>
            <a:ext cx="5207000" cy="16510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text_9">
            <a:extLst>
              <a:ext uri="{FF2B5EF4-FFF2-40B4-BE49-F238E27FC236}">
                <a16:creationId xmlns:a16="http://schemas.microsoft.com/office/drawing/2014/main" id="{31D85E32-C76D-221E-402C-D66DBA2162F5}"/>
              </a:ext>
            </a:extLst>
          </p:cNvPr>
          <p:cNvSpPr txBox="1"/>
          <p:nvPr/>
        </p:nvSpPr>
        <p:spPr>
          <a:xfrm>
            <a:off x="914400" y="40639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Return 8; baseline 6</a:t>
            </a:r>
          </a:p>
        </p:txBody>
      </p:sp>
      <p:sp>
        <p:nvSpPr>
          <p:cNvPr id="11" name="text_10">
            <a:extLst>
              <a:ext uri="{FF2B5EF4-FFF2-40B4-BE49-F238E27FC236}">
                <a16:creationId xmlns:a16="http://schemas.microsoft.com/office/drawing/2014/main" id="{C6E132FD-ECAF-1DC4-C62F-7D1C8DB4A00F}"/>
              </a:ext>
            </a:extLst>
          </p:cNvPr>
          <p:cNvSpPr txBox="1"/>
          <p:nvPr/>
        </p:nvSpPr>
        <p:spPr>
          <a:xfrm>
            <a:off x="914400" y="4686299"/>
            <a:ext cx="4749800" cy="787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8 − 6 = +2</a:t>
            </a:r>
          </a:p>
        </p:txBody>
      </p:sp>
      <p:sp>
        <p:nvSpPr>
          <p:cNvPr id="12" name="Rectangle: Rounded Corners 11">
            <a:extLst>
              <a:ext uri="{FF2B5EF4-FFF2-40B4-BE49-F238E27FC236}">
                <a16:creationId xmlns:a16="http://schemas.microsoft.com/office/drawing/2014/main" id="{0B230C3D-41F8-FAAA-CC0C-3D20E819A448}"/>
              </a:ext>
            </a:extLst>
          </p:cNvPr>
          <p:cNvSpPr/>
          <p:nvPr/>
        </p:nvSpPr>
        <p:spPr>
          <a:xfrm>
            <a:off x="6172200" y="3873500"/>
            <a:ext cx="5334000" cy="16510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02911259-6513-0CBA-094B-D46ECB9E5951}"/>
              </a:ext>
            </a:extLst>
          </p:cNvPr>
          <p:cNvSpPr txBox="1"/>
          <p:nvPr/>
        </p:nvSpPr>
        <p:spPr>
          <a:xfrm>
            <a:off x="6400800" y="40639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Return 4; baseline 6</a:t>
            </a:r>
          </a:p>
        </p:txBody>
      </p:sp>
      <p:sp>
        <p:nvSpPr>
          <p:cNvPr id="14" name="text_13">
            <a:extLst>
              <a:ext uri="{FF2B5EF4-FFF2-40B4-BE49-F238E27FC236}">
                <a16:creationId xmlns:a16="http://schemas.microsoft.com/office/drawing/2014/main" id="{6D73CADA-870D-DBA2-22FC-8E9A39B35812}"/>
              </a:ext>
            </a:extLst>
          </p:cNvPr>
          <p:cNvSpPr txBox="1"/>
          <p:nvPr/>
        </p:nvSpPr>
        <p:spPr>
          <a:xfrm>
            <a:off x="6400800" y="4686299"/>
            <a:ext cx="4876800" cy="787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4 − 6 = −2</a:t>
            </a:r>
          </a:p>
        </p:txBody>
      </p:sp>
      <p:sp>
        <p:nvSpPr>
          <p:cNvPr id="15" name="text_14">
            <a:extLst>
              <a:ext uri="{FF2B5EF4-FFF2-40B4-BE49-F238E27FC236}">
                <a16:creationId xmlns:a16="http://schemas.microsoft.com/office/drawing/2014/main" id="{F7E32AF0-7808-ADB8-036C-8726A4B9F89F}"/>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Raw returns may both be positive; centered weights can differ in sign.</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689311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9A817D3E-3FAC-823E-3229-9448561345B7}"/>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EDFCB454-1C4B-812D-E84D-73C729F82C7D}"/>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Advantage: better than expected</a:t>
            </a:r>
          </a:p>
        </p:txBody>
      </p:sp>
      <p:sp>
        <p:nvSpPr>
          <p:cNvPr id="4" name="text_3">
            <a:extLst>
              <a:ext uri="{FF2B5EF4-FFF2-40B4-BE49-F238E27FC236}">
                <a16:creationId xmlns:a16="http://schemas.microsoft.com/office/drawing/2014/main" id="{0F4F43E1-8375-728C-9846-87C18B3E0CF7}"/>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Compare taking this action with following the policy on average.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B8F9CB51-9916-8F07-2A0E-D0F16962CEC9}"/>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36BEA15-2635-EA95-DBA5-F216E2C266E5}"/>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3BA50BBB-1F50-7659-7EA9-E6AA6CD3C015}"/>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13</a:t>
            </a:r>
          </a:p>
        </p:txBody>
      </p:sp>
      <p:sp>
        <p:nvSpPr>
          <p:cNvPr id="8" name="text_7">
            <a:extLst>
              <a:ext uri="{FF2B5EF4-FFF2-40B4-BE49-F238E27FC236}">
                <a16:creationId xmlns:a16="http://schemas.microsoft.com/office/drawing/2014/main" id="{92A8FA6A-3AC6-584A-4EC0-45D2BA6CD42E}"/>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US" sz="3200">
                <a:solidFill>
                  <a:srgbClr val="2459D3"/>
                </a:solidFill>
                <a:latin typeface="Cambria Math" panose="02040503050406030204" pitchFamily="18" charset="0"/>
              </a:rPr>
              <a:t>V</a:t>
            </a:r>
            <a:r>
              <a:rPr lang="en-US" sz="2304" baseline="32000">
                <a:solidFill>
                  <a:srgbClr val="2459D3"/>
                </a:solidFill>
                <a:latin typeface="Cambria Math" panose="02040503050406030204" pitchFamily="18" charset="0"/>
              </a:rPr>
              <a:t>π</a:t>
            </a:r>
            <a:r>
              <a:rPr lang="en-US" sz="3200">
                <a:solidFill>
                  <a:srgbClr val="2459D3"/>
                </a:solidFill>
                <a:latin typeface="Cambria Math" panose="02040503050406030204" pitchFamily="18" charset="0"/>
              </a:rPr>
              <a:t>(s): expected return from s under π</a:t>
            </a:r>
            <a:endParaRPr lang="en-IL" sz="32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76481A37-F85E-F680-73C0-C4101763DB26}"/>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n-US" sz="3200">
                <a:solidFill>
                  <a:srgbClr val="15283B"/>
                </a:solidFill>
                <a:latin typeface="Cambria Math" panose="02040503050406030204" pitchFamily="18" charset="0"/>
              </a:rPr>
              <a:t>Q</a:t>
            </a:r>
            <a:r>
              <a:rPr lang="en-US" sz="2304" baseline="32000">
                <a:solidFill>
                  <a:srgbClr val="15283B"/>
                </a:solidFill>
                <a:latin typeface="Cambria Math" panose="02040503050406030204" pitchFamily="18" charset="0"/>
              </a:rPr>
              <a:t>π</a:t>
            </a:r>
            <a:r>
              <a:rPr lang="en-US" sz="3200">
                <a:solidFill>
                  <a:srgbClr val="15283B"/>
                </a:solidFill>
                <a:latin typeface="Cambria Math" panose="02040503050406030204" pitchFamily="18" charset="0"/>
              </a:rPr>
              <a:t>(s,a): take a, then follow π</a:t>
            </a:r>
            <a:endParaRPr lang="en-IL" sz="32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0A8E040C-26F6-4254-FA64-F8BDEFAF90C1}"/>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pt-BR" sz="3200">
                <a:solidFill>
                  <a:srgbClr val="15283B"/>
                </a:solidFill>
                <a:latin typeface="Cambria Math" panose="02040503050406030204" pitchFamily="18" charset="0"/>
              </a:rPr>
              <a:t>A</a:t>
            </a:r>
            <a:r>
              <a:rPr lang="pt-BR" sz="2304" baseline="32000">
                <a:solidFill>
                  <a:srgbClr val="15283B"/>
                </a:solidFill>
                <a:latin typeface="Cambria Math" panose="02040503050406030204" pitchFamily="18" charset="0"/>
              </a:rPr>
              <a:t>π</a:t>
            </a:r>
            <a:r>
              <a:rPr lang="pt-BR" sz="3200">
                <a:solidFill>
                  <a:srgbClr val="15283B"/>
                </a:solidFill>
                <a:latin typeface="Cambria Math" panose="02040503050406030204" pitchFamily="18" charset="0"/>
              </a:rPr>
              <a:t>(s,a) = Q</a:t>
            </a:r>
            <a:r>
              <a:rPr lang="pt-BR" sz="2304" baseline="32000">
                <a:solidFill>
                  <a:srgbClr val="15283B"/>
                </a:solidFill>
                <a:latin typeface="Cambria Math" panose="02040503050406030204" pitchFamily="18" charset="0"/>
              </a:rPr>
              <a:t>π</a:t>
            </a:r>
            <a:r>
              <a:rPr lang="pt-BR" sz="3200">
                <a:solidFill>
                  <a:srgbClr val="15283B"/>
                </a:solidFill>
                <a:latin typeface="Cambria Math" panose="02040503050406030204" pitchFamily="18" charset="0"/>
              </a:rPr>
              <a:t>(s,a) − V</a:t>
            </a:r>
            <a:r>
              <a:rPr lang="pt-BR" sz="2304" baseline="32000">
                <a:solidFill>
                  <a:srgbClr val="15283B"/>
                </a:solidFill>
                <a:latin typeface="Cambria Math" panose="02040503050406030204" pitchFamily="18" charset="0"/>
              </a:rPr>
              <a:t>π</a:t>
            </a:r>
            <a:r>
              <a:rPr lang="pt-BR" sz="3200">
                <a:solidFill>
                  <a:srgbClr val="15283B"/>
                </a:solidFill>
                <a:latin typeface="Cambria Math" panose="02040503050406030204" pitchFamily="18" charset="0"/>
              </a:rPr>
              <a:t>(s)</a:t>
            </a:r>
            <a:endParaRPr lang="en-IL" sz="32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EE552165-CF08-6AE6-10F8-13651F3EC21E}"/>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True advantage is unknown; learning uses an estimate Â.</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9654365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E2F7FAA-F2C7-DB26-8A88-16731A08FE3F}"/>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29443836-331D-9978-C673-D0874A54D8D4}"/>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Learn the baseline: introduce the critic</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EA27224E-B6DF-6416-E37A-FA4999E6BC41}"/>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actor chooses; the critic estimates expected return.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286E44AB-C13C-4D88-30BB-824DC4F8338B}"/>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2E24583-629E-15CA-046B-A65264ACD7CF}"/>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94EC69C1-1F8C-4211-1C98-525FCDFF3321}"/>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14</a:t>
            </a:r>
          </a:p>
        </p:txBody>
      </p:sp>
      <p:sp>
        <p:nvSpPr>
          <p:cNvPr id="8" name="Rectangle: Rounded Corners 7">
            <a:extLst>
              <a:ext uri="{FF2B5EF4-FFF2-40B4-BE49-F238E27FC236}">
                <a16:creationId xmlns:a16="http://schemas.microsoft.com/office/drawing/2014/main" id="{8A4E5A11-3FA0-FBDA-F2EA-28EBBDDAE963}"/>
              </a:ext>
            </a:extLst>
          </p:cNvPr>
          <p:cNvSpPr/>
          <p:nvPr/>
        </p:nvSpPr>
        <p:spPr>
          <a:xfrm>
            <a:off x="685800" y="3441700"/>
            <a:ext cx="3733800" cy="20447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C50E9A18-362D-32E5-49FB-F5A9325897C3}"/>
              </a:ext>
            </a:extLst>
          </p:cNvPr>
          <p:cNvSpPr txBox="1"/>
          <p:nvPr/>
        </p:nvSpPr>
        <p:spPr>
          <a:xfrm>
            <a:off x="914400" y="3632199"/>
            <a:ext cx="32766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Observation</a:t>
            </a:r>
          </a:p>
        </p:txBody>
      </p:sp>
      <p:sp>
        <p:nvSpPr>
          <p:cNvPr id="10" name="text_9">
            <a:extLst>
              <a:ext uri="{FF2B5EF4-FFF2-40B4-BE49-F238E27FC236}">
                <a16:creationId xmlns:a16="http://schemas.microsoft.com/office/drawing/2014/main" id="{B8F33756-C633-C714-DD17-D68E8B1FCA2A}"/>
              </a:ext>
            </a:extLst>
          </p:cNvPr>
          <p:cNvSpPr txBox="1"/>
          <p:nvPr/>
        </p:nvSpPr>
        <p:spPr>
          <a:xfrm>
            <a:off x="914400" y="4254499"/>
            <a:ext cx="3276600" cy="11811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Current robot state</a:t>
            </a:r>
          </a:p>
        </p:txBody>
      </p:sp>
      <p:sp>
        <p:nvSpPr>
          <p:cNvPr id="11" name="Rectangle: Rounded Corners 10">
            <a:extLst>
              <a:ext uri="{FF2B5EF4-FFF2-40B4-BE49-F238E27FC236}">
                <a16:creationId xmlns:a16="http://schemas.microsoft.com/office/drawing/2014/main" id="{42CE8DC1-705A-52F0-BEF5-B1C3CC5B9842}"/>
              </a:ext>
            </a:extLst>
          </p:cNvPr>
          <p:cNvSpPr/>
          <p:nvPr/>
        </p:nvSpPr>
        <p:spPr>
          <a:xfrm>
            <a:off x="5892800" y="2628900"/>
            <a:ext cx="5613400" cy="13843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57A73C99-283F-77E3-6E47-F1332527ACA8}"/>
              </a:ext>
            </a:extLst>
          </p:cNvPr>
          <p:cNvSpPr txBox="1"/>
          <p:nvPr/>
        </p:nvSpPr>
        <p:spPr>
          <a:xfrm>
            <a:off x="6096000" y="2781299"/>
            <a:ext cx="5207000" cy="8255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Actor · </a:t>
            </a:r>
            <a:r>
              <a:rPr lang="el-GR" sz="2600" b="1">
                <a:solidFill>
                  <a:srgbClr val="2459D3"/>
                </a:solidFill>
                <a:latin typeface="Aptos" panose="020B0004020202020204" pitchFamily="34" charset="0"/>
              </a:rPr>
              <a:t>θ</a:t>
            </a:r>
            <a:endParaRPr lang="en-IL" sz="2600" b="1">
              <a:solidFill>
                <a:srgbClr val="2459D3"/>
              </a:solidFill>
              <a:latin typeface="Aptos" panose="020B0004020202020204" pitchFamily="34" charset="0"/>
            </a:endParaRPr>
          </a:p>
        </p:txBody>
      </p:sp>
      <p:sp>
        <p:nvSpPr>
          <p:cNvPr id="13" name="text_12">
            <a:extLst>
              <a:ext uri="{FF2B5EF4-FFF2-40B4-BE49-F238E27FC236}">
                <a16:creationId xmlns:a16="http://schemas.microsoft.com/office/drawing/2014/main" id="{EF5E3152-CCA0-CEFF-4F07-0937D9D4B1E7}"/>
              </a:ext>
            </a:extLst>
          </p:cNvPr>
          <p:cNvSpPr txBox="1"/>
          <p:nvPr/>
        </p:nvSpPr>
        <p:spPr>
          <a:xfrm>
            <a:off x="6096000" y="3454399"/>
            <a:ext cx="5207000" cy="4953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Action distribution</a:t>
            </a:r>
          </a:p>
        </p:txBody>
      </p:sp>
      <p:sp>
        <p:nvSpPr>
          <p:cNvPr id="14" name="Rectangle: Rounded Corners 13">
            <a:extLst>
              <a:ext uri="{FF2B5EF4-FFF2-40B4-BE49-F238E27FC236}">
                <a16:creationId xmlns:a16="http://schemas.microsoft.com/office/drawing/2014/main" id="{FEB3754D-3025-9BD7-015D-AC1FAF579AFA}"/>
              </a:ext>
            </a:extLst>
          </p:cNvPr>
          <p:cNvSpPr/>
          <p:nvPr/>
        </p:nvSpPr>
        <p:spPr>
          <a:xfrm>
            <a:off x="5892800" y="4279900"/>
            <a:ext cx="5613400" cy="13843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EED869EF-692C-4719-BEFB-0D3D4F219176}"/>
              </a:ext>
            </a:extLst>
          </p:cNvPr>
          <p:cNvSpPr txBox="1"/>
          <p:nvPr/>
        </p:nvSpPr>
        <p:spPr>
          <a:xfrm>
            <a:off x="6096000" y="4432299"/>
            <a:ext cx="5207000" cy="8255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Critic · </a:t>
            </a:r>
            <a:r>
              <a:rPr lang="el-GR" sz="2600" b="1">
                <a:solidFill>
                  <a:srgbClr val="2459D3"/>
                </a:solidFill>
                <a:latin typeface="Aptos" panose="020B0004020202020204" pitchFamily="34" charset="0"/>
              </a:rPr>
              <a:t>φ</a:t>
            </a:r>
            <a:endParaRPr lang="en-IL" sz="2600" b="1">
              <a:solidFill>
                <a:srgbClr val="2459D3"/>
              </a:solidFill>
              <a:latin typeface="Aptos" panose="020B0004020202020204" pitchFamily="34" charset="0"/>
            </a:endParaRPr>
          </a:p>
        </p:txBody>
      </p:sp>
      <p:sp>
        <p:nvSpPr>
          <p:cNvPr id="16" name="text_15">
            <a:extLst>
              <a:ext uri="{FF2B5EF4-FFF2-40B4-BE49-F238E27FC236}">
                <a16:creationId xmlns:a16="http://schemas.microsoft.com/office/drawing/2014/main" id="{57A7C072-2B98-6F50-0C14-AA288A45FB80}"/>
              </a:ext>
            </a:extLst>
          </p:cNvPr>
          <p:cNvSpPr txBox="1"/>
          <p:nvPr/>
        </p:nvSpPr>
        <p:spPr>
          <a:xfrm>
            <a:off x="6096000" y="5105399"/>
            <a:ext cx="5207000" cy="4953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One value: V</a:t>
            </a:r>
            <a:r>
              <a:rPr lang="el-GR" sz="2400">
                <a:solidFill>
                  <a:srgbClr val="15283B"/>
                </a:solidFill>
                <a:latin typeface="Aptos" panose="020B0004020202020204" pitchFamily="34" charset="0"/>
              </a:rPr>
              <a:t>φ(</a:t>
            </a:r>
            <a:r>
              <a:rPr lang="en-IL" sz="2400">
                <a:solidFill>
                  <a:srgbClr val="15283B"/>
                </a:solidFill>
                <a:latin typeface="Aptos" panose="020B0004020202020204" pitchFamily="34" charset="0"/>
              </a:rPr>
              <a:t>s)</a:t>
            </a:r>
          </a:p>
        </p:txBody>
      </p:sp>
      <p:cxnSp>
        <p:nvCxnSpPr>
          <p:cNvPr id="17" name="Straight Connector 16">
            <a:extLst>
              <a:ext uri="{FF2B5EF4-FFF2-40B4-BE49-F238E27FC236}">
                <a16:creationId xmlns:a16="http://schemas.microsoft.com/office/drawing/2014/main" id="{926368A8-5E4E-53C4-F9C9-EC96CA3674CD}"/>
              </a:ext>
            </a:extLst>
          </p:cNvPr>
          <p:cNvCxnSpPr/>
          <p:nvPr/>
        </p:nvCxnSpPr>
        <p:spPr>
          <a:xfrm flipV="1">
            <a:off x="4457700" y="3251200"/>
            <a:ext cx="1397000" cy="111760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10DC9C94-2391-5BA4-4C7A-38B271D0329D}"/>
              </a:ext>
            </a:extLst>
          </p:cNvPr>
          <p:cNvCxnSpPr/>
          <p:nvPr/>
        </p:nvCxnSpPr>
        <p:spPr>
          <a:xfrm>
            <a:off x="4457700" y="4457700"/>
            <a:ext cx="1397000" cy="52070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19" name="text_18">
            <a:extLst>
              <a:ext uri="{FF2B5EF4-FFF2-40B4-BE49-F238E27FC236}">
                <a16:creationId xmlns:a16="http://schemas.microsoft.com/office/drawing/2014/main" id="{FF9A5C62-DB38-AA74-48A3-CAFFF6240C10}"/>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A critic is a value estimator, not an expert controller.</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133676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A1872436-3105-97D0-F7CC-D2BD5F7FCDFD}"/>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8C52A85D-BDDE-16A9-E646-027F5E4DE4B6}"/>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Actor–critic and the TD estimate</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2AA52F7E-B966-5109-3062-9A4EFC8FA8E3}"/>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Compare a one-step return target with the current value prediction.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B5662612-713B-1B2A-ADB3-33EA43B27190}"/>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0B6FE153-3B6D-5423-53FA-98144B36F48E}"/>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138EB335-79F2-B007-D34C-B96E4A3C1C84}"/>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15</a:t>
            </a:r>
          </a:p>
        </p:txBody>
      </p:sp>
      <p:sp>
        <p:nvSpPr>
          <p:cNvPr id="8" name="text_7">
            <a:extLst>
              <a:ext uri="{FF2B5EF4-FFF2-40B4-BE49-F238E27FC236}">
                <a16:creationId xmlns:a16="http://schemas.microsoft.com/office/drawing/2014/main" id="{0A5BAA6D-B82F-84F4-650B-33EE59501AA8}"/>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3200">
                <a:solidFill>
                  <a:srgbClr val="2459D3"/>
                </a:solidFill>
                <a:latin typeface="Cambria Math" panose="02040503050406030204" pitchFamily="18" charset="0"/>
              </a:rPr>
              <a:t>y</a:t>
            </a:r>
            <a:r>
              <a:rPr lang="en-IL" sz="2304" baseline="-22000">
                <a:solidFill>
                  <a:srgbClr val="2459D3"/>
                </a:solidFill>
                <a:latin typeface="Cambria Math" panose="02040503050406030204" pitchFamily="18" charset="0"/>
              </a:rPr>
              <a:t>t</a:t>
            </a:r>
            <a:r>
              <a:rPr lang="en-IL" sz="3200">
                <a:solidFill>
                  <a:srgbClr val="2459D3"/>
                </a:solidFill>
                <a:latin typeface="Cambria Math" panose="02040503050406030204" pitchFamily="18" charset="0"/>
              </a:rPr>
              <a:t> = r</a:t>
            </a:r>
            <a:r>
              <a:rPr lang="en-IL" sz="2304" baseline="-22000">
                <a:solidFill>
                  <a:srgbClr val="2459D3"/>
                </a:solidFill>
                <a:latin typeface="Cambria Math" panose="02040503050406030204" pitchFamily="18" charset="0"/>
              </a:rPr>
              <a:t>t</a:t>
            </a:r>
            <a:r>
              <a:rPr lang="en-IL" sz="3200">
                <a:solidFill>
                  <a:srgbClr val="2459D3"/>
                </a:solidFill>
                <a:latin typeface="Cambria Math" panose="02040503050406030204" pitchFamily="18" charset="0"/>
              </a:rPr>
              <a:t> + </a:t>
            </a:r>
            <a:r>
              <a:rPr lang="el-GR" sz="3200">
                <a:solidFill>
                  <a:srgbClr val="2459D3"/>
                </a:solidFill>
                <a:latin typeface="Cambria Math" panose="02040503050406030204" pitchFamily="18" charset="0"/>
              </a:rPr>
              <a:t>γ(1−</a:t>
            </a:r>
            <a:r>
              <a:rPr lang="en-IL" sz="3200">
                <a:solidFill>
                  <a:srgbClr val="2459D3"/>
                </a:solidFill>
                <a:latin typeface="Cambria Math" panose="02040503050406030204" pitchFamily="18" charset="0"/>
              </a:rPr>
              <a:t>d</a:t>
            </a:r>
            <a:r>
              <a:rPr lang="en-IL" sz="2304" baseline="-22000">
                <a:solidFill>
                  <a:srgbClr val="2459D3"/>
                </a:solidFill>
                <a:latin typeface="Cambria Math" panose="02040503050406030204" pitchFamily="18" charset="0"/>
              </a:rPr>
              <a:t>t</a:t>
            </a:r>
            <a:r>
              <a:rPr lang="en-IL" sz="3200">
                <a:solidFill>
                  <a:srgbClr val="2459D3"/>
                </a:solidFill>
                <a:latin typeface="Cambria Math" panose="02040503050406030204" pitchFamily="18" charset="0"/>
              </a:rPr>
              <a:t>) V</a:t>
            </a:r>
            <a:r>
              <a:rPr lang="el-GR" sz="2304" baseline="-22000">
                <a:solidFill>
                  <a:srgbClr val="2459D3"/>
                </a:solidFill>
                <a:latin typeface="Cambria Math" panose="02040503050406030204" pitchFamily="18" charset="0"/>
              </a:rPr>
              <a:t>φ</a:t>
            </a:r>
            <a:r>
              <a:rPr lang="el-GR" sz="3200">
                <a:solidFill>
                  <a:srgbClr val="2459D3"/>
                </a:solidFill>
                <a:latin typeface="Cambria Math" panose="02040503050406030204" pitchFamily="18" charset="0"/>
              </a:rPr>
              <a:t>(</a:t>
            </a:r>
            <a:r>
              <a:rPr lang="en-IL" sz="3200">
                <a:solidFill>
                  <a:srgbClr val="2459D3"/>
                </a:solidFill>
                <a:latin typeface="Cambria Math" panose="02040503050406030204" pitchFamily="18" charset="0"/>
              </a:rPr>
              <a:t>s</a:t>
            </a:r>
            <a:r>
              <a:rPr lang="en-IL" sz="2304" baseline="-22000">
                <a:solidFill>
                  <a:srgbClr val="2459D3"/>
                </a:solidFill>
                <a:latin typeface="Cambria Math" panose="02040503050406030204" pitchFamily="18" charset="0"/>
              </a:rPr>
              <a:t>t+1</a:t>
            </a:r>
            <a:r>
              <a:rPr lang="en-IL" sz="3200">
                <a:solidFill>
                  <a:srgbClr val="2459D3"/>
                </a:solidFill>
                <a:latin typeface="Cambria Math" panose="02040503050406030204" pitchFamily="18" charset="0"/>
              </a:rPr>
              <a:t>)</a:t>
            </a:r>
          </a:p>
        </p:txBody>
      </p:sp>
      <p:sp>
        <p:nvSpPr>
          <p:cNvPr id="9" name="text_8">
            <a:extLst>
              <a:ext uri="{FF2B5EF4-FFF2-40B4-BE49-F238E27FC236}">
                <a16:creationId xmlns:a16="http://schemas.microsoft.com/office/drawing/2014/main" id="{3C71A909-0150-D7EA-761E-E1C0AAA76F42}"/>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n-IL" sz="3200">
                <a:solidFill>
                  <a:srgbClr val="15283B"/>
                </a:solidFill>
                <a:latin typeface="Cambria Math" panose="02040503050406030204" pitchFamily="18" charset="0"/>
              </a:rPr>
              <a:t>Â</a:t>
            </a:r>
            <a:r>
              <a:rPr lang="en-IL" sz="2304" baseline="-2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 = y</a:t>
            </a:r>
            <a:r>
              <a:rPr lang="en-IL" sz="2304" baseline="-2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 − V</a:t>
            </a:r>
            <a:r>
              <a:rPr lang="el-GR" sz="2304" baseline="-22000">
                <a:solidFill>
                  <a:srgbClr val="15283B"/>
                </a:solidFill>
                <a:latin typeface="Cambria Math" panose="02040503050406030204" pitchFamily="18" charset="0"/>
              </a:rPr>
              <a:t>φ</a:t>
            </a:r>
            <a:r>
              <a:rPr lang="el-GR" sz="3200">
                <a:solidFill>
                  <a:srgbClr val="15283B"/>
                </a:solidFill>
                <a:latin typeface="Cambria Math" panose="02040503050406030204" pitchFamily="18" charset="0"/>
              </a:rPr>
              <a:t>(</a:t>
            </a:r>
            <a:r>
              <a:rPr lang="en-IL" sz="3200">
                <a:solidFill>
                  <a:srgbClr val="15283B"/>
                </a:solidFill>
                <a:latin typeface="Cambria Math" panose="02040503050406030204" pitchFamily="18" charset="0"/>
              </a:rPr>
              <a:t>s</a:t>
            </a:r>
            <a:r>
              <a:rPr lang="en-IL" sz="2304" baseline="-2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a:t>
            </a:r>
          </a:p>
        </p:txBody>
      </p:sp>
      <p:sp>
        <p:nvSpPr>
          <p:cNvPr id="10" name="text_9">
            <a:extLst>
              <a:ext uri="{FF2B5EF4-FFF2-40B4-BE49-F238E27FC236}">
                <a16:creationId xmlns:a16="http://schemas.microsoft.com/office/drawing/2014/main" id="{CDBE70EA-6DBE-F882-E13F-765BCE68991E}"/>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fr-FR" sz="3200">
                <a:solidFill>
                  <a:srgbClr val="15283B"/>
                </a:solidFill>
                <a:latin typeface="Cambria Math" panose="02040503050406030204" pitchFamily="18" charset="0"/>
              </a:rPr>
              <a:t>d</a:t>
            </a:r>
            <a:r>
              <a:rPr lang="fr-FR" sz="2304" baseline="-22000">
                <a:solidFill>
                  <a:srgbClr val="15283B"/>
                </a:solidFill>
                <a:latin typeface="Cambria Math" panose="02040503050406030204" pitchFamily="18" charset="0"/>
              </a:rPr>
              <a:t>t</a:t>
            </a:r>
            <a:r>
              <a:rPr lang="fr-FR" sz="3200">
                <a:solidFill>
                  <a:srgbClr val="15283B"/>
                </a:solidFill>
                <a:latin typeface="Cambria Math" panose="02040503050406030204" pitchFamily="18" charset="0"/>
              </a:rPr>
              <a:t> = 1: true termination; d</a:t>
            </a:r>
            <a:r>
              <a:rPr lang="fr-FR" sz="2304" baseline="-22000">
                <a:solidFill>
                  <a:srgbClr val="15283B"/>
                </a:solidFill>
                <a:latin typeface="Cambria Math" panose="02040503050406030204" pitchFamily="18" charset="0"/>
              </a:rPr>
              <a:t>t</a:t>
            </a:r>
            <a:r>
              <a:rPr lang="fr-FR" sz="3200">
                <a:solidFill>
                  <a:srgbClr val="15283B"/>
                </a:solidFill>
                <a:latin typeface="Cambria Math" panose="02040503050406030204" pitchFamily="18" charset="0"/>
              </a:rPr>
              <a:t> = 0: continuation</a:t>
            </a:r>
            <a:endParaRPr lang="en-IL" sz="32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2E94FEA4-7BE4-1BB7-68C6-B5B90D191562}"/>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Bootstrapping uses an estimate of future return.</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842335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8AAFE7E6-E104-98A4-EE6E-0D0F104D4B13}"/>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27FF2954-5458-3D8C-4AC8-72FFFDBB3217}"/>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Calculate one update signal</a:t>
            </a:r>
          </a:p>
        </p:txBody>
      </p:sp>
      <p:sp>
        <p:nvSpPr>
          <p:cNvPr id="4" name="text_3">
            <a:extLst>
              <a:ext uri="{FF2B5EF4-FFF2-40B4-BE49-F238E27FC236}">
                <a16:creationId xmlns:a16="http://schemas.microsoft.com/office/drawing/2014/main" id="{C574A960-DB9D-A277-358F-4D014D8A74D8}"/>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pt-BR" sz="2600">
                <a:solidFill>
                  <a:srgbClr val="526477"/>
                </a:solidFill>
                <a:latin typeface="Aptos" panose="020B0004020202020204" pitchFamily="34" charset="0"/>
              </a:rPr>
              <a:t>r = 1 · γ = 0.99 · V(s) = 5 · V(s′) = 6</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C7F16DED-CF9F-1F40-00F4-54AA1BD1CEC9}"/>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18E0C0AF-7B70-C599-9DF7-4B21B8AFC752}"/>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73060910-0EAE-383B-D995-64963736B2F2}"/>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16</a:t>
            </a:r>
          </a:p>
        </p:txBody>
      </p:sp>
      <p:sp>
        <p:nvSpPr>
          <p:cNvPr id="8" name="text_7">
            <a:extLst>
              <a:ext uri="{FF2B5EF4-FFF2-40B4-BE49-F238E27FC236}">
                <a16:creationId xmlns:a16="http://schemas.microsoft.com/office/drawing/2014/main" id="{409B1ECE-B5A4-3F7C-DC64-FBDA5D711909}"/>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s-ES" sz="3200">
                <a:solidFill>
                  <a:srgbClr val="2459D3"/>
                </a:solidFill>
                <a:latin typeface="Cambria Math" panose="02040503050406030204" pitchFamily="18" charset="0"/>
              </a:rPr>
              <a:t>y = 1 + 0.99 × 6 = 6.94</a:t>
            </a:r>
            <a:endParaRPr lang="en-IL" sz="32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B20F9010-9183-E578-D4DC-08FAA192ACA6}"/>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n-IL" sz="3200">
                <a:solidFill>
                  <a:srgbClr val="15283B"/>
                </a:solidFill>
                <a:latin typeface="Cambria Math" panose="02040503050406030204" pitchFamily="18" charset="0"/>
              </a:rPr>
              <a:t>Â = 6.94 − 5 = +1.94</a:t>
            </a:r>
          </a:p>
        </p:txBody>
      </p:sp>
      <p:sp>
        <p:nvSpPr>
          <p:cNvPr id="10" name="text_9">
            <a:extLst>
              <a:ext uri="{FF2B5EF4-FFF2-40B4-BE49-F238E27FC236}">
                <a16:creationId xmlns:a16="http://schemas.microsoft.com/office/drawing/2014/main" id="{4B07182D-5D24-1087-40FC-9FA1D5EEAC75}"/>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US" sz="3200">
                <a:solidFill>
                  <a:srgbClr val="15283B"/>
                </a:solidFill>
                <a:latin typeface="Cambria Math" panose="02040503050406030204" pitchFamily="18" charset="0"/>
              </a:rPr>
              <a:t>Critic squared error = (5 − 6.94)</a:t>
            </a:r>
            <a:r>
              <a:rPr lang="en-US" sz="2304" baseline="32000">
                <a:solidFill>
                  <a:srgbClr val="15283B"/>
                </a:solidFill>
                <a:latin typeface="Cambria Math" panose="02040503050406030204" pitchFamily="18" charset="0"/>
              </a:rPr>
              <a:t>2</a:t>
            </a:r>
            <a:r>
              <a:rPr lang="en-US" sz="3200">
                <a:solidFill>
                  <a:srgbClr val="15283B"/>
                </a:solidFill>
                <a:latin typeface="Cambria Math" panose="02040503050406030204" pitchFamily="18" charset="0"/>
              </a:rPr>
              <a:t> = 3.7636</a:t>
            </a:r>
            <a:endParaRPr lang="en-IL" sz="32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3E39C23D-9B43-7A11-8931-0752884905B5}"/>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Encourage the sampled action; fit the critic toward 6.94.</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0708647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EEF1D467-0F94-BFE6-E7BE-F0FED573CECE}"/>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D8AA97F2-07DD-042B-7F44-E06DB9538EAE}"/>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Our five-step return target</a:t>
            </a:r>
          </a:p>
        </p:txBody>
      </p:sp>
      <p:sp>
        <p:nvSpPr>
          <p:cNvPr id="4" name="text_3">
            <a:extLst>
              <a:ext uri="{FF2B5EF4-FFF2-40B4-BE49-F238E27FC236}">
                <a16:creationId xmlns:a16="http://schemas.microsoft.com/office/drawing/2014/main" id="{A4478E63-343F-7272-1FD0-6A9320A6E7C4}"/>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Combine observed rewards with a learned continuation value.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445AC514-C31E-7FDB-009F-69908FE386EC}"/>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E633195-AF74-31C4-57A6-94A7F7E070ED}"/>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E629A1B5-2EAB-E637-C4CC-CA5088FCE602}"/>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17</a:t>
            </a:r>
          </a:p>
        </p:txBody>
      </p:sp>
      <p:sp>
        <p:nvSpPr>
          <p:cNvPr id="8" name="text_7">
            <a:extLst>
              <a:ext uri="{FF2B5EF4-FFF2-40B4-BE49-F238E27FC236}">
                <a16:creationId xmlns:a16="http://schemas.microsoft.com/office/drawing/2014/main" id="{9CC9F820-4148-C9EE-E75C-FE79DB708EF6}"/>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3200">
                <a:solidFill>
                  <a:srgbClr val="2459D3"/>
                </a:solidFill>
                <a:latin typeface="Cambria Math" panose="02040503050406030204" pitchFamily="18" charset="0"/>
              </a:rPr>
              <a:t>y</a:t>
            </a:r>
            <a:r>
              <a:rPr lang="en-IL" sz="2304" baseline="-22000">
                <a:solidFill>
                  <a:srgbClr val="2459D3"/>
                </a:solidFill>
                <a:latin typeface="Cambria Math" panose="02040503050406030204" pitchFamily="18" charset="0"/>
              </a:rPr>
              <a:t>t</a:t>
            </a:r>
            <a:r>
              <a:rPr lang="en-IL" sz="2304" baseline="32000">
                <a:solidFill>
                  <a:srgbClr val="2459D3"/>
                </a:solidFill>
                <a:latin typeface="Cambria Math" panose="02040503050406030204" pitchFamily="18" charset="0"/>
              </a:rPr>
              <a:t>(n)</a:t>
            </a:r>
            <a:r>
              <a:rPr lang="en-IL" sz="3200">
                <a:solidFill>
                  <a:srgbClr val="2459D3"/>
                </a:solidFill>
                <a:latin typeface="Cambria Math" panose="02040503050406030204" pitchFamily="18" charset="0"/>
              </a:rPr>
              <a:t> = ∑</a:t>
            </a:r>
            <a:r>
              <a:rPr lang="en-IL" sz="2304" baseline="-22000">
                <a:solidFill>
                  <a:srgbClr val="2459D3"/>
                </a:solidFill>
                <a:latin typeface="Cambria Math" panose="02040503050406030204" pitchFamily="18" charset="0"/>
              </a:rPr>
              <a:t>k=0</a:t>
            </a:r>
            <a:r>
              <a:rPr lang="en-IL" sz="2304" baseline="32000">
                <a:solidFill>
                  <a:srgbClr val="2459D3"/>
                </a:solidFill>
                <a:latin typeface="Cambria Math" panose="02040503050406030204" pitchFamily="18" charset="0"/>
              </a:rPr>
              <a:t>n−1</a:t>
            </a:r>
            <a:r>
              <a:rPr lang="en-IL" sz="3200">
                <a:solidFill>
                  <a:srgbClr val="2459D3"/>
                </a:solidFill>
                <a:latin typeface="Cambria Math" panose="02040503050406030204" pitchFamily="18" charset="0"/>
              </a:rPr>
              <a:t> </a:t>
            </a:r>
            <a:r>
              <a:rPr lang="el-GR" sz="3200">
                <a:solidFill>
                  <a:srgbClr val="2459D3"/>
                </a:solidFill>
                <a:latin typeface="Cambria Math" panose="02040503050406030204" pitchFamily="18" charset="0"/>
              </a:rPr>
              <a:t>γ</a:t>
            </a:r>
            <a:r>
              <a:rPr lang="en-IL" sz="2304" baseline="32000">
                <a:solidFill>
                  <a:srgbClr val="2459D3"/>
                </a:solidFill>
                <a:latin typeface="Cambria Math" panose="02040503050406030204" pitchFamily="18" charset="0"/>
              </a:rPr>
              <a:t>k</a:t>
            </a:r>
            <a:r>
              <a:rPr lang="en-IL" sz="3200">
                <a:solidFill>
                  <a:srgbClr val="2459D3"/>
                </a:solidFill>
                <a:latin typeface="Cambria Math" panose="02040503050406030204" pitchFamily="18" charset="0"/>
              </a:rPr>
              <a:t> r</a:t>
            </a:r>
            <a:r>
              <a:rPr lang="en-IL" sz="2304" baseline="-22000">
                <a:solidFill>
                  <a:srgbClr val="2459D3"/>
                </a:solidFill>
                <a:latin typeface="Cambria Math" panose="02040503050406030204" pitchFamily="18" charset="0"/>
              </a:rPr>
              <a:t>t+k</a:t>
            </a:r>
            <a:r>
              <a:rPr lang="en-IL" sz="3200">
                <a:solidFill>
                  <a:srgbClr val="2459D3"/>
                </a:solidFill>
                <a:latin typeface="Cambria Math" panose="02040503050406030204" pitchFamily="18" charset="0"/>
              </a:rPr>
              <a:t> + </a:t>
            </a:r>
            <a:r>
              <a:rPr lang="el-GR" sz="3200">
                <a:solidFill>
                  <a:srgbClr val="2459D3"/>
                </a:solidFill>
                <a:latin typeface="Cambria Math" panose="02040503050406030204" pitchFamily="18" charset="0"/>
              </a:rPr>
              <a:t>γ</a:t>
            </a:r>
            <a:r>
              <a:rPr lang="en-IL" sz="2304" baseline="32000">
                <a:solidFill>
                  <a:srgbClr val="2459D3"/>
                </a:solidFill>
                <a:latin typeface="Cambria Math" panose="02040503050406030204" pitchFamily="18" charset="0"/>
              </a:rPr>
              <a:t>n</a:t>
            </a:r>
            <a:r>
              <a:rPr lang="en-IL" sz="3200">
                <a:solidFill>
                  <a:srgbClr val="2459D3"/>
                </a:solidFill>
                <a:latin typeface="Cambria Math" panose="02040503050406030204" pitchFamily="18" charset="0"/>
              </a:rPr>
              <a:t> V</a:t>
            </a:r>
            <a:r>
              <a:rPr lang="el-GR" sz="2304" baseline="-22000">
                <a:solidFill>
                  <a:srgbClr val="2459D3"/>
                </a:solidFill>
                <a:latin typeface="Cambria Math" panose="02040503050406030204" pitchFamily="18" charset="0"/>
              </a:rPr>
              <a:t>φ</a:t>
            </a:r>
            <a:r>
              <a:rPr lang="el-GR" sz="3200">
                <a:solidFill>
                  <a:srgbClr val="2459D3"/>
                </a:solidFill>
                <a:latin typeface="Cambria Math" panose="02040503050406030204" pitchFamily="18" charset="0"/>
              </a:rPr>
              <a:t>(</a:t>
            </a:r>
            <a:r>
              <a:rPr lang="en-IL" sz="3200">
                <a:solidFill>
                  <a:srgbClr val="2459D3"/>
                </a:solidFill>
                <a:latin typeface="Cambria Math" panose="02040503050406030204" pitchFamily="18" charset="0"/>
              </a:rPr>
              <a:t>s</a:t>
            </a:r>
            <a:r>
              <a:rPr lang="en-IL" sz="2304" baseline="-22000">
                <a:solidFill>
                  <a:srgbClr val="2459D3"/>
                </a:solidFill>
                <a:latin typeface="Cambria Math" panose="02040503050406030204" pitchFamily="18" charset="0"/>
              </a:rPr>
              <a:t>t+n</a:t>
            </a:r>
            <a:r>
              <a:rPr lang="en-IL" sz="3200">
                <a:solidFill>
                  <a:srgbClr val="2459D3"/>
                </a:solidFill>
                <a:latin typeface="Cambria Math" panose="02040503050406030204" pitchFamily="18" charset="0"/>
              </a:rPr>
              <a:t>)</a:t>
            </a:r>
          </a:p>
        </p:txBody>
      </p:sp>
      <p:sp>
        <p:nvSpPr>
          <p:cNvPr id="9" name="text_8">
            <a:extLst>
              <a:ext uri="{FF2B5EF4-FFF2-40B4-BE49-F238E27FC236}">
                <a16:creationId xmlns:a16="http://schemas.microsoft.com/office/drawing/2014/main" id="{9476884E-BAE0-1B61-4795-F4207932F144}"/>
              </a:ext>
            </a:extLst>
          </p:cNvPr>
          <p:cNvSpPr txBox="1"/>
          <p:nvPr/>
        </p:nvSpPr>
        <p:spPr>
          <a:xfrm>
            <a:off x="685800" y="3594099"/>
            <a:ext cx="10820400" cy="711200"/>
          </a:xfrm>
          <a:prstGeom prst="rect">
            <a:avLst/>
          </a:prstGeom>
          <a:noFill/>
        </p:spPr>
        <p:txBody>
          <a:bodyPr vert="horz" wrap="square" lIns="0" tIns="0" rIns="0" bIns="0" rtlCol="0" anchor="t">
            <a:noAutofit/>
          </a:bodyPr>
          <a:lstStyle/>
          <a:p>
            <a:r>
              <a:rPr lang="en-IL" sz="3200">
                <a:solidFill>
                  <a:srgbClr val="15283B"/>
                </a:solidFill>
                <a:latin typeface="Cambria Math" panose="02040503050406030204" pitchFamily="18" charset="0"/>
              </a:rPr>
              <a:t>n = 5: r</a:t>
            </a:r>
            <a:r>
              <a:rPr lang="en-IL" sz="2304" baseline="-22000">
                <a:solidFill>
                  <a:srgbClr val="15283B"/>
                </a:solidFill>
                <a:latin typeface="Cambria Math" panose="02040503050406030204" pitchFamily="18" charset="0"/>
              </a:rPr>
              <a:t>t</a:t>
            </a:r>
            <a:r>
              <a:rPr lang="en-IL" sz="3200">
                <a:solidFill>
                  <a:srgbClr val="15283B"/>
                </a:solidFill>
                <a:latin typeface="Cambria Math" panose="02040503050406030204" pitchFamily="18" charset="0"/>
              </a:rPr>
              <a:t> + </a:t>
            </a:r>
            <a:r>
              <a:rPr lang="el-GR" sz="3200">
                <a:solidFill>
                  <a:srgbClr val="15283B"/>
                </a:solidFill>
                <a:latin typeface="Cambria Math" panose="02040503050406030204" pitchFamily="18" charset="0"/>
              </a:rPr>
              <a:t>γ</a:t>
            </a:r>
            <a:r>
              <a:rPr lang="en-IL" sz="3200">
                <a:solidFill>
                  <a:srgbClr val="15283B"/>
                </a:solidFill>
                <a:latin typeface="Cambria Math" panose="02040503050406030204" pitchFamily="18" charset="0"/>
              </a:rPr>
              <a:t>r</a:t>
            </a:r>
            <a:r>
              <a:rPr lang="en-IL" sz="2304" baseline="-22000">
                <a:solidFill>
                  <a:srgbClr val="15283B"/>
                </a:solidFill>
                <a:latin typeface="Cambria Math" panose="02040503050406030204" pitchFamily="18" charset="0"/>
              </a:rPr>
              <a:t>t+1</a:t>
            </a:r>
            <a:r>
              <a:rPr lang="en-IL" sz="3200">
                <a:solidFill>
                  <a:srgbClr val="15283B"/>
                </a:solidFill>
                <a:latin typeface="Cambria Math" panose="02040503050406030204" pitchFamily="18" charset="0"/>
              </a:rPr>
              <a:t> + ⋯ + </a:t>
            </a:r>
            <a:r>
              <a:rPr lang="el-GR" sz="3200">
                <a:solidFill>
                  <a:srgbClr val="15283B"/>
                </a:solidFill>
                <a:latin typeface="Cambria Math" panose="02040503050406030204" pitchFamily="18" charset="0"/>
              </a:rPr>
              <a:t>γ</a:t>
            </a:r>
            <a:r>
              <a:rPr lang="el-GR" sz="2304" baseline="32000">
                <a:solidFill>
                  <a:srgbClr val="15283B"/>
                </a:solidFill>
                <a:latin typeface="Cambria Math" panose="02040503050406030204" pitchFamily="18" charset="0"/>
              </a:rPr>
              <a:t>4</a:t>
            </a:r>
            <a:r>
              <a:rPr lang="el-GR" sz="3200">
                <a:solidFill>
                  <a:srgbClr val="15283B"/>
                </a:solidFill>
                <a:latin typeface="Cambria Math" panose="02040503050406030204" pitchFamily="18" charset="0"/>
              </a:rPr>
              <a:t> </a:t>
            </a:r>
            <a:r>
              <a:rPr lang="en-IL" sz="3200">
                <a:solidFill>
                  <a:srgbClr val="15283B"/>
                </a:solidFill>
                <a:latin typeface="Cambria Math" panose="02040503050406030204" pitchFamily="18" charset="0"/>
              </a:rPr>
              <a:t>r</a:t>
            </a:r>
            <a:r>
              <a:rPr lang="en-IL" sz="2304" baseline="-22000">
                <a:solidFill>
                  <a:srgbClr val="15283B"/>
                </a:solidFill>
                <a:latin typeface="Cambria Math" panose="02040503050406030204" pitchFamily="18" charset="0"/>
              </a:rPr>
              <a:t>t+4</a:t>
            </a:r>
            <a:r>
              <a:rPr lang="en-IL" sz="3200">
                <a:solidFill>
                  <a:srgbClr val="15283B"/>
                </a:solidFill>
                <a:latin typeface="Cambria Math" panose="02040503050406030204" pitchFamily="18" charset="0"/>
              </a:rPr>
              <a:t> + </a:t>
            </a:r>
            <a:r>
              <a:rPr lang="el-GR" sz="3200">
                <a:solidFill>
                  <a:srgbClr val="15283B"/>
                </a:solidFill>
                <a:latin typeface="Cambria Math" panose="02040503050406030204" pitchFamily="18" charset="0"/>
              </a:rPr>
              <a:t>γ</a:t>
            </a:r>
            <a:r>
              <a:rPr lang="el-GR" sz="2304" baseline="32000">
                <a:solidFill>
                  <a:srgbClr val="15283B"/>
                </a:solidFill>
                <a:latin typeface="Cambria Math" panose="02040503050406030204" pitchFamily="18" charset="0"/>
              </a:rPr>
              <a:t>5</a:t>
            </a:r>
            <a:r>
              <a:rPr lang="el-GR" sz="3200">
                <a:solidFill>
                  <a:srgbClr val="15283B"/>
                </a:solidFill>
                <a:latin typeface="Cambria Math" panose="02040503050406030204" pitchFamily="18" charset="0"/>
              </a:rPr>
              <a:t> </a:t>
            </a:r>
            <a:r>
              <a:rPr lang="en-IL" sz="3200">
                <a:solidFill>
                  <a:srgbClr val="15283B"/>
                </a:solidFill>
                <a:latin typeface="Cambria Math" panose="02040503050406030204" pitchFamily="18" charset="0"/>
              </a:rPr>
              <a:t>V</a:t>
            </a:r>
            <a:r>
              <a:rPr lang="el-GR" sz="2304" baseline="-22000">
                <a:solidFill>
                  <a:srgbClr val="15283B"/>
                </a:solidFill>
                <a:latin typeface="Cambria Math" panose="02040503050406030204" pitchFamily="18" charset="0"/>
              </a:rPr>
              <a:t>φ</a:t>
            </a:r>
            <a:r>
              <a:rPr lang="el-GR" sz="3200">
                <a:solidFill>
                  <a:srgbClr val="15283B"/>
                </a:solidFill>
                <a:latin typeface="Cambria Math" panose="02040503050406030204" pitchFamily="18" charset="0"/>
              </a:rPr>
              <a:t>(</a:t>
            </a:r>
            <a:r>
              <a:rPr lang="en-IL" sz="3200">
                <a:solidFill>
                  <a:srgbClr val="15283B"/>
                </a:solidFill>
                <a:latin typeface="Cambria Math" panose="02040503050406030204" pitchFamily="18" charset="0"/>
              </a:rPr>
              <a:t>s</a:t>
            </a:r>
            <a:r>
              <a:rPr lang="en-IL" sz="2304" baseline="-22000">
                <a:solidFill>
                  <a:srgbClr val="15283B"/>
                </a:solidFill>
                <a:latin typeface="Cambria Math" panose="02040503050406030204" pitchFamily="18" charset="0"/>
              </a:rPr>
              <a:t>t+5</a:t>
            </a:r>
            <a:r>
              <a:rPr lang="en-IL" sz="3200">
                <a:solidFill>
                  <a:srgbClr val="15283B"/>
                </a:solidFill>
                <a:latin typeface="Cambria Math" panose="02040503050406030204" pitchFamily="18" charset="0"/>
              </a:rPr>
              <a:t>)</a:t>
            </a:r>
          </a:p>
        </p:txBody>
      </p:sp>
      <p:sp>
        <p:nvSpPr>
          <p:cNvPr id="10" name="text_9">
            <a:extLst>
              <a:ext uri="{FF2B5EF4-FFF2-40B4-BE49-F238E27FC236}">
                <a16:creationId xmlns:a16="http://schemas.microsoft.com/office/drawing/2014/main" id="{061AD0A3-0D96-5A83-5A41-7470A82ED0E5}"/>
              </a:ext>
            </a:extLst>
          </p:cNvPr>
          <p:cNvSpPr txBox="1"/>
          <p:nvPr/>
        </p:nvSpPr>
        <p:spPr>
          <a:xfrm>
            <a:off x="685800" y="4559299"/>
            <a:ext cx="10820400" cy="711200"/>
          </a:xfrm>
          <a:prstGeom prst="rect">
            <a:avLst/>
          </a:prstGeom>
          <a:noFill/>
        </p:spPr>
        <p:txBody>
          <a:bodyPr vert="horz" wrap="square" lIns="0" tIns="0" rIns="0" bIns="0" rtlCol="0" anchor="t">
            <a:noAutofit/>
          </a:bodyPr>
          <a:lstStyle/>
          <a:p>
            <a:r>
              <a:rPr lang="en-US" sz="3200">
                <a:solidFill>
                  <a:srgbClr val="15283B"/>
                </a:solidFill>
                <a:latin typeface="Cambria Math" panose="02040503050406030204" pitchFamily="18" charset="0"/>
              </a:rPr>
              <a:t>Actual boundary handling can shorten the return.</a:t>
            </a:r>
            <a:endParaRPr lang="en-IL" sz="32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25BCAF2A-44F4-00AF-FF9D-D4CBBB5E8910}"/>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Termination: no bootstrap. Truncation: use the final observation.</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7340110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22358CFD-EF55-182B-55DA-289FF3286104}"/>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7712C5BB-B7F6-2820-970E-E214E05ACA04}"/>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Two losses, two learning roles</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906EA1C0-F6CB-B52C-34C5-A9C7AF554F8A}"/>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Treat advantage and return targets as fixed learning signals.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416DCC2C-846B-63CE-3350-96733E346B49}"/>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65CBA25F-75BD-46B8-97EF-02EEE27EB21B}"/>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A69F4AB5-0C18-8D72-28E6-C74592BCF40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18</a:t>
            </a:r>
          </a:p>
        </p:txBody>
      </p:sp>
      <p:sp>
        <p:nvSpPr>
          <p:cNvPr id="8" name="text_7">
            <a:extLst>
              <a:ext uri="{FF2B5EF4-FFF2-40B4-BE49-F238E27FC236}">
                <a16:creationId xmlns:a16="http://schemas.microsoft.com/office/drawing/2014/main" id="{3B8B9BBD-308C-94FA-F790-B80D2E58A79D}"/>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2900">
                <a:solidFill>
                  <a:srgbClr val="2459D3"/>
                </a:solidFill>
                <a:latin typeface="Cambria Math" panose="02040503050406030204" pitchFamily="18" charset="0"/>
              </a:rPr>
              <a:t>L</a:t>
            </a:r>
            <a:r>
              <a:rPr lang="en-IL" sz="2088" baseline="-22000">
                <a:solidFill>
                  <a:srgbClr val="2459D3"/>
                </a:solidFill>
                <a:latin typeface="Cambria Math" panose="02040503050406030204" pitchFamily="18" charset="0"/>
              </a:rPr>
              <a:t>actor</a:t>
            </a:r>
            <a:r>
              <a:rPr lang="en-IL" sz="2900">
                <a:solidFill>
                  <a:srgbClr val="2459D3"/>
                </a:solidFill>
                <a:latin typeface="Cambria Math" panose="02040503050406030204" pitchFamily="18" charset="0"/>
              </a:rPr>
              <a:t> = −(1/N) ∑</a:t>
            </a:r>
            <a:r>
              <a:rPr lang="en-IL" sz="2088" baseline="-22000">
                <a:solidFill>
                  <a:srgbClr val="2459D3"/>
                </a:solidFill>
                <a:latin typeface="Cambria Math" panose="02040503050406030204" pitchFamily="18" charset="0"/>
              </a:rPr>
              <a:t>t</a:t>
            </a:r>
            <a:r>
              <a:rPr lang="en-IL" sz="2900">
                <a:solidFill>
                  <a:srgbClr val="2459D3"/>
                </a:solidFill>
                <a:latin typeface="Cambria Math" panose="02040503050406030204" pitchFamily="18" charset="0"/>
              </a:rPr>
              <a:t> log </a:t>
            </a:r>
            <a:r>
              <a:rPr lang="el-GR" sz="2900">
                <a:solidFill>
                  <a:srgbClr val="2459D3"/>
                </a:solidFill>
                <a:latin typeface="Cambria Math" panose="02040503050406030204" pitchFamily="18" charset="0"/>
              </a:rPr>
              <a:t>π</a:t>
            </a:r>
            <a:r>
              <a:rPr lang="el-GR" sz="2088" baseline="-22000">
                <a:solidFill>
                  <a:srgbClr val="2459D3"/>
                </a:solidFill>
                <a:latin typeface="Cambria Math" panose="02040503050406030204" pitchFamily="18" charset="0"/>
              </a:rPr>
              <a:t>θ</a:t>
            </a:r>
            <a:r>
              <a:rPr lang="el-GR" sz="2900">
                <a:solidFill>
                  <a:srgbClr val="2459D3"/>
                </a:solidFill>
                <a:latin typeface="Cambria Math" panose="02040503050406030204" pitchFamily="18" charset="0"/>
              </a:rPr>
              <a:t>(</a:t>
            </a:r>
            <a:r>
              <a:rPr lang="en-IL" sz="2900">
                <a:solidFill>
                  <a:srgbClr val="2459D3"/>
                </a:solidFill>
                <a:latin typeface="Cambria Math" panose="02040503050406030204" pitchFamily="18" charset="0"/>
              </a:rPr>
              <a:t>a</a:t>
            </a:r>
            <a:r>
              <a:rPr lang="en-IL" sz="2088" baseline="-22000">
                <a:solidFill>
                  <a:srgbClr val="2459D3"/>
                </a:solidFill>
                <a:latin typeface="Cambria Math" panose="02040503050406030204" pitchFamily="18" charset="0"/>
              </a:rPr>
              <a:t>t</a:t>
            </a:r>
            <a:r>
              <a:rPr lang="en-IL" sz="2900">
                <a:solidFill>
                  <a:srgbClr val="2459D3"/>
                </a:solidFill>
                <a:latin typeface="Cambria Math" panose="02040503050406030204" pitchFamily="18" charset="0"/>
              </a:rPr>
              <a:t>|s</a:t>
            </a:r>
            <a:r>
              <a:rPr lang="en-IL" sz="2088" baseline="-22000">
                <a:solidFill>
                  <a:srgbClr val="2459D3"/>
                </a:solidFill>
                <a:latin typeface="Cambria Math" panose="02040503050406030204" pitchFamily="18" charset="0"/>
              </a:rPr>
              <a:t>t</a:t>
            </a:r>
            <a:r>
              <a:rPr lang="en-IL" sz="2900">
                <a:solidFill>
                  <a:srgbClr val="2459D3"/>
                </a:solidFill>
                <a:latin typeface="Cambria Math" panose="02040503050406030204" pitchFamily="18" charset="0"/>
              </a:rPr>
              <a:t>) stopgrad(Â</a:t>
            </a:r>
            <a:r>
              <a:rPr lang="en-IL" sz="2088" baseline="-22000">
                <a:solidFill>
                  <a:srgbClr val="2459D3"/>
                </a:solidFill>
                <a:latin typeface="Cambria Math" panose="02040503050406030204" pitchFamily="18" charset="0"/>
              </a:rPr>
              <a:t>t</a:t>
            </a:r>
            <a:r>
              <a:rPr lang="en-IL" sz="2900">
                <a:solidFill>
                  <a:srgbClr val="2459D3"/>
                </a:solidFill>
                <a:latin typeface="Cambria Math" panose="02040503050406030204" pitchFamily="18" charset="0"/>
              </a:rPr>
              <a:t>)</a:t>
            </a:r>
          </a:p>
        </p:txBody>
      </p:sp>
      <p:sp>
        <p:nvSpPr>
          <p:cNvPr id="9" name="text_8">
            <a:extLst>
              <a:ext uri="{FF2B5EF4-FFF2-40B4-BE49-F238E27FC236}">
                <a16:creationId xmlns:a16="http://schemas.microsoft.com/office/drawing/2014/main" id="{9FC62EC9-8D12-C8A3-3F74-D77793AA3B0D}"/>
              </a:ext>
            </a:extLst>
          </p:cNvPr>
          <p:cNvSpPr txBox="1"/>
          <p:nvPr/>
        </p:nvSpPr>
        <p:spPr>
          <a:xfrm>
            <a:off x="685800" y="3378199"/>
            <a:ext cx="10820400" cy="711200"/>
          </a:xfrm>
          <a:prstGeom prst="rect">
            <a:avLst/>
          </a:prstGeom>
          <a:noFill/>
        </p:spPr>
        <p:txBody>
          <a:bodyPr vert="horz" wrap="square" lIns="0" tIns="0" rIns="0" bIns="0" rtlCol="0" anchor="t">
            <a:noAutofit/>
          </a:bodyPr>
          <a:lstStyle/>
          <a:p>
            <a:r>
              <a:rPr lang="en-IL" sz="2900">
                <a:solidFill>
                  <a:srgbClr val="15283B"/>
                </a:solidFill>
                <a:latin typeface="Cambria Math" panose="02040503050406030204" pitchFamily="18" charset="0"/>
              </a:rPr>
              <a:t>L</a:t>
            </a:r>
            <a:r>
              <a:rPr lang="en-IL" sz="2088" baseline="-22000">
                <a:solidFill>
                  <a:srgbClr val="15283B"/>
                </a:solidFill>
                <a:latin typeface="Cambria Math" panose="02040503050406030204" pitchFamily="18" charset="0"/>
              </a:rPr>
              <a:t>critic</a:t>
            </a:r>
            <a:r>
              <a:rPr lang="en-IL" sz="2900">
                <a:solidFill>
                  <a:srgbClr val="15283B"/>
                </a:solidFill>
                <a:latin typeface="Cambria Math" panose="02040503050406030204" pitchFamily="18" charset="0"/>
              </a:rPr>
              <a:t> = (1/N) ∑</a:t>
            </a:r>
            <a:r>
              <a:rPr lang="en-IL" sz="2088" baseline="-22000">
                <a:solidFill>
                  <a:srgbClr val="15283B"/>
                </a:solidFill>
                <a:latin typeface="Cambria Math" panose="02040503050406030204" pitchFamily="18" charset="0"/>
              </a:rPr>
              <a:t>t</a:t>
            </a:r>
            <a:r>
              <a:rPr lang="en-IL" sz="2900">
                <a:solidFill>
                  <a:srgbClr val="15283B"/>
                </a:solidFill>
                <a:latin typeface="Cambria Math" panose="02040503050406030204" pitchFamily="18" charset="0"/>
              </a:rPr>
              <a:t> [V</a:t>
            </a:r>
            <a:r>
              <a:rPr lang="el-GR" sz="2088" baseline="-22000">
                <a:solidFill>
                  <a:srgbClr val="15283B"/>
                </a:solidFill>
                <a:latin typeface="Cambria Math" panose="02040503050406030204" pitchFamily="18" charset="0"/>
              </a:rPr>
              <a:t>φ</a:t>
            </a:r>
            <a:r>
              <a:rPr lang="el-GR" sz="2900">
                <a:solidFill>
                  <a:srgbClr val="15283B"/>
                </a:solidFill>
                <a:latin typeface="Cambria Math" panose="02040503050406030204" pitchFamily="18" charset="0"/>
              </a:rPr>
              <a:t>(</a:t>
            </a:r>
            <a:r>
              <a:rPr lang="en-IL" sz="2900">
                <a:solidFill>
                  <a:srgbClr val="15283B"/>
                </a:solidFill>
                <a:latin typeface="Cambria Math" panose="02040503050406030204" pitchFamily="18" charset="0"/>
              </a:rPr>
              <a:t>s</a:t>
            </a:r>
            <a:r>
              <a:rPr lang="en-IL" sz="2088" baseline="-22000">
                <a:solidFill>
                  <a:srgbClr val="15283B"/>
                </a:solidFill>
                <a:latin typeface="Cambria Math" panose="02040503050406030204" pitchFamily="18" charset="0"/>
              </a:rPr>
              <a:t>t</a:t>
            </a:r>
            <a:r>
              <a:rPr lang="en-IL" sz="2900">
                <a:solidFill>
                  <a:srgbClr val="15283B"/>
                </a:solidFill>
                <a:latin typeface="Cambria Math" panose="02040503050406030204" pitchFamily="18" charset="0"/>
              </a:rPr>
              <a:t>) − stopgrad(y</a:t>
            </a:r>
            <a:r>
              <a:rPr lang="en-IL" sz="2088" baseline="-22000">
                <a:solidFill>
                  <a:srgbClr val="15283B"/>
                </a:solidFill>
                <a:latin typeface="Cambria Math" panose="02040503050406030204" pitchFamily="18" charset="0"/>
              </a:rPr>
              <a:t>t</a:t>
            </a:r>
            <a:r>
              <a:rPr lang="en-IL" sz="2900">
                <a:solidFill>
                  <a:srgbClr val="15283B"/>
                </a:solidFill>
                <a:latin typeface="Cambria Math" panose="02040503050406030204" pitchFamily="18" charset="0"/>
              </a:rPr>
              <a:t>)]</a:t>
            </a:r>
            <a:r>
              <a:rPr lang="en-IL" sz="2088" baseline="32000">
                <a:solidFill>
                  <a:srgbClr val="15283B"/>
                </a:solidFill>
                <a:latin typeface="Cambria Math" panose="02040503050406030204" pitchFamily="18" charset="0"/>
              </a:rPr>
              <a:t>2</a:t>
            </a:r>
          </a:p>
        </p:txBody>
      </p:sp>
      <p:sp>
        <p:nvSpPr>
          <p:cNvPr id="10" name="text_9">
            <a:extLst>
              <a:ext uri="{FF2B5EF4-FFF2-40B4-BE49-F238E27FC236}">
                <a16:creationId xmlns:a16="http://schemas.microsoft.com/office/drawing/2014/main" id="{A4D8DD8B-6B6A-7B64-B23B-FC54DB000E0C}"/>
              </a:ext>
            </a:extLst>
          </p:cNvPr>
          <p:cNvSpPr txBox="1"/>
          <p:nvPr/>
        </p:nvSpPr>
        <p:spPr>
          <a:xfrm>
            <a:off x="685800" y="4127499"/>
            <a:ext cx="10820400" cy="711200"/>
          </a:xfrm>
          <a:prstGeom prst="rect">
            <a:avLst/>
          </a:prstGeom>
          <a:noFill/>
        </p:spPr>
        <p:txBody>
          <a:bodyPr vert="horz" wrap="square" lIns="0" tIns="0" rIns="0" bIns="0" rtlCol="0" anchor="t">
            <a:noAutofit/>
          </a:bodyPr>
          <a:lstStyle/>
          <a:p>
            <a:r>
              <a:rPr lang="en-IL" sz="2900">
                <a:solidFill>
                  <a:srgbClr val="15283B"/>
                </a:solidFill>
                <a:latin typeface="Cambria Math" panose="02040503050406030204" pitchFamily="18" charset="0"/>
              </a:rPr>
              <a:t>L = L</a:t>
            </a:r>
            <a:r>
              <a:rPr lang="en-IL" sz="2088" baseline="-22000">
                <a:solidFill>
                  <a:srgbClr val="15283B"/>
                </a:solidFill>
                <a:latin typeface="Cambria Math" panose="02040503050406030204" pitchFamily="18" charset="0"/>
              </a:rPr>
              <a:t>actor</a:t>
            </a:r>
            <a:r>
              <a:rPr lang="en-IL" sz="2900">
                <a:solidFill>
                  <a:srgbClr val="15283B"/>
                </a:solidFill>
                <a:latin typeface="Cambria Math" panose="02040503050406030204" pitchFamily="18" charset="0"/>
              </a:rPr>
              <a:t> + 0.5 L</a:t>
            </a:r>
            <a:r>
              <a:rPr lang="en-IL" sz="2088" baseline="-22000">
                <a:solidFill>
                  <a:srgbClr val="15283B"/>
                </a:solidFill>
                <a:latin typeface="Cambria Math" panose="02040503050406030204" pitchFamily="18" charset="0"/>
              </a:rPr>
              <a:t>critic</a:t>
            </a:r>
          </a:p>
        </p:txBody>
      </p:sp>
      <p:sp>
        <p:nvSpPr>
          <p:cNvPr id="11" name="text_10">
            <a:extLst>
              <a:ext uri="{FF2B5EF4-FFF2-40B4-BE49-F238E27FC236}">
                <a16:creationId xmlns:a16="http://schemas.microsoft.com/office/drawing/2014/main" id="{C417817A-105C-E394-15F8-EDC977CC3B76}"/>
              </a:ext>
            </a:extLst>
          </p:cNvPr>
          <p:cNvSpPr txBox="1"/>
          <p:nvPr/>
        </p:nvSpPr>
        <p:spPr>
          <a:xfrm>
            <a:off x="685800" y="4876799"/>
            <a:ext cx="10820400" cy="711200"/>
          </a:xfrm>
          <a:prstGeom prst="rect">
            <a:avLst/>
          </a:prstGeom>
          <a:noFill/>
        </p:spPr>
        <p:txBody>
          <a:bodyPr vert="horz" wrap="square" lIns="0" tIns="0" rIns="0" bIns="0" rtlCol="0" anchor="t">
            <a:noAutofit/>
          </a:bodyPr>
          <a:lstStyle/>
          <a:p>
            <a:r>
              <a:rPr lang="el-GR" sz="2900">
                <a:solidFill>
                  <a:srgbClr val="15283B"/>
                </a:solidFill>
                <a:latin typeface="Cambria Math" panose="02040503050406030204" pitchFamily="18" charset="0"/>
              </a:rPr>
              <a:t>θ ← θ − η∇</a:t>
            </a:r>
            <a:r>
              <a:rPr lang="el-GR" sz="2088" baseline="-22000">
                <a:solidFill>
                  <a:srgbClr val="15283B"/>
                </a:solidFill>
                <a:latin typeface="Cambria Math" panose="02040503050406030204" pitchFamily="18" charset="0"/>
              </a:rPr>
              <a:t>θ</a:t>
            </a:r>
            <a:r>
              <a:rPr lang="el-GR" sz="2900">
                <a:solidFill>
                  <a:srgbClr val="15283B"/>
                </a:solidFill>
                <a:latin typeface="Cambria Math" panose="02040503050406030204" pitchFamily="18" charset="0"/>
              </a:rPr>
              <a:t> </a:t>
            </a:r>
            <a:r>
              <a:rPr lang="en-IL" sz="2900">
                <a:solidFill>
                  <a:srgbClr val="15283B"/>
                </a:solidFill>
                <a:latin typeface="Cambria Math" panose="02040503050406030204" pitchFamily="18" charset="0"/>
              </a:rPr>
              <a:t>L</a:t>
            </a:r>
            <a:r>
              <a:rPr lang="en-IL" sz="2088" baseline="-22000">
                <a:solidFill>
                  <a:srgbClr val="15283B"/>
                </a:solidFill>
                <a:latin typeface="Cambria Math" panose="02040503050406030204" pitchFamily="18" charset="0"/>
              </a:rPr>
              <a:t>actor</a:t>
            </a:r>
            <a:r>
              <a:rPr lang="en-IL" sz="2900">
                <a:solidFill>
                  <a:srgbClr val="15283B"/>
                </a:solidFill>
                <a:latin typeface="Cambria Math" panose="02040503050406030204" pitchFamily="18" charset="0"/>
              </a:rPr>
              <a:t>    |    </a:t>
            </a:r>
            <a:r>
              <a:rPr lang="el-GR" sz="2900">
                <a:solidFill>
                  <a:srgbClr val="15283B"/>
                </a:solidFill>
                <a:latin typeface="Cambria Math" panose="02040503050406030204" pitchFamily="18" charset="0"/>
              </a:rPr>
              <a:t>φ ← φ − η∇</a:t>
            </a:r>
            <a:r>
              <a:rPr lang="el-GR" sz="2088" baseline="-22000">
                <a:solidFill>
                  <a:srgbClr val="15283B"/>
                </a:solidFill>
                <a:latin typeface="Cambria Math" panose="02040503050406030204" pitchFamily="18" charset="0"/>
              </a:rPr>
              <a:t>φ</a:t>
            </a:r>
            <a:r>
              <a:rPr lang="el-GR" sz="2900">
                <a:solidFill>
                  <a:srgbClr val="15283B"/>
                </a:solidFill>
                <a:latin typeface="Cambria Math" panose="02040503050406030204" pitchFamily="18" charset="0"/>
              </a:rPr>
              <a:t> </a:t>
            </a:r>
            <a:r>
              <a:rPr lang="en-IL" sz="2900">
                <a:solidFill>
                  <a:srgbClr val="15283B"/>
                </a:solidFill>
                <a:latin typeface="Cambria Math" panose="02040503050406030204" pitchFamily="18" charset="0"/>
              </a:rPr>
              <a:t>L</a:t>
            </a:r>
            <a:r>
              <a:rPr lang="en-IL" sz="2088" baseline="-22000">
                <a:solidFill>
                  <a:srgbClr val="15283B"/>
                </a:solidFill>
                <a:latin typeface="Cambria Math" panose="02040503050406030204" pitchFamily="18" charset="0"/>
              </a:rPr>
              <a:t>critic</a:t>
            </a:r>
          </a:p>
        </p:txBody>
      </p:sp>
      <p:sp>
        <p:nvSpPr>
          <p:cNvPr id="12" name="text_11">
            <a:extLst>
              <a:ext uri="{FF2B5EF4-FFF2-40B4-BE49-F238E27FC236}">
                <a16:creationId xmlns:a16="http://schemas.microsoft.com/office/drawing/2014/main" id="{3EE2DB26-4163-DE54-8983-3DE5C5C5D1B3}"/>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IL" sz="2400" b="1">
                <a:solidFill>
                  <a:srgbClr val="526477"/>
                </a:solidFill>
                <a:latin typeface="Aptos" panose="020B0004020202020204" pitchFamily="34" charset="0"/>
              </a:rPr>
              <a:t>Actor ascent becomes descent on a negative surrogate loss.</a:t>
            </a:r>
          </a:p>
        </p:txBody>
      </p:sp>
    </p:spTree>
    <p:extLst>
      <p:ext uri="{BB962C8B-B14F-4D97-AF65-F5344CB8AC3E}">
        <p14:creationId xmlns:p14="http://schemas.microsoft.com/office/powerpoint/2010/main" val="531940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2219D5A6-00D0-F098-CA75-31DD70F3589F}"/>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38013B78-4A5E-C442-0F2C-B0128774C6F0}"/>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The A2C training loop</a:t>
            </a:r>
          </a:p>
        </p:txBody>
      </p:sp>
      <p:sp>
        <p:nvSpPr>
          <p:cNvPr id="4" name="text_3">
            <a:extLst>
              <a:ext uri="{FF2B5EF4-FFF2-40B4-BE49-F238E27FC236}">
                <a16:creationId xmlns:a16="http://schemas.microsoft.com/office/drawing/2014/main" id="{E2853E93-3D4C-D959-DC90-AD0E3D8BCAB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One update per fresh batch, then collect with the updated policy.</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4F35148E-289C-DE24-6E91-CE974BC2EFDF}"/>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B466AFDC-BCFF-F004-D083-C5F09C57B93E}"/>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2412F3A3-AAF2-7AE6-3006-DF5AFD2E91B0}"/>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19</a:t>
            </a:r>
          </a:p>
        </p:txBody>
      </p:sp>
      <p:sp>
        <p:nvSpPr>
          <p:cNvPr id="8" name="Rectangle: Rounded Corners 7">
            <a:extLst>
              <a:ext uri="{FF2B5EF4-FFF2-40B4-BE49-F238E27FC236}">
                <a16:creationId xmlns:a16="http://schemas.microsoft.com/office/drawing/2014/main" id="{C1ACBB25-E49A-EF98-BD71-6DEFAC633A89}"/>
              </a:ext>
            </a:extLst>
          </p:cNvPr>
          <p:cNvSpPr/>
          <p:nvPr/>
        </p:nvSpPr>
        <p:spPr>
          <a:xfrm>
            <a:off x="685800" y="2997200"/>
            <a:ext cx="2514600" cy="24638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2D1DA8EB-0AED-8E09-5759-463A5955A0FF}"/>
              </a:ext>
            </a:extLst>
          </p:cNvPr>
          <p:cNvSpPr txBox="1"/>
          <p:nvPr/>
        </p:nvSpPr>
        <p:spPr>
          <a:xfrm>
            <a:off x="889000" y="3149599"/>
            <a:ext cx="2108200" cy="8255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Collect</a:t>
            </a:r>
          </a:p>
        </p:txBody>
      </p:sp>
      <p:sp>
        <p:nvSpPr>
          <p:cNvPr id="10" name="text_9">
            <a:extLst>
              <a:ext uri="{FF2B5EF4-FFF2-40B4-BE49-F238E27FC236}">
                <a16:creationId xmlns:a16="http://schemas.microsoft.com/office/drawing/2014/main" id="{999FA96F-28B3-A0F5-7E00-5CC6AACCC77A}"/>
              </a:ext>
            </a:extLst>
          </p:cNvPr>
          <p:cNvSpPr txBox="1"/>
          <p:nvPr/>
        </p:nvSpPr>
        <p:spPr>
          <a:xfrm>
            <a:off x="889000" y="3975099"/>
            <a:ext cx="2108200" cy="14351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Fresh policy experience</a:t>
            </a:r>
          </a:p>
        </p:txBody>
      </p:sp>
      <p:sp>
        <p:nvSpPr>
          <p:cNvPr id="11" name="Rectangle: Rounded Corners 10">
            <a:extLst>
              <a:ext uri="{FF2B5EF4-FFF2-40B4-BE49-F238E27FC236}">
                <a16:creationId xmlns:a16="http://schemas.microsoft.com/office/drawing/2014/main" id="{81A1E176-6E64-D2E0-9CD9-150CDCEA854C}"/>
              </a:ext>
            </a:extLst>
          </p:cNvPr>
          <p:cNvSpPr/>
          <p:nvPr/>
        </p:nvSpPr>
        <p:spPr>
          <a:xfrm>
            <a:off x="3454400" y="2997200"/>
            <a:ext cx="2514600" cy="24638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C0E7356E-FFCC-299C-750B-4D7EDECBD64E}"/>
              </a:ext>
            </a:extLst>
          </p:cNvPr>
          <p:cNvSpPr txBox="1"/>
          <p:nvPr/>
        </p:nvSpPr>
        <p:spPr>
          <a:xfrm>
            <a:off x="3657600" y="3149599"/>
            <a:ext cx="2108200" cy="8255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Targets</a:t>
            </a:r>
          </a:p>
        </p:txBody>
      </p:sp>
      <p:sp>
        <p:nvSpPr>
          <p:cNvPr id="13" name="text_12">
            <a:extLst>
              <a:ext uri="{FF2B5EF4-FFF2-40B4-BE49-F238E27FC236}">
                <a16:creationId xmlns:a16="http://schemas.microsoft.com/office/drawing/2014/main" id="{CA74AB6C-E01E-B17A-51BE-2C9FB1AD031B}"/>
              </a:ext>
            </a:extLst>
          </p:cNvPr>
          <p:cNvSpPr txBox="1"/>
          <p:nvPr/>
        </p:nvSpPr>
        <p:spPr>
          <a:xfrm>
            <a:off x="3657600" y="3975099"/>
            <a:ext cx="2108200" cy="14351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Rewards + tail</a:t>
            </a:r>
          </a:p>
        </p:txBody>
      </p:sp>
      <p:sp>
        <p:nvSpPr>
          <p:cNvPr id="14" name="Rectangle: Rounded Corners 13">
            <a:extLst>
              <a:ext uri="{FF2B5EF4-FFF2-40B4-BE49-F238E27FC236}">
                <a16:creationId xmlns:a16="http://schemas.microsoft.com/office/drawing/2014/main" id="{3384E36A-EB45-D18A-3142-B0F46B408AC2}"/>
              </a:ext>
            </a:extLst>
          </p:cNvPr>
          <p:cNvSpPr/>
          <p:nvPr/>
        </p:nvSpPr>
        <p:spPr>
          <a:xfrm>
            <a:off x="6223000" y="2997200"/>
            <a:ext cx="2514600" cy="24638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0D15399D-3BEE-9013-67B0-D6C98CE28A81}"/>
              </a:ext>
            </a:extLst>
          </p:cNvPr>
          <p:cNvSpPr txBox="1"/>
          <p:nvPr/>
        </p:nvSpPr>
        <p:spPr>
          <a:xfrm>
            <a:off x="6426200" y="3149599"/>
            <a:ext cx="2108200" cy="8255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Advantage</a:t>
            </a:r>
          </a:p>
        </p:txBody>
      </p:sp>
      <p:sp>
        <p:nvSpPr>
          <p:cNvPr id="16" name="text_15">
            <a:extLst>
              <a:ext uri="{FF2B5EF4-FFF2-40B4-BE49-F238E27FC236}">
                <a16:creationId xmlns:a16="http://schemas.microsoft.com/office/drawing/2014/main" id="{AA7F6378-AA36-0D88-6C05-E53710935EC7}"/>
              </a:ext>
            </a:extLst>
          </p:cNvPr>
          <p:cNvSpPr txBox="1"/>
          <p:nvPr/>
        </p:nvSpPr>
        <p:spPr>
          <a:xfrm>
            <a:off x="6426200" y="3975099"/>
            <a:ext cx="2108200" cy="14351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Target − value</a:t>
            </a:r>
          </a:p>
        </p:txBody>
      </p:sp>
      <p:sp>
        <p:nvSpPr>
          <p:cNvPr id="17" name="Rectangle: Rounded Corners 16">
            <a:extLst>
              <a:ext uri="{FF2B5EF4-FFF2-40B4-BE49-F238E27FC236}">
                <a16:creationId xmlns:a16="http://schemas.microsoft.com/office/drawing/2014/main" id="{AD551F77-FC79-C681-1AD2-A779846FB78B}"/>
              </a:ext>
            </a:extLst>
          </p:cNvPr>
          <p:cNvSpPr/>
          <p:nvPr/>
        </p:nvSpPr>
        <p:spPr>
          <a:xfrm>
            <a:off x="8991600" y="2997200"/>
            <a:ext cx="2514600" cy="24638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8" name="text_17">
            <a:extLst>
              <a:ext uri="{FF2B5EF4-FFF2-40B4-BE49-F238E27FC236}">
                <a16:creationId xmlns:a16="http://schemas.microsoft.com/office/drawing/2014/main" id="{BC1EF81A-B99F-E002-729E-92EC1276C665}"/>
              </a:ext>
            </a:extLst>
          </p:cNvPr>
          <p:cNvSpPr txBox="1"/>
          <p:nvPr/>
        </p:nvSpPr>
        <p:spPr>
          <a:xfrm>
            <a:off x="9194800" y="3149599"/>
            <a:ext cx="2108200" cy="8255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Update</a:t>
            </a:r>
          </a:p>
        </p:txBody>
      </p:sp>
      <p:sp>
        <p:nvSpPr>
          <p:cNvPr id="19" name="text_18">
            <a:extLst>
              <a:ext uri="{FF2B5EF4-FFF2-40B4-BE49-F238E27FC236}">
                <a16:creationId xmlns:a16="http://schemas.microsoft.com/office/drawing/2014/main" id="{83852595-0137-CBBE-CFC0-5B38C7ECFBAA}"/>
              </a:ext>
            </a:extLst>
          </p:cNvPr>
          <p:cNvSpPr txBox="1"/>
          <p:nvPr/>
        </p:nvSpPr>
        <p:spPr>
          <a:xfrm>
            <a:off x="9194800" y="3975099"/>
            <a:ext cx="2108200" cy="14351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Both networks</a:t>
            </a:r>
          </a:p>
        </p:txBody>
      </p:sp>
      <p:cxnSp>
        <p:nvCxnSpPr>
          <p:cNvPr id="20" name="Straight Connector 19">
            <a:extLst>
              <a:ext uri="{FF2B5EF4-FFF2-40B4-BE49-F238E27FC236}">
                <a16:creationId xmlns:a16="http://schemas.microsoft.com/office/drawing/2014/main" id="{6C142B34-CAF4-C53E-914D-042AF5FDB312}"/>
              </a:ext>
            </a:extLst>
          </p:cNvPr>
          <p:cNvCxnSpPr/>
          <p:nvPr/>
        </p:nvCxnSpPr>
        <p:spPr>
          <a:xfrm>
            <a:off x="3225800" y="4191000"/>
            <a:ext cx="1905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88A255D0-CD40-5B7F-1677-EE4FA5F5A713}"/>
              </a:ext>
            </a:extLst>
          </p:cNvPr>
          <p:cNvCxnSpPr/>
          <p:nvPr/>
        </p:nvCxnSpPr>
        <p:spPr>
          <a:xfrm>
            <a:off x="5994400" y="4191000"/>
            <a:ext cx="1905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5C41AEC3-37C1-4B1C-0D7D-D0DB47B9F2EC}"/>
              </a:ext>
            </a:extLst>
          </p:cNvPr>
          <p:cNvCxnSpPr/>
          <p:nvPr/>
        </p:nvCxnSpPr>
        <p:spPr>
          <a:xfrm>
            <a:off x="8763000" y="4191000"/>
            <a:ext cx="190500" cy="0"/>
          </a:xfrm>
          <a:prstGeom prst="line">
            <a:avLst/>
          </a:prstGeom>
          <a:ln w="27940">
            <a:solidFill>
              <a:srgbClr val="2459D3"/>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42891698-0496-BFB8-EB00-E717F33E9ACD}"/>
              </a:ext>
            </a:extLst>
          </p:cNvPr>
          <p:cNvCxnSpPr/>
          <p:nvPr/>
        </p:nvCxnSpPr>
        <p:spPr>
          <a:xfrm flipH="1">
            <a:off x="1905000" y="2717800"/>
            <a:ext cx="8242300" cy="0"/>
          </a:xfrm>
          <a:prstGeom prst="line">
            <a:avLst/>
          </a:prstGeom>
          <a:ln w="27940">
            <a:solidFill>
              <a:srgbClr val="137F79"/>
            </a:solidFill>
            <a:tailEnd type="arrow"/>
          </a:ln>
        </p:spPr>
        <p:style>
          <a:lnRef idx="2">
            <a:schemeClr val="accent1"/>
          </a:lnRef>
          <a:fillRef idx="0">
            <a:schemeClr val="accent1"/>
          </a:fillRef>
          <a:effectRef idx="1">
            <a:schemeClr val="accent1"/>
          </a:effectRef>
          <a:fontRef idx="minor">
            <a:schemeClr val="tx1"/>
          </a:fontRef>
        </p:style>
      </p:cxnSp>
      <p:sp>
        <p:nvSpPr>
          <p:cNvPr id="24" name="text_23">
            <a:extLst>
              <a:ext uri="{FF2B5EF4-FFF2-40B4-BE49-F238E27FC236}">
                <a16:creationId xmlns:a16="http://schemas.microsoft.com/office/drawing/2014/main" id="{BF7AFC03-1B62-605C-8163-8145F5A935CE}"/>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8 environments × 5 steps = 40 transitions per update.</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094570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4A37A17F-0184-BCFA-F8F9-17BFAEF3B253}"/>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447865E6-0BCB-AFAD-B14D-33AC756FF079}"/>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Exploration versus evaluation</a:t>
            </a:r>
          </a:p>
        </p:txBody>
      </p:sp>
      <p:sp>
        <p:nvSpPr>
          <p:cNvPr id="4" name="text_3">
            <a:extLst>
              <a:ext uri="{FF2B5EF4-FFF2-40B4-BE49-F238E27FC236}">
                <a16:creationId xmlns:a16="http://schemas.microsoft.com/office/drawing/2014/main" id="{7FFEFBE4-6CC6-901C-2E0D-D4C4FD4D5822}"/>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Collect varied experience; test a frozen policy consistently.</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E793FFC-5F4E-643E-9419-0B3365D3FF18}"/>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67679D9A-C689-23AF-ADD5-FDEE53EEBB0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342D4963-BD4E-6696-E435-E1B01BDE0242}"/>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20</a:t>
            </a:r>
          </a:p>
        </p:txBody>
      </p:sp>
      <p:sp>
        <p:nvSpPr>
          <p:cNvPr id="8" name="Rectangle: Rounded Corners 7">
            <a:extLst>
              <a:ext uri="{FF2B5EF4-FFF2-40B4-BE49-F238E27FC236}">
                <a16:creationId xmlns:a16="http://schemas.microsoft.com/office/drawing/2014/main" id="{C6421DCD-F40D-212E-F5D8-9364F0B55DC2}"/>
              </a:ext>
            </a:extLst>
          </p:cNvPr>
          <p:cNvSpPr/>
          <p:nvPr/>
        </p:nvSpPr>
        <p:spPr>
          <a:xfrm>
            <a:off x="685800" y="2679700"/>
            <a:ext cx="5207000" cy="28702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E4B443B0-FE67-008E-993C-34CD3A132F57}"/>
              </a:ext>
            </a:extLst>
          </p:cNvPr>
          <p:cNvSpPr txBox="1"/>
          <p:nvPr/>
        </p:nvSpPr>
        <p:spPr>
          <a:xfrm>
            <a:off x="914400" y="2870199"/>
            <a:ext cx="4749800" cy="533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Training</a:t>
            </a:r>
          </a:p>
        </p:txBody>
      </p:sp>
      <p:sp>
        <p:nvSpPr>
          <p:cNvPr id="10" name="text_9">
            <a:extLst>
              <a:ext uri="{FF2B5EF4-FFF2-40B4-BE49-F238E27FC236}">
                <a16:creationId xmlns:a16="http://schemas.microsoft.com/office/drawing/2014/main" id="{A938FA9C-5773-668C-64A9-A61263134D7B}"/>
              </a:ext>
            </a:extLst>
          </p:cNvPr>
          <p:cNvSpPr txBox="1"/>
          <p:nvPr/>
        </p:nvSpPr>
        <p:spPr>
          <a:xfrm>
            <a:off x="914400" y="3492499"/>
            <a:ext cx="4749800" cy="20066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Sample from the policy
Learn from rewards
Update actor and critic</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A96F7A3A-D51F-6E87-B114-C7472E4948EC}"/>
              </a:ext>
            </a:extLst>
          </p:cNvPr>
          <p:cNvSpPr/>
          <p:nvPr/>
        </p:nvSpPr>
        <p:spPr>
          <a:xfrm>
            <a:off x="6172200" y="2679700"/>
            <a:ext cx="5334000" cy="28702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93753561-1946-1999-7901-F2BFE11C3CD1}"/>
              </a:ext>
            </a:extLst>
          </p:cNvPr>
          <p:cNvSpPr txBox="1"/>
          <p:nvPr/>
        </p:nvSpPr>
        <p:spPr>
          <a:xfrm>
            <a:off x="6400800" y="2870199"/>
            <a:ext cx="4876800" cy="5334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Evaluation</a:t>
            </a:r>
          </a:p>
        </p:txBody>
      </p:sp>
      <p:sp>
        <p:nvSpPr>
          <p:cNvPr id="13" name="text_12">
            <a:extLst>
              <a:ext uri="{FF2B5EF4-FFF2-40B4-BE49-F238E27FC236}">
                <a16:creationId xmlns:a16="http://schemas.microsoft.com/office/drawing/2014/main" id="{FBFC19D7-7EC2-706F-CA96-5FAA1DB791B5}"/>
              </a:ext>
            </a:extLst>
          </p:cNvPr>
          <p:cNvSpPr txBox="1"/>
          <p:nvPr/>
        </p:nvSpPr>
        <p:spPr>
          <a:xfrm>
            <a:off x="6400800" y="3492499"/>
            <a:ext cx="4876800" cy="20066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Use a representative action
Freeze all weights
Use held-out starts</a:t>
            </a:r>
            <a:endParaRPr lang="en-IL" sz="2400">
              <a:solidFill>
                <a:srgbClr val="15283B"/>
              </a:solidFill>
              <a:latin typeface="Aptos" panose="020B0004020202020204" pitchFamily="34" charset="0"/>
            </a:endParaRPr>
          </a:p>
        </p:txBody>
      </p:sp>
      <p:sp>
        <p:nvSpPr>
          <p:cNvPr id="14" name="text_13">
            <a:extLst>
              <a:ext uri="{FF2B5EF4-FFF2-40B4-BE49-F238E27FC236}">
                <a16:creationId xmlns:a16="http://schemas.microsoft.com/office/drawing/2014/main" id="{BD9A648A-BABF-B5FD-21F6-82F8997B5EDA}"/>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Evaluation changes neither weights nor training environment streams.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463446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C407D8EC-C8D5-E9AC-1AD1-F259E44ECBD0}"/>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0948C57F-C2A9-765D-E817-03E6537084F9}"/>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PPO: discourage excessive policy changes</a:t>
            </a:r>
          </a:p>
        </p:txBody>
      </p:sp>
      <p:sp>
        <p:nvSpPr>
          <p:cNvPr id="4" name="text_3">
            <a:extLst>
              <a:ext uri="{FF2B5EF4-FFF2-40B4-BE49-F238E27FC236}">
                <a16:creationId xmlns:a16="http://schemas.microsoft.com/office/drawing/2014/main" id="{D84298AD-F330-25E7-D7AE-2E954A511890}"/>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Keep the advantage signal; limit incentives for large likelihood changes.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2340D550-682A-8654-2EAA-BC37701BE110}"/>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83968BE3-7DBF-A9B1-B680-AD52B74E43A5}"/>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1761A2C1-5C49-C530-D3DD-32CBBCB1B8F3}"/>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21</a:t>
            </a:r>
          </a:p>
        </p:txBody>
      </p:sp>
      <p:sp>
        <p:nvSpPr>
          <p:cNvPr id="8" name="text_7">
            <a:extLst>
              <a:ext uri="{FF2B5EF4-FFF2-40B4-BE49-F238E27FC236}">
                <a16:creationId xmlns:a16="http://schemas.microsoft.com/office/drawing/2014/main" id="{201AB2F3-DCB4-DA85-A0F9-4798026E49FE}"/>
              </a:ext>
            </a:extLst>
          </p:cNvPr>
          <p:cNvSpPr txBox="1"/>
          <p:nvPr/>
        </p:nvSpPr>
        <p:spPr>
          <a:xfrm>
            <a:off x="685800" y="2628899"/>
            <a:ext cx="10820400" cy="685800"/>
          </a:xfrm>
          <a:prstGeom prst="rect">
            <a:avLst/>
          </a:prstGeom>
          <a:noFill/>
        </p:spPr>
        <p:txBody>
          <a:bodyPr vert="horz" wrap="square" lIns="0" tIns="0" rIns="0" bIns="0" rtlCol="0" anchor="t">
            <a:noAutofit/>
          </a:bodyPr>
          <a:lstStyle/>
          <a:p>
            <a:r>
              <a:rPr lang="el-GR" sz="3000">
                <a:solidFill>
                  <a:srgbClr val="2459D3"/>
                </a:solidFill>
                <a:latin typeface="Cambria Math" panose="02040503050406030204" pitchFamily="18" charset="0"/>
              </a:rPr>
              <a:t>ρ</a:t>
            </a:r>
            <a:r>
              <a:rPr lang="en-IL" sz="2160" baseline="-22000">
                <a:solidFill>
                  <a:srgbClr val="2459D3"/>
                </a:solidFill>
                <a:latin typeface="Cambria Math" panose="02040503050406030204" pitchFamily="18" charset="0"/>
              </a:rPr>
              <a:t>t</a:t>
            </a:r>
            <a:r>
              <a:rPr lang="en-IL" sz="3000">
                <a:solidFill>
                  <a:srgbClr val="2459D3"/>
                </a:solidFill>
                <a:latin typeface="Cambria Math" panose="02040503050406030204" pitchFamily="18" charset="0"/>
              </a:rPr>
              <a:t>(</a:t>
            </a:r>
            <a:r>
              <a:rPr lang="el-GR" sz="3000">
                <a:solidFill>
                  <a:srgbClr val="2459D3"/>
                </a:solidFill>
                <a:latin typeface="Cambria Math" panose="02040503050406030204" pitchFamily="18" charset="0"/>
              </a:rPr>
              <a:t>θ) = π</a:t>
            </a:r>
            <a:r>
              <a:rPr lang="el-GR" sz="2160" baseline="-22000">
                <a:solidFill>
                  <a:srgbClr val="2459D3"/>
                </a:solidFill>
                <a:latin typeface="Cambria Math" panose="02040503050406030204" pitchFamily="18" charset="0"/>
              </a:rPr>
              <a:t>θ</a:t>
            </a:r>
            <a:r>
              <a:rPr lang="el-GR" sz="3000">
                <a:solidFill>
                  <a:srgbClr val="2459D3"/>
                </a:solidFill>
                <a:latin typeface="Cambria Math" panose="02040503050406030204" pitchFamily="18" charset="0"/>
              </a:rPr>
              <a:t>(</a:t>
            </a:r>
            <a:r>
              <a:rPr lang="en-IL" sz="3000">
                <a:solidFill>
                  <a:srgbClr val="2459D3"/>
                </a:solidFill>
                <a:latin typeface="Cambria Math" panose="02040503050406030204" pitchFamily="18" charset="0"/>
              </a:rPr>
              <a:t>a</a:t>
            </a:r>
            <a:r>
              <a:rPr lang="en-IL" sz="2160" baseline="-22000">
                <a:solidFill>
                  <a:srgbClr val="2459D3"/>
                </a:solidFill>
                <a:latin typeface="Cambria Math" panose="02040503050406030204" pitchFamily="18" charset="0"/>
              </a:rPr>
              <a:t>t</a:t>
            </a:r>
            <a:r>
              <a:rPr lang="en-IL" sz="3000">
                <a:solidFill>
                  <a:srgbClr val="2459D3"/>
                </a:solidFill>
                <a:latin typeface="Cambria Math" panose="02040503050406030204" pitchFamily="18" charset="0"/>
              </a:rPr>
              <a:t>|s</a:t>
            </a:r>
            <a:r>
              <a:rPr lang="en-IL" sz="2160" baseline="-22000">
                <a:solidFill>
                  <a:srgbClr val="2459D3"/>
                </a:solidFill>
                <a:latin typeface="Cambria Math" panose="02040503050406030204" pitchFamily="18" charset="0"/>
              </a:rPr>
              <a:t>t</a:t>
            </a:r>
            <a:r>
              <a:rPr lang="en-IL" sz="3000">
                <a:solidFill>
                  <a:srgbClr val="2459D3"/>
                </a:solidFill>
                <a:latin typeface="Cambria Math" panose="02040503050406030204" pitchFamily="18" charset="0"/>
              </a:rPr>
              <a:t>) / </a:t>
            </a:r>
            <a:r>
              <a:rPr lang="el-GR" sz="3000">
                <a:solidFill>
                  <a:srgbClr val="2459D3"/>
                </a:solidFill>
                <a:latin typeface="Cambria Math" panose="02040503050406030204" pitchFamily="18" charset="0"/>
              </a:rPr>
              <a:t>π</a:t>
            </a:r>
            <a:r>
              <a:rPr lang="en-IL" sz="2160" baseline="-22000">
                <a:solidFill>
                  <a:srgbClr val="2459D3"/>
                </a:solidFill>
                <a:latin typeface="Cambria Math" panose="02040503050406030204" pitchFamily="18" charset="0"/>
              </a:rPr>
              <a:t>old</a:t>
            </a:r>
            <a:r>
              <a:rPr lang="en-IL" sz="3000">
                <a:solidFill>
                  <a:srgbClr val="2459D3"/>
                </a:solidFill>
                <a:latin typeface="Cambria Math" panose="02040503050406030204" pitchFamily="18" charset="0"/>
              </a:rPr>
              <a:t>(a</a:t>
            </a:r>
            <a:r>
              <a:rPr lang="en-IL" sz="2160" baseline="-22000">
                <a:solidFill>
                  <a:srgbClr val="2459D3"/>
                </a:solidFill>
                <a:latin typeface="Cambria Math" panose="02040503050406030204" pitchFamily="18" charset="0"/>
              </a:rPr>
              <a:t>t</a:t>
            </a:r>
            <a:r>
              <a:rPr lang="en-IL" sz="3000">
                <a:solidFill>
                  <a:srgbClr val="2459D3"/>
                </a:solidFill>
                <a:latin typeface="Cambria Math" panose="02040503050406030204" pitchFamily="18" charset="0"/>
              </a:rPr>
              <a:t>|s</a:t>
            </a:r>
            <a:r>
              <a:rPr lang="en-IL" sz="2160" baseline="-22000">
                <a:solidFill>
                  <a:srgbClr val="2459D3"/>
                </a:solidFill>
                <a:latin typeface="Cambria Math" panose="02040503050406030204" pitchFamily="18" charset="0"/>
              </a:rPr>
              <a:t>t</a:t>
            </a:r>
            <a:r>
              <a:rPr lang="en-IL" sz="3000">
                <a:solidFill>
                  <a:srgbClr val="2459D3"/>
                </a:solidFill>
                <a:latin typeface="Cambria Math" panose="02040503050406030204" pitchFamily="18" charset="0"/>
              </a:rPr>
              <a:t>)</a:t>
            </a:r>
          </a:p>
        </p:txBody>
      </p:sp>
      <p:sp>
        <p:nvSpPr>
          <p:cNvPr id="9" name="text_8">
            <a:extLst>
              <a:ext uri="{FF2B5EF4-FFF2-40B4-BE49-F238E27FC236}">
                <a16:creationId xmlns:a16="http://schemas.microsoft.com/office/drawing/2014/main" id="{26FB9BF1-337B-A015-B500-42318AB75C35}"/>
              </a:ext>
            </a:extLst>
          </p:cNvPr>
          <p:cNvSpPr txBox="1"/>
          <p:nvPr/>
        </p:nvSpPr>
        <p:spPr>
          <a:xfrm>
            <a:off x="685800" y="3365499"/>
            <a:ext cx="10820400" cy="685800"/>
          </a:xfrm>
          <a:prstGeom prst="rect">
            <a:avLst/>
          </a:prstGeom>
          <a:noFill/>
        </p:spPr>
        <p:txBody>
          <a:bodyPr vert="horz" wrap="square" lIns="0" tIns="0" rIns="0" bIns="0" rtlCol="0" anchor="t">
            <a:noAutofit/>
          </a:bodyPr>
          <a:lstStyle/>
          <a:p>
            <a:r>
              <a:rPr lang="en-IL" sz="3000">
                <a:solidFill>
                  <a:srgbClr val="15283B"/>
                </a:solidFill>
                <a:latin typeface="Cambria Math" panose="02040503050406030204" pitchFamily="18" charset="0"/>
              </a:rPr>
              <a:t>L</a:t>
            </a:r>
            <a:r>
              <a:rPr lang="en-IL" sz="2160" baseline="32000">
                <a:solidFill>
                  <a:srgbClr val="15283B"/>
                </a:solidFill>
                <a:latin typeface="Cambria Math" panose="02040503050406030204" pitchFamily="18" charset="0"/>
              </a:rPr>
              <a:t>clip</a:t>
            </a:r>
            <a:r>
              <a:rPr lang="en-IL" sz="3000">
                <a:solidFill>
                  <a:srgbClr val="15283B"/>
                </a:solidFill>
                <a:latin typeface="Cambria Math" panose="02040503050406030204" pitchFamily="18" charset="0"/>
              </a:rPr>
              <a:t> = 𝔼[ min(</a:t>
            </a:r>
            <a:r>
              <a:rPr lang="el-GR" sz="3000">
                <a:solidFill>
                  <a:srgbClr val="15283B"/>
                </a:solidFill>
                <a:latin typeface="Cambria Math" panose="02040503050406030204" pitchFamily="18" charset="0"/>
              </a:rPr>
              <a:t>ρ</a:t>
            </a:r>
            <a:r>
              <a:rPr lang="en-IL" sz="2160" baseline="-22000">
                <a:solidFill>
                  <a:srgbClr val="15283B"/>
                </a:solidFill>
                <a:latin typeface="Cambria Math" panose="02040503050406030204" pitchFamily="18" charset="0"/>
              </a:rPr>
              <a:t>t</a:t>
            </a:r>
            <a:r>
              <a:rPr lang="en-IL" sz="3000">
                <a:solidFill>
                  <a:srgbClr val="15283B"/>
                </a:solidFill>
                <a:latin typeface="Cambria Math" panose="02040503050406030204" pitchFamily="18" charset="0"/>
              </a:rPr>
              <a:t> Â</a:t>
            </a:r>
            <a:r>
              <a:rPr lang="en-IL" sz="2160" baseline="-22000">
                <a:solidFill>
                  <a:srgbClr val="15283B"/>
                </a:solidFill>
                <a:latin typeface="Cambria Math" panose="02040503050406030204" pitchFamily="18" charset="0"/>
              </a:rPr>
              <a:t>t</a:t>
            </a:r>
            <a:r>
              <a:rPr lang="en-IL" sz="3000">
                <a:solidFill>
                  <a:srgbClr val="15283B"/>
                </a:solidFill>
                <a:latin typeface="Cambria Math" panose="02040503050406030204" pitchFamily="18" charset="0"/>
              </a:rPr>
              <a:t>,</a:t>
            </a:r>
          </a:p>
        </p:txBody>
      </p:sp>
      <p:sp>
        <p:nvSpPr>
          <p:cNvPr id="10" name="text_9">
            <a:extLst>
              <a:ext uri="{FF2B5EF4-FFF2-40B4-BE49-F238E27FC236}">
                <a16:creationId xmlns:a16="http://schemas.microsoft.com/office/drawing/2014/main" id="{D84B2833-F825-B9B7-3ED5-07BB0AA05523}"/>
              </a:ext>
            </a:extLst>
          </p:cNvPr>
          <p:cNvSpPr txBox="1"/>
          <p:nvPr/>
        </p:nvSpPr>
        <p:spPr>
          <a:xfrm>
            <a:off x="685800" y="4102099"/>
            <a:ext cx="10820400" cy="685800"/>
          </a:xfrm>
          <a:prstGeom prst="rect">
            <a:avLst/>
          </a:prstGeom>
          <a:noFill/>
        </p:spPr>
        <p:txBody>
          <a:bodyPr vert="horz" wrap="square" lIns="0" tIns="0" rIns="0" bIns="0" rtlCol="0" anchor="t">
            <a:noAutofit/>
          </a:bodyPr>
          <a:lstStyle/>
          <a:p>
            <a:r>
              <a:rPr lang="en-IL" sz="3000">
                <a:solidFill>
                  <a:srgbClr val="15283B"/>
                </a:solidFill>
                <a:latin typeface="Cambria Math" panose="02040503050406030204" pitchFamily="18" charset="0"/>
              </a:rPr>
              <a:t>                 clip(</a:t>
            </a:r>
            <a:r>
              <a:rPr lang="el-GR" sz="3000">
                <a:solidFill>
                  <a:srgbClr val="15283B"/>
                </a:solidFill>
                <a:latin typeface="Cambria Math" panose="02040503050406030204" pitchFamily="18" charset="0"/>
              </a:rPr>
              <a:t>ρ</a:t>
            </a:r>
            <a:r>
              <a:rPr lang="en-IL" sz="2160" baseline="-22000">
                <a:solidFill>
                  <a:srgbClr val="15283B"/>
                </a:solidFill>
                <a:latin typeface="Cambria Math" panose="02040503050406030204" pitchFamily="18" charset="0"/>
              </a:rPr>
              <a:t>t</a:t>
            </a:r>
            <a:r>
              <a:rPr lang="en-IL" sz="3000">
                <a:solidFill>
                  <a:srgbClr val="15283B"/>
                </a:solidFill>
                <a:latin typeface="Cambria Math" panose="02040503050406030204" pitchFamily="18" charset="0"/>
              </a:rPr>
              <a:t>, 1−</a:t>
            </a:r>
            <a:r>
              <a:rPr lang="el-GR" sz="3000">
                <a:solidFill>
                  <a:srgbClr val="15283B"/>
                </a:solidFill>
                <a:latin typeface="Cambria Math" panose="02040503050406030204" pitchFamily="18" charset="0"/>
              </a:rPr>
              <a:t>ε</a:t>
            </a:r>
            <a:r>
              <a:rPr lang="en-IL" sz="2160" baseline="-22000">
                <a:solidFill>
                  <a:srgbClr val="15283B"/>
                </a:solidFill>
                <a:latin typeface="Cambria Math" panose="02040503050406030204" pitchFamily="18" charset="0"/>
              </a:rPr>
              <a:t>c</a:t>
            </a:r>
            <a:r>
              <a:rPr lang="en-IL" sz="3000">
                <a:solidFill>
                  <a:srgbClr val="15283B"/>
                </a:solidFill>
                <a:latin typeface="Cambria Math" panose="02040503050406030204" pitchFamily="18" charset="0"/>
              </a:rPr>
              <a:t>, 1+</a:t>
            </a:r>
            <a:r>
              <a:rPr lang="el-GR" sz="3000">
                <a:solidFill>
                  <a:srgbClr val="15283B"/>
                </a:solidFill>
                <a:latin typeface="Cambria Math" panose="02040503050406030204" pitchFamily="18" charset="0"/>
              </a:rPr>
              <a:t>ε</a:t>
            </a:r>
            <a:r>
              <a:rPr lang="en-IL" sz="2160" baseline="-22000">
                <a:solidFill>
                  <a:srgbClr val="15283B"/>
                </a:solidFill>
                <a:latin typeface="Cambria Math" panose="02040503050406030204" pitchFamily="18" charset="0"/>
              </a:rPr>
              <a:t>c</a:t>
            </a:r>
            <a:r>
              <a:rPr lang="en-IL" sz="3000">
                <a:solidFill>
                  <a:srgbClr val="15283B"/>
                </a:solidFill>
                <a:latin typeface="Cambria Math" panose="02040503050406030204" pitchFamily="18" charset="0"/>
              </a:rPr>
              <a:t>) Â</a:t>
            </a:r>
            <a:r>
              <a:rPr lang="en-IL" sz="2160" baseline="-22000">
                <a:solidFill>
                  <a:srgbClr val="15283B"/>
                </a:solidFill>
                <a:latin typeface="Cambria Math" panose="02040503050406030204" pitchFamily="18" charset="0"/>
              </a:rPr>
              <a:t>t</a:t>
            </a:r>
            <a:r>
              <a:rPr lang="en-IL" sz="3000">
                <a:solidFill>
                  <a:srgbClr val="15283B"/>
                </a:solidFill>
                <a:latin typeface="Cambria Math" panose="02040503050406030204" pitchFamily="18" charset="0"/>
              </a:rPr>
              <a:t>) ]</a:t>
            </a:r>
          </a:p>
        </p:txBody>
      </p:sp>
      <p:sp>
        <p:nvSpPr>
          <p:cNvPr id="11" name="text_10">
            <a:extLst>
              <a:ext uri="{FF2B5EF4-FFF2-40B4-BE49-F238E27FC236}">
                <a16:creationId xmlns:a16="http://schemas.microsoft.com/office/drawing/2014/main" id="{988D9BBE-ED9B-031C-6C07-90AB7DAB6916}"/>
              </a:ext>
            </a:extLst>
          </p:cNvPr>
          <p:cNvSpPr txBox="1"/>
          <p:nvPr/>
        </p:nvSpPr>
        <p:spPr>
          <a:xfrm>
            <a:off x="685800" y="4838699"/>
            <a:ext cx="10820400" cy="685800"/>
          </a:xfrm>
          <a:prstGeom prst="rect">
            <a:avLst/>
          </a:prstGeom>
          <a:noFill/>
        </p:spPr>
        <p:txBody>
          <a:bodyPr vert="horz" wrap="square" lIns="0" tIns="0" rIns="0" bIns="0" rtlCol="0" anchor="t">
            <a:noAutofit/>
          </a:bodyPr>
          <a:lstStyle/>
          <a:p>
            <a:r>
              <a:rPr lang="el-GR" sz="3000">
                <a:solidFill>
                  <a:srgbClr val="15283B"/>
                </a:solidFill>
                <a:latin typeface="Cambria Math" panose="02040503050406030204" pitchFamily="18" charset="0"/>
              </a:rPr>
              <a:t>θ ← θ + η ∇</a:t>
            </a:r>
            <a:r>
              <a:rPr lang="el-GR" sz="2160" baseline="-22000">
                <a:solidFill>
                  <a:srgbClr val="15283B"/>
                </a:solidFill>
                <a:latin typeface="Cambria Math" panose="02040503050406030204" pitchFamily="18" charset="0"/>
              </a:rPr>
              <a:t>θ</a:t>
            </a:r>
            <a:r>
              <a:rPr lang="el-GR" sz="3000">
                <a:solidFill>
                  <a:srgbClr val="15283B"/>
                </a:solidFill>
                <a:latin typeface="Cambria Math" panose="02040503050406030204" pitchFamily="18" charset="0"/>
              </a:rPr>
              <a:t> L</a:t>
            </a:r>
            <a:r>
              <a:rPr lang="el-GR" sz="2160" baseline="32000">
                <a:solidFill>
                  <a:srgbClr val="15283B"/>
                </a:solidFill>
                <a:latin typeface="Cambria Math" panose="02040503050406030204" pitchFamily="18" charset="0"/>
              </a:rPr>
              <a:t>clip</a:t>
            </a:r>
            <a:endParaRPr lang="en-IL" sz="2160" baseline="32000">
              <a:solidFill>
                <a:srgbClr val="15283B"/>
              </a:solidFill>
              <a:latin typeface="Cambria Math" panose="02040503050406030204" pitchFamily="18" charset="0"/>
            </a:endParaRPr>
          </a:p>
        </p:txBody>
      </p:sp>
      <p:sp>
        <p:nvSpPr>
          <p:cNvPr id="12" name="text_11">
            <a:extLst>
              <a:ext uri="{FF2B5EF4-FFF2-40B4-BE49-F238E27FC236}">
                <a16:creationId xmlns:a16="http://schemas.microsoft.com/office/drawing/2014/main" id="{C4FE7E59-AE5E-EA5A-C516-ED3607EF318A}"/>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Overview only; our demo implements A2C.</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6232214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08D09C7A-4454-C0FA-B826-DE0C8018C437}"/>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9717C8D5-C051-2BBD-19F1-F5A295965DF2}"/>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SAC: reward plus entropy</a:t>
            </a:r>
          </a:p>
        </p:txBody>
      </p:sp>
      <p:sp>
        <p:nvSpPr>
          <p:cNvPr id="4" name="text_3">
            <a:extLst>
              <a:ext uri="{FF2B5EF4-FFF2-40B4-BE49-F238E27FC236}">
                <a16:creationId xmlns:a16="http://schemas.microsoft.com/office/drawing/2014/main" id="{BCBF587C-AFE5-B0F7-F188-5B80D6F29681}"/>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Learn valuable actions while rewarding policy randomness.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D36604FC-4C36-5E45-D981-2FF8C2396335}"/>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EEFACC52-280C-D22B-3C64-E5B3483E286F}"/>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54033F29-33EB-DA97-F9EC-47DE7A64EFF6}"/>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22</a:t>
            </a:r>
          </a:p>
        </p:txBody>
      </p:sp>
      <p:sp>
        <p:nvSpPr>
          <p:cNvPr id="8" name="text_7">
            <a:extLst>
              <a:ext uri="{FF2B5EF4-FFF2-40B4-BE49-F238E27FC236}">
                <a16:creationId xmlns:a16="http://schemas.microsoft.com/office/drawing/2014/main" id="{A00042C1-E15C-059C-D7C6-8907F6AB3E3E}"/>
              </a:ext>
            </a:extLst>
          </p:cNvPr>
          <p:cNvSpPr txBox="1"/>
          <p:nvPr/>
        </p:nvSpPr>
        <p:spPr>
          <a:xfrm>
            <a:off x="685800" y="2628899"/>
            <a:ext cx="10820400" cy="685800"/>
          </a:xfrm>
          <a:prstGeom prst="rect">
            <a:avLst/>
          </a:prstGeom>
          <a:noFill/>
        </p:spPr>
        <p:txBody>
          <a:bodyPr vert="horz" wrap="square" lIns="0" tIns="0" rIns="0" bIns="0" rtlCol="0" anchor="t">
            <a:noAutofit/>
          </a:bodyPr>
          <a:lstStyle/>
          <a:p>
            <a:r>
              <a:rPr lang="en-IL" sz="2500">
                <a:solidFill>
                  <a:srgbClr val="2459D3"/>
                </a:solidFill>
                <a:latin typeface="Cambria Math" panose="02040503050406030204" pitchFamily="18" charset="0"/>
              </a:rPr>
              <a:t>L</a:t>
            </a:r>
            <a:r>
              <a:rPr lang="el-GR" baseline="-22000">
                <a:solidFill>
                  <a:srgbClr val="2459D3"/>
                </a:solidFill>
                <a:latin typeface="Cambria Math" panose="02040503050406030204" pitchFamily="18" charset="0"/>
              </a:rPr>
              <a:t>π</a:t>
            </a:r>
            <a:r>
              <a:rPr lang="el-GR" sz="2500">
                <a:solidFill>
                  <a:srgbClr val="2459D3"/>
                </a:solidFill>
                <a:latin typeface="Cambria Math" panose="02040503050406030204" pitchFamily="18" charset="0"/>
              </a:rPr>
              <a:t> = 𝔼</a:t>
            </a:r>
            <a:r>
              <a:rPr lang="en-IL" baseline="-22000">
                <a:solidFill>
                  <a:srgbClr val="2459D3"/>
                </a:solidFill>
                <a:latin typeface="Cambria Math" panose="02040503050406030204" pitchFamily="18" charset="0"/>
              </a:rPr>
              <a:t>s∼D, a∼</a:t>
            </a:r>
            <a:r>
              <a:rPr lang="el-GR" baseline="-22000">
                <a:solidFill>
                  <a:srgbClr val="2459D3"/>
                </a:solidFill>
                <a:latin typeface="Cambria Math" panose="02040503050406030204" pitchFamily="18" charset="0"/>
              </a:rPr>
              <a:t>πθ</a:t>
            </a:r>
            <a:r>
              <a:rPr lang="el-GR" sz="2500">
                <a:solidFill>
                  <a:srgbClr val="2459D3"/>
                </a:solidFill>
                <a:latin typeface="Cambria Math" panose="02040503050406030204" pitchFamily="18" charset="0"/>
              </a:rPr>
              <a:t>[ α</a:t>
            </a:r>
            <a:r>
              <a:rPr lang="en-IL" baseline="-22000">
                <a:solidFill>
                  <a:srgbClr val="2459D3"/>
                </a:solidFill>
                <a:latin typeface="Cambria Math" panose="02040503050406030204" pitchFamily="18" charset="0"/>
              </a:rPr>
              <a:t>ent</a:t>
            </a:r>
            <a:r>
              <a:rPr lang="en-IL" sz="2500">
                <a:solidFill>
                  <a:srgbClr val="2459D3"/>
                </a:solidFill>
                <a:latin typeface="Cambria Math" panose="02040503050406030204" pitchFamily="18" charset="0"/>
              </a:rPr>
              <a:t> log </a:t>
            </a:r>
            <a:r>
              <a:rPr lang="el-GR" sz="2500">
                <a:solidFill>
                  <a:srgbClr val="2459D3"/>
                </a:solidFill>
                <a:latin typeface="Cambria Math" panose="02040503050406030204" pitchFamily="18" charset="0"/>
              </a:rPr>
              <a:t>π</a:t>
            </a:r>
            <a:r>
              <a:rPr lang="el-GR" baseline="-22000">
                <a:solidFill>
                  <a:srgbClr val="2459D3"/>
                </a:solidFill>
                <a:latin typeface="Cambria Math" panose="02040503050406030204" pitchFamily="18" charset="0"/>
              </a:rPr>
              <a:t>θ</a:t>
            </a:r>
            <a:r>
              <a:rPr lang="el-GR" sz="2500">
                <a:solidFill>
                  <a:srgbClr val="2459D3"/>
                </a:solidFill>
                <a:latin typeface="Cambria Math" panose="02040503050406030204" pitchFamily="18" charset="0"/>
              </a:rPr>
              <a:t>(</a:t>
            </a:r>
            <a:r>
              <a:rPr lang="en-IL" sz="2500">
                <a:solidFill>
                  <a:srgbClr val="2459D3"/>
                </a:solidFill>
                <a:latin typeface="Cambria Math" panose="02040503050406030204" pitchFamily="18" charset="0"/>
              </a:rPr>
              <a:t>a|s) − min</a:t>
            </a:r>
            <a:r>
              <a:rPr lang="en-IL" baseline="-22000">
                <a:solidFill>
                  <a:srgbClr val="2459D3"/>
                </a:solidFill>
                <a:latin typeface="Cambria Math" panose="02040503050406030204" pitchFamily="18" charset="0"/>
              </a:rPr>
              <a:t>i</a:t>
            </a:r>
            <a:r>
              <a:rPr lang="en-IL" sz="2500">
                <a:solidFill>
                  <a:srgbClr val="2459D3"/>
                </a:solidFill>
                <a:latin typeface="Cambria Math" panose="02040503050406030204" pitchFamily="18" charset="0"/>
              </a:rPr>
              <a:t> Q</a:t>
            </a:r>
            <a:r>
              <a:rPr lang="el-GR" baseline="-22000">
                <a:solidFill>
                  <a:srgbClr val="2459D3"/>
                </a:solidFill>
                <a:latin typeface="Cambria Math" panose="02040503050406030204" pitchFamily="18" charset="0"/>
              </a:rPr>
              <a:t>φ</a:t>
            </a:r>
            <a:r>
              <a:rPr lang="en-IL" baseline="-22000">
                <a:solidFill>
                  <a:srgbClr val="2459D3"/>
                </a:solidFill>
                <a:latin typeface="Cambria Math" panose="02040503050406030204" pitchFamily="18" charset="0"/>
              </a:rPr>
              <a:t>i</a:t>
            </a:r>
            <a:r>
              <a:rPr lang="en-IL" sz="2500">
                <a:solidFill>
                  <a:srgbClr val="2459D3"/>
                </a:solidFill>
                <a:latin typeface="Cambria Math" panose="02040503050406030204" pitchFamily="18" charset="0"/>
              </a:rPr>
              <a:t>(s,a) ]</a:t>
            </a:r>
          </a:p>
        </p:txBody>
      </p:sp>
      <p:sp>
        <p:nvSpPr>
          <p:cNvPr id="9" name="text_8">
            <a:extLst>
              <a:ext uri="{FF2B5EF4-FFF2-40B4-BE49-F238E27FC236}">
                <a16:creationId xmlns:a16="http://schemas.microsoft.com/office/drawing/2014/main" id="{7F0F69B7-A8D3-6098-8720-63FF3C9F8141}"/>
              </a:ext>
            </a:extLst>
          </p:cNvPr>
          <p:cNvSpPr txBox="1"/>
          <p:nvPr/>
        </p:nvSpPr>
        <p:spPr>
          <a:xfrm>
            <a:off x="685800" y="3365499"/>
            <a:ext cx="10820400" cy="685800"/>
          </a:xfrm>
          <a:prstGeom prst="rect">
            <a:avLst/>
          </a:prstGeom>
          <a:noFill/>
        </p:spPr>
        <p:txBody>
          <a:bodyPr vert="horz" wrap="square" lIns="0" tIns="0" rIns="0" bIns="0" rtlCol="0" anchor="t">
            <a:noAutofit/>
          </a:bodyPr>
          <a:lstStyle/>
          <a:p>
            <a:r>
              <a:rPr lang="pt-BR" sz="2900">
                <a:solidFill>
                  <a:srgbClr val="15283B"/>
                </a:solidFill>
                <a:latin typeface="Cambria Math" panose="02040503050406030204" pitchFamily="18" charset="0"/>
              </a:rPr>
              <a:t>y = r + γ(1−d)[ min</a:t>
            </a:r>
            <a:r>
              <a:rPr lang="pt-BR" sz="2088" baseline="-22000">
                <a:solidFill>
                  <a:srgbClr val="15283B"/>
                </a:solidFill>
                <a:latin typeface="Cambria Math" panose="02040503050406030204" pitchFamily="18" charset="0"/>
              </a:rPr>
              <a:t>i</a:t>
            </a:r>
            <a:r>
              <a:rPr lang="pt-BR" sz="2900">
                <a:solidFill>
                  <a:srgbClr val="15283B"/>
                </a:solidFill>
                <a:latin typeface="Cambria Math" panose="02040503050406030204" pitchFamily="18" charset="0"/>
              </a:rPr>
              <a:t> Q̄</a:t>
            </a:r>
            <a:r>
              <a:rPr lang="pt-BR" sz="2088" baseline="-22000">
                <a:solidFill>
                  <a:srgbClr val="15283B"/>
                </a:solidFill>
                <a:latin typeface="Cambria Math" panose="02040503050406030204" pitchFamily="18" charset="0"/>
              </a:rPr>
              <a:t>φi</a:t>
            </a:r>
            <a:r>
              <a:rPr lang="pt-BR" sz="2900">
                <a:solidFill>
                  <a:srgbClr val="15283B"/>
                </a:solidFill>
                <a:latin typeface="Cambria Math" panose="02040503050406030204" pitchFamily="18" charset="0"/>
              </a:rPr>
              <a:t>(s′,a′)</a:t>
            </a:r>
            <a:endParaRPr lang="en-IL" sz="29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FF18E45F-A551-BD9C-2D56-A541F924B1C2}"/>
              </a:ext>
            </a:extLst>
          </p:cNvPr>
          <p:cNvSpPr txBox="1"/>
          <p:nvPr/>
        </p:nvSpPr>
        <p:spPr>
          <a:xfrm>
            <a:off x="685800" y="4102099"/>
            <a:ext cx="10820400" cy="685800"/>
          </a:xfrm>
          <a:prstGeom prst="rect">
            <a:avLst/>
          </a:prstGeom>
          <a:noFill/>
        </p:spPr>
        <p:txBody>
          <a:bodyPr vert="horz" wrap="square" lIns="0" tIns="0" rIns="0" bIns="0" rtlCol="0" anchor="t">
            <a:noAutofit/>
          </a:bodyPr>
          <a:lstStyle/>
          <a:p>
            <a:r>
              <a:rPr lang="fr-FR" sz="2900">
                <a:solidFill>
                  <a:srgbClr val="15283B"/>
                </a:solidFill>
                <a:latin typeface="Cambria Math" panose="02040503050406030204" pitchFamily="18" charset="0"/>
              </a:rPr>
              <a:t>                               − α</a:t>
            </a:r>
            <a:r>
              <a:rPr lang="fr-FR" sz="2088" baseline="-22000">
                <a:solidFill>
                  <a:srgbClr val="15283B"/>
                </a:solidFill>
                <a:latin typeface="Cambria Math" panose="02040503050406030204" pitchFamily="18" charset="0"/>
              </a:rPr>
              <a:t>ent</a:t>
            </a:r>
            <a:r>
              <a:rPr lang="fr-FR" sz="2900">
                <a:solidFill>
                  <a:srgbClr val="15283B"/>
                </a:solidFill>
                <a:latin typeface="Cambria Math" panose="02040503050406030204" pitchFamily="18" charset="0"/>
              </a:rPr>
              <a:t> log π</a:t>
            </a:r>
            <a:r>
              <a:rPr lang="fr-FR" sz="2088" baseline="-22000">
                <a:solidFill>
                  <a:srgbClr val="15283B"/>
                </a:solidFill>
                <a:latin typeface="Cambria Math" panose="02040503050406030204" pitchFamily="18" charset="0"/>
              </a:rPr>
              <a:t>θ</a:t>
            </a:r>
            <a:r>
              <a:rPr lang="fr-FR" sz="2900">
                <a:solidFill>
                  <a:srgbClr val="15283B"/>
                </a:solidFill>
                <a:latin typeface="Cambria Math" panose="02040503050406030204" pitchFamily="18" charset="0"/>
              </a:rPr>
              <a:t>(a′|s′) ]</a:t>
            </a:r>
            <a:endParaRPr lang="en-IL" sz="29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157E4312-D7C0-0722-6B2A-7D3F625CFBDC}"/>
              </a:ext>
            </a:extLst>
          </p:cNvPr>
          <p:cNvSpPr txBox="1"/>
          <p:nvPr/>
        </p:nvSpPr>
        <p:spPr>
          <a:xfrm>
            <a:off x="685800" y="4838699"/>
            <a:ext cx="10820400" cy="685800"/>
          </a:xfrm>
          <a:prstGeom prst="rect">
            <a:avLst/>
          </a:prstGeom>
          <a:noFill/>
        </p:spPr>
        <p:txBody>
          <a:bodyPr vert="horz" wrap="square" lIns="0" tIns="0" rIns="0" bIns="0" rtlCol="0" anchor="t">
            <a:noAutofit/>
          </a:bodyPr>
          <a:lstStyle/>
          <a:p>
            <a:r>
              <a:rPr lang="en-US" sz="2900">
                <a:solidFill>
                  <a:srgbClr val="15283B"/>
                </a:solidFill>
                <a:latin typeface="Cambria Math" panose="02040503050406030204" pitchFamily="18" charset="0"/>
              </a:rPr>
              <a:t>θ ← θ − η ∇</a:t>
            </a:r>
            <a:r>
              <a:rPr lang="en-US" sz="2088" baseline="-22000">
                <a:solidFill>
                  <a:srgbClr val="15283B"/>
                </a:solidFill>
                <a:latin typeface="Cambria Math" panose="02040503050406030204" pitchFamily="18" charset="0"/>
              </a:rPr>
              <a:t>θ</a:t>
            </a:r>
            <a:r>
              <a:rPr lang="en-US" sz="2900">
                <a:solidFill>
                  <a:srgbClr val="15283B"/>
                </a:solidFill>
                <a:latin typeface="Cambria Math" panose="02040503050406030204" pitchFamily="18" charset="0"/>
              </a:rPr>
              <a:t> L</a:t>
            </a:r>
            <a:r>
              <a:rPr lang="en-US" sz="2088" baseline="-22000">
                <a:solidFill>
                  <a:srgbClr val="15283B"/>
                </a:solidFill>
                <a:latin typeface="Cambria Math" panose="02040503050406030204" pitchFamily="18" charset="0"/>
              </a:rPr>
              <a:t>π</a:t>
            </a:r>
            <a:r>
              <a:rPr lang="en-US" sz="2900">
                <a:solidFill>
                  <a:srgbClr val="15283B"/>
                </a:solidFill>
                <a:latin typeface="Cambria Math" panose="02040503050406030204" pitchFamily="18" charset="0"/>
              </a:rPr>
              <a:t>; critics fit Q</a:t>
            </a:r>
            <a:r>
              <a:rPr lang="en-US" sz="2088" baseline="-22000">
                <a:solidFill>
                  <a:srgbClr val="15283B"/>
                </a:solidFill>
                <a:latin typeface="Cambria Math" panose="02040503050406030204" pitchFamily="18" charset="0"/>
              </a:rPr>
              <a:t>φi</a:t>
            </a:r>
            <a:r>
              <a:rPr lang="en-US" sz="2900">
                <a:solidFill>
                  <a:srgbClr val="15283B"/>
                </a:solidFill>
                <a:latin typeface="Cambria Math" panose="02040503050406030204" pitchFamily="18" charset="0"/>
              </a:rPr>
              <a:t>(s,a) to y</a:t>
            </a:r>
            <a:endParaRPr lang="en-IL" sz="2900">
              <a:solidFill>
                <a:srgbClr val="15283B"/>
              </a:solidFill>
              <a:latin typeface="Cambria Math" panose="02040503050406030204" pitchFamily="18" charset="0"/>
            </a:endParaRPr>
          </a:p>
        </p:txBody>
      </p:sp>
      <p:sp>
        <p:nvSpPr>
          <p:cNvPr id="12" name="text_11">
            <a:extLst>
              <a:ext uri="{FF2B5EF4-FFF2-40B4-BE49-F238E27FC236}">
                <a16:creationId xmlns:a16="http://schemas.microsoft.com/office/drawing/2014/main" id="{76B72987-F4A1-92E2-E3F4-D89DE146CB2A}"/>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Overview only; our demo implements A2C.</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34658273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FDCDCDA1-BC26-EA65-A1DB-EDE6A39FB00E}"/>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F80E738D-24F8-85A1-568F-B43A33B15E33}"/>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What the demonstration establishes</a:t>
            </a:r>
          </a:p>
        </p:txBody>
      </p:sp>
      <p:sp>
        <p:nvSpPr>
          <p:cNvPr id="4" name="text_3">
            <a:extLst>
              <a:ext uri="{FF2B5EF4-FFF2-40B4-BE49-F238E27FC236}">
                <a16:creationId xmlns:a16="http://schemas.microsoft.com/office/drawing/2014/main" id="{BAE9275A-C98C-EB78-4868-698C481904F1}"/>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Matched comparisons show learning; multiple seeds show its variability.</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EB8B43C3-A556-8658-28D8-BD4CA177C1B9}"/>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48518037-8AB7-488A-86F9-D0134CFB03D0}"/>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653DF932-2193-343E-DF6D-7A89A0003026}"/>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23</a:t>
            </a:r>
          </a:p>
        </p:txBody>
      </p:sp>
      <p:pic>
        <p:nvPicPr>
          <p:cNvPr id="9" name="Picture 8">
            <a:extLst>
              <a:ext uri="{FF2B5EF4-FFF2-40B4-BE49-F238E27FC236}">
                <a16:creationId xmlns:a16="http://schemas.microsoft.com/office/drawing/2014/main" id="{03556254-7AC6-7DC9-A95B-AF866B70A70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85800" y="2628900"/>
            <a:ext cx="10820400" cy="2971800"/>
          </a:xfrm>
          <a:prstGeom prst="rect">
            <a:avLst/>
          </a:prstGeom>
        </p:spPr>
      </p:pic>
      <p:sp>
        <p:nvSpPr>
          <p:cNvPr id="10" name="text_8">
            <a:extLst>
              <a:ext uri="{FF2B5EF4-FFF2-40B4-BE49-F238E27FC236}">
                <a16:creationId xmlns:a16="http://schemas.microsoft.com/office/drawing/2014/main" id="{9228BC41-330D-1C40-961D-D8FB3EE29489}"/>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Historical checkpoints: validation-selected, tested on separate starts.</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9917019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F960189A-BE33-5808-94F6-2A2985230F4A}"/>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05A67283-FBE5-3ED9-182F-6E285663D388}"/>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Watch rewards become a balancing policy</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C2967B7A-DFA3-90D4-4F27-1C4D69B9D2F3}"/>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Initial → trained on the same start → inspect → compare seeds.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B6090E26-5E58-7B36-3B0E-05262FD74A9A}"/>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8BAA179-1523-CF96-2461-B896B7C407D1}"/>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9EECF86A-64A0-96D9-1A86-EBAD2F267485}"/>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24</a:t>
            </a:r>
          </a:p>
        </p:txBody>
      </p:sp>
      <p:pic>
        <p:nvPicPr>
          <p:cNvPr id="9" name="Picture 8">
            <a:extLst>
              <a:ext uri="{FF2B5EF4-FFF2-40B4-BE49-F238E27FC236}">
                <a16:creationId xmlns:a16="http://schemas.microsoft.com/office/drawing/2014/main" id="{B9A01017-800A-52A1-CF3A-59505F07841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85800" y="2806700"/>
            <a:ext cx="7010400" cy="2349500"/>
          </a:xfrm>
          <a:prstGeom prst="rect">
            <a:avLst/>
          </a:prstGeom>
        </p:spPr>
      </p:pic>
      <p:sp>
        <p:nvSpPr>
          <p:cNvPr id="10" name="text_8">
            <a:extLst>
              <a:ext uri="{FF2B5EF4-FFF2-40B4-BE49-F238E27FC236}">
                <a16:creationId xmlns:a16="http://schemas.microsoft.com/office/drawing/2014/main" id="{9A1256E8-2A88-C075-00D8-E7B3E40EA11C}"/>
              </a:ext>
            </a:extLst>
          </p:cNvPr>
          <p:cNvSpPr txBox="1"/>
          <p:nvPr/>
        </p:nvSpPr>
        <p:spPr>
          <a:xfrm>
            <a:off x="8089900" y="2654299"/>
            <a:ext cx="3416300" cy="8890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Watch initial / trained.</a:t>
            </a:r>
          </a:p>
        </p:txBody>
      </p:sp>
      <p:sp>
        <p:nvSpPr>
          <p:cNvPr id="11" name="text_9">
            <a:extLst>
              <a:ext uri="{FF2B5EF4-FFF2-40B4-BE49-F238E27FC236}">
                <a16:creationId xmlns:a16="http://schemas.microsoft.com/office/drawing/2014/main" id="{0402D635-F903-89DF-0F08-5DC93A9D66D4}"/>
              </a:ext>
            </a:extLst>
          </p:cNvPr>
          <p:cNvSpPr txBox="1"/>
          <p:nvPr/>
        </p:nvSpPr>
        <p:spPr>
          <a:xfrm>
            <a:off x="8089900" y="3682999"/>
            <a:ext cx="3416300" cy="901700"/>
          </a:xfrm>
          <a:prstGeom prst="rect">
            <a:avLst/>
          </a:prstGeom>
          <a:noFill/>
        </p:spPr>
        <p:txBody>
          <a:bodyPr vert="horz" wrap="square" lIns="0" tIns="0" rIns="0" bIns="0" rtlCol="0" anchor="t">
            <a:noAutofit/>
          </a:bodyPr>
          <a:lstStyle/>
          <a:p>
            <a:r>
              <a:rPr lang="en-IL" sz="2800" b="1">
                <a:solidFill>
                  <a:srgbClr val="137F79"/>
                </a:solidFill>
                <a:latin typeface="Aptos" panose="020B0004020202020204" pitchFamily="34" charset="0"/>
              </a:rPr>
              <a:t>Explain the two roles.</a:t>
            </a:r>
          </a:p>
        </p:txBody>
      </p:sp>
      <p:sp>
        <p:nvSpPr>
          <p:cNvPr id="12" name="text_10">
            <a:extLst>
              <a:ext uri="{FF2B5EF4-FFF2-40B4-BE49-F238E27FC236}">
                <a16:creationId xmlns:a16="http://schemas.microsoft.com/office/drawing/2014/main" id="{FC06794D-BCDE-3142-332F-F7490EA9C923}"/>
              </a:ext>
            </a:extLst>
          </p:cNvPr>
          <p:cNvSpPr txBox="1"/>
          <p:nvPr/>
        </p:nvSpPr>
        <p:spPr>
          <a:xfrm>
            <a:off x="8089900" y="4711699"/>
            <a:ext cx="3416300" cy="914400"/>
          </a:xfrm>
          <a:prstGeom prst="rect">
            <a:avLst/>
          </a:prstGeom>
          <a:noFill/>
        </p:spPr>
        <p:txBody>
          <a:bodyPr vert="horz" wrap="square" lIns="0" tIns="0" rIns="0" bIns="0" rtlCol="0" anchor="t">
            <a:noAutofit/>
          </a:bodyPr>
          <a:lstStyle/>
          <a:p>
            <a:r>
              <a:rPr lang="en-IL" sz="2800" b="1">
                <a:solidFill>
                  <a:srgbClr val="2459D3"/>
                </a:solidFill>
                <a:latin typeface="Aptos" panose="020B0004020202020204" pitchFamily="34" charset="0"/>
              </a:rPr>
              <a:t>Compare three seeds.</a:t>
            </a:r>
          </a:p>
        </p:txBody>
      </p:sp>
      <p:sp>
        <p:nvSpPr>
          <p:cNvPr id="13" name="text_11">
            <a:extLst>
              <a:ext uri="{FF2B5EF4-FFF2-40B4-BE49-F238E27FC236}">
                <a16:creationId xmlns:a16="http://schemas.microsoft.com/office/drawing/2014/main" id="{3DE9BC42-300F-3155-74E3-6CA98563994C}"/>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2 min initial · 4 trained · 2 update signals · 2 evidence</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28118255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B49FAEB7-8F5E-B65E-2176-EA28E422FF74}"/>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US" sz="1600" b="1">
                <a:solidFill>
                  <a:srgbClr val="137F79"/>
                </a:solidFill>
                <a:latin typeface="Aptos" panose="020B0004020202020204" pitchFamily="34" charset="0"/>
              </a:rPr>
              <a:t>WEEK 09 / POLICY GRADIENTS &amp; ACTOR–CRITIC</a:t>
            </a:r>
            <a:endParaRPr lang="en-IL" sz="1600" b="1">
              <a:solidFill>
                <a:srgbClr val="137F79"/>
              </a:solidFill>
              <a:latin typeface="Aptos" panose="020B0004020202020204" pitchFamily="34" charset="0"/>
            </a:endParaRPr>
          </a:p>
        </p:txBody>
      </p:sp>
      <p:sp>
        <p:nvSpPr>
          <p:cNvPr id="3" name="text_2">
            <a:extLst>
              <a:ext uri="{FF2B5EF4-FFF2-40B4-BE49-F238E27FC236}">
                <a16:creationId xmlns:a16="http://schemas.microsoft.com/office/drawing/2014/main" id="{2AF057C6-EA9E-EEAE-CD4A-5489FC9592DA}"/>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Questions &amp; recap</a:t>
            </a:r>
          </a:p>
        </p:txBody>
      </p:sp>
      <p:sp>
        <p:nvSpPr>
          <p:cNvPr id="4" name="text_3">
            <a:extLst>
              <a:ext uri="{FF2B5EF4-FFF2-40B4-BE49-F238E27FC236}">
                <a16:creationId xmlns:a16="http://schemas.microsoft.com/office/drawing/2014/main" id="{8BE54468-2C01-BFBF-B0B5-28F7AF850D03}"/>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Explain the learning signal, the baseline, and the two roles.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767E08D8-7657-AB46-8414-0C1293511C2A}"/>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5D497340-B10F-7560-9E0F-9B8060EFD9E7}"/>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4AC843F0-8280-D6CB-3ED9-A815B4E64C12}"/>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25</a:t>
            </a:r>
          </a:p>
        </p:txBody>
      </p:sp>
      <p:sp>
        <p:nvSpPr>
          <p:cNvPr id="8" name="Rectangle: Rounded Corners 7">
            <a:extLst>
              <a:ext uri="{FF2B5EF4-FFF2-40B4-BE49-F238E27FC236}">
                <a16:creationId xmlns:a16="http://schemas.microsoft.com/office/drawing/2014/main" id="{430016DD-3902-0686-5F88-E4661A08AEB8}"/>
              </a:ext>
            </a:extLst>
          </p:cNvPr>
          <p:cNvSpPr/>
          <p:nvPr/>
        </p:nvSpPr>
        <p:spPr>
          <a:xfrm>
            <a:off x="685800" y="2679700"/>
            <a:ext cx="3454400" cy="2832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AE6AF9DF-AC78-F565-CD1E-79B723CE9B06}"/>
              </a:ext>
            </a:extLst>
          </p:cNvPr>
          <p:cNvSpPr txBox="1"/>
          <p:nvPr/>
        </p:nvSpPr>
        <p:spPr>
          <a:xfrm>
            <a:off x="889000" y="2832099"/>
            <a:ext cx="3048000" cy="8255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Policy gradient</a:t>
            </a:r>
          </a:p>
        </p:txBody>
      </p:sp>
      <p:sp>
        <p:nvSpPr>
          <p:cNvPr id="10" name="text_9">
            <a:extLst>
              <a:ext uri="{FF2B5EF4-FFF2-40B4-BE49-F238E27FC236}">
                <a16:creationId xmlns:a16="http://schemas.microsoft.com/office/drawing/2014/main" id="{4DB558E3-DC72-AC5A-10BA-669DD14631C2}"/>
              </a:ext>
            </a:extLst>
          </p:cNvPr>
          <p:cNvSpPr txBox="1"/>
          <p:nvPr/>
        </p:nvSpPr>
        <p:spPr>
          <a:xfrm>
            <a:off x="889000" y="3657599"/>
            <a:ext cx="3048000" cy="1803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How do rewards change action likelihood?</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8A9AD505-F0D6-FCD1-D3E7-9ABA62270A4F}"/>
              </a:ext>
            </a:extLst>
          </p:cNvPr>
          <p:cNvSpPr/>
          <p:nvPr/>
        </p:nvSpPr>
        <p:spPr>
          <a:xfrm>
            <a:off x="4368800" y="2679700"/>
            <a:ext cx="3454400" cy="2832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DACDF98B-597D-D0BF-06D7-3169A55BE628}"/>
              </a:ext>
            </a:extLst>
          </p:cNvPr>
          <p:cNvSpPr txBox="1"/>
          <p:nvPr/>
        </p:nvSpPr>
        <p:spPr>
          <a:xfrm>
            <a:off x="4572000" y="2832099"/>
            <a:ext cx="3048000" cy="8255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Baseline</a:t>
            </a:r>
          </a:p>
        </p:txBody>
      </p:sp>
      <p:sp>
        <p:nvSpPr>
          <p:cNvPr id="13" name="text_12">
            <a:extLst>
              <a:ext uri="{FF2B5EF4-FFF2-40B4-BE49-F238E27FC236}">
                <a16:creationId xmlns:a16="http://schemas.microsoft.com/office/drawing/2014/main" id="{99ECC9A9-046A-5977-394F-A9FA2452219A}"/>
              </a:ext>
            </a:extLst>
          </p:cNvPr>
          <p:cNvSpPr txBox="1"/>
          <p:nvPr/>
        </p:nvSpPr>
        <p:spPr>
          <a:xfrm>
            <a:off x="4572000" y="3657599"/>
            <a:ext cx="3048000" cy="1803400"/>
          </a:xfrm>
          <a:prstGeom prst="rect">
            <a:avLst/>
          </a:prstGeom>
          <a:noFill/>
        </p:spPr>
        <p:txBody>
          <a:bodyPr vert="horz" wrap="square" lIns="0" tIns="0" rIns="0" bIns="0" rtlCol="0" anchor="t">
            <a:noAutofit/>
          </a:bodyPr>
          <a:lstStyle/>
          <a:p>
            <a:r>
              <a:rPr lang="en-IL" sz="2400">
                <a:solidFill>
                  <a:srgbClr val="15283B"/>
                </a:solidFill>
                <a:latin typeface="Aptos" panose="020B0004020202020204" pitchFamily="34" charset="0"/>
              </a:rPr>
              <a:t>Why subtract a reference?</a:t>
            </a:r>
          </a:p>
        </p:txBody>
      </p:sp>
      <p:sp>
        <p:nvSpPr>
          <p:cNvPr id="14" name="Rectangle: Rounded Corners 13">
            <a:extLst>
              <a:ext uri="{FF2B5EF4-FFF2-40B4-BE49-F238E27FC236}">
                <a16:creationId xmlns:a16="http://schemas.microsoft.com/office/drawing/2014/main" id="{115BA8B2-6E40-E273-1EFC-75842A566408}"/>
              </a:ext>
            </a:extLst>
          </p:cNvPr>
          <p:cNvSpPr/>
          <p:nvPr/>
        </p:nvSpPr>
        <p:spPr>
          <a:xfrm>
            <a:off x="8051800" y="2679700"/>
            <a:ext cx="3454400" cy="2832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589379D1-E8D7-9EA8-DB70-C835CFF5E7C9}"/>
              </a:ext>
            </a:extLst>
          </p:cNvPr>
          <p:cNvSpPr txBox="1"/>
          <p:nvPr/>
        </p:nvSpPr>
        <p:spPr>
          <a:xfrm>
            <a:off x="8255000" y="2832099"/>
            <a:ext cx="3048000" cy="8255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Actor–critic</a:t>
            </a:r>
          </a:p>
        </p:txBody>
      </p:sp>
      <p:sp>
        <p:nvSpPr>
          <p:cNvPr id="16" name="text_15">
            <a:extLst>
              <a:ext uri="{FF2B5EF4-FFF2-40B4-BE49-F238E27FC236}">
                <a16:creationId xmlns:a16="http://schemas.microsoft.com/office/drawing/2014/main" id="{D0DB9CDB-6FED-581A-C916-9D85A75BF267}"/>
              </a:ext>
            </a:extLst>
          </p:cNvPr>
          <p:cNvSpPr txBox="1"/>
          <p:nvPr/>
        </p:nvSpPr>
        <p:spPr>
          <a:xfrm>
            <a:off x="8255000" y="3657599"/>
            <a:ext cx="3048000" cy="1803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Who acts, and who evaluates?</a:t>
            </a:r>
            <a:endParaRPr lang="en-IL" sz="2400">
              <a:solidFill>
                <a:srgbClr val="15283B"/>
              </a:solidFill>
              <a:latin typeface="Aptos" panose="020B0004020202020204" pitchFamily="34" charset="0"/>
            </a:endParaRPr>
          </a:p>
        </p:txBody>
      </p:sp>
      <p:sp>
        <p:nvSpPr>
          <p:cNvPr id="17" name="text_16">
            <a:extLst>
              <a:ext uri="{FF2B5EF4-FFF2-40B4-BE49-F238E27FC236}">
                <a16:creationId xmlns:a16="http://schemas.microsoft.com/office/drawing/2014/main" id="{BF445C6B-179B-00E7-9B35-D93463718C86}"/>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Policy gradient → baseline → advantage → actor–critic.</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9900594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9843B6D9-F73F-09D1-AA4B-336A4EDA970B}"/>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250DABA4-C09B-B6DD-B87A-5AE12B3EAAD9}"/>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Expanded trajectory-gradient derivation</a:t>
            </a:r>
          </a:p>
        </p:txBody>
      </p:sp>
      <p:sp>
        <p:nvSpPr>
          <p:cNvPr id="4" name="text_3">
            <a:extLst>
              <a:ext uri="{FF2B5EF4-FFF2-40B4-BE49-F238E27FC236}">
                <a16:creationId xmlns:a16="http://schemas.microsoft.com/office/drawing/2014/main" id="{2CA2539B-0D9F-1177-FDC1-813908F6CAE9}"/>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Exact discounted start-state objective and practical rollout surrogate.</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DF82A82E-3066-449E-4F0E-FA5E61B86052}"/>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A73AD281-F477-A20B-62E4-EF82D6A002D4}"/>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07162F1B-B34B-0FBA-A87C-4E57C02E7AD6}"/>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26</a:t>
            </a:r>
          </a:p>
        </p:txBody>
      </p:sp>
      <p:sp>
        <p:nvSpPr>
          <p:cNvPr id="8" name="text_7">
            <a:extLst>
              <a:ext uri="{FF2B5EF4-FFF2-40B4-BE49-F238E27FC236}">
                <a16:creationId xmlns:a16="http://schemas.microsoft.com/office/drawing/2014/main" id="{F9A09DFA-5514-E732-D657-0C6A0AB5B215}"/>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2900">
                <a:solidFill>
                  <a:srgbClr val="2459D3"/>
                </a:solidFill>
                <a:latin typeface="Cambria Math" panose="02040503050406030204" pitchFamily="18" charset="0"/>
              </a:rPr>
              <a:t>F(</a:t>
            </a:r>
            <a:r>
              <a:rPr lang="el-GR" sz="2900">
                <a:solidFill>
                  <a:srgbClr val="2459D3"/>
                </a:solidFill>
                <a:latin typeface="Cambria Math" panose="02040503050406030204" pitchFamily="18" charset="0"/>
              </a:rPr>
              <a:t>τ) = ∑</a:t>
            </a:r>
            <a:r>
              <a:rPr lang="en-IL" sz="2088" baseline="-22000">
                <a:solidFill>
                  <a:srgbClr val="2459D3"/>
                </a:solidFill>
                <a:latin typeface="Cambria Math" panose="02040503050406030204" pitchFamily="18" charset="0"/>
              </a:rPr>
              <a:t>k</a:t>
            </a:r>
            <a:r>
              <a:rPr lang="en-IL" sz="2900">
                <a:solidFill>
                  <a:srgbClr val="2459D3"/>
                </a:solidFill>
                <a:latin typeface="Cambria Math" panose="02040503050406030204" pitchFamily="18" charset="0"/>
              </a:rPr>
              <a:t> </a:t>
            </a:r>
            <a:r>
              <a:rPr lang="el-GR" sz="2900">
                <a:solidFill>
                  <a:srgbClr val="2459D3"/>
                </a:solidFill>
                <a:latin typeface="Cambria Math" panose="02040503050406030204" pitchFamily="18" charset="0"/>
              </a:rPr>
              <a:t>γ</a:t>
            </a:r>
            <a:r>
              <a:rPr lang="en-IL" sz="2088" baseline="32000">
                <a:solidFill>
                  <a:srgbClr val="2459D3"/>
                </a:solidFill>
                <a:latin typeface="Cambria Math" panose="02040503050406030204" pitchFamily="18" charset="0"/>
              </a:rPr>
              <a:t>k</a:t>
            </a:r>
            <a:r>
              <a:rPr lang="en-IL" sz="2900">
                <a:solidFill>
                  <a:srgbClr val="2459D3"/>
                </a:solidFill>
                <a:latin typeface="Cambria Math" panose="02040503050406030204" pitchFamily="18" charset="0"/>
              </a:rPr>
              <a:t> R</a:t>
            </a:r>
            <a:r>
              <a:rPr lang="en-IL" sz="2088" baseline="-22000">
                <a:solidFill>
                  <a:srgbClr val="2459D3"/>
                </a:solidFill>
                <a:latin typeface="Cambria Math" panose="02040503050406030204" pitchFamily="18" charset="0"/>
              </a:rPr>
              <a:t>k</a:t>
            </a:r>
            <a:r>
              <a:rPr lang="en-IL" sz="2900">
                <a:solidFill>
                  <a:srgbClr val="2459D3"/>
                </a:solidFill>
                <a:latin typeface="Cambria Math" panose="02040503050406030204" pitchFamily="18" charset="0"/>
              </a:rPr>
              <a:t>;   J = ∫ p</a:t>
            </a:r>
            <a:r>
              <a:rPr lang="el-GR" sz="2088" baseline="-22000">
                <a:solidFill>
                  <a:srgbClr val="2459D3"/>
                </a:solidFill>
                <a:latin typeface="Cambria Math" panose="02040503050406030204" pitchFamily="18" charset="0"/>
              </a:rPr>
              <a:t>θ</a:t>
            </a:r>
            <a:r>
              <a:rPr lang="el-GR" sz="2900">
                <a:solidFill>
                  <a:srgbClr val="2459D3"/>
                </a:solidFill>
                <a:latin typeface="Cambria Math" panose="02040503050406030204" pitchFamily="18" charset="0"/>
              </a:rPr>
              <a:t>(τ) </a:t>
            </a:r>
            <a:r>
              <a:rPr lang="en-IL" sz="2900">
                <a:solidFill>
                  <a:srgbClr val="2459D3"/>
                </a:solidFill>
                <a:latin typeface="Cambria Math" panose="02040503050406030204" pitchFamily="18" charset="0"/>
              </a:rPr>
              <a:t>F(</a:t>
            </a:r>
            <a:r>
              <a:rPr lang="el-GR" sz="2900">
                <a:solidFill>
                  <a:srgbClr val="2459D3"/>
                </a:solidFill>
                <a:latin typeface="Cambria Math" panose="02040503050406030204" pitchFamily="18" charset="0"/>
              </a:rPr>
              <a:t>τ) </a:t>
            </a:r>
            <a:r>
              <a:rPr lang="en-IL" sz="2900">
                <a:solidFill>
                  <a:srgbClr val="2459D3"/>
                </a:solidFill>
                <a:latin typeface="Cambria Math" panose="02040503050406030204" pitchFamily="18" charset="0"/>
              </a:rPr>
              <a:t>d</a:t>
            </a:r>
            <a:r>
              <a:rPr lang="el-GR" sz="2900">
                <a:solidFill>
                  <a:srgbClr val="2459D3"/>
                </a:solidFill>
                <a:latin typeface="Cambria Math" panose="02040503050406030204" pitchFamily="18" charset="0"/>
              </a:rPr>
              <a:t>τ</a:t>
            </a:r>
            <a:endParaRPr lang="en-IL" sz="29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B8CCB12A-CA8D-8ABB-466E-6E26D2372417}"/>
              </a:ext>
            </a:extLst>
          </p:cNvPr>
          <p:cNvSpPr txBox="1"/>
          <p:nvPr/>
        </p:nvSpPr>
        <p:spPr>
          <a:xfrm>
            <a:off x="685800" y="3378199"/>
            <a:ext cx="10820400" cy="711200"/>
          </a:xfrm>
          <a:prstGeom prst="rect">
            <a:avLst/>
          </a:prstGeom>
          <a:noFill/>
        </p:spPr>
        <p:txBody>
          <a:bodyPr vert="horz" wrap="square" lIns="0" tIns="0" rIns="0" bIns="0" rtlCol="0" anchor="t">
            <a:noAutofit/>
          </a:bodyPr>
          <a:lstStyle/>
          <a:p>
            <a:r>
              <a:rPr lang="el-GR" sz="2900">
                <a:solidFill>
                  <a:srgbClr val="15283B"/>
                </a:solidFill>
                <a:latin typeface="Cambria Math" panose="02040503050406030204" pitchFamily="18" charset="0"/>
              </a:rPr>
              <a:t>∇</a:t>
            </a:r>
            <a:r>
              <a:rPr lang="el-GR" sz="2088" baseline="-22000">
                <a:solidFill>
                  <a:srgbClr val="15283B"/>
                </a:solidFill>
                <a:latin typeface="Cambria Math" panose="02040503050406030204" pitchFamily="18" charset="0"/>
              </a:rPr>
              <a:t>θ</a:t>
            </a:r>
            <a:r>
              <a:rPr lang="el-GR" sz="2900">
                <a:solidFill>
                  <a:srgbClr val="15283B"/>
                </a:solidFill>
                <a:latin typeface="Cambria Math" panose="02040503050406030204" pitchFamily="18" charset="0"/>
              </a:rPr>
              <a:t> </a:t>
            </a:r>
            <a:r>
              <a:rPr lang="en-IL" sz="2900">
                <a:solidFill>
                  <a:srgbClr val="15283B"/>
                </a:solidFill>
                <a:latin typeface="Cambria Math" panose="02040503050406030204" pitchFamily="18" charset="0"/>
              </a:rPr>
              <a:t>J = ∫ p</a:t>
            </a:r>
            <a:r>
              <a:rPr lang="el-GR" sz="2088" baseline="-22000">
                <a:solidFill>
                  <a:srgbClr val="15283B"/>
                </a:solidFill>
                <a:latin typeface="Cambria Math" panose="02040503050406030204" pitchFamily="18" charset="0"/>
              </a:rPr>
              <a:t>θ</a:t>
            </a:r>
            <a:r>
              <a:rPr lang="el-GR" sz="2900">
                <a:solidFill>
                  <a:srgbClr val="15283B"/>
                </a:solidFill>
                <a:latin typeface="Cambria Math" panose="02040503050406030204" pitchFamily="18" charset="0"/>
              </a:rPr>
              <a:t>(τ) </a:t>
            </a:r>
            <a:r>
              <a:rPr lang="en-IL" sz="2900">
                <a:solidFill>
                  <a:srgbClr val="15283B"/>
                </a:solidFill>
                <a:latin typeface="Cambria Math" panose="02040503050406030204" pitchFamily="18" charset="0"/>
              </a:rPr>
              <a:t>F(</a:t>
            </a:r>
            <a:r>
              <a:rPr lang="el-GR" sz="2900">
                <a:solidFill>
                  <a:srgbClr val="15283B"/>
                </a:solidFill>
                <a:latin typeface="Cambria Math" panose="02040503050406030204" pitchFamily="18" charset="0"/>
              </a:rPr>
              <a:t>τ) ∇</a:t>
            </a:r>
            <a:r>
              <a:rPr lang="el-GR" sz="2088" baseline="-22000">
                <a:solidFill>
                  <a:srgbClr val="15283B"/>
                </a:solidFill>
                <a:latin typeface="Cambria Math" panose="02040503050406030204" pitchFamily="18" charset="0"/>
              </a:rPr>
              <a:t>θ</a:t>
            </a:r>
            <a:r>
              <a:rPr lang="el-GR" sz="2900">
                <a:solidFill>
                  <a:srgbClr val="15283B"/>
                </a:solidFill>
                <a:latin typeface="Cambria Math" panose="02040503050406030204" pitchFamily="18" charset="0"/>
              </a:rPr>
              <a:t> </a:t>
            </a:r>
            <a:r>
              <a:rPr lang="en-IL" sz="2900">
                <a:solidFill>
                  <a:srgbClr val="15283B"/>
                </a:solidFill>
                <a:latin typeface="Cambria Math" panose="02040503050406030204" pitchFamily="18" charset="0"/>
              </a:rPr>
              <a:t>log p</a:t>
            </a:r>
            <a:r>
              <a:rPr lang="el-GR" sz="2088" baseline="-22000">
                <a:solidFill>
                  <a:srgbClr val="15283B"/>
                </a:solidFill>
                <a:latin typeface="Cambria Math" panose="02040503050406030204" pitchFamily="18" charset="0"/>
              </a:rPr>
              <a:t>θ</a:t>
            </a:r>
            <a:r>
              <a:rPr lang="el-GR" sz="2900">
                <a:solidFill>
                  <a:srgbClr val="15283B"/>
                </a:solidFill>
                <a:latin typeface="Cambria Math" panose="02040503050406030204" pitchFamily="18" charset="0"/>
              </a:rPr>
              <a:t>(τ) </a:t>
            </a:r>
            <a:r>
              <a:rPr lang="en-IL" sz="2900">
                <a:solidFill>
                  <a:srgbClr val="15283B"/>
                </a:solidFill>
                <a:latin typeface="Cambria Math" panose="02040503050406030204" pitchFamily="18" charset="0"/>
              </a:rPr>
              <a:t>d</a:t>
            </a:r>
            <a:r>
              <a:rPr lang="el-GR" sz="2900">
                <a:solidFill>
                  <a:srgbClr val="15283B"/>
                </a:solidFill>
                <a:latin typeface="Cambria Math" panose="02040503050406030204" pitchFamily="18" charset="0"/>
              </a:rPr>
              <a:t>τ</a:t>
            </a:r>
            <a:endParaRPr lang="en-IL" sz="29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66F93FD7-DA36-5B07-9AFB-A41F88A42DC6}"/>
              </a:ext>
            </a:extLst>
          </p:cNvPr>
          <p:cNvSpPr txBox="1"/>
          <p:nvPr/>
        </p:nvSpPr>
        <p:spPr>
          <a:xfrm>
            <a:off x="685800" y="4127499"/>
            <a:ext cx="10820400" cy="711200"/>
          </a:xfrm>
          <a:prstGeom prst="rect">
            <a:avLst/>
          </a:prstGeom>
          <a:noFill/>
        </p:spPr>
        <p:txBody>
          <a:bodyPr vert="horz" wrap="square" lIns="0" tIns="0" rIns="0" bIns="0" rtlCol="0" anchor="t">
            <a:noAutofit/>
          </a:bodyPr>
          <a:lstStyle/>
          <a:p>
            <a:r>
              <a:rPr lang="en-IL" sz="2900">
                <a:solidFill>
                  <a:srgbClr val="15283B"/>
                </a:solidFill>
                <a:latin typeface="Cambria Math" panose="02040503050406030204" pitchFamily="18" charset="0"/>
              </a:rPr>
              <a:t>= 𝔼[ ∑</a:t>
            </a:r>
            <a:r>
              <a:rPr lang="en-IL" sz="2088" baseline="-22000">
                <a:solidFill>
                  <a:srgbClr val="15283B"/>
                </a:solidFill>
                <a:latin typeface="Cambria Math" panose="02040503050406030204" pitchFamily="18" charset="0"/>
              </a:rPr>
              <a:t>t</a:t>
            </a:r>
            <a:r>
              <a:rPr lang="en-IL" sz="2900">
                <a:solidFill>
                  <a:srgbClr val="15283B"/>
                </a:solidFill>
                <a:latin typeface="Cambria Math" panose="02040503050406030204" pitchFamily="18" charset="0"/>
              </a:rPr>
              <a:t> </a:t>
            </a:r>
            <a:r>
              <a:rPr lang="el-GR" sz="2900">
                <a:solidFill>
                  <a:srgbClr val="15283B"/>
                </a:solidFill>
                <a:latin typeface="Cambria Math" panose="02040503050406030204" pitchFamily="18" charset="0"/>
              </a:rPr>
              <a:t>γ</a:t>
            </a:r>
            <a:r>
              <a:rPr lang="en-IL" sz="2088" baseline="32000">
                <a:solidFill>
                  <a:srgbClr val="15283B"/>
                </a:solidFill>
                <a:latin typeface="Cambria Math" panose="02040503050406030204" pitchFamily="18" charset="0"/>
              </a:rPr>
              <a:t>t</a:t>
            </a:r>
            <a:r>
              <a:rPr lang="en-IL" sz="2900">
                <a:solidFill>
                  <a:srgbClr val="15283B"/>
                </a:solidFill>
                <a:latin typeface="Cambria Math" panose="02040503050406030204" pitchFamily="18" charset="0"/>
              </a:rPr>
              <a:t> G</a:t>
            </a:r>
            <a:r>
              <a:rPr lang="en-IL" sz="2088" baseline="-22000">
                <a:solidFill>
                  <a:srgbClr val="15283B"/>
                </a:solidFill>
                <a:latin typeface="Cambria Math" panose="02040503050406030204" pitchFamily="18" charset="0"/>
              </a:rPr>
              <a:t>t</a:t>
            </a:r>
            <a:r>
              <a:rPr lang="en-IL" sz="2900">
                <a:solidFill>
                  <a:srgbClr val="15283B"/>
                </a:solidFill>
                <a:latin typeface="Cambria Math" panose="02040503050406030204" pitchFamily="18" charset="0"/>
              </a:rPr>
              <a:t> ∇</a:t>
            </a:r>
            <a:r>
              <a:rPr lang="el-GR" sz="2088" baseline="-22000">
                <a:solidFill>
                  <a:srgbClr val="15283B"/>
                </a:solidFill>
                <a:latin typeface="Cambria Math" panose="02040503050406030204" pitchFamily="18" charset="0"/>
              </a:rPr>
              <a:t>θ</a:t>
            </a:r>
            <a:r>
              <a:rPr lang="el-GR" sz="2900">
                <a:solidFill>
                  <a:srgbClr val="15283B"/>
                </a:solidFill>
                <a:latin typeface="Cambria Math" panose="02040503050406030204" pitchFamily="18" charset="0"/>
              </a:rPr>
              <a:t> </a:t>
            </a:r>
            <a:r>
              <a:rPr lang="en-IL" sz="2900">
                <a:solidFill>
                  <a:srgbClr val="15283B"/>
                </a:solidFill>
                <a:latin typeface="Cambria Math" panose="02040503050406030204" pitchFamily="18" charset="0"/>
              </a:rPr>
              <a:t>log </a:t>
            </a:r>
            <a:r>
              <a:rPr lang="el-GR" sz="2900">
                <a:solidFill>
                  <a:srgbClr val="15283B"/>
                </a:solidFill>
                <a:latin typeface="Cambria Math" panose="02040503050406030204" pitchFamily="18" charset="0"/>
              </a:rPr>
              <a:t>π</a:t>
            </a:r>
            <a:r>
              <a:rPr lang="el-GR" sz="2088" baseline="-22000">
                <a:solidFill>
                  <a:srgbClr val="15283B"/>
                </a:solidFill>
                <a:latin typeface="Cambria Math" panose="02040503050406030204" pitchFamily="18" charset="0"/>
              </a:rPr>
              <a:t>θ</a:t>
            </a:r>
            <a:r>
              <a:rPr lang="el-GR" sz="2900">
                <a:solidFill>
                  <a:srgbClr val="15283B"/>
                </a:solidFill>
                <a:latin typeface="Cambria Math" panose="02040503050406030204" pitchFamily="18" charset="0"/>
              </a:rPr>
              <a:t>(</a:t>
            </a:r>
            <a:r>
              <a:rPr lang="en-IL" sz="2900">
                <a:solidFill>
                  <a:srgbClr val="15283B"/>
                </a:solidFill>
                <a:latin typeface="Cambria Math" panose="02040503050406030204" pitchFamily="18" charset="0"/>
              </a:rPr>
              <a:t>A</a:t>
            </a:r>
            <a:r>
              <a:rPr lang="en-IL" sz="2088" baseline="-22000">
                <a:solidFill>
                  <a:srgbClr val="15283B"/>
                </a:solidFill>
                <a:latin typeface="Cambria Math" panose="02040503050406030204" pitchFamily="18" charset="0"/>
              </a:rPr>
              <a:t>t</a:t>
            </a:r>
            <a:r>
              <a:rPr lang="en-IL" sz="2900">
                <a:solidFill>
                  <a:srgbClr val="15283B"/>
                </a:solidFill>
                <a:latin typeface="Cambria Math" panose="02040503050406030204" pitchFamily="18" charset="0"/>
              </a:rPr>
              <a:t>|S</a:t>
            </a:r>
            <a:r>
              <a:rPr lang="en-IL" sz="2088" baseline="-22000">
                <a:solidFill>
                  <a:srgbClr val="15283B"/>
                </a:solidFill>
                <a:latin typeface="Cambria Math" panose="02040503050406030204" pitchFamily="18" charset="0"/>
              </a:rPr>
              <a:t>t</a:t>
            </a:r>
            <a:r>
              <a:rPr lang="en-IL" sz="2900">
                <a:solidFill>
                  <a:srgbClr val="15283B"/>
                </a:solidFill>
                <a:latin typeface="Cambria Math" panose="02040503050406030204" pitchFamily="18" charset="0"/>
              </a:rPr>
              <a:t>) ]</a:t>
            </a:r>
          </a:p>
        </p:txBody>
      </p:sp>
      <p:sp>
        <p:nvSpPr>
          <p:cNvPr id="11" name="text_10">
            <a:extLst>
              <a:ext uri="{FF2B5EF4-FFF2-40B4-BE49-F238E27FC236}">
                <a16:creationId xmlns:a16="http://schemas.microsoft.com/office/drawing/2014/main" id="{ECADE626-9C3E-A893-1795-E173694D91F2}"/>
              </a:ext>
            </a:extLst>
          </p:cNvPr>
          <p:cNvSpPr txBox="1"/>
          <p:nvPr/>
        </p:nvSpPr>
        <p:spPr>
          <a:xfrm>
            <a:off x="685800" y="4876799"/>
            <a:ext cx="10820400" cy="711200"/>
          </a:xfrm>
          <a:prstGeom prst="rect">
            <a:avLst/>
          </a:prstGeom>
          <a:noFill/>
        </p:spPr>
        <p:txBody>
          <a:bodyPr vert="horz" wrap="square" lIns="0" tIns="0" rIns="0" bIns="0" rtlCol="0" anchor="t">
            <a:noAutofit/>
          </a:bodyPr>
          <a:lstStyle/>
          <a:p>
            <a:r>
              <a:rPr lang="en-IL" sz="2900">
                <a:solidFill>
                  <a:srgbClr val="15283B"/>
                </a:solidFill>
                <a:latin typeface="Cambria Math" panose="02040503050406030204" pitchFamily="18" charset="0"/>
              </a:rPr>
              <a:t>Demo surrogate: −mean[log </a:t>
            </a:r>
            <a:r>
              <a:rPr lang="el-GR" sz="2900">
                <a:solidFill>
                  <a:srgbClr val="15283B"/>
                </a:solidFill>
                <a:latin typeface="Cambria Math" panose="02040503050406030204" pitchFamily="18" charset="0"/>
              </a:rPr>
              <a:t>π</a:t>
            </a:r>
            <a:r>
              <a:rPr lang="el-GR" sz="2088" baseline="-22000">
                <a:solidFill>
                  <a:srgbClr val="15283B"/>
                </a:solidFill>
                <a:latin typeface="Cambria Math" panose="02040503050406030204" pitchFamily="18" charset="0"/>
              </a:rPr>
              <a:t>θ</a:t>
            </a:r>
            <a:r>
              <a:rPr lang="el-GR" sz="2900">
                <a:solidFill>
                  <a:srgbClr val="15283B"/>
                </a:solidFill>
                <a:latin typeface="Cambria Math" panose="02040503050406030204" pitchFamily="18" charset="0"/>
              </a:rPr>
              <a:t>(</a:t>
            </a:r>
            <a:r>
              <a:rPr lang="en-IL" sz="2900">
                <a:solidFill>
                  <a:srgbClr val="15283B"/>
                </a:solidFill>
                <a:latin typeface="Cambria Math" panose="02040503050406030204" pitchFamily="18" charset="0"/>
              </a:rPr>
              <a:t>a</a:t>
            </a:r>
            <a:r>
              <a:rPr lang="en-IL" sz="2088" baseline="-22000">
                <a:solidFill>
                  <a:srgbClr val="15283B"/>
                </a:solidFill>
                <a:latin typeface="Cambria Math" panose="02040503050406030204" pitchFamily="18" charset="0"/>
              </a:rPr>
              <a:t>t</a:t>
            </a:r>
            <a:r>
              <a:rPr lang="en-IL" sz="2900">
                <a:solidFill>
                  <a:srgbClr val="15283B"/>
                </a:solidFill>
                <a:latin typeface="Cambria Math" panose="02040503050406030204" pitchFamily="18" charset="0"/>
              </a:rPr>
              <a:t>|s</a:t>
            </a:r>
            <a:r>
              <a:rPr lang="en-IL" sz="2088" baseline="-22000">
                <a:solidFill>
                  <a:srgbClr val="15283B"/>
                </a:solidFill>
                <a:latin typeface="Cambria Math" panose="02040503050406030204" pitchFamily="18" charset="0"/>
              </a:rPr>
              <a:t>t</a:t>
            </a:r>
            <a:r>
              <a:rPr lang="en-IL" sz="2900">
                <a:solidFill>
                  <a:srgbClr val="15283B"/>
                </a:solidFill>
                <a:latin typeface="Cambria Math" panose="02040503050406030204" pitchFamily="18" charset="0"/>
              </a:rPr>
              <a:t>) stopgrad(Â</a:t>
            </a:r>
            <a:r>
              <a:rPr lang="en-IL" sz="2088" baseline="-22000">
                <a:solidFill>
                  <a:srgbClr val="15283B"/>
                </a:solidFill>
                <a:latin typeface="Cambria Math" panose="02040503050406030204" pitchFamily="18" charset="0"/>
              </a:rPr>
              <a:t>t</a:t>
            </a:r>
            <a:r>
              <a:rPr lang="en-IL" sz="2900">
                <a:solidFill>
                  <a:srgbClr val="15283B"/>
                </a:solidFill>
                <a:latin typeface="Cambria Math" panose="02040503050406030204" pitchFamily="18" charset="0"/>
              </a:rPr>
              <a:t>)]</a:t>
            </a:r>
          </a:p>
        </p:txBody>
      </p:sp>
      <p:sp>
        <p:nvSpPr>
          <p:cNvPr id="12" name="text_11">
            <a:extLst>
              <a:ext uri="{FF2B5EF4-FFF2-40B4-BE49-F238E27FC236}">
                <a16:creationId xmlns:a16="http://schemas.microsoft.com/office/drawing/2014/main" id="{BDB345FA-77B9-9D65-920F-122826CAE154}"/>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Uniform rollout weighting differs from the explicit γᵗ estimator.</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40024018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820335B2-2B8F-4276-6231-92648F668D7D}"/>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476BA019-55F9-6B0B-D08D-1D252C87D402}"/>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IL" sz="4000" b="1">
                <a:solidFill>
                  <a:srgbClr val="15283B"/>
                </a:solidFill>
                <a:latin typeface="Aptos" panose="020B0004020202020204" pitchFamily="34" charset="0"/>
              </a:rPr>
              <a:t>Baseline cancellation &amp; Gaussian gradient</a:t>
            </a:r>
          </a:p>
        </p:txBody>
      </p:sp>
      <p:sp>
        <p:nvSpPr>
          <p:cNvPr id="4" name="text_3">
            <a:extLst>
              <a:ext uri="{FF2B5EF4-FFF2-40B4-BE49-F238E27FC236}">
                <a16:creationId xmlns:a16="http://schemas.microsoft.com/office/drawing/2014/main" id="{3E18F259-9B43-3515-9609-003F4B451AAC}"/>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The baseline centers the signal; the score sets its direction.</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775F8B48-4EC3-C643-83F9-F1F6E034040D}"/>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503F6EFB-93C9-590F-CA7C-4FE587547770}"/>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630EEEDD-9BAA-0933-C9F9-9E52D30DF30D}"/>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27</a:t>
            </a:r>
          </a:p>
        </p:txBody>
      </p:sp>
      <p:sp>
        <p:nvSpPr>
          <p:cNvPr id="8" name="text_7">
            <a:extLst>
              <a:ext uri="{FF2B5EF4-FFF2-40B4-BE49-F238E27FC236}">
                <a16:creationId xmlns:a16="http://schemas.microsoft.com/office/drawing/2014/main" id="{AE463EEE-E528-698F-6D32-AC706FB9BBA5}"/>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IL" sz="2900">
                <a:solidFill>
                  <a:srgbClr val="2459D3"/>
                </a:solidFill>
                <a:latin typeface="Cambria Math" panose="02040503050406030204" pitchFamily="18" charset="0"/>
              </a:rPr>
              <a:t>𝔼</a:t>
            </a:r>
            <a:r>
              <a:rPr lang="en-IL" sz="2088" baseline="-22000">
                <a:solidFill>
                  <a:srgbClr val="2459D3"/>
                </a:solidFill>
                <a:latin typeface="Cambria Math" panose="02040503050406030204" pitchFamily="18" charset="0"/>
              </a:rPr>
              <a:t>a</a:t>
            </a:r>
            <a:r>
              <a:rPr lang="en-IL" sz="2900">
                <a:solidFill>
                  <a:srgbClr val="2459D3"/>
                </a:solidFill>
                <a:latin typeface="Cambria Math" panose="02040503050406030204" pitchFamily="18" charset="0"/>
              </a:rPr>
              <a:t>[b(s)∇</a:t>
            </a:r>
            <a:r>
              <a:rPr lang="el-GR" sz="2088" baseline="-22000">
                <a:solidFill>
                  <a:srgbClr val="2459D3"/>
                </a:solidFill>
                <a:latin typeface="Cambria Math" panose="02040503050406030204" pitchFamily="18" charset="0"/>
              </a:rPr>
              <a:t>θ</a:t>
            </a:r>
            <a:r>
              <a:rPr lang="el-GR" sz="2900">
                <a:solidFill>
                  <a:srgbClr val="2459D3"/>
                </a:solidFill>
                <a:latin typeface="Cambria Math" panose="02040503050406030204" pitchFamily="18" charset="0"/>
              </a:rPr>
              <a:t> </a:t>
            </a:r>
            <a:r>
              <a:rPr lang="en-IL" sz="2900">
                <a:solidFill>
                  <a:srgbClr val="2459D3"/>
                </a:solidFill>
                <a:latin typeface="Cambria Math" panose="02040503050406030204" pitchFamily="18" charset="0"/>
              </a:rPr>
              <a:t>log </a:t>
            </a:r>
            <a:r>
              <a:rPr lang="el-GR" sz="2900">
                <a:solidFill>
                  <a:srgbClr val="2459D3"/>
                </a:solidFill>
                <a:latin typeface="Cambria Math" panose="02040503050406030204" pitchFamily="18" charset="0"/>
              </a:rPr>
              <a:t>π</a:t>
            </a:r>
            <a:r>
              <a:rPr lang="el-GR" sz="2088" baseline="-22000">
                <a:solidFill>
                  <a:srgbClr val="2459D3"/>
                </a:solidFill>
                <a:latin typeface="Cambria Math" panose="02040503050406030204" pitchFamily="18" charset="0"/>
              </a:rPr>
              <a:t>θ</a:t>
            </a:r>
            <a:r>
              <a:rPr lang="el-GR" sz="2900">
                <a:solidFill>
                  <a:srgbClr val="2459D3"/>
                </a:solidFill>
                <a:latin typeface="Cambria Math" panose="02040503050406030204" pitchFamily="18" charset="0"/>
              </a:rPr>
              <a:t>(</a:t>
            </a:r>
            <a:r>
              <a:rPr lang="en-IL" sz="2900">
                <a:solidFill>
                  <a:srgbClr val="2459D3"/>
                </a:solidFill>
                <a:latin typeface="Cambria Math" panose="02040503050406030204" pitchFamily="18" charset="0"/>
              </a:rPr>
              <a:t>a|s)] = b(s)∇</a:t>
            </a:r>
            <a:r>
              <a:rPr lang="el-GR" sz="2088" baseline="-22000">
                <a:solidFill>
                  <a:srgbClr val="2459D3"/>
                </a:solidFill>
                <a:latin typeface="Cambria Math" panose="02040503050406030204" pitchFamily="18" charset="0"/>
              </a:rPr>
              <a:t>θ</a:t>
            </a:r>
            <a:r>
              <a:rPr lang="el-GR" sz="2900">
                <a:solidFill>
                  <a:srgbClr val="2459D3"/>
                </a:solidFill>
                <a:latin typeface="Cambria Math" panose="02040503050406030204" pitchFamily="18" charset="0"/>
              </a:rPr>
              <a:t> 1 = 0</a:t>
            </a:r>
            <a:endParaRPr lang="en-IL" sz="29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E690F48A-5099-DFD1-FF9A-9842122FC28B}"/>
              </a:ext>
            </a:extLst>
          </p:cNvPr>
          <p:cNvSpPr txBox="1"/>
          <p:nvPr/>
        </p:nvSpPr>
        <p:spPr>
          <a:xfrm>
            <a:off x="685800" y="3378199"/>
            <a:ext cx="10820400" cy="711200"/>
          </a:xfrm>
          <a:prstGeom prst="rect">
            <a:avLst/>
          </a:prstGeom>
          <a:noFill/>
        </p:spPr>
        <p:txBody>
          <a:bodyPr vert="horz" wrap="square" lIns="0" tIns="0" rIns="0" bIns="0" rtlCol="0" anchor="t">
            <a:noAutofit/>
          </a:bodyPr>
          <a:lstStyle/>
          <a:p>
            <a:r>
              <a:rPr lang="en-IL" sz="2900">
                <a:solidFill>
                  <a:srgbClr val="15283B"/>
                </a:solidFill>
                <a:latin typeface="Cambria Math" panose="02040503050406030204" pitchFamily="18" charset="0"/>
              </a:rPr>
              <a:t>For z ∼ Normal(</a:t>
            </a:r>
            <a:r>
              <a:rPr lang="el-GR" sz="2900">
                <a:solidFill>
                  <a:srgbClr val="15283B"/>
                </a:solidFill>
                <a:latin typeface="Cambria Math" panose="02040503050406030204" pitchFamily="18" charset="0"/>
              </a:rPr>
              <a:t>μ,σ²):   ∂ </a:t>
            </a:r>
            <a:r>
              <a:rPr lang="en-IL" sz="2900">
                <a:solidFill>
                  <a:srgbClr val="15283B"/>
                </a:solidFill>
                <a:latin typeface="Cambria Math" panose="02040503050406030204" pitchFamily="18" charset="0"/>
              </a:rPr>
              <a:t>log p(z)/∂</a:t>
            </a:r>
            <a:r>
              <a:rPr lang="el-GR" sz="2900">
                <a:solidFill>
                  <a:srgbClr val="15283B"/>
                </a:solidFill>
                <a:latin typeface="Cambria Math" panose="02040503050406030204" pitchFamily="18" charset="0"/>
              </a:rPr>
              <a:t>μ = (</a:t>
            </a:r>
            <a:r>
              <a:rPr lang="en-IL" sz="2900">
                <a:solidFill>
                  <a:srgbClr val="15283B"/>
                </a:solidFill>
                <a:latin typeface="Cambria Math" panose="02040503050406030204" pitchFamily="18" charset="0"/>
              </a:rPr>
              <a:t>z−</a:t>
            </a:r>
            <a:r>
              <a:rPr lang="el-GR" sz="2900">
                <a:solidFill>
                  <a:srgbClr val="15283B"/>
                </a:solidFill>
                <a:latin typeface="Cambria Math" panose="02040503050406030204" pitchFamily="18" charset="0"/>
              </a:rPr>
              <a:t>μ)/σ²</a:t>
            </a:r>
            <a:endParaRPr lang="en-IL" sz="29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47130E14-523E-1761-1983-9AEBCCE51671}"/>
              </a:ext>
            </a:extLst>
          </p:cNvPr>
          <p:cNvSpPr txBox="1"/>
          <p:nvPr/>
        </p:nvSpPr>
        <p:spPr>
          <a:xfrm>
            <a:off x="685800" y="4127499"/>
            <a:ext cx="10820400" cy="711200"/>
          </a:xfrm>
          <a:prstGeom prst="rect">
            <a:avLst/>
          </a:prstGeom>
          <a:noFill/>
        </p:spPr>
        <p:txBody>
          <a:bodyPr vert="horz" wrap="square" lIns="0" tIns="0" rIns="0" bIns="0" rtlCol="0" anchor="t">
            <a:noAutofit/>
          </a:bodyPr>
          <a:lstStyle/>
          <a:p>
            <a:r>
              <a:rPr lang="en-US" sz="2900">
                <a:solidFill>
                  <a:srgbClr val="15283B"/>
                </a:solidFill>
                <a:latin typeface="Cambria Math" panose="02040503050406030204" pitchFamily="18" charset="0"/>
              </a:rPr>
              <a:t>Example: z = 1, μ = 0, σ = 1, Â = 2</a:t>
            </a:r>
            <a:endParaRPr lang="en-IL" sz="2900">
              <a:solidFill>
                <a:srgbClr val="15283B"/>
              </a:solidFill>
              <a:latin typeface="Cambria Math" panose="02040503050406030204" pitchFamily="18" charset="0"/>
            </a:endParaRPr>
          </a:p>
        </p:txBody>
      </p:sp>
      <p:sp>
        <p:nvSpPr>
          <p:cNvPr id="11" name="text_10">
            <a:extLst>
              <a:ext uri="{FF2B5EF4-FFF2-40B4-BE49-F238E27FC236}">
                <a16:creationId xmlns:a16="http://schemas.microsoft.com/office/drawing/2014/main" id="{CD302B2B-A5C1-B7A3-C2F5-2197B13A25B9}"/>
              </a:ext>
            </a:extLst>
          </p:cNvPr>
          <p:cNvSpPr txBox="1"/>
          <p:nvPr/>
        </p:nvSpPr>
        <p:spPr>
          <a:xfrm>
            <a:off x="685800" y="4876799"/>
            <a:ext cx="10820400" cy="711200"/>
          </a:xfrm>
          <a:prstGeom prst="rect">
            <a:avLst/>
          </a:prstGeom>
          <a:noFill/>
        </p:spPr>
        <p:txBody>
          <a:bodyPr vert="horz" wrap="square" lIns="0" tIns="0" rIns="0" bIns="0" rtlCol="0" anchor="t">
            <a:noAutofit/>
          </a:bodyPr>
          <a:lstStyle/>
          <a:p>
            <a:r>
              <a:rPr lang="el-GR" sz="2900">
                <a:solidFill>
                  <a:srgbClr val="15283B"/>
                </a:solidFill>
                <a:latin typeface="Cambria Math" panose="02040503050406030204" pitchFamily="18" charset="0"/>
              </a:rPr>
              <a:t>η = 0.1:   μ ← 0 + 0.1 × 2 × 1 = 0.2</a:t>
            </a:r>
            <a:endParaRPr lang="en-IL" sz="2900">
              <a:solidFill>
                <a:srgbClr val="15283B"/>
              </a:solidFill>
              <a:latin typeface="Cambria Math" panose="02040503050406030204" pitchFamily="18" charset="0"/>
            </a:endParaRPr>
          </a:p>
        </p:txBody>
      </p:sp>
      <p:sp>
        <p:nvSpPr>
          <p:cNvPr id="12" name="text_11">
            <a:extLst>
              <a:ext uri="{FF2B5EF4-FFF2-40B4-BE49-F238E27FC236}">
                <a16:creationId xmlns:a16="http://schemas.microsoft.com/office/drawing/2014/main" id="{6054DC7D-68D4-8890-6C85-D900897884F4}"/>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Illustrative scalar ascent; the real network uses RMSprop.</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1081503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3780EC5C-0398-F1F6-A879-5F0603EBB8BE}"/>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D2736708-1A90-90B0-1C68-061756C12A7C}"/>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Multi-step targets and episode boundaries</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DE6699F8-5597-15D7-2446-2CAB748B0377}"/>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Continue within the episode; never bootstrap through a reset.</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FD5E6FEA-E5E5-DFCE-9841-DACD880C299A}"/>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0B6F90D1-61D3-9632-204F-6E2CA9C0AA63}"/>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8A6B5F42-6671-5536-ACA9-8D37E56A31B1}"/>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28</a:t>
            </a:r>
          </a:p>
        </p:txBody>
      </p:sp>
      <p:sp>
        <p:nvSpPr>
          <p:cNvPr id="8" name="text_7">
            <a:extLst>
              <a:ext uri="{FF2B5EF4-FFF2-40B4-BE49-F238E27FC236}">
                <a16:creationId xmlns:a16="http://schemas.microsoft.com/office/drawing/2014/main" id="{0494BCF6-0A3E-07A6-0D1F-57542D23CEF5}"/>
              </a:ext>
            </a:extLst>
          </p:cNvPr>
          <p:cNvSpPr txBox="1"/>
          <p:nvPr/>
        </p:nvSpPr>
        <p:spPr>
          <a:xfrm>
            <a:off x="685800" y="2628899"/>
            <a:ext cx="10820400" cy="711200"/>
          </a:xfrm>
          <a:prstGeom prst="rect">
            <a:avLst/>
          </a:prstGeom>
          <a:noFill/>
        </p:spPr>
        <p:txBody>
          <a:bodyPr vert="horz" wrap="square" lIns="0" tIns="0" rIns="0" bIns="0" rtlCol="0" anchor="t">
            <a:noAutofit/>
          </a:bodyPr>
          <a:lstStyle/>
          <a:p>
            <a:r>
              <a:rPr lang="en-US" sz="2900">
                <a:solidFill>
                  <a:srgbClr val="2459D3"/>
                </a:solidFill>
                <a:latin typeface="Cambria Math" panose="02040503050406030204" pitchFamily="18" charset="0"/>
              </a:rPr>
              <a:t>Three observed rewards, tail value 2:</a:t>
            </a:r>
            <a:endParaRPr lang="en-IL" sz="29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3431557D-0452-90B5-F4F7-A4A9555A8C3F}"/>
              </a:ext>
            </a:extLst>
          </p:cNvPr>
          <p:cNvSpPr txBox="1"/>
          <p:nvPr/>
        </p:nvSpPr>
        <p:spPr>
          <a:xfrm>
            <a:off x="685800" y="3378199"/>
            <a:ext cx="10820400" cy="711200"/>
          </a:xfrm>
          <a:prstGeom prst="rect">
            <a:avLst/>
          </a:prstGeom>
          <a:noFill/>
        </p:spPr>
        <p:txBody>
          <a:bodyPr vert="horz" wrap="square" lIns="0" tIns="0" rIns="0" bIns="0" rtlCol="0" anchor="t">
            <a:noAutofit/>
          </a:bodyPr>
          <a:lstStyle/>
          <a:p>
            <a:r>
              <a:rPr lang="es-ES" sz="2900">
                <a:solidFill>
                  <a:srgbClr val="15283B"/>
                </a:solidFill>
                <a:latin typeface="Cambria Math" panose="02040503050406030204" pitchFamily="18" charset="0"/>
              </a:rPr>
              <a:t>y = 1 + 0.99 + 0.99² + 0.99³ × 2 = 4.910698</a:t>
            </a:r>
            <a:endParaRPr lang="en-IL" sz="2900">
              <a:solidFill>
                <a:srgbClr val="15283B"/>
              </a:solidFill>
              <a:latin typeface="Cambria Math" panose="02040503050406030204" pitchFamily="18" charset="0"/>
            </a:endParaRPr>
          </a:p>
        </p:txBody>
      </p:sp>
      <p:sp>
        <p:nvSpPr>
          <p:cNvPr id="10" name="text_9">
            <a:extLst>
              <a:ext uri="{FF2B5EF4-FFF2-40B4-BE49-F238E27FC236}">
                <a16:creationId xmlns:a16="http://schemas.microsoft.com/office/drawing/2014/main" id="{9D70B7BD-3651-78C2-11F2-8236D34F54CF}"/>
              </a:ext>
            </a:extLst>
          </p:cNvPr>
          <p:cNvSpPr txBox="1"/>
          <p:nvPr/>
        </p:nvSpPr>
        <p:spPr>
          <a:xfrm>
            <a:off x="685800" y="4127499"/>
            <a:ext cx="10820400" cy="711200"/>
          </a:xfrm>
          <a:prstGeom prst="rect">
            <a:avLst/>
          </a:prstGeom>
          <a:noFill/>
        </p:spPr>
        <p:txBody>
          <a:bodyPr vert="horz" wrap="square" lIns="0" tIns="0" rIns="0" bIns="0" rtlCol="0" anchor="t">
            <a:noAutofit/>
          </a:bodyPr>
          <a:lstStyle/>
          <a:p>
            <a:r>
              <a:rPr lang="en-IL" sz="2900">
                <a:solidFill>
                  <a:srgbClr val="15283B"/>
                </a:solidFill>
                <a:latin typeface="Cambria Math" panose="02040503050406030204" pitchFamily="18" charset="0"/>
              </a:rPr>
              <a:t>True failure: tail = 0</a:t>
            </a:r>
          </a:p>
        </p:txBody>
      </p:sp>
      <p:sp>
        <p:nvSpPr>
          <p:cNvPr id="11" name="text_10">
            <a:extLst>
              <a:ext uri="{FF2B5EF4-FFF2-40B4-BE49-F238E27FC236}">
                <a16:creationId xmlns:a16="http://schemas.microsoft.com/office/drawing/2014/main" id="{245EB64F-795B-EA70-2C88-10876C13BCDC}"/>
              </a:ext>
            </a:extLst>
          </p:cNvPr>
          <p:cNvSpPr txBox="1"/>
          <p:nvPr/>
        </p:nvSpPr>
        <p:spPr>
          <a:xfrm>
            <a:off x="685800" y="4876799"/>
            <a:ext cx="10820400" cy="711200"/>
          </a:xfrm>
          <a:prstGeom prst="rect">
            <a:avLst/>
          </a:prstGeom>
          <a:noFill/>
        </p:spPr>
        <p:txBody>
          <a:bodyPr vert="horz" wrap="square" lIns="0" tIns="0" rIns="0" bIns="0" rtlCol="0" anchor="t">
            <a:noAutofit/>
          </a:bodyPr>
          <a:lstStyle/>
          <a:p>
            <a:r>
              <a:rPr lang="en-US" sz="2900">
                <a:solidFill>
                  <a:srgbClr val="15283B"/>
                </a:solidFill>
                <a:latin typeface="Cambria Math" panose="02040503050406030204" pitchFamily="18" charset="0"/>
              </a:rPr>
              <a:t>Time cap: tail = V(final observation), not V(reset state)</a:t>
            </a:r>
            <a:endParaRPr lang="en-IL" sz="2900">
              <a:solidFill>
                <a:srgbClr val="15283B"/>
              </a:solidFill>
              <a:latin typeface="Cambria Math" panose="02040503050406030204" pitchFamily="18" charset="0"/>
            </a:endParaRPr>
          </a:p>
        </p:txBody>
      </p:sp>
      <p:sp>
        <p:nvSpPr>
          <p:cNvPr id="12" name="text_11">
            <a:extLst>
              <a:ext uri="{FF2B5EF4-FFF2-40B4-BE49-F238E27FC236}">
                <a16:creationId xmlns:a16="http://schemas.microsoft.com/office/drawing/2014/main" id="{BE579557-62A3-BE0F-BE04-0DD52FCFC733}"/>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Longer targets use more experience and rely less on the critic.</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6491904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1D8D2CCC-C338-8D76-1D64-81D3967D43FB}"/>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AE3C6AE9-7206-A9DC-CAAD-A82C53F653FF}"/>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Bounded density and gradient separation</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4DCE89FB-6AFA-6327-33E7-0353147CF3F7}"/>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Implementation reference: fixed samples and fixed return targets.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03982C67-0CEB-12BF-AEAE-695FE010BAFE}"/>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7FEE6A2B-BEF7-E1D8-1D9F-53E3FF42E845}"/>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69094CE9-065A-A049-FE31-D4C645E23F9E}"/>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29</a:t>
            </a:r>
          </a:p>
        </p:txBody>
      </p:sp>
      <p:sp>
        <p:nvSpPr>
          <p:cNvPr id="8" name="text_7">
            <a:extLst>
              <a:ext uri="{FF2B5EF4-FFF2-40B4-BE49-F238E27FC236}">
                <a16:creationId xmlns:a16="http://schemas.microsoft.com/office/drawing/2014/main" id="{40E3B413-2550-5305-F574-AE8D3C0CA7BD}"/>
              </a:ext>
            </a:extLst>
          </p:cNvPr>
          <p:cNvSpPr txBox="1"/>
          <p:nvPr/>
        </p:nvSpPr>
        <p:spPr>
          <a:xfrm>
            <a:off x="685800" y="2628899"/>
            <a:ext cx="10820400" cy="863600"/>
          </a:xfrm>
          <a:prstGeom prst="rect">
            <a:avLst/>
          </a:prstGeom>
          <a:noFill/>
        </p:spPr>
        <p:txBody>
          <a:bodyPr vert="horz" wrap="square" lIns="0" tIns="0" rIns="0" bIns="0" rtlCol="0" anchor="t">
            <a:noAutofit/>
          </a:bodyPr>
          <a:lstStyle/>
          <a:p>
            <a:r>
              <a:rPr lang="pl-PL" sz="3200">
                <a:solidFill>
                  <a:srgbClr val="2459D3"/>
                </a:solidFill>
                <a:latin typeface="Cambria Math" panose="02040503050406030204" pitchFamily="18" charset="0"/>
              </a:rPr>
              <a:t>z ∼ Normal(μ</a:t>
            </a:r>
            <a:r>
              <a:rPr lang="pl-PL" sz="2304" baseline="-22000">
                <a:solidFill>
                  <a:srgbClr val="2459D3"/>
                </a:solidFill>
                <a:latin typeface="Cambria Math" panose="02040503050406030204" pitchFamily="18" charset="0"/>
              </a:rPr>
              <a:t>θ</a:t>
            </a:r>
            <a:r>
              <a:rPr lang="pl-PL" sz="3200">
                <a:solidFill>
                  <a:srgbClr val="2459D3"/>
                </a:solidFill>
                <a:latin typeface="Cambria Math" panose="02040503050406030204" pitchFamily="18" charset="0"/>
              </a:rPr>
              <a:t>(s),σ²);   a = 3 tanh(z)</a:t>
            </a:r>
            <a:endParaRPr lang="en-IL" sz="3200">
              <a:solidFill>
                <a:srgbClr val="2459D3"/>
              </a:solidFill>
              <a:latin typeface="Cambria Math" panose="02040503050406030204" pitchFamily="18" charset="0"/>
            </a:endParaRPr>
          </a:p>
        </p:txBody>
      </p:sp>
      <p:sp>
        <p:nvSpPr>
          <p:cNvPr id="9" name="text_8">
            <a:extLst>
              <a:ext uri="{FF2B5EF4-FFF2-40B4-BE49-F238E27FC236}">
                <a16:creationId xmlns:a16="http://schemas.microsoft.com/office/drawing/2014/main" id="{4916EB40-8772-2921-89D1-35002B594074}"/>
              </a:ext>
            </a:extLst>
          </p:cNvPr>
          <p:cNvSpPr txBox="1"/>
          <p:nvPr/>
        </p:nvSpPr>
        <p:spPr>
          <a:xfrm>
            <a:off x="685800" y="3530599"/>
            <a:ext cx="10820400" cy="825500"/>
          </a:xfrm>
          <a:prstGeom prst="rect">
            <a:avLst/>
          </a:prstGeom>
          <a:noFill/>
        </p:spPr>
        <p:txBody>
          <a:bodyPr vert="horz" wrap="square" lIns="0" tIns="0" rIns="0" bIns="0" rtlCol="0" anchor="t">
            <a:noAutofit/>
          </a:bodyPr>
          <a:lstStyle/>
          <a:p>
            <a:r>
              <a:rPr lang="en-IL" sz="2800">
                <a:solidFill>
                  <a:srgbClr val="15283B"/>
                </a:solidFill>
                <a:latin typeface="Cambria Math" panose="02040503050406030204" pitchFamily="18" charset="0"/>
              </a:rPr>
              <a:t>log </a:t>
            </a:r>
            <a:r>
              <a:rPr lang="el-GR" sz="2800">
                <a:solidFill>
                  <a:srgbClr val="15283B"/>
                </a:solidFill>
                <a:latin typeface="Cambria Math" panose="02040503050406030204" pitchFamily="18" charset="0"/>
              </a:rPr>
              <a:t>π</a:t>
            </a:r>
            <a:r>
              <a:rPr lang="el-GR" sz="2016" baseline="-22000">
                <a:solidFill>
                  <a:srgbClr val="15283B"/>
                </a:solidFill>
                <a:latin typeface="Cambria Math" panose="02040503050406030204" pitchFamily="18" charset="0"/>
              </a:rPr>
              <a:t>θ</a:t>
            </a:r>
            <a:r>
              <a:rPr lang="el-GR" sz="2800">
                <a:solidFill>
                  <a:srgbClr val="15283B"/>
                </a:solidFill>
                <a:latin typeface="Cambria Math" panose="02040503050406030204" pitchFamily="18" charset="0"/>
              </a:rPr>
              <a:t>(</a:t>
            </a:r>
            <a:r>
              <a:rPr lang="en-IL" sz="2800">
                <a:solidFill>
                  <a:srgbClr val="15283B"/>
                </a:solidFill>
                <a:latin typeface="Cambria Math" panose="02040503050406030204" pitchFamily="18" charset="0"/>
              </a:rPr>
              <a:t>a|s) = log p</a:t>
            </a:r>
            <a:r>
              <a:rPr lang="el-GR" sz="2016" baseline="-22000">
                <a:solidFill>
                  <a:srgbClr val="15283B"/>
                </a:solidFill>
                <a:latin typeface="Cambria Math" panose="02040503050406030204" pitchFamily="18" charset="0"/>
              </a:rPr>
              <a:t>θ</a:t>
            </a:r>
            <a:r>
              <a:rPr lang="el-GR" sz="2800">
                <a:solidFill>
                  <a:srgbClr val="15283B"/>
                </a:solidFill>
                <a:latin typeface="Cambria Math" panose="02040503050406030204" pitchFamily="18" charset="0"/>
              </a:rPr>
              <a:t>(</a:t>
            </a:r>
            <a:r>
              <a:rPr lang="en-IL" sz="2800">
                <a:solidFill>
                  <a:srgbClr val="15283B"/>
                </a:solidFill>
                <a:latin typeface="Cambria Math" panose="02040503050406030204" pitchFamily="18" charset="0"/>
              </a:rPr>
              <a:t>z|s) − log[3(1−tanh²z)]</a:t>
            </a:r>
          </a:p>
        </p:txBody>
      </p:sp>
      <p:sp>
        <p:nvSpPr>
          <p:cNvPr id="10" name="Rectangle: Rounded Corners 9">
            <a:extLst>
              <a:ext uri="{FF2B5EF4-FFF2-40B4-BE49-F238E27FC236}">
                <a16:creationId xmlns:a16="http://schemas.microsoft.com/office/drawing/2014/main" id="{EF95C4F1-7F27-9525-4F0A-D2A669DEFD97}"/>
              </a:ext>
            </a:extLst>
          </p:cNvPr>
          <p:cNvSpPr/>
          <p:nvPr/>
        </p:nvSpPr>
        <p:spPr>
          <a:xfrm>
            <a:off x="685800" y="4876800"/>
            <a:ext cx="32766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_10">
            <a:extLst>
              <a:ext uri="{FF2B5EF4-FFF2-40B4-BE49-F238E27FC236}">
                <a16:creationId xmlns:a16="http://schemas.microsoft.com/office/drawing/2014/main" id="{8CE652F5-2139-50EE-A6A7-5A34B6DF7343}"/>
              </a:ext>
            </a:extLst>
          </p:cNvPr>
          <p:cNvSpPr txBox="1"/>
          <p:nvPr/>
        </p:nvSpPr>
        <p:spPr>
          <a:xfrm>
            <a:off x="838200" y="4965699"/>
            <a:ext cx="29718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Fixed action sample</a:t>
            </a:r>
          </a:p>
        </p:txBody>
      </p:sp>
      <p:sp>
        <p:nvSpPr>
          <p:cNvPr id="12" name="Rectangle: Rounded Corners 11">
            <a:extLst>
              <a:ext uri="{FF2B5EF4-FFF2-40B4-BE49-F238E27FC236}">
                <a16:creationId xmlns:a16="http://schemas.microsoft.com/office/drawing/2014/main" id="{738D2875-5140-767E-DBC2-7CB613C7437B}"/>
              </a:ext>
            </a:extLst>
          </p:cNvPr>
          <p:cNvSpPr/>
          <p:nvPr/>
        </p:nvSpPr>
        <p:spPr>
          <a:xfrm>
            <a:off x="4457700" y="4876800"/>
            <a:ext cx="3276600" cy="5334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text_12">
            <a:extLst>
              <a:ext uri="{FF2B5EF4-FFF2-40B4-BE49-F238E27FC236}">
                <a16:creationId xmlns:a16="http://schemas.microsoft.com/office/drawing/2014/main" id="{86FF4D58-EE4A-F309-8FBE-C794499FC5BF}"/>
              </a:ext>
            </a:extLst>
          </p:cNvPr>
          <p:cNvSpPr txBox="1"/>
          <p:nvPr/>
        </p:nvSpPr>
        <p:spPr>
          <a:xfrm>
            <a:off x="4610100" y="4965699"/>
            <a:ext cx="2971800" cy="381000"/>
          </a:xfrm>
          <a:prstGeom prst="rect">
            <a:avLst/>
          </a:prstGeom>
          <a:noFill/>
        </p:spPr>
        <p:txBody>
          <a:bodyPr vert="horz" wrap="square" lIns="0" tIns="0" rIns="0" bIns="0" rtlCol="0" anchor="t">
            <a:noAutofit/>
          </a:bodyPr>
          <a:lstStyle/>
          <a:p>
            <a:r>
              <a:rPr lang="en-IL" sz="2400" b="1">
                <a:solidFill>
                  <a:srgbClr val="137F79"/>
                </a:solidFill>
                <a:latin typeface="Aptos" panose="020B0004020202020204" pitchFamily="34" charset="0"/>
              </a:rPr>
              <a:t>Fixed advantage</a:t>
            </a:r>
          </a:p>
        </p:txBody>
      </p:sp>
      <p:sp>
        <p:nvSpPr>
          <p:cNvPr id="14" name="Rectangle: Rounded Corners 13">
            <a:extLst>
              <a:ext uri="{FF2B5EF4-FFF2-40B4-BE49-F238E27FC236}">
                <a16:creationId xmlns:a16="http://schemas.microsoft.com/office/drawing/2014/main" id="{B2BF29A3-DC66-6326-C098-468FEA69E3E0}"/>
              </a:ext>
            </a:extLst>
          </p:cNvPr>
          <p:cNvSpPr/>
          <p:nvPr/>
        </p:nvSpPr>
        <p:spPr>
          <a:xfrm>
            <a:off x="8229600" y="4876800"/>
            <a:ext cx="3276600" cy="5334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B344731D-29B3-2E50-13CD-458D23C8C601}"/>
              </a:ext>
            </a:extLst>
          </p:cNvPr>
          <p:cNvSpPr txBox="1"/>
          <p:nvPr/>
        </p:nvSpPr>
        <p:spPr>
          <a:xfrm>
            <a:off x="8382000" y="4965699"/>
            <a:ext cx="2971800" cy="381000"/>
          </a:xfrm>
          <a:prstGeom prst="rect">
            <a:avLst/>
          </a:prstGeom>
          <a:noFill/>
        </p:spPr>
        <p:txBody>
          <a:bodyPr vert="horz" wrap="square" lIns="0" tIns="0" rIns="0" bIns="0" rtlCol="0" anchor="t">
            <a:noAutofit/>
          </a:bodyPr>
          <a:lstStyle/>
          <a:p>
            <a:r>
              <a:rPr lang="en-IL" sz="2400" b="1">
                <a:solidFill>
                  <a:srgbClr val="2459D3"/>
                </a:solidFill>
                <a:latin typeface="Aptos" panose="020B0004020202020204" pitchFamily="34" charset="0"/>
              </a:rPr>
              <a:t>Fixed return target</a:t>
            </a:r>
          </a:p>
        </p:txBody>
      </p:sp>
      <p:sp>
        <p:nvSpPr>
          <p:cNvPr id="16" name="text_15">
            <a:extLst>
              <a:ext uri="{FF2B5EF4-FFF2-40B4-BE49-F238E27FC236}">
                <a16:creationId xmlns:a16="http://schemas.microsoft.com/office/drawing/2014/main" id="{7D5DFA2A-9A73-BDD9-4C16-524AF082182B}"/>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Specific action transformation belongs here, not on the introductory slide.</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482437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7F9FC"/>
        </a:solidFill>
        <a:effectLst/>
      </p:bgPr>
    </p:bg>
    <p:spTree>
      <p:nvGrpSpPr>
        <p:cNvPr id="1" name=""/>
        <p:cNvGrpSpPr/>
        <p:nvPr/>
      </p:nvGrpSpPr>
      <p:grpSpPr>
        <a:xfrm>
          <a:off x="0" y="0"/>
          <a:ext cx="0" cy="0"/>
          <a:chOff x="0" y="0"/>
          <a:chExt cx="0" cy="0"/>
        </a:xfrm>
      </p:grpSpPr>
      <p:sp>
        <p:nvSpPr>
          <p:cNvPr id="2" name="text_1">
            <a:extLst>
              <a:ext uri="{FF2B5EF4-FFF2-40B4-BE49-F238E27FC236}">
                <a16:creationId xmlns:a16="http://schemas.microsoft.com/office/drawing/2014/main" id="{DC11B4BB-567D-675F-5688-A4811BFE48D2}"/>
              </a:ext>
            </a:extLst>
          </p:cNvPr>
          <p:cNvSpPr txBox="1"/>
          <p:nvPr/>
        </p:nvSpPr>
        <p:spPr>
          <a:xfrm>
            <a:off x="685800" y="330199"/>
            <a:ext cx="10820400" cy="304800"/>
          </a:xfrm>
          <a:prstGeom prst="rect">
            <a:avLst/>
          </a:prstGeom>
          <a:noFill/>
        </p:spPr>
        <p:txBody>
          <a:bodyPr vert="horz" wrap="square" lIns="0" tIns="0" rIns="0" bIns="0" rtlCol="0" anchor="t">
            <a:noAutofit/>
          </a:bodyPr>
          <a:lstStyle/>
          <a:p>
            <a:r>
              <a:rPr lang="en-IL" sz="1600" b="1">
                <a:solidFill>
                  <a:srgbClr val="137F79"/>
                </a:solidFill>
                <a:latin typeface="Aptos" panose="020B0004020202020204" pitchFamily="34" charset="0"/>
              </a:rPr>
              <a:t>OPTIONAL / DEEPER DISCUSSION</a:t>
            </a:r>
          </a:p>
        </p:txBody>
      </p:sp>
      <p:sp>
        <p:nvSpPr>
          <p:cNvPr id="3" name="text_2">
            <a:extLst>
              <a:ext uri="{FF2B5EF4-FFF2-40B4-BE49-F238E27FC236}">
                <a16:creationId xmlns:a16="http://schemas.microsoft.com/office/drawing/2014/main" id="{09618AFB-A45C-C20F-3F54-C73C43F2A124}"/>
              </a:ext>
            </a:extLst>
          </p:cNvPr>
          <p:cNvSpPr txBox="1"/>
          <p:nvPr/>
        </p:nvSpPr>
        <p:spPr>
          <a:xfrm>
            <a:off x="685800" y="812799"/>
            <a:ext cx="10820400" cy="762000"/>
          </a:xfrm>
          <a:prstGeom prst="rect">
            <a:avLst/>
          </a:prstGeom>
          <a:noFill/>
        </p:spPr>
        <p:txBody>
          <a:bodyPr vert="horz" wrap="square" lIns="0" tIns="0" rIns="0" bIns="0" rtlCol="0" anchor="t">
            <a:noAutofit/>
          </a:bodyPr>
          <a:lstStyle/>
          <a:p>
            <a:r>
              <a:rPr lang="en-US" sz="4000" b="1">
                <a:solidFill>
                  <a:srgbClr val="15283B"/>
                </a:solidFill>
                <a:latin typeface="Aptos" panose="020B0004020202020204" pitchFamily="34" charset="0"/>
              </a:rPr>
              <a:t>A2C, PPO, and SAC in context</a:t>
            </a:r>
            <a:endParaRPr lang="en-IL" sz="4000" b="1">
              <a:solidFill>
                <a:srgbClr val="15283B"/>
              </a:solidFill>
              <a:latin typeface="Aptos" panose="020B0004020202020204" pitchFamily="34" charset="0"/>
            </a:endParaRPr>
          </a:p>
        </p:txBody>
      </p:sp>
      <p:sp>
        <p:nvSpPr>
          <p:cNvPr id="4" name="text_3">
            <a:extLst>
              <a:ext uri="{FF2B5EF4-FFF2-40B4-BE49-F238E27FC236}">
                <a16:creationId xmlns:a16="http://schemas.microsoft.com/office/drawing/2014/main" id="{37E3695D-2834-B8C8-9BB6-0C90C5B0705B}"/>
              </a:ext>
            </a:extLst>
          </p:cNvPr>
          <p:cNvSpPr txBox="1"/>
          <p:nvPr/>
        </p:nvSpPr>
        <p:spPr>
          <a:xfrm>
            <a:off x="685800" y="1574799"/>
            <a:ext cx="10820400" cy="812800"/>
          </a:xfrm>
          <a:prstGeom prst="rect">
            <a:avLst/>
          </a:prstGeom>
          <a:noFill/>
        </p:spPr>
        <p:txBody>
          <a:bodyPr vert="horz" wrap="square" lIns="0" tIns="0" rIns="0" bIns="0" rtlCol="0" anchor="t">
            <a:noAutofit/>
          </a:bodyPr>
          <a:lstStyle/>
          <a:p>
            <a:r>
              <a:rPr lang="en-US" sz="2600">
                <a:solidFill>
                  <a:srgbClr val="526477"/>
                </a:solidFill>
                <a:latin typeface="Aptos" panose="020B0004020202020204" pitchFamily="34" charset="0"/>
              </a:rPr>
              <a:t>Different update mechanisms; shared actor–critic ideas.</a:t>
            </a:r>
            <a:endParaRPr lang="en-IL" sz="2600">
              <a:solidFill>
                <a:srgbClr val="526477"/>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887A6098-A1EB-0E80-2497-41EE929B49D4}"/>
              </a:ext>
            </a:extLst>
          </p:cNvPr>
          <p:cNvCxnSpPr/>
          <p:nvPr/>
        </p:nvCxnSpPr>
        <p:spPr>
          <a:xfrm>
            <a:off x="685800" y="6273800"/>
            <a:ext cx="10820400" cy="0"/>
          </a:xfrm>
          <a:prstGeom prst="line">
            <a:avLst/>
          </a:prstGeom>
          <a:ln w="27940">
            <a:solidFill>
              <a:srgbClr val="D7E0E9"/>
            </a:solidFill>
          </a:ln>
        </p:spPr>
        <p:style>
          <a:lnRef idx="2">
            <a:schemeClr val="accent1"/>
          </a:lnRef>
          <a:fillRef idx="0">
            <a:schemeClr val="accent1"/>
          </a:fillRef>
          <a:effectRef idx="1">
            <a:schemeClr val="accent1"/>
          </a:effectRef>
          <a:fontRef idx="minor">
            <a:schemeClr val="tx1"/>
          </a:fontRef>
        </p:style>
      </p:cxnSp>
      <p:sp>
        <p:nvSpPr>
          <p:cNvPr id="6" name="text_5">
            <a:extLst>
              <a:ext uri="{FF2B5EF4-FFF2-40B4-BE49-F238E27FC236}">
                <a16:creationId xmlns:a16="http://schemas.microsoft.com/office/drawing/2014/main" id="{9FE2583F-F615-D048-F37E-FC29327660DF}"/>
              </a:ext>
            </a:extLst>
          </p:cNvPr>
          <p:cNvSpPr txBox="1"/>
          <p:nvPr/>
        </p:nvSpPr>
        <p:spPr>
          <a:xfrm>
            <a:off x="685800" y="6400799"/>
            <a:ext cx="8382000" cy="304800"/>
          </a:xfrm>
          <a:prstGeom prst="rect">
            <a:avLst/>
          </a:prstGeom>
          <a:noFill/>
        </p:spPr>
        <p:txBody>
          <a:bodyPr vert="horz" wrap="square" lIns="0" tIns="0" rIns="0" bIns="0" rtlCol="0" anchor="t">
            <a:noAutofit/>
          </a:bodyPr>
          <a:lstStyle/>
          <a:p>
            <a:r>
              <a:rPr lang="en-US" sz="1600">
                <a:solidFill>
                  <a:srgbClr val="526477"/>
                </a:solidFill>
                <a:latin typeface="Aptos" panose="020B0004020202020204" pitchFamily="34" charset="0"/>
              </a:rPr>
              <a:t>Robotics &amp; Autonomous Systems · Learning from reward feedback</a:t>
            </a:r>
            <a:endParaRPr lang="en-IL" sz="1600">
              <a:solidFill>
                <a:srgbClr val="526477"/>
              </a:solidFill>
              <a:latin typeface="Aptos" panose="020B0004020202020204" pitchFamily="34" charset="0"/>
            </a:endParaRPr>
          </a:p>
        </p:txBody>
      </p:sp>
      <p:sp>
        <p:nvSpPr>
          <p:cNvPr id="7" name="text_6">
            <a:extLst>
              <a:ext uri="{FF2B5EF4-FFF2-40B4-BE49-F238E27FC236}">
                <a16:creationId xmlns:a16="http://schemas.microsoft.com/office/drawing/2014/main" id="{97248C1B-83B5-5E2F-24B3-2675538E86B7}"/>
              </a:ext>
            </a:extLst>
          </p:cNvPr>
          <p:cNvSpPr txBox="1"/>
          <p:nvPr/>
        </p:nvSpPr>
        <p:spPr>
          <a:xfrm>
            <a:off x="10617200" y="6400799"/>
            <a:ext cx="889000" cy="304800"/>
          </a:xfrm>
          <a:prstGeom prst="rect">
            <a:avLst/>
          </a:prstGeom>
          <a:noFill/>
        </p:spPr>
        <p:txBody>
          <a:bodyPr vert="horz" wrap="square" lIns="0" tIns="0" rIns="0" bIns="0" rtlCol="0" anchor="t">
            <a:noAutofit/>
          </a:bodyPr>
          <a:lstStyle/>
          <a:p>
            <a:pPr algn="r"/>
            <a:r>
              <a:rPr lang="en-IL" sz="1600">
                <a:solidFill>
                  <a:srgbClr val="526477"/>
                </a:solidFill>
                <a:latin typeface="Aptos" panose="020B0004020202020204" pitchFamily="34" charset="0"/>
              </a:rPr>
              <a:t>30</a:t>
            </a:r>
          </a:p>
        </p:txBody>
      </p:sp>
      <p:sp>
        <p:nvSpPr>
          <p:cNvPr id="8" name="Rectangle: Rounded Corners 7">
            <a:extLst>
              <a:ext uri="{FF2B5EF4-FFF2-40B4-BE49-F238E27FC236}">
                <a16:creationId xmlns:a16="http://schemas.microsoft.com/office/drawing/2014/main" id="{5C971E53-B80A-FBB9-44A5-4C2CF0B65935}"/>
              </a:ext>
            </a:extLst>
          </p:cNvPr>
          <p:cNvSpPr/>
          <p:nvPr/>
        </p:nvSpPr>
        <p:spPr>
          <a:xfrm>
            <a:off x="685800" y="2679700"/>
            <a:ext cx="3454400" cy="2832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9" name="text_8">
            <a:extLst>
              <a:ext uri="{FF2B5EF4-FFF2-40B4-BE49-F238E27FC236}">
                <a16:creationId xmlns:a16="http://schemas.microsoft.com/office/drawing/2014/main" id="{597D64AD-0647-A591-49F4-5DE44C79F525}"/>
              </a:ext>
            </a:extLst>
          </p:cNvPr>
          <p:cNvSpPr txBox="1"/>
          <p:nvPr/>
        </p:nvSpPr>
        <p:spPr>
          <a:xfrm>
            <a:off x="889000" y="2832099"/>
            <a:ext cx="3048000" cy="8255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A2C · this demo</a:t>
            </a:r>
          </a:p>
        </p:txBody>
      </p:sp>
      <p:sp>
        <p:nvSpPr>
          <p:cNvPr id="10" name="text_9">
            <a:extLst>
              <a:ext uri="{FF2B5EF4-FFF2-40B4-BE49-F238E27FC236}">
                <a16:creationId xmlns:a16="http://schemas.microsoft.com/office/drawing/2014/main" id="{85336358-B0BC-6483-AEA0-1A0217142410}"/>
              </a:ext>
            </a:extLst>
          </p:cNvPr>
          <p:cNvSpPr txBox="1"/>
          <p:nvPr/>
        </p:nvSpPr>
        <p:spPr>
          <a:xfrm>
            <a:off x="889000" y="3657599"/>
            <a:ext cx="3048000" cy="1803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Fresh rollouts
V critic
One batch update</a:t>
            </a:r>
            <a:endParaRPr lang="en-IL" sz="2400">
              <a:solidFill>
                <a:srgbClr val="15283B"/>
              </a:solidFill>
              <a:latin typeface="Aptos" panose="020B0004020202020204" pitchFamily="34" charset="0"/>
            </a:endParaRPr>
          </a:p>
        </p:txBody>
      </p:sp>
      <p:sp>
        <p:nvSpPr>
          <p:cNvPr id="11" name="Rectangle: Rounded Corners 10">
            <a:extLst>
              <a:ext uri="{FF2B5EF4-FFF2-40B4-BE49-F238E27FC236}">
                <a16:creationId xmlns:a16="http://schemas.microsoft.com/office/drawing/2014/main" id="{2DC81EAC-B715-7DCF-1A07-9FB23D9C263E}"/>
              </a:ext>
            </a:extLst>
          </p:cNvPr>
          <p:cNvSpPr/>
          <p:nvPr/>
        </p:nvSpPr>
        <p:spPr>
          <a:xfrm>
            <a:off x="4368800" y="2679700"/>
            <a:ext cx="3454400" cy="2832100"/>
          </a:xfrm>
          <a:prstGeom prst="roundRect">
            <a:avLst>
              <a:gd name="adj" fmla="val 9000"/>
            </a:avLst>
          </a:prstGeom>
          <a:solidFill>
            <a:srgbClr val="E5F3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text_11">
            <a:extLst>
              <a:ext uri="{FF2B5EF4-FFF2-40B4-BE49-F238E27FC236}">
                <a16:creationId xmlns:a16="http://schemas.microsoft.com/office/drawing/2014/main" id="{0A5E0DC9-B428-6095-BC75-F367C71D18CE}"/>
              </a:ext>
            </a:extLst>
          </p:cNvPr>
          <p:cNvSpPr txBox="1"/>
          <p:nvPr/>
        </p:nvSpPr>
        <p:spPr>
          <a:xfrm>
            <a:off x="4572000" y="2832099"/>
            <a:ext cx="3048000" cy="8255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PPO · overview</a:t>
            </a:r>
          </a:p>
        </p:txBody>
      </p:sp>
      <p:sp>
        <p:nvSpPr>
          <p:cNvPr id="13" name="text_12">
            <a:extLst>
              <a:ext uri="{FF2B5EF4-FFF2-40B4-BE49-F238E27FC236}">
                <a16:creationId xmlns:a16="http://schemas.microsoft.com/office/drawing/2014/main" id="{AE30A5D2-7C90-F4A0-4CA5-E50ED3AD730C}"/>
              </a:ext>
            </a:extLst>
          </p:cNvPr>
          <p:cNvSpPr txBox="1"/>
          <p:nvPr/>
        </p:nvSpPr>
        <p:spPr>
          <a:xfrm>
            <a:off x="4572000" y="3657599"/>
            <a:ext cx="3048000" cy="1803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Rollout minibatches
V critic
Clipped objective</a:t>
            </a:r>
            <a:endParaRPr lang="en-IL" sz="2400">
              <a:solidFill>
                <a:srgbClr val="15283B"/>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7F689C7F-C11E-80DE-B5D9-1ED9B8090BF1}"/>
              </a:ext>
            </a:extLst>
          </p:cNvPr>
          <p:cNvSpPr/>
          <p:nvPr/>
        </p:nvSpPr>
        <p:spPr>
          <a:xfrm>
            <a:off x="8051800" y="2679700"/>
            <a:ext cx="3454400" cy="2832100"/>
          </a:xfrm>
          <a:prstGeom prst="roundRect">
            <a:avLst>
              <a:gd name="adj" fmla="val 9000"/>
            </a:avLst>
          </a:prstGeom>
          <a:solidFill>
            <a:srgbClr val="EAF0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5" name="text_14">
            <a:extLst>
              <a:ext uri="{FF2B5EF4-FFF2-40B4-BE49-F238E27FC236}">
                <a16:creationId xmlns:a16="http://schemas.microsoft.com/office/drawing/2014/main" id="{20D70F9A-06F1-1C90-11F2-7FBBC9465BAF}"/>
              </a:ext>
            </a:extLst>
          </p:cNvPr>
          <p:cNvSpPr txBox="1"/>
          <p:nvPr/>
        </p:nvSpPr>
        <p:spPr>
          <a:xfrm>
            <a:off x="8255000" y="2832099"/>
            <a:ext cx="3048000" cy="825500"/>
          </a:xfrm>
          <a:prstGeom prst="rect">
            <a:avLst/>
          </a:prstGeom>
          <a:noFill/>
        </p:spPr>
        <p:txBody>
          <a:bodyPr vert="horz" wrap="square" lIns="0" tIns="0" rIns="0" bIns="0" rtlCol="0" anchor="t">
            <a:noAutofit/>
          </a:bodyPr>
          <a:lstStyle/>
          <a:p>
            <a:r>
              <a:rPr lang="en-IL" sz="2600" b="1">
                <a:solidFill>
                  <a:srgbClr val="2459D3"/>
                </a:solidFill>
                <a:latin typeface="Aptos" panose="020B0004020202020204" pitchFamily="34" charset="0"/>
              </a:rPr>
              <a:t>SAC · overview</a:t>
            </a:r>
          </a:p>
        </p:txBody>
      </p:sp>
      <p:sp>
        <p:nvSpPr>
          <p:cNvPr id="16" name="text_15">
            <a:extLst>
              <a:ext uri="{FF2B5EF4-FFF2-40B4-BE49-F238E27FC236}">
                <a16:creationId xmlns:a16="http://schemas.microsoft.com/office/drawing/2014/main" id="{2E852B36-D03F-4B27-6F49-D08795283203}"/>
              </a:ext>
            </a:extLst>
          </p:cNvPr>
          <p:cNvSpPr txBox="1"/>
          <p:nvPr/>
        </p:nvSpPr>
        <p:spPr>
          <a:xfrm>
            <a:off x="8255000" y="3657599"/>
            <a:ext cx="3048000" cy="1803400"/>
          </a:xfrm>
          <a:prstGeom prst="rect">
            <a:avLst/>
          </a:prstGeom>
          <a:noFill/>
        </p:spPr>
        <p:txBody>
          <a:bodyPr vert="horz" wrap="square" lIns="0" tIns="0" rIns="0" bIns="0" rtlCol="0" anchor="t">
            <a:noAutofit/>
          </a:bodyPr>
          <a:lstStyle/>
          <a:p>
            <a:r>
              <a:rPr lang="en-US" sz="2400">
                <a:solidFill>
                  <a:srgbClr val="15283B"/>
                </a:solidFill>
                <a:latin typeface="Aptos" panose="020B0004020202020204" pitchFamily="34" charset="0"/>
              </a:rPr>
              <a:t>Replay data
Twin Q critics
Entropy objective</a:t>
            </a:r>
            <a:endParaRPr lang="en-IL" sz="2400">
              <a:solidFill>
                <a:srgbClr val="15283B"/>
              </a:solidFill>
              <a:latin typeface="Aptos" panose="020B0004020202020204" pitchFamily="34" charset="0"/>
            </a:endParaRPr>
          </a:p>
        </p:txBody>
      </p:sp>
      <p:sp>
        <p:nvSpPr>
          <p:cNvPr id="17" name="text_16">
            <a:extLst>
              <a:ext uri="{FF2B5EF4-FFF2-40B4-BE49-F238E27FC236}">
                <a16:creationId xmlns:a16="http://schemas.microsoft.com/office/drawing/2014/main" id="{04F018A1-3A12-2674-8CA6-0062EB1B903D}"/>
              </a:ext>
            </a:extLst>
          </p:cNvPr>
          <p:cNvSpPr txBox="1"/>
          <p:nvPr/>
        </p:nvSpPr>
        <p:spPr>
          <a:xfrm>
            <a:off x="685800" y="5778499"/>
            <a:ext cx="10820400" cy="495300"/>
          </a:xfrm>
          <a:prstGeom prst="rect">
            <a:avLst/>
          </a:prstGeom>
          <a:noFill/>
        </p:spPr>
        <p:txBody>
          <a:bodyPr vert="horz" wrap="square" lIns="0" tIns="0" rIns="0" bIns="0" rtlCol="0" anchor="t">
            <a:noAutofit/>
          </a:bodyPr>
          <a:lstStyle/>
          <a:p>
            <a:r>
              <a:rPr lang="en-US" sz="2400" b="1">
                <a:solidFill>
                  <a:srgbClr val="526477"/>
                </a:solidFill>
                <a:latin typeface="Aptos" panose="020B0004020202020204" pitchFamily="34" charset="0"/>
              </a:rPr>
              <a:t>Only A2C is implemented in this week's demo.</a:t>
            </a:r>
            <a:endParaRPr lang="en-IL" sz="2400" b="1">
              <a:solidFill>
                <a:srgbClr val="526477"/>
              </a:solidFill>
              <a:latin typeface="Aptos" panose="020B0004020202020204" pitchFamily="34" charset="0"/>
            </a:endParaRPr>
          </a:p>
        </p:txBody>
      </p:sp>
    </p:spTree>
    <p:extLst>
      <p:ext uri="{BB962C8B-B14F-4D97-AF65-F5344CB8AC3E}">
        <p14:creationId xmlns:p14="http://schemas.microsoft.com/office/powerpoint/2010/main" val="19459410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8493</Words>
  <Application>Microsoft Office PowerPoint</Application>
  <PresentationFormat>Custom</PresentationFormat>
  <Paragraphs>521</Paragraphs>
  <Slides>30</Slides>
  <Notes>30</Notes>
  <HiddenSlides>5</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גלעד ליפשיץ</dc:creator>
  <cp:lastModifiedBy>גלעד ליפשיץ</cp:lastModifiedBy>
  <cp:revision>1</cp:revision>
  <dcterms:created xsi:type="dcterms:W3CDTF">2026-10-05T08:44:46Z</dcterms:created>
  <dcterms:modified xsi:type="dcterms:W3CDTF">2026-10-05T08:44:47Z</dcterms:modified>
</cp:coreProperties>
</file>