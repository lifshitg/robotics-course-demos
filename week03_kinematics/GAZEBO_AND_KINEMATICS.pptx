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94B56A-31EF-4F7C-8153-7C1DB89CDDA0}" type="datetimeFigureOut">
              <a:rPr lang="en-IL" smtClean="0"/>
              <a:t>04/10/2026</a:t>
            </a:fld>
            <a:endParaRPr lang="en-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7A332C-30D2-4840-80F7-0F8DF3C0061B}" type="slidenum">
              <a:rPr lang="en-IL" smtClean="0"/>
              <a:t>‹#›</a:t>
            </a:fld>
            <a:endParaRPr lang="en-IL"/>
          </a:p>
        </p:txBody>
      </p:sp>
    </p:spTree>
    <p:extLst>
      <p:ext uri="{BB962C8B-B14F-4D97-AF65-F5344CB8AC3E}">
        <p14:creationId xmlns:p14="http://schemas.microsoft.com/office/powerpoint/2010/main" val="39649595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0 minutes. </a:t>
            </a:r>
          </a:p>
          <a:p>
            <a:endParaRPr lang="en-US">
              <a:latin typeface="Aptos" panose="020B0004020202020204" pitchFamily="34" charset="0"/>
            </a:endParaRPr>
          </a:p>
          <a:p>
            <a:r>
              <a:rPr lang="en-US">
                <a:latin typeface="Aptos" panose="020B0004020202020204" pitchFamily="34" charset="0"/>
              </a:rPr>
              <a:t>Untimed title. Gazebo is the main subject; kinematics is the practice task. Audience has used ROS topics and tf2 in Weeks 1 and 2 and knows Python. Explain for 20 minutes, then run the existing 25-minute demo: 8 interface/model/joints, 10 target and IK branches, 7 unreachable target and checkpoint. Four hidden backups are untimed. We incorporate the former five-minute recap into the workflow and frame sketch rather than adding it to the schedule. Gazebo Harmonic (Gazebo Sim 8), ROS 2 Jazzy. All twelve existing Week 3 files were read, including the labelled SVG screenshot. Existing demo and teaching notes remain unchanged. No separate professor Week 3 lecture was supplied; TA_plan.md Session 3 is the course connection. Keep the slides brief; use notes for technical detail.</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https://gazebosim.org/docs/harmonic/getstarted/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8C7A332C-30D2-4840-80F7-0F8DF3C0061B}" type="slidenum">
              <a:rPr lang="en-IL" smtClean="0"/>
              <a:t>1</a:t>
            </a:fld>
            <a:endParaRPr lang="en-IL"/>
          </a:p>
        </p:txBody>
      </p:sp>
    </p:spTree>
    <p:extLst>
      <p:ext uri="{BB962C8B-B14F-4D97-AF65-F5344CB8AC3E}">
        <p14:creationId xmlns:p14="http://schemas.microsoft.com/office/powerpoint/2010/main" val="41501263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 </a:t>
            </a:r>
          </a:p>
          <a:p>
            <a:endParaRPr lang="en-US">
              <a:latin typeface="Aptos" panose="020B0004020202020204" pitchFamily="34" charset="0"/>
            </a:endParaRPr>
          </a:p>
          <a:p>
            <a:r>
              <a:rPr lang="en-US">
                <a:latin typeface="Aptos" panose="020B0004020202020204" pitchFamily="34" charset="0"/>
              </a:rPr>
              <a:t>Visual: the existing real screenshot of the planar_arm demo beside world/model/physics/time labels. The screenshot illustrates a bent pose; a fresh launch starts at zero angles. Gazebo runs a world containing robot models, environment, physics and optional simulated sensors. It numerically advances modeled state in time steps, such as positions and velocities; controllers and sensors can operate on that state. Rendering helps us inspect what happens but is not the physics computation itself: headless simulation still runs. Our world has ground and light, a fixed-base arm and joint feedback. Gazebo supports cameras and other sensors, but this demo has no camera sensor. The GUI camera merely changes the viewpoint. Kinematics predicts geometry for given joint angles; simulation also produces the time evolution under the configured controllers and physics. Do not equate a visual 3D robot model with a complete realistic model of hardware.</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https://gazebosim.org/docs/harmonic/getstarted/</a:t>
            </a:r>
          </a:p>
          <a:p>
            <a:r>
              <a:rPr lang="en-US">
                <a:latin typeface="Aptos" panose="020B0004020202020204" pitchFamily="34" charset="0"/>
              </a:rPr>
              <a:t>https://gazebosim.org/docs/harmonic/sdf_worlds/</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8C7A332C-30D2-4840-80F7-0F8DF3C0061B}" type="slidenum">
              <a:rPr lang="en-IL" smtClean="0"/>
              <a:t>2</a:t>
            </a:fld>
            <a:endParaRPr lang="en-IL"/>
          </a:p>
        </p:txBody>
      </p:sp>
    </p:spTree>
    <p:extLst>
      <p:ext uri="{BB962C8B-B14F-4D97-AF65-F5344CB8AC3E}">
        <p14:creationId xmlns:p14="http://schemas.microsoft.com/office/powerpoint/2010/main" val="1180951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2 minutes. </a:t>
            </a:r>
          </a:p>
          <a:p>
            <a:endParaRPr lang="en-US">
              <a:latin typeface="Aptos" panose="020B0004020202020204" pitchFamily="34" charset="0"/>
            </a:endParaRPr>
          </a:p>
          <a:p>
            <a:r>
              <a:rPr lang="en-US">
                <a:latin typeface="Aptos" panose="020B0004020202020204" pitchFamily="34" charset="0"/>
              </a:rPr>
              <a:t>Visual: four benefit cards: develop before hardware, repeat a setup, try commands, inspect measurements. Simulation lets us develop robot software before hardware is ready and compare experiments from a known initial configuration. A virtual robot can exercise software and command choices without moving a physical robot. We can inspect modeled joints, frames and time more easily than many real systems. This supports HW1 and mathematical HW3 exercises. Explain the limits with one sentence: results depend on geometry, mass/inertia, contact, actuator and sensor models, so verify later on hardware. Avoid claiming simulation guarantees safety or perfectly reproduces reality. For reproducibility in this demo, use the documented full restart; the GUI reset alone does not restart ROS nodes or guarantee controller targets/history are cleared. Repeated runs may vary numerically; compare within appropriate tolerances rather than expecting bitwise identical output.</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https://gazebosim.org/docs/harmonic/getstarted/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8C7A332C-30D2-4840-80F7-0F8DF3C0061B}" type="slidenum">
              <a:rPr lang="en-IL" smtClean="0"/>
              <a:t>3</a:t>
            </a:fld>
            <a:endParaRPr lang="en-IL"/>
          </a:p>
        </p:txBody>
      </p:sp>
    </p:spTree>
    <p:extLst>
      <p:ext uri="{BB962C8B-B14F-4D97-AF65-F5344CB8AC3E}">
        <p14:creationId xmlns:p14="http://schemas.microsoft.com/office/powerpoint/2010/main" val="31814111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 </a:t>
            </a:r>
          </a:p>
          <a:p>
            <a:endParaRPr lang="en-US">
              <a:latin typeface="Aptos" panose="020B0004020202020204" pitchFamily="34" charset="0"/>
            </a:endParaRPr>
          </a:p>
          <a:p>
            <a:r>
              <a:rPr lang="en-US">
                <a:latin typeface="Aptos" panose="020B0004020202020204" pitchFamily="34" charset="0"/>
              </a:rPr>
              <a:t>Visual: ROS integration, configurable models, reusable systems, GUI/headless cards. ros_gz provides ROS launch/model spawning and a message bridge. URDF expresses our robot; SDF expresses its world; YAML defines the topic mapping; gui.config prepares the view. Existing Gazebo systems provide physics, spawning, rendering updates, joint control and joint measurements. We configure them rather than write a simulator. GUI helps students see the robot, while headless mode supports preparation and automated checks. The launch file orchestrates these pieces in one command and resolves local model paths; this demo needs no package build or external model download. This makes Gazebo useful for our lesson, not universally the simplest simulator or a claim that ROS and Gazebo automatically share all messages. Supported bridge message types, explicit mapping and consistent runtime settings still matter. Use Harmonic-specific commands rather than Gazebo Classic instructions.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https://gazebosim.org/docs/harmonic/ros2_integration/</a:t>
            </a:r>
          </a:p>
          <a:p>
            <a:r>
              <a:rPr lang="en-US">
                <a:latin typeface="Aptos" panose="020B0004020202020204" pitchFamily="34" charset="0"/>
              </a:rPr>
              <a:t>https://gazebosim.org/docs/harmonic/sdf_worlds/</a:t>
            </a:r>
          </a:p>
          <a:p>
            <a:r>
              <a:rPr lang="en-US">
                <a:latin typeface="Aptos" panose="020B0004020202020204" pitchFamily="34" charset="0"/>
              </a:rPr>
              <a:t>https://gazebosim.org/docs/harmonic/spawn_urdf/</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8C7A332C-30D2-4840-80F7-0F8DF3C0061B}" type="slidenum">
              <a:rPr lang="en-IL" smtClean="0"/>
              <a:t>4</a:t>
            </a:fld>
            <a:endParaRPr lang="en-IL"/>
          </a:p>
        </p:txBody>
      </p:sp>
    </p:spTree>
    <p:extLst>
      <p:ext uri="{BB962C8B-B14F-4D97-AF65-F5344CB8AC3E}">
        <p14:creationId xmlns:p14="http://schemas.microsoft.com/office/powerpoint/2010/main" val="37371681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 </a:t>
            </a:r>
          </a:p>
          <a:p>
            <a:endParaRPr lang="en-US">
              <a:latin typeface="Aptos" panose="020B0004020202020204" pitchFamily="34" charset="0"/>
            </a:endParaRPr>
          </a:p>
          <a:p>
            <a:r>
              <a:rPr lang="en-US">
                <a:latin typeface="Aptos" panose="020B0004020202020204" pitchFamily="34" charset="0"/>
              </a:rPr>
              <a:t>Visual: three cards joined by labelled data arrows. Gazebo computes simulated motion and measurements. ROS nodes communicate and run application logic, such as analytical IK and command validation. RViz visualizes ROS data including frames and robot state; it does not run the Gazebo physics simulation. RViz is optional and is not launched by our Week 3 demo. A Gazebo model is not automatically a ROS node. Our bridge translates between ROS 2 topics and Gazebo Transport messages. robot_state_publisher combines the URDF with measured JointState angles to publish TF; it neither controls the robot nor solves IK. Students can inspect this data using ROS CLI and tf2_echo without RViz. Reuse Week 1 typed communication and Week 2 frames as reminders here, avoiding a separate lengthy recap.</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https://gazebosim.org/docs/harmonic/ros2_integration/</a:t>
            </a:r>
          </a:p>
          <a:p>
            <a:r>
              <a:rPr lang="en-US">
                <a:latin typeface="Aptos" panose="020B0004020202020204" pitchFamily="34" charset="0"/>
              </a:rPr>
              <a:t>https://github.com/ros/robot_state_publisher/blob/jazzy/README.md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8C7A332C-30D2-4840-80F7-0F8DF3C0061B}" type="slidenum">
              <a:rPr lang="en-IL" smtClean="0"/>
              <a:t>5</a:t>
            </a:fld>
            <a:endParaRPr lang="en-IL"/>
          </a:p>
        </p:txBody>
      </p:sp>
    </p:spTree>
    <p:extLst>
      <p:ext uri="{BB962C8B-B14F-4D97-AF65-F5344CB8AC3E}">
        <p14:creationId xmlns:p14="http://schemas.microsoft.com/office/powerpoint/2010/main" val="6386022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L">
                <a:latin typeface="Aptos" panose="020B0004020202020204" pitchFamily="34" charset="0"/>
              </a:rPr>
              <a:t>Timing: 2.5 minutes. </a:t>
            </a:r>
          </a:p>
          <a:p>
            <a:endParaRPr lang="en-IL">
              <a:latin typeface="Aptos" panose="020B0004020202020204" pitchFamily="34" charset="0"/>
            </a:endParaRPr>
          </a:p>
          <a:p>
            <a:r>
              <a:rPr lang="en-IL">
                <a:latin typeface="Aptos" panose="020B0004020202020204" pitchFamily="34" charset="0"/>
              </a:rPr>
              <a:t>Visual: ROS command node ↔ ros_gz_bridge ↔ Gazebo controllers/measurements, with separately directed arrows. command_arm publishes /arm/joint1/cmd_pos and /arm/joint2/cmd_pos: ROS std_msgs/msg/Float64 → Gazebo gz.msgs.Double, direction ROS_TO_GZ. Gazebo /arm/joint_states (gz.msgs.Model) → ROS /joint_states (sensor_msgs/msg/JointState), GZ_TO_ROS. Gazebo /world/kinematics/clock (gz.msgs.Clock) → ROS /clock (rosgraph_msgs/msg/Clock), GZ_TO_ROS. These are four explicit mappings in bridge.yaml; selected channels collectively allow communication in both directions, rather than making every topic bidirectional. The bridge handles supported message conversions and naming, not physics, IK or frame transformation. Below the bridge, show /joint_states → robot_state_publisher + URDF → TF. Measured joints must drive this chain, not the requested angles. ROS use_sim_time reads the bridged clock. ROS_DOMAIN_ID and GZ_PARTITION isolate separate communication systems; their roles are distinct. Exact settings and detailed type names belong in notes/code walkthrough.</a:t>
            </a:r>
          </a:p>
          <a:p>
            <a:endParaRPr lang="en-IL">
              <a:latin typeface="Aptos" panose="020B0004020202020204" pitchFamily="34" charset="0"/>
            </a:endParaRPr>
          </a:p>
          <a:p>
            <a:r>
              <a:rPr lang="en-IL">
                <a:latin typeface="Aptos" panose="020B0004020202020204" pitchFamily="34" charset="0"/>
              </a:rPr>
              <a:t>Sources:</a:t>
            </a:r>
          </a:p>
          <a:p>
            <a:r>
              <a:rPr lang="en-IL">
                <a:latin typeface="Aptos" panose="020B0004020202020204" pitchFamily="34" charset="0"/>
              </a:rPr>
              <a:t>https://gazebosim.org/docs/harmonic/ros2_integration/</a:t>
            </a:r>
          </a:p>
          <a:p>
            <a:r>
              <a:rPr lang="en-IL">
                <a:latin typeface="Aptos" panose="020B0004020202020204" pitchFamily="34" charset="0"/>
              </a:rPr>
              <a:t>https://github.com/ros/robot_state_publisher/blob/jazzy/README.md</a:t>
            </a:r>
          </a:p>
        </p:txBody>
      </p:sp>
      <p:sp>
        <p:nvSpPr>
          <p:cNvPr id="4" name="Slide Number Placeholder 3"/>
          <p:cNvSpPr>
            <a:spLocks noGrp="1"/>
          </p:cNvSpPr>
          <p:nvPr>
            <p:ph type="sldNum" sz="quarter" idx="5"/>
          </p:nvPr>
        </p:nvSpPr>
        <p:spPr/>
        <p:txBody>
          <a:bodyPr/>
          <a:lstStyle/>
          <a:p>
            <a:fld id="{8C7A332C-30D2-4840-80F7-0F8DF3C0061B}" type="slidenum">
              <a:rPr lang="en-IL" smtClean="0"/>
              <a:t>6</a:t>
            </a:fld>
            <a:endParaRPr lang="en-IL"/>
          </a:p>
        </p:txBody>
      </p:sp>
    </p:spTree>
    <p:extLst>
      <p:ext uri="{BB962C8B-B14F-4D97-AF65-F5344CB8AC3E}">
        <p14:creationId xmlns:p14="http://schemas.microsoft.com/office/powerpoint/2010/main" val="18335025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2 minutes. </a:t>
            </a:r>
          </a:p>
          <a:p>
            <a:endParaRPr lang="en-US">
              <a:latin typeface="Aptos" panose="020B0004020202020204" pitchFamily="34" charset="0"/>
            </a:endParaRPr>
          </a:p>
          <a:p>
            <a:r>
              <a:rPr lang="en-US">
                <a:latin typeface="Aptos" panose="020B0004020202020204" pitchFamily="34" charset="0"/>
              </a:rPr>
              <a:t>Visual: six editable numbered steps arranged in two rows, with the existing file role beside each. Describe robot/world using arm.urdf and world.sdf. demo.launch.py starts Gazebo and spawns planar_arm using ros_gz_sim/create; it also starts parameter_bridge and robot_state_publisher. bridge.yaml explicitly connects commands, measured joints and clock. command_arm.py accepts joint targets or calls kinematics.py for IK. Inspect /joint_states and tf2_echo base_link end_effector, then compare measured-state FK with the target. Launch orchestrates processes; it does not calculate IK. gui.config changes the view, not the mathematics. Recap: Week 1 gave us typed topics; Week 2 gave us frame chains; now joint measurements update those frames. Follow existing README setup: source Jazzy, ROS_DOMAIN_ID=42, ROS_AUTOMATIC_DISCOVERY_RANGE=LOCALHOST, GZ_PARTITION=robotics_week03. No installation instructions need to occupy the slide. Use one launch session; duplicate simulators can produce confusing feedback.</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https://gazebosim.org/docs/harmonic/spawn_urdf/</a:t>
            </a:r>
          </a:p>
          <a:p>
            <a:r>
              <a:rPr lang="en-US">
                <a:latin typeface="Aptos" panose="020B0004020202020204" pitchFamily="34" charset="0"/>
              </a:rPr>
              <a:t>https://gazebosim.org/docs/harmonic/ros2_integration/</a:t>
            </a:r>
          </a:p>
          <a:p>
            <a:r>
              <a:rPr lang="en-US">
                <a:latin typeface="Aptos" panose="020B0004020202020204" pitchFamily="34" charset="0"/>
              </a:rPr>
              <a:t>https://github.com/ros/robot_state_publisher/blob/jazzy/README.md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8C7A332C-30D2-4840-80F7-0F8DF3C0061B}" type="slidenum">
              <a:rPr lang="en-IL" smtClean="0"/>
              <a:t>7</a:t>
            </a:fld>
            <a:endParaRPr lang="en-IL"/>
          </a:p>
        </p:txBody>
      </p:sp>
    </p:spTree>
    <p:extLst>
      <p:ext uri="{BB962C8B-B14F-4D97-AF65-F5344CB8AC3E}">
        <p14:creationId xmlns:p14="http://schemas.microsoft.com/office/powerpoint/2010/main" val="26279707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2 minutes. </a:t>
            </a:r>
          </a:p>
          <a:p>
            <a:endParaRPr lang="en-US">
              <a:latin typeface="Aptos" panose="020B0004020202020204" pitchFamily="34" charset="0"/>
            </a:endParaRPr>
          </a:p>
          <a:p>
            <a:r>
              <a:rPr lang="en-US">
                <a:latin typeface="Aptos" panose="020B0004020202020204" pitchFamily="34" charset="0"/>
              </a:rPr>
              <a:t>Visual: three short editable excerpts from the actual robot, world and bridge configuration. URDF contains links, parent/child joint origins, axes, limits, visuals, collisions and inertias. A link frame is not its visual center: link1 frame is at the shoulder, while its box center is x=0.3 m. joint2 is at x=0.6 m in link1 and rotates about 0 0 1. SDF world kinematics contains gravity 0 0 −9.81, 0.001 s maximum physics step, ground, light, and physics/spawning/scene systems. Configuring max_step_size does not guarantee a wall-clock rate. bridge.yaml records names, types and direction, e.g. ROS_TO_GZ for one joint target. Gazebo converts the URDF during spawning, including configured simulation plugins. Both controllers use velocity-command mode capped at 1 rad/s, an idealized control model rather than realistic motors. Self-collision is disabled. Do not claim changing visual geometry alone changes link-frame origins or the analytical link length.</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https://gazebosim.org/docs/harmonic/spawn_urdf/</a:t>
            </a:r>
          </a:p>
          <a:p>
            <a:r>
              <a:rPr lang="en-US">
                <a:latin typeface="Aptos" panose="020B0004020202020204" pitchFamily="34" charset="0"/>
              </a:rPr>
              <a:t>https://gazebosim.org/docs/harmonic/sdf_worlds/</a:t>
            </a:r>
          </a:p>
          <a:p>
            <a:r>
              <a:rPr lang="en-US">
                <a:latin typeface="Aptos" panose="020B0004020202020204" pitchFamily="34" charset="0"/>
              </a:rPr>
              <a:t>https://gazebosim.org/docs/harmonic/ros2_integration/</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8C7A332C-30D2-4840-80F7-0F8DF3C0061B}" type="slidenum">
              <a:rPr lang="en-IL" smtClean="0"/>
              <a:t>8</a:t>
            </a:fld>
            <a:endParaRPr lang="en-IL"/>
          </a:p>
        </p:txBody>
      </p:sp>
    </p:spTree>
    <p:extLst>
      <p:ext uri="{BB962C8B-B14F-4D97-AF65-F5344CB8AC3E}">
        <p14:creationId xmlns:p14="http://schemas.microsoft.com/office/powerpoint/2010/main" val="23141024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 </a:t>
            </a:r>
          </a:p>
          <a:p>
            <a:endParaRPr lang="en-US">
              <a:latin typeface="Aptos" panose="020B0004020202020204" pitchFamily="34" charset="0"/>
            </a:endParaRPr>
          </a:p>
          <a:p>
            <a:r>
              <a:rPr lang="en-US">
                <a:latin typeface="Aptos" panose="020B0004020202020204" pitchFamily="34" charset="0"/>
              </a:rPr>
              <a:t>Visual: full screenshot with editable callouts for 3D view/robot, entity tree, play/pause/reset and clock statistics. The screenshot comes from the existing gazebo_overview.svg; its layout can vary by desktop/window size. Pan, orbit and zoom change the viewpoint, not joint angles. Pause stops simulation time and motion; wall time continues. Expand the lower-right chevron to show simulation time, real time and real-time factor. A real-time factor below one means simulation advances more slowly than wall time; this is performance, not an FK error. GUI reset changes simulator state/time, not the whole ROS application. Use full restart for a reproducible baseline. Our ROS nodes use simulation time, but command_arm uses time.monotonic for its 10-second deadline and 10 Hz command scheduling so a paused/missing simulation can time out. Resume before demonstrating motion. Do not present the viewport camera as a simulated camera sensor.</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https://gazebosim.org/docs/harmonic/gui/</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8C7A332C-30D2-4840-80F7-0F8DF3C0061B}" type="slidenum">
              <a:rPr lang="en-IL" smtClean="0"/>
              <a:t>9</a:t>
            </a:fld>
            <a:endParaRPr lang="en-IL"/>
          </a:p>
        </p:txBody>
      </p:sp>
    </p:spTree>
    <p:extLst>
      <p:ext uri="{BB962C8B-B14F-4D97-AF65-F5344CB8AC3E}">
        <p14:creationId xmlns:p14="http://schemas.microsoft.com/office/powerpoint/2010/main" val="30404237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 </a:t>
            </a:r>
          </a:p>
          <a:p>
            <a:endParaRPr lang="en-US">
              <a:latin typeface="Aptos" panose="020B0004020202020204" pitchFamily="34" charset="0"/>
            </a:endParaRPr>
          </a:p>
          <a:p>
            <a:r>
              <a:rPr lang="en-US">
                <a:latin typeface="Aptos" panose="020B0004020202020204" pitchFamily="34" charset="0"/>
              </a:rPr>
              <a:t>Visual: existing simulation screenshot close-up beside an editable top-view sketch with the blue first link (0.6 m), orange second link (0.4 m), green tool and x/y base axes. The screenshot and illustrative sketch show a bent pose; launch begins at q1=q2=0. Joint1 is shoulder angle q1; q2 is elbow rotation relative to link1, so link2 absolute orientation is q1+q2. Positive angles use the right-hand rule about +z. Arm motion is planar in base xy, positions in metres, angles in radians. Frame chain: base_link→link1→link2→end_effector. The fixed world_anchor places base_link 0.25 m above world: tool z=0 in base and z=0.25 in world. Joint limits are [−π,π]. The target interface constrains xy position only, not tool orientation. Do not mistake the box center for the joint frame.</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Existing course demo: demo/kinematics.py, demo/test_kinematics.py, and demo/arm.urdf</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8C7A332C-30D2-4840-80F7-0F8DF3C0061B}" type="slidenum">
              <a:rPr lang="en-IL" smtClean="0"/>
              <a:t>10</a:t>
            </a:fld>
            <a:endParaRPr lang="en-IL"/>
          </a:p>
        </p:txBody>
      </p:sp>
    </p:spTree>
    <p:extLst>
      <p:ext uri="{BB962C8B-B14F-4D97-AF65-F5344CB8AC3E}">
        <p14:creationId xmlns:p14="http://schemas.microsoft.com/office/powerpoint/2010/main" val="2355055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L">
                <a:latin typeface="Aptos" panose="020B0004020202020204" pitchFamily="34" charset="0"/>
              </a:rPr>
              <a:t>Timing: 1.5 minutes. </a:t>
            </a:r>
          </a:p>
          <a:p>
            <a:endParaRPr lang="en-IL">
              <a:latin typeface="Aptos" panose="020B0004020202020204" pitchFamily="34" charset="0"/>
            </a:endParaRPr>
          </a:p>
          <a:p>
            <a:r>
              <a:rPr lang="en-IL">
                <a:latin typeface="Aptos" panose="020B0004020202020204" pitchFamily="34" charset="0"/>
              </a:rPr>
              <a:t>Visual: blue/orange arm sketch beside two large editable equations. x=L1 cos(q1)+L2 cos(q1+q2); y=L1 sin(q1)+L2 sin(q1+q2). Each link contributes its projected vector; q2 is relative, so the second vector uses q1+q2. Briefly explain the sum of vectors rather than derive the full transform product in the main lesson. At zero angles position=(1,0). At (q1,q2)=(0,</a:t>
            </a:r>
            <a:r>
              <a:rPr lang="el-GR">
                <a:latin typeface="Aptos" panose="020B0004020202020204" pitchFamily="34" charset="0"/>
              </a:rPr>
              <a:t>π/2), </a:t>
            </a:r>
            <a:r>
              <a:rPr lang="en-IL">
                <a:latin typeface="Aptos" panose="020B0004020202020204" pitchFamily="34" charset="0"/>
              </a:rPr>
              <a:t>link1 contributes (0.6,0), link2 contributes (0,0.4), total=(0.6,0.4). Ask students to predict before commanding. Tool orientation is q1+q2. These predictions specify geometry, not the motion duration, controller response or measured convergence. Exact equations are in kinematics.forward; transform-based derivation is a hidden backup. L1=0.6 m,L2=0.4 m; keep radians explicit.</a:t>
            </a:r>
          </a:p>
          <a:p>
            <a:endParaRPr lang="en-IL">
              <a:latin typeface="Aptos" panose="020B0004020202020204" pitchFamily="34" charset="0"/>
            </a:endParaRPr>
          </a:p>
          <a:p>
            <a:r>
              <a:rPr lang="en-IL">
                <a:latin typeface="Aptos" panose="020B0004020202020204" pitchFamily="34" charset="0"/>
              </a:rPr>
              <a:t>Sources:</a:t>
            </a:r>
          </a:p>
          <a:p>
            <a:r>
              <a:rPr lang="en-IL">
                <a:latin typeface="Aptos" panose="020B0004020202020204" pitchFamily="34" charset="0"/>
              </a:rPr>
              <a:t>Existing course demo: demo/kinematics.py, demo/test_kinematics.py, and demo/arm.urdf</a:t>
            </a:r>
          </a:p>
        </p:txBody>
      </p:sp>
      <p:sp>
        <p:nvSpPr>
          <p:cNvPr id="4" name="Slide Number Placeholder 3"/>
          <p:cNvSpPr>
            <a:spLocks noGrp="1"/>
          </p:cNvSpPr>
          <p:nvPr>
            <p:ph type="sldNum" sz="quarter" idx="5"/>
          </p:nvPr>
        </p:nvSpPr>
        <p:spPr/>
        <p:txBody>
          <a:bodyPr/>
          <a:lstStyle/>
          <a:p>
            <a:fld id="{8C7A332C-30D2-4840-80F7-0F8DF3C0061B}" type="slidenum">
              <a:rPr lang="en-IL" smtClean="0"/>
              <a:t>11</a:t>
            </a:fld>
            <a:endParaRPr lang="en-IL"/>
          </a:p>
        </p:txBody>
      </p:sp>
    </p:spTree>
    <p:extLst>
      <p:ext uri="{BB962C8B-B14F-4D97-AF65-F5344CB8AC3E}">
        <p14:creationId xmlns:p14="http://schemas.microsoft.com/office/powerpoint/2010/main" val="2950573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 </a:t>
            </a:r>
          </a:p>
          <a:p>
            <a:endParaRPr lang="en-US">
              <a:latin typeface="Aptos" panose="020B0004020202020204" pitchFamily="34" charset="0"/>
            </a:endParaRPr>
          </a:p>
          <a:p>
            <a:r>
              <a:rPr lang="en-US">
                <a:latin typeface="Aptos" panose="020B0004020202020204" pitchFamily="34" charset="0"/>
              </a:rPr>
              <a:t>Visual: two editable arm configurations converging on target (0.6,0.4), plus three compact formula lines. c2=(x²+y²−L1²−L2²)/(2L1L2); q2=±acos(c2); q1=atan2(y,x)−atan2(L2 sin(q2),L1+L2 cos(q2)). Briefly point out the two signs, without live derivation. Positive/negative refer exactly to the sign of q2, avoiding convention-dependent elbow-up/down names. Positive branch=(0,1.570796); negative≈(1.176005,−1.570796). Both reach the same xy point but tool orientations differ: about 1.570796 rad and −0.394791 rad. This interface solves position only. At singular boundaries the geometric branches merge (up to angle wrapping), and not every target is reachable. The existing code checks finite values, radius and joint limits, clamps only numerical boundary roundoff, and normalizes q1 with atan2(sin(q1),cos(q1)). Show where the equations appear in inverse during the demo. Hidden backup derives the cosine rule.</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Existing course demo: demo/kinematics.py, demo/test_kinematics.py, and demo/arm.urdf</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8C7A332C-30D2-4840-80F7-0F8DF3C0061B}" type="slidenum">
              <a:rPr lang="en-IL" smtClean="0"/>
              <a:t>12</a:t>
            </a:fld>
            <a:endParaRPr lang="en-IL"/>
          </a:p>
        </p:txBody>
      </p:sp>
    </p:spTree>
    <p:extLst>
      <p:ext uri="{BB962C8B-B14F-4D97-AF65-F5344CB8AC3E}">
        <p14:creationId xmlns:p14="http://schemas.microsoft.com/office/powerpoint/2010/main" val="9575682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 </a:t>
            </a:r>
          </a:p>
          <a:p>
            <a:endParaRPr lang="en-US">
              <a:latin typeface="Aptos" panose="020B0004020202020204" pitchFamily="34" charset="0"/>
            </a:endParaRPr>
          </a:p>
          <a:p>
            <a:r>
              <a:rPr lang="en-US">
                <a:latin typeface="Aptos" panose="020B0004020202020204" pitchFamily="34" charset="0"/>
              </a:rPr>
              <a:t>Visual: workspace annulus and measurement→FK/TF→position error path. Geometric radius range is |L1−L2|≤r≤L1+L2: 0.2–1.0 m. (1.2,0) is too far and (0,0) lies in the inner hole. Limits also matter. command_arm requests joint positions, receives simulated measured JointState values and applies FK to those measured angles. Compare with tf2_echo base_link end_effector: translations should approach (0.6,0.4,0). Success checks both joint errors &lt;0.01 rad and Cartesian position error &lt;0.01 m. Representative measured values vary with timing; do not claim publishing a target proves it was reached. TF and measured-state FK both depend on the model/measured joints, so agreement does not independently validate physical calibration or real hardware. Idealized control is capped at 1 rad/s and self-collision is disabled. An IK position solution is not a collision-free path; Week 4 covers motion planning. Full extension/folding are singular; deeper geometry is in backups.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Existing course demo: demo/kinematics.py, demo/test_kinematics.py, and demo/arm.urdf</a:t>
            </a:r>
          </a:p>
          <a:p>
            <a:r>
              <a:rPr lang="en-US">
                <a:latin typeface="Aptos" panose="020B0004020202020204" pitchFamily="34" charset="0"/>
              </a:rPr>
              <a:t>https://github.com/ros/robot_state_publisher/blob/jazzy/README.md</a:t>
            </a:r>
          </a:p>
          <a:p>
            <a:r>
              <a:rPr lang="en-US">
                <a:latin typeface="Aptos" panose="020B0004020202020204" pitchFamily="34" charset="0"/>
              </a:rPr>
              <a:t>https://gazebosim.org/api/sim/8/classgz_1_1sim_1_1systems_1_1JointPositionController.html</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8C7A332C-30D2-4840-80F7-0F8DF3C0061B}" type="slidenum">
              <a:rPr lang="en-IL" smtClean="0"/>
              <a:t>13</a:t>
            </a:fld>
            <a:endParaRPr lang="en-IL"/>
          </a:p>
        </p:txBody>
      </p:sp>
    </p:spTree>
    <p:extLst>
      <p:ext uri="{BB962C8B-B14F-4D97-AF65-F5344CB8AC3E}">
        <p14:creationId xmlns:p14="http://schemas.microsoft.com/office/powerpoint/2010/main" val="40027454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25 minutes. </a:t>
            </a:r>
          </a:p>
          <a:p>
            <a:endParaRPr lang="en-US">
              <a:latin typeface="Aptos" panose="020B0004020202020204" pitchFamily="34" charset="0"/>
            </a:endParaRPr>
          </a:p>
          <a:p>
            <a:r>
              <a:rPr lang="en-US">
                <a:latin typeface="Aptos" panose="020B0004020202020204" pitchFamily="34" charset="0"/>
              </a:rPr>
              <a:t>8 minutes INTERFACE/MODEL/JOINTS: launch using existing README before the session. Identify world, planar_arm, camera controls, clock and play/pause. Pause/resume once; show joint2 origin/axis in URDF. Command zero, then q1=0.5,q2=0, then q1=0,q2=π/2. Explain bridge channels and simulation-time versus wall-time behavior as you inspect the files.
10 minutes TARGET/BRANCHES: predict (0.6,0.4) before executing. Read the short FK/IK functions in kinematics.py, show command validation/measurement handling in command_arm.py, then run target --x 0.6 --y 0.4 --branch positive and --branch negative. Observe two configurations with the same tool xy and different orientation. Inspect /joint_states and tf2_echo base_link end_effector; compare measured-state FK and position error. Actual measured values depend on settling/timing. No RViz is required.
7 minutes REJECTION/CHECKPOINT: target --x 1.2 --y 0 is rejected before ROS publishers are created; the previous target remains active. Mention the unreachable inner hole too. Ask: what does Gazebo simulate, what does the bridge translate, why q1+q2, why two branches, and why measurements matter? IK does not avoid obstacles. Recap simulation and workflow. Use screenshot/expected output as fallback, or headless mode if GUI unavailable.
Follow existing README exactly for paths and setup: ROS_DOMAIN_ID=42, local ROS discovery, GZ_PARTITION=robotics_week03. GUI reset is not a complete ROS restart. Stop tools and Ctrl+C the launch terminal for full restart/shutdown; interrupting a command tool does not cancel a target already sent. Artifact validation does not claim a fresh classroom ROS/Gazebo rehearsal on this Windows machine.</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https://gazebosim.org/docs/harmonic/ros2_integration/</a:t>
            </a:r>
          </a:p>
          <a:p>
            <a:r>
              <a:rPr lang="en-US">
                <a:latin typeface="Aptos" panose="020B0004020202020204" pitchFamily="34" charset="0"/>
              </a:rPr>
              <a:t>Existing course demo: demo/kinematics.py, demo/test_kinematics.py, and demo/arm.urdf</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8C7A332C-30D2-4840-80F7-0F8DF3C0061B}" type="slidenum">
              <a:rPr lang="en-IL" smtClean="0"/>
              <a:t>14</a:t>
            </a:fld>
            <a:endParaRPr lang="en-IL"/>
          </a:p>
        </p:txBody>
      </p:sp>
    </p:spTree>
    <p:extLst>
      <p:ext uri="{BB962C8B-B14F-4D97-AF65-F5344CB8AC3E}">
        <p14:creationId xmlns:p14="http://schemas.microsoft.com/office/powerpoint/2010/main" val="35555280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L">
                <a:latin typeface="Aptos" panose="020B0004020202020204" pitchFamily="34" charset="0"/>
              </a:rPr>
              <a:t>Timing: 0 minutes. Hidden optional backup, outside the 45-minute schedule.</a:t>
            </a:r>
          </a:p>
          <a:p>
            <a:endParaRPr lang="en-IL">
              <a:latin typeface="Aptos" panose="020B0004020202020204" pitchFamily="34" charset="0"/>
            </a:endParaRPr>
          </a:p>
          <a:p>
            <a:r>
              <a:rPr lang="en-IL">
                <a:latin typeface="Aptos" panose="020B0004020202020204" pitchFamily="34" charset="0"/>
              </a:rPr>
              <a:t>Untimed backup. R is a 3×3 rotation matrix: orientation of source axes expressed in destination coordinates. t is a 3×1 translation: source origin expressed in destination coordinates. T=[R t;0 1] combines them as a 4×4 rigid transform. Rz(q)=[[cosq,−sinq,0],[sinq,cosq,0],[0,0,1]]. For this model, base→link1 has Rz(q1),t=0; link1→link2 has Rz(q2),t=(L1,0,0); link2→tool has R=I,t=(L2,0,0). Thus T_base_tool=RotZ(q1) TransX(L1) RotZ(q2) TransX(L2). Product order matters; rightmost acts first on column vectors. Translation is Rz(q1)(L1,0,0)+Rz(q1+q2)(L2,0,0), which yields the two FK equations. The final homogeneous matrix is [[cos(q1+q2),−sin(q1+q2),0,x],[sin(q1+q2),cos(q1+q2),0,y],[0,0,1,0],[0,0,0,1]]. This is in base_link; world transform adds z=0.25. The frame-tree arrow names parent→child, while the stored pose maps child coordinates→parent. Matrices compose by multiplication, not addition; only the separately projected link displacement vectors are added.</a:t>
            </a:r>
          </a:p>
          <a:p>
            <a:endParaRPr lang="en-IL">
              <a:latin typeface="Aptos" panose="020B0004020202020204" pitchFamily="34" charset="0"/>
            </a:endParaRPr>
          </a:p>
          <a:p>
            <a:r>
              <a:rPr lang="en-IL">
                <a:latin typeface="Aptos" panose="020B0004020202020204" pitchFamily="34" charset="0"/>
              </a:rPr>
              <a:t>Sources:</a:t>
            </a:r>
          </a:p>
          <a:p>
            <a:r>
              <a:rPr lang="en-IL">
                <a:latin typeface="Aptos" panose="020B0004020202020204" pitchFamily="34" charset="0"/>
              </a:rPr>
              <a:t>Existing course demo: demo/kinematics.py, demo/test_kinematics.py, and demo/arm.urdf</a:t>
            </a:r>
          </a:p>
        </p:txBody>
      </p:sp>
      <p:sp>
        <p:nvSpPr>
          <p:cNvPr id="4" name="Slide Number Placeholder 3"/>
          <p:cNvSpPr>
            <a:spLocks noGrp="1"/>
          </p:cNvSpPr>
          <p:nvPr>
            <p:ph type="sldNum" sz="quarter" idx="5"/>
          </p:nvPr>
        </p:nvSpPr>
        <p:spPr/>
        <p:txBody>
          <a:bodyPr/>
          <a:lstStyle/>
          <a:p>
            <a:fld id="{8C7A332C-30D2-4840-80F7-0F8DF3C0061B}" type="slidenum">
              <a:rPr lang="en-IL" smtClean="0"/>
              <a:t>15</a:t>
            </a:fld>
            <a:endParaRPr lang="en-IL"/>
          </a:p>
        </p:txBody>
      </p:sp>
    </p:spTree>
    <p:extLst>
      <p:ext uri="{BB962C8B-B14F-4D97-AF65-F5344CB8AC3E}">
        <p14:creationId xmlns:p14="http://schemas.microsoft.com/office/powerpoint/2010/main" val="3444634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L">
                <a:latin typeface="Aptos" panose="020B0004020202020204" pitchFamily="34" charset="0"/>
              </a:rPr>
              <a:t>Timing: 0 minutes. Hidden optional backup, outside the 45-minute schedule.</a:t>
            </a:r>
          </a:p>
          <a:p>
            <a:endParaRPr lang="en-IL">
              <a:latin typeface="Aptos" panose="020B0004020202020204" pitchFamily="34" charset="0"/>
            </a:endParaRPr>
          </a:p>
          <a:p>
            <a:r>
              <a:rPr lang="en-IL">
                <a:latin typeface="Aptos" panose="020B0004020202020204" pitchFamily="34" charset="0"/>
              </a:rPr>
              <a:t>Untimed backup. Let r²=x²+y². Taking the norm of the link-vector sum gives r²=L1²+L2²+2L1L2 cos(q2), because q2 is the angle between the two link displacement directions. Equivalently the triangle interior elbow angle is </a:t>
            </a:r>
            <a:r>
              <a:rPr lang="el-GR">
                <a:latin typeface="Aptos" panose="020B0004020202020204" pitchFamily="34" charset="0"/>
              </a:rPr>
              <a:t>π−</a:t>
            </a:r>
            <a:r>
              <a:rPr lang="en-IL">
                <a:latin typeface="Aptos" panose="020B0004020202020204" pitchFamily="34" charset="0"/>
              </a:rPr>
              <a:t>q2, which changes the cosine-rule sign. Solve c2=(r²−L1²−L2²)/(2L1L2). Select q2=±acos(c2). Let </a:t>
            </a:r>
            <a:r>
              <a:rPr lang="el-GR">
                <a:latin typeface="Aptos" panose="020B0004020202020204" pitchFamily="34" charset="0"/>
              </a:rPr>
              <a:t>β=</a:t>
            </a:r>
            <a:r>
              <a:rPr lang="en-IL">
                <a:latin typeface="Aptos" panose="020B0004020202020204" pitchFamily="34" charset="0"/>
              </a:rPr>
              <a:t>atan2(y,x) and </a:t>
            </a:r>
            <a:r>
              <a:rPr lang="el-GR">
                <a:latin typeface="Aptos" panose="020B0004020202020204" pitchFamily="34" charset="0"/>
              </a:rPr>
              <a:t>γ=</a:t>
            </a:r>
            <a:r>
              <a:rPr lang="en-IL">
                <a:latin typeface="Aptos" panose="020B0004020202020204" pitchFamily="34" charset="0"/>
              </a:rPr>
              <a:t>atan2(L2 sin(q2),L1+L2 cos(q2)); then q1=</a:t>
            </a:r>
            <a:r>
              <a:rPr lang="el-GR">
                <a:latin typeface="Aptos" panose="020B0004020202020204" pitchFamily="34" charset="0"/>
              </a:rPr>
              <a:t>β−γ. </a:t>
            </a:r>
            <a:r>
              <a:rPr lang="en-IL">
                <a:latin typeface="Aptos" panose="020B0004020202020204" pitchFamily="34" charset="0"/>
              </a:rPr>
              <a:t>atan2 handles quadrants; do not replace it by atan(y/x). For target (.6,.4), r²=.52,L1²+L2²=.52,2L1L2=.48,c2=0. </a:t>
            </a:r>
            <a:r>
              <a:rPr lang="el-GR">
                <a:latin typeface="Aptos" panose="020B0004020202020204" pitchFamily="34" charset="0"/>
              </a:rPr>
              <a:t>β≈.588002604. </a:t>
            </a:r>
            <a:r>
              <a:rPr lang="en-IL">
                <a:latin typeface="Aptos" panose="020B0004020202020204" pitchFamily="34" charset="0"/>
              </a:rPr>
              <a:t>Positive </a:t>
            </a:r>
            <a:r>
              <a:rPr lang="el-GR">
                <a:latin typeface="Aptos" panose="020B0004020202020204" pitchFamily="34" charset="0"/>
              </a:rPr>
              <a:t>γ=β </a:t>
            </a:r>
            <a:r>
              <a:rPr lang="en-IL">
                <a:latin typeface="Aptos" panose="020B0004020202020204" pitchFamily="34" charset="0"/>
              </a:rPr>
              <a:t>gives q1=0,q2=</a:t>
            </a:r>
            <a:r>
              <a:rPr lang="el-GR">
                <a:latin typeface="Aptos" panose="020B0004020202020204" pitchFamily="34" charset="0"/>
              </a:rPr>
              <a:t>π/2. </a:t>
            </a:r>
            <a:r>
              <a:rPr lang="en-IL">
                <a:latin typeface="Aptos" panose="020B0004020202020204" pitchFamily="34" charset="0"/>
              </a:rPr>
              <a:t>Negative </a:t>
            </a:r>
            <a:r>
              <a:rPr lang="el-GR">
                <a:latin typeface="Aptos" panose="020B0004020202020204" pitchFamily="34" charset="0"/>
              </a:rPr>
              <a:t>γ=−β </a:t>
            </a:r>
            <a:r>
              <a:rPr lang="en-IL">
                <a:latin typeface="Aptos" panose="020B0004020202020204" pitchFamily="34" charset="0"/>
              </a:rPr>
              <a:t>gives q1≈1.176005207,q2=−</a:t>
            </a:r>
            <a:r>
              <a:rPr lang="el-GR">
                <a:latin typeface="Aptos" panose="020B0004020202020204" pitchFamily="34" charset="0"/>
              </a:rPr>
              <a:t>π/2. </a:t>
            </a:r>
            <a:r>
              <a:rPr lang="en-IL">
                <a:latin typeface="Aptos" panose="020B0004020202020204" pitchFamily="34" charset="0"/>
              </a:rPr>
              <a:t>Substitute each into FK to verify the same point. Tool orientations are </a:t>
            </a:r>
            <a:r>
              <a:rPr lang="el-GR">
                <a:latin typeface="Aptos" panose="020B0004020202020204" pitchFamily="34" charset="0"/>
              </a:rPr>
              <a:t>π/2 </a:t>
            </a:r>
            <a:r>
              <a:rPr lang="en-IL">
                <a:latin typeface="Aptos" panose="020B0004020202020204" pitchFamily="34" charset="0"/>
              </a:rPr>
              <a:t>and about −.394791120 rad. Other robots need different IK formulations; these analytical equations are specific to this planar two-revolute-joint model. Code wraps q1 into the principal range and checks limits.</a:t>
            </a:r>
          </a:p>
          <a:p>
            <a:endParaRPr lang="en-IL">
              <a:latin typeface="Aptos" panose="020B0004020202020204" pitchFamily="34" charset="0"/>
            </a:endParaRPr>
          </a:p>
          <a:p>
            <a:r>
              <a:rPr lang="en-IL">
                <a:latin typeface="Aptos" panose="020B0004020202020204" pitchFamily="34" charset="0"/>
              </a:rPr>
              <a:t>Sources:</a:t>
            </a:r>
          </a:p>
          <a:p>
            <a:r>
              <a:rPr lang="en-IL">
                <a:latin typeface="Aptos" panose="020B0004020202020204" pitchFamily="34" charset="0"/>
              </a:rPr>
              <a:t>Existing course demo: demo/kinematics.py, demo/test_kinematics.py, and demo/arm.urdf</a:t>
            </a:r>
          </a:p>
        </p:txBody>
      </p:sp>
      <p:sp>
        <p:nvSpPr>
          <p:cNvPr id="4" name="Slide Number Placeholder 3"/>
          <p:cNvSpPr>
            <a:spLocks noGrp="1"/>
          </p:cNvSpPr>
          <p:nvPr>
            <p:ph type="sldNum" sz="quarter" idx="5"/>
          </p:nvPr>
        </p:nvSpPr>
        <p:spPr/>
        <p:txBody>
          <a:bodyPr/>
          <a:lstStyle/>
          <a:p>
            <a:fld id="{8C7A332C-30D2-4840-80F7-0F8DF3C0061B}" type="slidenum">
              <a:rPr lang="en-IL" smtClean="0"/>
              <a:t>16</a:t>
            </a:fld>
            <a:endParaRPr lang="en-IL"/>
          </a:p>
        </p:txBody>
      </p:sp>
    </p:spTree>
    <p:extLst>
      <p:ext uri="{BB962C8B-B14F-4D97-AF65-F5344CB8AC3E}">
        <p14:creationId xmlns:p14="http://schemas.microsoft.com/office/powerpoint/2010/main" val="27062443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0 minutes. Hidden optional backup, outside the 45-minute schedule.</a:t>
            </a:r>
          </a:p>
          <a:p>
            <a:endParaRPr lang="en-US">
              <a:latin typeface="Aptos" panose="020B0004020202020204" pitchFamily="34" charset="0"/>
            </a:endParaRPr>
          </a:p>
          <a:p>
            <a:r>
              <a:rPr lang="en-US">
                <a:latin typeface="Aptos" panose="020B0004020202020204" pitchFamily="34" charset="0"/>
              </a:rPr>
              <a:t>Untimed backup. Triangle inequality gives .2≤r≤1 for lengths .6,.4 with this model's full [−π,π] joint ranges. Generic narrower joint limits can further restrict the workspace. Full extension q2=0 reaches outer radius1; folding q2=±π reaches inner radius.2. Both branches describe the same physical configuration at these boundaries up to angle representation. The planar position Jacobian is J=[[-L1 sin(q1)−L2 sin(q1+q2),−L2 sin(q1+q2)],[L1 cos(q1)+L2 cos(q1+q2),L2 cos(q1+q2)]]. Its determinant is L1L2 sin(q2), zero at extension/folding: an instantaneous Cartesian direction is lost. Avoid a long Jacobian derivation; this is optional. Reject finite targets outside the annulus before publishing; clamp tiny floating-point deviations only after geometric checking. (1.2,0) and (0,0) are rejected. Self-collision is disabled and no obstacles are checked by inverse(), so an IK solution does not validate the trajectory. Motion planning is Week 4.</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Existing course demo: demo/kinematics.py, demo/test_kinematics.py, and demo/arm.urdf</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8C7A332C-30D2-4840-80F7-0F8DF3C0061B}" type="slidenum">
              <a:rPr lang="en-IL" smtClean="0"/>
              <a:t>17</a:t>
            </a:fld>
            <a:endParaRPr lang="en-IL"/>
          </a:p>
        </p:txBody>
      </p:sp>
    </p:spTree>
    <p:extLst>
      <p:ext uri="{BB962C8B-B14F-4D97-AF65-F5344CB8AC3E}">
        <p14:creationId xmlns:p14="http://schemas.microsoft.com/office/powerpoint/2010/main" val="8442843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0 minutes. Hidden optional backup, outside the 45-minute schedule.</a:t>
            </a:r>
          </a:p>
          <a:p>
            <a:endParaRPr lang="en-US">
              <a:latin typeface="Aptos" panose="020B0004020202020204" pitchFamily="34" charset="0"/>
            </a:endParaRPr>
          </a:p>
          <a:p>
            <a:r>
              <a:rPr lang="en-US">
                <a:latin typeface="Aptos" panose="020B0004020202020204" pitchFamily="34" charset="0"/>
              </a:rPr>
              <a:t>Untimed backup. No model: inspect Gazebo physics/user-command systems and ros_gz_sim create output. No motion: check play/pause, ROS domain/Gazebo partition, command bridge and controller configuration. Missing measurements: inspect /joint_states and its mapping from Gazebo /arm/joint_states; command publications are not measurements. Missing TF: inspect robot_state_publisher, URDF and JointState joint names. Clock: Gazebo /world/kinematics/clock→ROS /clock and use_sim_time. A slow real-time factor can trigger the 10 wall-clock-second command deadline; headless mode may help. ROS_DOMAIN_ID=42 and GZ_PARTITION=robotics_week03 are different isolation mechanisms, not matching numeric domains. Bridge message types must be supported and directions/names correct. Launch starts Gazebo, bridge, state publisher and spawn; gui.config is only view configuration. Duplicate launches can mix feedback. GUI reset does not guarantee clearing ROS/controller state. Full restart restores initial pose. Interrupting command_arm does not cancel a target Gazebo has received. Snap library workaround belongs in unchanged demo README, not teaching slide text. Headless mode runs the same physics/model and measurement checks without rendering.</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https://gazebosim.org/docs/harmonic/ros2_integration/</a:t>
            </a:r>
          </a:p>
          <a:p>
            <a:r>
              <a:rPr lang="en-US">
                <a:latin typeface="Aptos" panose="020B0004020202020204" pitchFamily="34" charset="0"/>
              </a:rPr>
              <a:t>https://github.com/ros/robot_state_publisher/blob/jazzy/README.md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8C7A332C-30D2-4840-80F7-0F8DF3C0061B}" type="slidenum">
              <a:rPr lang="en-IL" smtClean="0"/>
              <a:t>18</a:t>
            </a:fld>
            <a:endParaRPr lang="en-IL"/>
          </a:p>
        </p:txBody>
      </p:sp>
    </p:spTree>
    <p:extLst>
      <p:ext uri="{BB962C8B-B14F-4D97-AF65-F5344CB8AC3E}">
        <p14:creationId xmlns:p14="http://schemas.microsoft.com/office/powerpoint/2010/main" val="39810389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382DC-7526-CEB0-3670-20492EA65F9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796523B0-1490-2403-72C7-5CCA2D80445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10E017BE-340C-F127-05D2-3BA490C525ED}"/>
              </a:ext>
            </a:extLst>
          </p:cNvPr>
          <p:cNvSpPr>
            <a:spLocks noGrp="1"/>
          </p:cNvSpPr>
          <p:nvPr>
            <p:ph type="dt" sz="half" idx="10"/>
          </p:nvPr>
        </p:nvSpPr>
        <p:spPr/>
        <p:txBody>
          <a:bodyPr/>
          <a:lstStyle/>
          <a:p>
            <a:fld id="{C3DA5854-25DE-49A2-9C3F-0949AA6F5C7F}" type="datetimeFigureOut">
              <a:rPr lang="en-IL" smtClean="0"/>
              <a:t>04/10/2026</a:t>
            </a:fld>
            <a:endParaRPr lang="en-IL"/>
          </a:p>
        </p:txBody>
      </p:sp>
      <p:sp>
        <p:nvSpPr>
          <p:cNvPr id="5" name="Footer Placeholder 4">
            <a:extLst>
              <a:ext uri="{FF2B5EF4-FFF2-40B4-BE49-F238E27FC236}">
                <a16:creationId xmlns:a16="http://schemas.microsoft.com/office/drawing/2014/main" id="{C93034DE-7AB1-72D4-7BE8-D8ADECA4B707}"/>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8899108C-0707-22F4-917C-47796A583F4D}"/>
              </a:ext>
            </a:extLst>
          </p:cNvPr>
          <p:cNvSpPr>
            <a:spLocks noGrp="1"/>
          </p:cNvSpPr>
          <p:nvPr>
            <p:ph type="sldNum" sz="quarter" idx="12"/>
          </p:nvPr>
        </p:nvSpPr>
        <p:spPr/>
        <p:txBody>
          <a:bodyPr/>
          <a:lstStyle/>
          <a:p>
            <a:fld id="{F1EAF2B6-0228-4C7F-B475-3F6889BF0EAD}" type="slidenum">
              <a:rPr lang="en-IL" smtClean="0"/>
              <a:t>‹#›</a:t>
            </a:fld>
            <a:endParaRPr lang="en-IL"/>
          </a:p>
        </p:txBody>
      </p:sp>
    </p:spTree>
    <p:extLst>
      <p:ext uri="{BB962C8B-B14F-4D97-AF65-F5344CB8AC3E}">
        <p14:creationId xmlns:p14="http://schemas.microsoft.com/office/powerpoint/2010/main" val="1299097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FC3CC-8546-2336-B71B-9BE865064FB4}"/>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12EE302A-C2B4-EAB7-8F6E-6EFA0678A04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3F8317F2-B143-2A7D-B93F-790179988089}"/>
              </a:ext>
            </a:extLst>
          </p:cNvPr>
          <p:cNvSpPr>
            <a:spLocks noGrp="1"/>
          </p:cNvSpPr>
          <p:nvPr>
            <p:ph type="dt" sz="half" idx="10"/>
          </p:nvPr>
        </p:nvSpPr>
        <p:spPr/>
        <p:txBody>
          <a:bodyPr/>
          <a:lstStyle/>
          <a:p>
            <a:fld id="{C3DA5854-25DE-49A2-9C3F-0949AA6F5C7F}" type="datetimeFigureOut">
              <a:rPr lang="en-IL" smtClean="0"/>
              <a:t>04/10/2026</a:t>
            </a:fld>
            <a:endParaRPr lang="en-IL"/>
          </a:p>
        </p:txBody>
      </p:sp>
      <p:sp>
        <p:nvSpPr>
          <p:cNvPr id="5" name="Footer Placeholder 4">
            <a:extLst>
              <a:ext uri="{FF2B5EF4-FFF2-40B4-BE49-F238E27FC236}">
                <a16:creationId xmlns:a16="http://schemas.microsoft.com/office/drawing/2014/main" id="{C3F53BFC-5B33-7FF1-A21F-000DE9163AE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38760D70-13DC-235C-0D41-CB2A45FE8ACC}"/>
              </a:ext>
            </a:extLst>
          </p:cNvPr>
          <p:cNvSpPr>
            <a:spLocks noGrp="1"/>
          </p:cNvSpPr>
          <p:nvPr>
            <p:ph type="sldNum" sz="quarter" idx="12"/>
          </p:nvPr>
        </p:nvSpPr>
        <p:spPr/>
        <p:txBody>
          <a:bodyPr/>
          <a:lstStyle/>
          <a:p>
            <a:fld id="{F1EAF2B6-0228-4C7F-B475-3F6889BF0EAD}" type="slidenum">
              <a:rPr lang="en-IL" smtClean="0"/>
              <a:t>‹#›</a:t>
            </a:fld>
            <a:endParaRPr lang="en-IL"/>
          </a:p>
        </p:txBody>
      </p:sp>
    </p:spTree>
    <p:extLst>
      <p:ext uri="{BB962C8B-B14F-4D97-AF65-F5344CB8AC3E}">
        <p14:creationId xmlns:p14="http://schemas.microsoft.com/office/powerpoint/2010/main" val="22793942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D2643-CDD3-9088-8A41-09AD3A5F7A5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C421D441-9A94-7CC3-C1D0-3E445A4F23E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52DBD8-B403-7DC4-1EED-6C23FE72C28B}"/>
              </a:ext>
            </a:extLst>
          </p:cNvPr>
          <p:cNvSpPr>
            <a:spLocks noGrp="1"/>
          </p:cNvSpPr>
          <p:nvPr>
            <p:ph type="dt" sz="half" idx="10"/>
          </p:nvPr>
        </p:nvSpPr>
        <p:spPr/>
        <p:txBody>
          <a:bodyPr/>
          <a:lstStyle/>
          <a:p>
            <a:fld id="{C3DA5854-25DE-49A2-9C3F-0949AA6F5C7F}" type="datetimeFigureOut">
              <a:rPr lang="en-IL" smtClean="0"/>
              <a:t>04/10/2026</a:t>
            </a:fld>
            <a:endParaRPr lang="en-IL"/>
          </a:p>
        </p:txBody>
      </p:sp>
      <p:sp>
        <p:nvSpPr>
          <p:cNvPr id="5" name="Footer Placeholder 4">
            <a:extLst>
              <a:ext uri="{FF2B5EF4-FFF2-40B4-BE49-F238E27FC236}">
                <a16:creationId xmlns:a16="http://schemas.microsoft.com/office/drawing/2014/main" id="{6B8DF3E0-1AD8-7636-738C-A6258F3444AE}"/>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0D36C9A0-BE91-2EC5-0B0C-B461F94446F7}"/>
              </a:ext>
            </a:extLst>
          </p:cNvPr>
          <p:cNvSpPr>
            <a:spLocks noGrp="1"/>
          </p:cNvSpPr>
          <p:nvPr>
            <p:ph type="sldNum" sz="quarter" idx="12"/>
          </p:nvPr>
        </p:nvSpPr>
        <p:spPr/>
        <p:txBody>
          <a:bodyPr/>
          <a:lstStyle/>
          <a:p>
            <a:fld id="{F1EAF2B6-0228-4C7F-B475-3F6889BF0EAD}" type="slidenum">
              <a:rPr lang="en-IL" smtClean="0"/>
              <a:t>‹#›</a:t>
            </a:fld>
            <a:endParaRPr lang="en-IL"/>
          </a:p>
        </p:txBody>
      </p:sp>
    </p:spTree>
    <p:extLst>
      <p:ext uri="{BB962C8B-B14F-4D97-AF65-F5344CB8AC3E}">
        <p14:creationId xmlns:p14="http://schemas.microsoft.com/office/powerpoint/2010/main" val="3830030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A3680-664C-4925-55AA-CD72EDB8251A}"/>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6FE180FB-1368-C10F-CDD4-04F2E775C9B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C9EAE416-4F58-AD08-B783-8314D081A34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CB8D77C0-2721-BDD9-82DF-66FC1EB0A80D}"/>
              </a:ext>
            </a:extLst>
          </p:cNvPr>
          <p:cNvSpPr>
            <a:spLocks noGrp="1"/>
          </p:cNvSpPr>
          <p:nvPr>
            <p:ph type="dt" sz="half" idx="10"/>
          </p:nvPr>
        </p:nvSpPr>
        <p:spPr/>
        <p:txBody>
          <a:bodyPr/>
          <a:lstStyle/>
          <a:p>
            <a:fld id="{C3DA5854-25DE-49A2-9C3F-0949AA6F5C7F}" type="datetimeFigureOut">
              <a:rPr lang="en-IL" smtClean="0"/>
              <a:t>04/10/2026</a:t>
            </a:fld>
            <a:endParaRPr lang="en-IL"/>
          </a:p>
        </p:txBody>
      </p:sp>
      <p:sp>
        <p:nvSpPr>
          <p:cNvPr id="6" name="Footer Placeholder 5">
            <a:extLst>
              <a:ext uri="{FF2B5EF4-FFF2-40B4-BE49-F238E27FC236}">
                <a16:creationId xmlns:a16="http://schemas.microsoft.com/office/drawing/2014/main" id="{0CF84836-D4D2-CE38-5B8C-F036ACFDD9BA}"/>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F8F60111-1844-B23F-677E-43771AF71B8C}"/>
              </a:ext>
            </a:extLst>
          </p:cNvPr>
          <p:cNvSpPr>
            <a:spLocks noGrp="1"/>
          </p:cNvSpPr>
          <p:nvPr>
            <p:ph type="sldNum" sz="quarter" idx="12"/>
          </p:nvPr>
        </p:nvSpPr>
        <p:spPr/>
        <p:txBody>
          <a:bodyPr/>
          <a:lstStyle/>
          <a:p>
            <a:fld id="{F1EAF2B6-0228-4C7F-B475-3F6889BF0EAD}" type="slidenum">
              <a:rPr lang="en-IL" smtClean="0"/>
              <a:t>‹#›</a:t>
            </a:fld>
            <a:endParaRPr lang="en-IL"/>
          </a:p>
        </p:txBody>
      </p:sp>
    </p:spTree>
    <p:extLst>
      <p:ext uri="{BB962C8B-B14F-4D97-AF65-F5344CB8AC3E}">
        <p14:creationId xmlns:p14="http://schemas.microsoft.com/office/powerpoint/2010/main" val="12024639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8A234-C2FD-F373-9BFA-7C6CD3F8B024}"/>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D0280669-A5E0-F9BE-77F8-4EBB12063F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9659A65-344D-D8B9-874E-AA04761D485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BAC1014A-7C03-9001-65CA-3694CB1023B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D99F4C9-8BEF-F5C7-D51B-D171EA9F5BD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B9A93D5F-EE64-D7BB-1493-A954C6A6DC50}"/>
              </a:ext>
            </a:extLst>
          </p:cNvPr>
          <p:cNvSpPr>
            <a:spLocks noGrp="1"/>
          </p:cNvSpPr>
          <p:nvPr>
            <p:ph type="dt" sz="half" idx="10"/>
          </p:nvPr>
        </p:nvSpPr>
        <p:spPr/>
        <p:txBody>
          <a:bodyPr/>
          <a:lstStyle/>
          <a:p>
            <a:fld id="{C3DA5854-25DE-49A2-9C3F-0949AA6F5C7F}" type="datetimeFigureOut">
              <a:rPr lang="en-IL" smtClean="0"/>
              <a:t>04/10/2026</a:t>
            </a:fld>
            <a:endParaRPr lang="en-IL"/>
          </a:p>
        </p:txBody>
      </p:sp>
      <p:sp>
        <p:nvSpPr>
          <p:cNvPr id="8" name="Footer Placeholder 7">
            <a:extLst>
              <a:ext uri="{FF2B5EF4-FFF2-40B4-BE49-F238E27FC236}">
                <a16:creationId xmlns:a16="http://schemas.microsoft.com/office/drawing/2014/main" id="{8DE0726A-FEC9-0E5A-CFE4-69571E4732A1}"/>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25AFD873-DAE5-7F73-7E0A-E6FA63D386F6}"/>
              </a:ext>
            </a:extLst>
          </p:cNvPr>
          <p:cNvSpPr>
            <a:spLocks noGrp="1"/>
          </p:cNvSpPr>
          <p:nvPr>
            <p:ph type="sldNum" sz="quarter" idx="12"/>
          </p:nvPr>
        </p:nvSpPr>
        <p:spPr/>
        <p:txBody>
          <a:bodyPr/>
          <a:lstStyle/>
          <a:p>
            <a:fld id="{F1EAF2B6-0228-4C7F-B475-3F6889BF0EAD}" type="slidenum">
              <a:rPr lang="en-IL" smtClean="0"/>
              <a:t>‹#›</a:t>
            </a:fld>
            <a:endParaRPr lang="en-IL"/>
          </a:p>
        </p:txBody>
      </p:sp>
    </p:spTree>
    <p:extLst>
      <p:ext uri="{BB962C8B-B14F-4D97-AF65-F5344CB8AC3E}">
        <p14:creationId xmlns:p14="http://schemas.microsoft.com/office/powerpoint/2010/main" val="24620757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6AED6-F8B8-A0EA-488C-36EB4381B66E}"/>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6F912C5E-2696-5027-A11E-DBFDE7B76AE4}"/>
              </a:ext>
            </a:extLst>
          </p:cNvPr>
          <p:cNvSpPr>
            <a:spLocks noGrp="1"/>
          </p:cNvSpPr>
          <p:nvPr>
            <p:ph type="dt" sz="half" idx="10"/>
          </p:nvPr>
        </p:nvSpPr>
        <p:spPr/>
        <p:txBody>
          <a:bodyPr/>
          <a:lstStyle/>
          <a:p>
            <a:fld id="{C3DA5854-25DE-49A2-9C3F-0949AA6F5C7F}" type="datetimeFigureOut">
              <a:rPr lang="en-IL" smtClean="0"/>
              <a:t>04/10/2026</a:t>
            </a:fld>
            <a:endParaRPr lang="en-IL"/>
          </a:p>
        </p:txBody>
      </p:sp>
      <p:sp>
        <p:nvSpPr>
          <p:cNvPr id="4" name="Footer Placeholder 3">
            <a:extLst>
              <a:ext uri="{FF2B5EF4-FFF2-40B4-BE49-F238E27FC236}">
                <a16:creationId xmlns:a16="http://schemas.microsoft.com/office/drawing/2014/main" id="{9A8D54F3-77F4-A077-5543-7B48E98BD8D7}"/>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9A70E155-B6E9-4F52-8AF2-073CD2A3E82C}"/>
              </a:ext>
            </a:extLst>
          </p:cNvPr>
          <p:cNvSpPr>
            <a:spLocks noGrp="1"/>
          </p:cNvSpPr>
          <p:nvPr>
            <p:ph type="sldNum" sz="quarter" idx="12"/>
          </p:nvPr>
        </p:nvSpPr>
        <p:spPr/>
        <p:txBody>
          <a:bodyPr/>
          <a:lstStyle/>
          <a:p>
            <a:fld id="{F1EAF2B6-0228-4C7F-B475-3F6889BF0EAD}" type="slidenum">
              <a:rPr lang="en-IL" smtClean="0"/>
              <a:t>‹#›</a:t>
            </a:fld>
            <a:endParaRPr lang="en-IL"/>
          </a:p>
        </p:txBody>
      </p:sp>
    </p:spTree>
    <p:extLst>
      <p:ext uri="{BB962C8B-B14F-4D97-AF65-F5344CB8AC3E}">
        <p14:creationId xmlns:p14="http://schemas.microsoft.com/office/powerpoint/2010/main" val="41820636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1DF535-A713-B258-3E02-D3EE22A6952A}"/>
              </a:ext>
            </a:extLst>
          </p:cNvPr>
          <p:cNvSpPr>
            <a:spLocks noGrp="1"/>
          </p:cNvSpPr>
          <p:nvPr>
            <p:ph type="dt" sz="half" idx="10"/>
          </p:nvPr>
        </p:nvSpPr>
        <p:spPr/>
        <p:txBody>
          <a:bodyPr/>
          <a:lstStyle/>
          <a:p>
            <a:fld id="{C3DA5854-25DE-49A2-9C3F-0949AA6F5C7F}" type="datetimeFigureOut">
              <a:rPr lang="en-IL" smtClean="0"/>
              <a:t>04/10/2026</a:t>
            </a:fld>
            <a:endParaRPr lang="en-IL"/>
          </a:p>
        </p:txBody>
      </p:sp>
      <p:sp>
        <p:nvSpPr>
          <p:cNvPr id="3" name="Footer Placeholder 2">
            <a:extLst>
              <a:ext uri="{FF2B5EF4-FFF2-40B4-BE49-F238E27FC236}">
                <a16:creationId xmlns:a16="http://schemas.microsoft.com/office/drawing/2014/main" id="{626A8E32-4745-1CE5-943C-57CE6C2D2ACB}"/>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DE1D2FE7-8B2B-32BD-E3C5-0CC8C1202882}"/>
              </a:ext>
            </a:extLst>
          </p:cNvPr>
          <p:cNvSpPr>
            <a:spLocks noGrp="1"/>
          </p:cNvSpPr>
          <p:nvPr>
            <p:ph type="sldNum" sz="quarter" idx="12"/>
          </p:nvPr>
        </p:nvSpPr>
        <p:spPr/>
        <p:txBody>
          <a:bodyPr/>
          <a:lstStyle/>
          <a:p>
            <a:fld id="{F1EAF2B6-0228-4C7F-B475-3F6889BF0EAD}" type="slidenum">
              <a:rPr lang="en-IL" smtClean="0"/>
              <a:t>‹#›</a:t>
            </a:fld>
            <a:endParaRPr lang="en-IL"/>
          </a:p>
        </p:txBody>
      </p:sp>
    </p:spTree>
    <p:extLst>
      <p:ext uri="{BB962C8B-B14F-4D97-AF65-F5344CB8AC3E}">
        <p14:creationId xmlns:p14="http://schemas.microsoft.com/office/powerpoint/2010/main" val="34919011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CCD21-174E-7843-F2B7-DDA8630F7F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C00282AB-06A8-A23D-C67E-F5B14B956A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E21E0377-ED17-BDCB-FEC7-99E7EA9940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6BDC22-D600-115A-95C0-A5BE47C88AEB}"/>
              </a:ext>
            </a:extLst>
          </p:cNvPr>
          <p:cNvSpPr>
            <a:spLocks noGrp="1"/>
          </p:cNvSpPr>
          <p:nvPr>
            <p:ph type="dt" sz="half" idx="10"/>
          </p:nvPr>
        </p:nvSpPr>
        <p:spPr/>
        <p:txBody>
          <a:bodyPr/>
          <a:lstStyle/>
          <a:p>
            <a:fld id="{C3DA5854-25DE-49A2-9C3F-0949AA6F5C7F}" type="datetimeFigureOut">
              <a:rPr lang="en-IL" smtClean="0"/>
              <a:t>04/10/2026</a:t>
            </a:fld>
            <a:endParaRPr lang="en-IL"/>
          </a:p>
        </p:txBody>
      </p:sp>
      <p:sp>
        <p:nvSpPr>
          <p:cNvPr id="6" name="Footer Placeholder 5">
            <a:extLst>
              <a:ext uri="{FF2B5EF4-FFF2-40B4-BE49-F238E27FC236}">
                <a16:creationId xmlns:a16="http://schemas.microsoft.com/office/drawing/2014/main" id="{BA71D72B-EAA2-7043-0525-FAF08DB73F01}"/>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BD42E601-4246-F19D-5E3E-992902648481}"/>
              </a:ext>
            </a:extLst>
          </p:cNvPr>
          <p:cNvSpPr>
            <a:spLocks noGrp="1"/>
          </p:cNvSpPr>
          <p:nvPr>
            <p:ph type="sldNum" sz="quarter" idx="12"/>
          </p:nvPr>
        </p:nvSpPr>
        <p:spPr/>
        <p:txBody>
          <a:bodyPr/>
          <a:lstStyle/>
          <a:p>
            <a:fld id="{F1EAF2B6-0228-4C7F-B475-3F6889BF0EAD}" type="slidenum">
              <a:rPr lang="en-IL" smtClean="0"/>
              <a:t>‹#›</a:t>
            </a:fld>
            <a:endParaRPr lang="en-IL"/>
          </a:p>
        </p:txBody>
      </p:sp>
    </p:spTree>
    <p:extLst>
      <p:ext uri="{BB962C8B-B14F-4D97-AF65-F5344CB8AC3E}">
        <p14:creationId xmlns:p14="http://schemas.microsoft.com/office/powerpoint/2010/main" val="36304209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3871F-217F-EEF6-AEEC-3AD7B7A08C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439D52D3-47B4-9B9D-D8A9-ACBAE0BEA8E1}"/>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5AB09EF4-E8A7-AA51-3E52-5456412049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B1EC8D-3621-3CF4-3C8D-74B3B0F3A086}"/>
              </a:ext>
            </a:extLst>
          </p:cNvPr>
          <p:cNvSpPr>
            <a:spLocks noGrp="1"/>
          </p:cNvSpPr>
          <p:nvPr>
            <p:ph type="dt" sz="half" idx="10"/>
          </p:nvPr>
        </p:nvSpPr>
        <p:spPr/>
        <p:txBody>
          <a:bodyPr/>
          <a:lstStyle/>
          <a:p>
            <a:fld id="{C3DA5854-25DE-49A2-9C3F-0949AA6F5C7F}" type="datetimeFigureOut">
              <a:rPr lang="en-IL" smtClean="0"/>
              <a:t>04/10/2026</a:t>
            </a:fld>
            <a:endParaRPr lang="en-IL"/>
          </a:p>
        </p:txBody>
      </p:sp>
      <p:sp>
        <p:nvSpPr>
          <p:cNvPr id="6" name="Footer Placeholder 5">
            <a:extLst>
              <a:ext uri="{FF2B5EF4-FFF2-40B4-BE49-F238E27FC236}">
                <a16:creationId xmlns:a16="http://schemas.microsoft.com/office/drawing/2014/main" id="{45F3CC1E-2E93-A30A-13A8-1EF7706BFD5E}"/>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4C5675F0-03F4-DA4C-5848-6D68D594DC99}"/>
              </a:ext>
            </a:extLst>
          </p:cNvPr>
          <p:cNvSpPr>
            <a:spLocks noGrp="1"/>
          </p:cNvSpPr>
          <p:nvPr>
            <p:ph type="sldNum" sz="quarter" idx="12"/>
          </p:nvPr>
        </p:nvSpPr>
        <p:spPr/>
        <p:txBody>
          <a:bodyPr/>
          <a:lstStyle/>
          <a:p>
            <a:fld id="{F1EAF2B6-0228-4C7F-B475-3F6889BF0EAD}" type="slidenum">
              <a:rPr lang="en-IL" smtClean="0"/>
              <a:t>‹#›</a:t>
            </a:fld>
            <a:endParaRPr lang="en-IL"/>
          </a:p>
        </p:txBody>
      </p:sp>
    </p:spTree>
    <p:extLst>
      <p:ext uri="{BB962C8B-B14F-4D97-AF65-F5344CB8AC3E}">
        <p14:creationId xmlns:p14="http://schemas.microsoft.com/office/powerpoint/2010/main" val="24507492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77C08-C10D-4099-D092-389CD211BA22}"/>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DCDBCAB4-F747-E8D0-9F05-D949EDADB50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AEACDF04-123A-4DBB-4CF4-08BE481F0A05}"/>
              </a:ext>
            </a:extLst>
          </p:cNvPr>
          <p:cNvSpPr>
            <a:spLocks noGrp="1"/>
          </p:cNvSpPr>
          <p:nvPr>
            <p:ph type="dt" sz="half" idx="10"/>
          </p:nvPr>
        </p:nvSpPr>
        <p:spPr/>
        <p:txBody>
          <a:bodyPr/>
          <a:lstStyle/>
          <a:p>
            <a:fld id="{C3DA5854-25DE-49A2-9C3F-0949AA6F5C7F}" type="datetimeFigureOut">
              <a:rPr lang="en-IL" smtClean="0"/>
              <a:t>04/10/2026</a:t>
            </a:fld>
            <a:endParaRPr lang="en-IL"/>
          </a:p>
        </p:txBody>
      </p:sp>
      <p:sp>
        <p:nvSpPr>
          <p:cNvPr id="5" name="Footer Placeholder 4">
            <a:extLst>
              <a:ext uri="{FF2B5EF4-FFF2-40B4-BE49-F238E27FC236}">
                <a16:creationId xmlns:a16="http://schemas.microsoft.com/office/drawing/2014/main" id="{2EB0019F-9EF6-824B-9AF5-40608B99B735}"/>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BE587933-5531-AC36-4BCD-7A59F845A44D}"/>
              </a:ext>
            </a:extLst>
          </p:cNvPr>
          <p:cNvSpPr>
            <a:spLocks noGrp="1"/>
          </p:cNvSpPr>
          <p:nvPr>
            <p:ph type="sldNum" sz="quarter" idx="12"/>
          </p:nvPr>
        </p:nvSpPr>
        <p:spPr/>
        <p:txBody>
          <a:bodyPr/>
          <a:lstStyle/>
          <a:p>
            <a:fld id="{F1EAF2B6-0228-4C7F-B475-3F6889BF0EAD}" type="slidenum">
              <a:rPr lang="en-IL" smtClean="0"/>
              <a:t>‹#›</a:t>
            </a:fld>
            <a:endParaRPr lang="en-IL"/>
          </a:p>
        </p:txBody>
      </p:sp>
    </p:spTree>
    <p:extLst>
      <p:ext uri="{BB962C8B-B14F-4D97-AF65-F5344CB8AC3E}">
        <p14:creationId xmlns:p14="http://schemas.microsoft.com/office/powerpoint/2010/main" val="28462491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0440C30-5D3E-07D8-9F61-273A86B5039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28D297F9-2F2F-97E3-2039-87E4BF90C22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2EF59E2F-D486-9BAF-E4F7-830A21CE0079}"/>
              </a:ext>
            </a:extLst>
          </p:cNvPr>
          <p:cNvSpPr>
            <a:spLocks noGrp="1"/>
          </p:cNvSpPr>
          <p:nvPr>
            <p:ph type="dt" sz="half" idx="10"/>
          </p:nvPr>
        </p:nvSpPr>
        <p:spPr/>
        <p:txBody>
          <a:bodyPr/>
          <a:lstStyle/>
          <a:p>
            <a:fld id="{C3DA5854-25DE-49A2-9C3F-0949AA6F5C7F}" type="datetimeFigureOut">
              <a:rPr lang="en-IL" smtClean="0"/>
              <a:t>04/10/2026</a:t>
            </a:fld>
            <a:endParaRPr lang="en-IL"/>
          </a:p>
        </p:txBody>
      </p:sp>
      <p:sp>
        <p:nvSpPr>
          <p:cNvPr id="5" name="Footer Placeholder 4">
            <a:extLst>
              <a:ext uri="{FF2B5EF4-FFF2-40B4-BE49-F238E27FC236}">
                <a16:creationId xmlns:a16="http://schemas.microsoft.com/office/drawing/2014/main" id="{434A8842-C450-733C-F4FB-CBA2D50C0D94}"/>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D77E234C-4362-5F92-C48F-44A1EEE24730}"/>
              </a:ext>
            </a:extLst>
          </p:cNvPr>
          <p:cNvSpPr>
            <a:spLocks noGrp="1"/>
          </p:cNvSpPr>
          <p:nvPr>
            <p:ph type="sldNum" sz="quarter" idx="12"/>
          </p:nvPr>
        </p:nvSpPr>
        <p:spPr/>
        <p:txBody>
          <a:bodyPr/>
          <a:lstStyle/>
          <a:p>
            <a:fld id="{F1EAF2B6-0228-4C7F-B475-3F6889BF0EAD}" type="slidenum">
              <a:rPr lang="en-IL" smtClean="0"/>
              <a:t>‹#›</a:t>
            </a:fld>
            <a:endParaRPr lang="en-IL"/>
          </a:p>
        </p:txBody>
      </p:sp>
    </p:spTree>
    <p:extLst>
      <p:ext uri="{BB962C8B-B14F-4D97-AF65-F5344CB8AC3E}">
        <p14:creationId xmlns:p14="http://schemas.microsoft.com/office/powerpoint/2010/main" val="4894371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AB14C3E-344F-1F4A-1313-FFB439B982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8234CC32-5EEC-339F-5C71-0C6AC533FE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8584B7A1-1D87-F024-0CC9-82910EE7CB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3DA5854-25DE-49A2-9C3F-0949AA6F5C7F}" type="datetimeFigureOut">
              <a:rPr lang="en-IL" smtClean="0"/>
              <a:t>04/10/2026</a:t>
            </a:fld>
            <a:endParaRPr lang="en-IL"/>
          </a:p>
        </p:txBody>
      </p:sp>
      <p:sp>
        <p:nvSpPr>
          <p:cNvPr id="5" name="Footer Placeholder 4">
            <a:extLst>
              <a:ext uri="{FF2B5EF4-FFF2-40B4-BE49-F238E27FC236}">
                <a16:creationId xmlns:a16="http://schemas.microsoft.com/office/drawing/2014/main" id="{123A6FD7-2B47-CC40-6A4B-C718E2BC0A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L"/>
          </a:p>
        </p:txBody>
      </p:sp>
      <p:sp>
        <p:nvSpPr>
          <p:cNvPr id="6" name="Slide Number Placeholder 5">
            <a:extLst>
              <a:ext uri="{FF2B5EF4-FFF2-40B4-BE49-F238E27FC236}">
                <a16:creationId xmlns:a16="http://schemas.microsoft.com/office/drawing/2014/main" id="{96F0D75D-BE1A-A036-0AD1-6D31900708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1EAF2B6-0228-4C7F-B475-3F6889BF0EAD}" type="slidenum">
              <a:rPr lang="en-IL" smtClean="0"/>
              <a:t>‹#›</a:t>
            </a:fld>
            <a:endParaRPr lang="en-IL"/>
          </a:p>
        </p:txBody>
      </p:sp>
    </p:spTree>
    <p:extLst>
      <p:ext uri="{BB962C8B-B14F-4D97-AF65-F5344CB8AC3E}">
        <p14:creationId xmlns:p14="http://schemas.microsoft.com/office/powerpoint/2010/main" val="5934241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69AB3C13-5C00-5603-A5B8-53EA20ECC6B2}"/>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03 / GAZEBO &amp; KINEMATICS</a:t>
            </a:r>
          </a:p>
        </p:txBody>
      </p:sp>
      <p:sp>
        <p:nvSpPr>
          <p:cNvPr id="3" name="text_2">
            <a:extLst>
              <a:ext uri="{FF2B5EF4-FFF2-40B4-BE49-F238E27FC236}">
                <a16:creationId xmlns:a16="http://schemas.microsoft.com/office/drawing/2014/main" id="{4FD1EC5E-D1D7-469E-AD46-3F8B314029E7}"/>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Gazebo, ROS &amp; kinematics</a:t>
            </a:r>
          </a:p>
        </p:txBody>
      </p:sp>
      <p:sp>
        <p:nvSpPr>
          <p:cNvPr id="4" name="text_3">
            <a:extLst>
              <a:ext uri="{FF2B5EF4-FFF2-40B4-BE49-F238E27FC236}">
                <a16:creationId xmlns:a16="http://schemas.microsoft.com/office/drawing/2014/main" id="{699FA023-D6EA-D51F-584F-DC1F18F17125}"/>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Build a simulated world. Predict motion. Verify the result.</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E819DC23-5D2F-E69F-0A3C-927F2F16A9E7}"/>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046D8DF4-CEC6-78DA-D27A-C60D1B99E550}"/>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IL" sz="1600">
                <a:solidFill>
                  <a:srgbClr val="526477"/>
                </a:solidFill>
                <a:latin typeface="Aptos" panose="020B0004020202020204" pitchFamily="34" charset="0"/>
              </a:rPr>
              <a:t>Robotics &amp; Autonomous Systems · ROS 2 Jazzy / Gazebo Harmonic</a:t>
            </a:r>
          </a:p>
        </p:txBody>
      </p:sp>
      <p:sp>
        <p:nvSpPr>
          <p:cNvPr id="7" name="text_6">
            <a:extLst>
              <a:ext uri="{FF2B5EF4-FFF2-40B4-BE49-F238E27FC236}">
                <a16:creationId xmlns:a16="http://schemas.microsoft.com/office/drawing/2014/main" id="{4AA659BA-38D8-4A66-E534-8F737005C551}"/>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01</a:t>
            </a:r>
          </a:p>
        </p:txBody>
      </p:sp>
      <p:sp>
        <p:nvSpPr>
          <p:cNvPr id="8" name="Rectangle: Rounded Corners 7">
            <a:extLst>
              <a:ext uri="{FF2B5EF4-FFF2-40B4-BE49-F238E27FC236}">
                <a16:creationId xmlns:a16="http://schemas.microsoft.com/office/drawing/2014/main" id="{FB9C2720-32AA-1127-AAFE-C4C5E3A3E1B6}"/>
              </a:ext>
            </a:extLst>
          </p:cNvPr>
          <p:cNvSpPr/>
          <p:nvPr/>
        </p:nvSpPr>
        <p:spPr>
          <a:xfrm>
            <a:off x="685800" y="2628900"/>
            <a:ext cx="3352800" cy="533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63153BC1-08CD-D7F6-99AF-25DF141B5CA8}"/>
              </a:ext>
            </a:extLst>
          </p:cNvPr>
          <p:cNvSpPr txBox="1"/>
          <p:nvPr/>
        </p:nvSpPr>
        <p:spPr>
          <a:xfrm>
            <a:off x="838200" y="2717799"/>
            <a:ext cx="3048000" cy="381000"/>
          </a:xfrm>
          <a:prstGeom prst="rect">
            <a:avLst/>
          </a:prstGeom>
          <a:noFill/>
        </p:spPr>
        <p:txBody>
          <a:bodyPr vert="horz" wrap="square" lIns="0" tIns="0" rIns="0" bIns="0" rtlCol="0" anchor="t">
            <a:noAutofit/>
          </a:bodyPr>
          <a:lstStyle/>
          <a:p>
            <a:r>
              <a:rPr lang="en-IL" sz="2400" b="1">
                <a:solidFill>
                  <a:srgbClr val="2459D3"/>
                </a:solidFill>
                <a:latin typeface="Aptos" panose="020B0004020202020204" pitchFamily="34" charset="0"/>
              </a:rPr>
              <a:t>Understand Gazebo</a:t>
            </a:r>
          </a:p>
        </p:txBody>
      </p:sp>
      <p:sp>
        <p:nvSpPr>
          <p:cNvPr id="10" name="Rectangle: Rounded Corners 9">
            <a:extLst>
              <a:ext uri="{FF2B5EF4-FFF2-40B4-BE49-F238E27FC236}">
                <a16:creationId xmlns:a16="http://schemas.microsoft.com/office/drawing/2014/main" id="{DFCFA3F6-B148-F9E2-AF8C-BA22D772AB1A}"/>
              </a:ext>
            </a:extLst>
          </p:cNvPr>
          <p:cNvSpPr/>
          <p:nvPr/>
        </p:nvSpPr>
        <p:spPr>
          <a:xfrm>
            <a:off x="4318000" y="2628900"/>
            <a:ext cx="3060700" cy="5334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_10">
            <a:extLst>
              <a:ext uri="{FF2B5EF4-FFF2-40B4-BE49-F238E27FC236}">
                <a16:creationId xmlns:a16="http://schemas.microsoft.com/office/drawing/2014/main" id="{B266C396-6A66-0533-3D4B-B1265F9BF0B9}"/>
              </a:ext>
            </a:extLst>
          </p:cNvPr>
          <p:cNvSpPr txBox="1"/>
          <p:nvPr/>
        </p:nvSpPr>
        <p:spPr>
          <a:xfrm>
            <a:off x="4470400" y="2717799"/>
            <a:ext cx="2755900" cy="381000"/>
          </a:xfrm>
          <a:prstGeom prst="rect">
            <a:avLst/>
          </a:prstGeom>
          <a:noFill/>
        </p:spPr>
        <p:txBody>
          <a:bodyPr vert="horz" wrap="square" lIns="0" tIns="0" rIns="0" bIns="0" rtlCol="0" anchor="t">
            <a:noAutofit/>
          </a:bodyPr>
          <a:lstStyle/>
          <a:p>
            <a:r>
              <a:rPr lang="en-IL" sz="2400" b="1">
                <a:solidFill>
                  <a:srgbClr val="137F79"/>
                </a:solidFill>
                <a:latin typeface="Aptos" panose="020B0004020202020204" pitchFamily="34" charset="0"/>
              </a:rPr>
              <a:t>Connect ROS</a:t>
            </a:r>
          </a:p>
        </p:txBody>
      </p:sp>
      <p:sp>
        <p:nvSpPr>
          <p:cNvPr id="12" name="Rectangle: Rounded Corners 11">
            <a:extLst>
              <a:ext uri="{FF2B5EF4-FFF2-40B4-BE49-F238E27FC236}">
                <a16:creationId xmlns:a16="http://schemas.microsoft.com/office/drawing/2014/main" id="{A9B56C30-EB73-6C9D-1CFF-FDAC9C3B0F30}"/>
              </a:ext>
            </a:extLst>
          </p:cNvPr>
          <p:cNvSpPr/>
          <p:nvPr/>
        </p:nvSpPr>
        <p:spPr>
          <a:xfrm>
            <a:off x="7658100" y="2628900"/>
            <a:ext cx="3848100" cy="533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text_12">
            <a:extLst>
              <a:ext uri="{FF2B5EF4-FFF2-40B4-BE49-F238E27FC236}">
                <a16:creationId xmlns:a16="http://schemas.microsoft.com/office/drawing/2014/main" id="{32C36DA6-819B-AC43-6BC8-ECCA5489F62F}"/>
              </a:ext>
            </a:extLst>
          </p:cNvPr>
          <p:cNvSpPr txBox="1"/>
          <p:nvPr/>
        </p:nvSpPr>
        <p:spPr>
          <a:xfrm>
            <a:off x="7810500" y="2717799"/>
            <a:ext cx="3543300" cy="381000"/>
          </a:xfrm>
          <a:prstGeom prst="rect">
            <a:avLst/>
          </a:prstGeom>
          <a:noFill/>
        </p:spPr>
        <p:txBody>
          <a:bodyPr vert="horz" wrap="square" lIns="0" tIns="0" rIns="0" bIns="0" rtlCol="0" anchor="t">
            <a:noAutofit/>
          </a:bodyPr>
          <a:lstStyle/>
          <a:p>
            <a:r>
              <a:rPr lang="en-IL" sz="2400" b="1">
                <a:solidFill>
                  <a:srgbClr val="2459D3"/>
                </a:solidFill>
                <a:latin typeface="Aptos" panose="020B0004020202020204" pitchFamily="34" charset="0"/>
              </a:rPr>
              <a:t>Practice kinematics</a:t>
            </a:r>
          </a:p>
        </p:txBody>
      </p:sp>
      <p:cxnSp>
        <p:nvCxnSpPr>
          <p:cNvPr id="14" name="Straight Connector 13">
            <a:extLst>
              <a:ext uri="{FF2B5EF4-FFF2-40B4-BE49-F238E27FC236}">
                <a16:creationId xmlns:a16="http://schemas.microsoft.com/office/drawing/2014/main" id="{E93E288E-3164-79AB-67AE-39943811B09B}"/>
              </a:ext>
            </a:extLst>
          </p:cNvPr>
          <p:cNvCxnSpPr/>
          <p:nvPr/>
        </p:nvCxnSpPr>
        <p:spPr>
          <a:xfrm>
            <a:off x="1371600" y="4965700"/>
            <a:ext cx="952500" cy="0"/>
          </a:xfrm>
          <a:prstGeom prst="line">
            <a:avLst/>
          </a:prstGeom>
          <a:ln w="27940">
            <a:solidFill>
              <a:srgbClr val="D7E0E9"/>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F23611D5-C8B9-C04A-C4E1-506EEFC4B12E}"/>
              </a:ext>
            </a:extLst>
          </p:cNvPr>
          <p:cNvCxnSpPr/>
          <p:nvPr/>
        </p:nvCxnSpPr>
        <p:spPr>
          <a:xfrm flipV="1">
            <a:off x="1498600" y="4140200"/>
            <a:ext cx="0" cy="952500"/>
          </a:xfrm>
          <a:prstGeom prst="line">
            <a:avLst/>
          </a:prstGeom>
          <a:ln w="27940">
            <a:solidFill>
              <a:srgbClr val="D7E0E9"/>
            </a:solidFill>
            <a:tailEnd type="arrow"/>
          </a:ln>
        </p:spPr>
        <p:style>
          <a:lnRef idx="2">
            <a:schemeClr val="accent1"/>
          </a:lnRef>
          <a:fillRef idx="0">
            <a:schemeClr val="accent1"/>
          </a:fillRef>
          <a:effectRef idx="1">
            <a:schemeClr val="accent1"/>
          </a:effectRef>
          <a:fontRef idx="minor">
            <a:schemeClr val="tx1"/>
          </a:fontRef>
        </p:style>
      </p:cxnSp>
      <p:sp>
        <p:nvSpPr>
          <p:cNvPr id="16" name="text_15">
            <a:extLst>
              <a:ext uri="{FF2B5EF4-FFF2-40B4-BE49-F238E27FC236}">
                <a16:creationId xmlns:a16="http://schemas.microsoft.com/office/drawing/2014/main" id="{B6260C50-A399-3D3C-CF04-1E6A7472B54D}"/>
              </a:ext>
            </a:extLst>
          </p:cNvPr>
          <p:cNvSpPr txBox="1"/>
          <p:nvPr/>
        </p:nvSpPr>
        <p:spPr>
          <a:xfrm>
            <a:off x="2298700" y="4991099"/>
            <a:ext cx="317500" cy="4318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x</a:t>
            </a:r>
          </a:p>
        </p:txBody>
      </p:sp>
      <p:sp>
        <p:nvSpPr>
          <p:cNvPr id="17" name="text_16">
            <a:extLst>
              <a:ext uri="{FF2B5EF4-FFF2-40B4-BE49-F238E27FC236}">
                <a16:creationId xmlns:a16="http://schemas.microsoft.com/office/drawing/2014/main" id="{D5E788CE-37A8-23F7-F6F1-C6AD350CF380}"/>
              </a:ext>
            </a:extLst>
          </p:cNvPr>
          <p:cNvSpPr txBox="1"/>
          <p:nvPr/>
        </p:nvSpPr>
        <p:spPr>
          <a:xfrm>
            <a:off x="1092200" y="4000499"/>
            <a:ext cx="317500" cy="4318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y</a:t>
            </a:r>
          </a:p>
        </p:txBody>
      </p:sp>
      <p:cxnSp>
        <p:nvCxnSpPr>
          <p:cNvPr id="18" name="Straight Connector 17">
            <a:extLst>
              <a:ext uri="{FF2B5EF4-FFF2-40B4-BE49-F238E27FC236}">
                <a16:creationId xmlns:a16="http://schemas.microsoft.com/office/drawing/2014/main" id="{6E560BBA-9AA0-0AED-670C-62FFC45F8B13}"/>
              </a:ext>
            </a:extLst>
          </p:cNvPr>
          <p:cNvCxnSpPr/>
          <p:nvPr/>
        </p:nvCxnSpPr>
        <p:spPr>
          <a:xfrm>
            <a:off x="1498600" y="4965700"/>
            <a:ext cx="1447800" cy="0"/>
          </a:xfrm>
          <a:prstGeom prst="line">
            <a:avLst/>
          </a:prstGeom>
          <a:ln w="12700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51AFAD69-51F5-6D52-F742-B3C0F3C971C3}"/>
              </a:ext>
            </a:extLst>
          </p:cNvPr>
          <p:cNvCxnSpPr/>
          <p:nvPr/>
        </p:nvCxnSpPr>
        <p:spPr>
          <a:xfrm flipV="1">
            <a:off x="2946400" y="4000500"/>
            <a:ext cx="0" cy="965200"/>
          </a:xfrm>
          <a:prstGeom prst="line">
            <a:avLst/>
          </a:prstGeom>
          <a:ln w="127000">
            <a:solidFill>
              <a:srgbClr val="E88932"/>
            </a:solidFill>
          </a:ln>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DDBB7066-2F66-173A-7589-28684C2D8198}"/>
              </a:ext>
            </a:extLst>
          </p:cNvPr>
          <p:cNvSpPr/>
          <p:nvPr/>
        </p:nvSpPr>
        <p:spPr>
          <a:xfrm>
            <a:off x="1397000" y="4864100"/>
            <a:ext cx="203200" cy="203200"/>
          </a:xfrm>
          <a:prstGeom prst="ellipse">
            <a:avLst/>
          </a:prstGeom>
          <a:solidFill>
            <a:srgbClr val="1528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1" name="Oval 20">
            <a:extLst>
              <a:ext uri="{FF2B5EF4-FFF2-40B4-BE49-F238E27FC236}">
                <a16:creationId xmlns:a16="http://schemas.microsoft.com/office/drawing/2014/main" id="{1F17EEF8-6AE1-38B4-136E-5498B6576BFA}"/>
              </a:ext>
            </a:extLst>
          </p:cNvPr>
          <p:cNvSpPr/>
          <p:nvPr/>
        </p:nvSpPr>
        <p:spPr>
          <a:xfrm>
            <a:off x="2857500" y="4876800"/>
            <a:ext cx="177800" cy="177800"/>
          </a:xfrm>
          <a:prstGeom prst="ellipse">
            <a:avLst/>
          </a:prstGeom>
          <a:solidFill>
            <a:srgbClr val="1528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2" name="Oval 21">
            <a:extLst>
              <a:ext uri="{FF2B5EF4-FFF2-40B4-BE49-F238E27FC236}">
                <a16:creationId xmlns:a16="http://schemas.microsoft.com/office/drawing/2014/main" id="{18D3310F-07E8-45C2-2622-14743699EC73}"/>
              </a:ext>
            </a:extLst>
          </p:cNvPr>
          <p:cNvSpPr/>
          <p:nvPr/>
        </p:nvSpPr>
        <p:spPr>
          <a:xfrm>
            <a:off x="2832100" y="3886200"/>
            <a:ext cx="228600" cy="228600"/>
          </a:xfrm>
          <a:prstGeom prst="ellipse">
            <a:avLst/>
          </a:prstGeom>
          <a:solidFill>
            <a:srgbClr val="21965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23" name="Straight Connector 22">
            <a:extLst>
              <a:ext uri="{FF2B5EF4-FFF2-40B4-BE49-F238E27FC236}">
                <a16:creationId xmlns:a16="http://schemas.microsoft.com/office/drawing/2014/main" id="{BE9F7FB4-4CA8-CCDE-6BD0-0CF520BF0A37}"/>
              </a:ext>
            </a:extLst>
          </p:cNvPr>
          <p:cNvCxnSpPr/>
          <p:nvPr/>
        </p:nvCxnSpPr>
        <p:spPr>
          <a:xfrm>
            <a:off x="1866900" y="49657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678A7069-ADE6-E0A2-52B9-97E3EA076723}"/>
              </a:ext>
            </a:extLst>
          </p:cNvPr>
          <p:cNvCxnSpPr/>
          <p:nvPr/>
        </p:nvCxnSpPr>
        <p:spPr>
          <a:xfrm>
            <a:off x="1866900" y="49657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53060085-5D6F-9A26-027C-24A7E61EABE3}"/>
              </a:ext>
            </a:extLst>
          </p:cNvPr>
          <p:cNvCxnSpPr/>
          <p:nvPr/>
        </p:nvCxnSpPr>
        <p:spPr>
          <a:xfrm>
            <a:off x="1866900" y="49657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3661E31B-A72B-92AC-27AE-CBC15294406C}"/>
              </a:ext>
            </a:extLst>
          </p:cNvPr>
          <p:cNvCxnSpPr/>
          <p:nvPr/>
        </p:nvCxnSpPr>
        <p:spPr>
          <a:xfrm>
            <a:off x="1866900" y="49657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03E10E02-F3B9-8CB7-C543-05DD4C0E7601}"/>
              </a:ext>
            </a:extLst>
          </p:cNvPr>
          <p:cNvCxnSpPr/>
          <p:nvPr/>
        </p:nvCxnSpPr>
        <p:spPr>
          <a:xfrm>
            <a:off x="1866900" y="49657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F28A95EF-4DD7-5DB3-720C-ABEC49EA991F}"/>
              </a:ext>
            </a:extLst>
          </p:cNvPr>
          <p:cNvCxnSpPr/>
          <p:nvPr/>
        </p:nvCxnSpPr>
        <p:spPr>
          <a:xfrm>
            <a:off x="1866900" y="49657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AEB26A82-CAF1-2A75-AA86-86950FCEA674}"/>
              </a:ext>
            </a:extLst>
          </p:cNvPr>
          <p:cNvCxnSpPr/>
          <p:nvPr/>
        </p:nvCxnSpPr>
        <p:spPr>
          <a:xfrm>
            <a:off x="1866900" y="49657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A1C0A111-BB15-1D93-25EF-292A8AE59245}"/>
              </a:ext>
            </a:extLst>
          </p:cNvPr>
          <p:cNvCxnSpPr/>
          <p:nvPr/>
        </p:nvCxnSpPr>
        <p:spPr>
          <a:xfrm>
            <a:off x="1866900" y="49657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0EDB3C3C-9353-E884-EC2F-B4856F173754}"/>
              </a:ext>
            </a:extLst>
          </p:cNvPr>
          <p:cNvCxnSpPr/>
          <p:nvPr/>
        </p:nvCxnSpPr>
        <p:spPr>
          <a:xfrm>
            <a:off x="1866900" y="49657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818F769A-30FE-A954-49CD-0FD116E1FA8F}"/>
              </a:ext>
            </a:extLst>
          </p:cNvPr>
          <p:cNvCxnSpPr/>
          <p:nvPr/>
        </p:nvCxnSpPr>
        <p:spPr>
          <a:xfrm>
            <a:off x="1866900" y="49657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46DC74C4-4BFB-E3F3-F86B-D9A27720DC06}"/>
              </a:ext>
            </a:extLst>
          </p:cNvPr>
          <p:cNvCxnSpPr/>
          <p:nvPr/>
        </p:nvCxnSpPr>
        <p:spPr>
          <a:xfrm>
            <a:off x="1866900" y="49657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037D8EFD-860F-BCD6-856A-461781F458FC}"/>
              </a:ext>
            </a:extLst>
          </p:cNvPr>
          <p:cNvCxnSpPr/>
          <p:nvPr/>
        </p:nvCxnSpPr>
        <p:spPr>
          <a:xfrm>
            <a:off x="1866900" y="49657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55A35B12-1C2E-6533-5A5F-EDFB2306ADEA}"/>
              </a:ext>
            </a:extLst>
          </p:cNvPr>
          <p:cNvCxnSpPr/>
          <p:nvPr/>
        </p:nvCxnSpPr>
        <p:spPr>
          <a:xfrm>
            <a:off x="1866900" y="49657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4102A237-878E-0EBF-8D60-5D9DF3ED6718}"/>
              </a:ext>
            </a:extLst>
          </p:cNvPr>
          <p:cNvCxnSpPr/>
          <p:nvPr/>
        </p:nvCxnSpPr>
        <p:spPr>
          <a:xfrm>
            <a:off x="1866900" y="49657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C82C1DA6-7BEC-26AE-C54C-1CD30FBA7F78}"/>
              </a:ext>
            </a:extLst>
          </p:cNvPr>
          <p:cNvCxnSpPr/>
          <p:nvPr/>
        </p:nvCxnSpPr>
        <p:spPr>
          <a:xfrm flipH="1" flipV="1">
            <a:off x="3274524" y="4928729"/>
            <a:ext cx="2076" cy="36971"/>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04DF84C4-D5DB-4457-FD12-914F06CB09B0}"/>
              </a:ext>
            </a:extLst>
          </p:cNvPr>
          <p:cNvCxnSpPr/>
          <p:nvPr/>
        </p:nvCxnSpPr>
        <p:spPr>
          <a:xfrm flipH="1" flipV="1">
            <a:off x="3268321" y="4892223"/>
            <a:ext cx="6203" cy="36506"/>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3978EADD-DB43-F32E-F018-497B0C9DEE07}"/>
              </a:ext>
            </a:extLst>
          </p:cNvPr>
          <p:cNvCxnSpPr/>
          <p:nvPr/>
        </p:nvCxnSpPr>
        <p:spPr>
          <a:xfrm flipH="1" flipV="1">
            <a:off x="3258070" y="4856642"/>
            <a:ext cx="10251" cy="35581"/>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EE08BCB9-87BB-E757-E749-CB84BF41DFAF}"/>
              </a:ext>
            </a:extLst>
          </p:cNvPr>
          <p:cNvCxnSpPr/>
          <p:nvPr/>
        </p:nvCxnSpPr>
        <p:spPr>
          <a:xfrm flipH="1" flipV="1">
            <a:off x="3243900" y="4822432"/>
            <a:ext cx="14170" cy="34210"/>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BAE6C1DB-A346-640E-EA7B-F859967099A8}"/>
              </a:ext>
            </a:extLst>
          </p:cNvPr>
          <p:cNvCxnSpPr/>
          <p:nvPr/>
        </p:nvCxnSpPr>
        <p:spPr>
          <a:xfrm flipH="1" flipV="1">
            <a:off x="3225988" y="4790023"/>
            <a:ext cx="17912" cy="32409"/>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879E51EE-B41D-DF78-72C4-C00DF6904089}"/>
              </a:ext>
            </a:extLst>
          </p:cNvPr>
          <p:cNvCxnSpPr/>
          <p:nvPr/>
        </p:nvCxnSpPr>
        <p:spPr>
          <a:xfrm flipH="1" flipV="1">
            <a:off x="3204561" y="4759824"/>
            <a:ext cx="21427" cy="30199"/>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1731C278-D4C8-3328-35E3-2C602ADC5022}"/>
              </a:ext>
            </a:extLst>
          </p:cNvPr>
          <p:cNvCxnSpPr/>
          <p:nvPr/>
        </p:nvCxnSpPr>
        <p:spPr>
          <a:xfrm flipH="1" flipV="1">
            <a:off x="3179887" y="4732213"/>
            <a:ext cx="24674" cy="27611"/>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A7A40A3F-AAF7-7DC2-ACB1-2C5F195972ED}"/>
              </a:ext>
            </a:extLst>
          </p:cNvPr>
          <p:cNvCxnSpPr/>
          <p:nvPr/>
        </p:nvCxnSpPr>
        <p:spPr>
          <a:xfrm flipH="1" flipV="1">
            <a:off x="3152276" y="4707539"/>
            <a:ext cx="27611" cy="24674"/>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80E120B1-3F2A-27AA-D24A-BC624314DF73}"/>
              </a:ext>
            </a:extLst>
          </p:cNvPr>
          <p:cNvCxnSpPr/>
          <p:nvPr/>
        </p:nvCxnSpPr>
        <p:spPr>
          <a:xfrm flipH="1" flipV="1">
            <a:off x="3122077" y="4686112"/>
            <a:ext cx="30199" cy="21427"/>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DD0D57FB-A7CB-FBA4-E1CE-DAA4D8643C3A}"/>
              </a:ext>
            </a:extLst>
          </p:cNvPr>
          <p:cNvCxnSpPr/>
          <p:nvPr/>
        </p:nvCxnSpPr>
        <p:spPr>
          <a:xfrm flipH="1" flipV="1">
            <a:off x="3089668" y="4668200"/>
            <a:ext cx="32409" cy="17912"/>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89E7DCE0-5913-BD7B-D6AF-5AE3F3F35394}"/>
              </a:ext>
            </a:extLst>
          </p:cNvPr>
          <p:cNvCxnSpPr/>
          <p:nvPr/>
        </p:nvCxnSpPr>
        <p:spPr>
          <a:xfrm flipH="1" flipV="1">
            <a:off x="3055458" y="4654030"/>
            <a:ext cx="34210" cy="14170"/>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FAC69368-2A66-37A1-844A-EF952989B46E}"/>
              </a:ext>
            </a:extLst>
          </p:cNvPr>
          <p:cNvCxnSpPr/>
          <p:nvPr/>
        </p:nvCxnSpPr>
        <p:spPr>
          <a:xfrm flipH="1" flipV="1">
            <a:off x="3019876" y="4643779"/>
            <a:ext cx="35582" cy="10251"/>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34FBC3B5-6A01-DF53-366C-E3ADAFCDA50F}"/>
              </a:ext>
            </a:extLst>
          </p:cNvPr>
          <p:cNvCxnSpPr/>
          <p:nvPr/>
        </p:nvCxnSpPr>
        <p:spPr>
          <a:xfrm flipH="1" flipV="1">
            <a:off x="2983371" y="4637576"/>
            <a:ext cx="36505" cy="6203"/>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42BF2FB5-883A-1B8B-744D-B529808EF976}"/>
              </a:ext>
            </a:extLst>
          </p:cNvPr>
          <p:cNvCxnSpPr/>
          <p:nvPr/>
        </p:nvCxnSpPr>
        <p:spPr>
          <a:xfrm flipH="1" flipV="1">
            <a:off x="2946400" y="4635500"/>
            <a:ext cx="36971" cy="2076"/>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sp>
        <p:nvSpPr>
          <p:cNvPr id="51" name="text_50">
            <a:extLst>
              <a:ext uri="{FF2B5EF4-FFF2-40B4-BE49-F238E27FC236}">
                <a16:creationId xmlns:a16="http://schemas.microsoft.com/office/drawing/2014/main" id="{C2A56FB7-79BF-9B21-D8D5-12CD5D25112B}"/>
              </a:ext>
            </a:extLst>
          </p:cNvPr>
          <p:cNvSpPr txBox="1"/>
          <p:nvPr/>
        </p:nvSpPr>
        <p:spPr>
          <a:xfrm>
            <a:off x="5207000" y="3873499"/>
            <a:ext cx="6299200" cy="1219200"/>
          </a:xfrm>
          <a:prstGeom prst="rect">
            <a:avLst/>
          </a:prstGeom>
          <a:noFill/>
        </p:spPr>
        <p:txBody>
          <a:bodyPr vert="horz" wrap="square" lIns="0" tIns="0" rIns="0" bIns="0" rtlCol="0" anchor="t">
            <a:noAutofit/>
          </a:bodyPr>
          <a:lstStyle/>
          <a:p>
            <a:r>
              <a:rPr lang="fr-FR" sz="3000">
                <a:solidFill>
                  <a:srgbClr val="526477"/>
                </a:solidFill>
                <a:latin typeface="Aptos" panose="020B0004020202020204" pitchFamily="34" charset="0"/>
              </a:rPr>
              <a:t>20 min explanation
25 min code, demo &amp; questions</a:t>
            </a:r>
            <a:endParaRPr lang="en-IL" sz="3000">
              <a:solidFill>
                <a:srgbClr val="526477"/>
              </a:solidFill>
              <a:latin typeface="Aptos" panose="020B0004020202020204" pitchFamily="34" charset="0"/>
            </a:endParaRPr>
          </a:p>
        </p:txBody>
      </p:sp>
    </p:spTree>
    <p:extLst>
      <p:ext uri="{BB962C8B-B14F-4D97-AF65-F5344CB8AC3E}">
        <p14:creationId xmlns:p14="http://schemas.microsoft.com/office/powerpoint/2010/main" val="2349249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2C1EBBA4-4141-51A5-437D-74AD36AD2F81}"/>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03 / GAZEBO &amp; KINEMATICS</a:t>
            </a:r>
          </a:p>
        </p:txBody>
      </p:sp>
      <p:sp>
        <p:nvSpPr>
          <p:cNvPr id="3" name="text_2">
            <a:extLst>
              <a:ext uri="{FF2B5EF4-FFF2-40B4-BE49-F238E27FC236}">
                <a16:creationId xmlns:a16="http://schemas.microsoft.com/office/drawing/2014/main" id="{FFB97DE1-C136-2F75-6B83-230481EB3B62}"/>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What is Gazebo?</a:t>
            </a:r>
          </a:p>
        </p:txBody>
      </p:sp>
      <p:sp>
        <p:nvSpPr>
          <p:cNvPr id="4" name="text_3">
            <a:extLst>
              <a:ext uri="{FF2B5EF4-FFF2-40B4-BE49-F238E27FC236}">
                <a16:creationId xmlns:a16="http://schemas.microsoft.com/office/drawing/2014/main" id="{014F0DCE-92CD-A020-1620-28FDDBA14C57}"/>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A robotics simulator: a modeled system evolving in simulation time.</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F7D7A0E2-1E7B-C54D-2728-F4C7354913F4}"/>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D9DB86DA-D78A-CC50-B760-E2138E620923}"/>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IL" sz="1600">
                <a:solidFill>
                  <a:srgbClr val="526477"/>
                </a:solidFill>
                <a:latin typeface="Aptos" panose="020B0004020202020204" pitchFamily="34" charset="0"/>
              </a:rPr>
              <a:t>Robotics &amp; Autonomous Systems · ROS 2 Jazzy / Gazebo Harmonic</a:t>
            </a:r>
          </a:p>
        </p:txBody>
      </p:sp>
      <p:sp>
        <p:nvSpPr>
          <p:cNvPr id="7" name="text_6">
            <a:extLst>
              <a:ext uri="{FF2B5EF4-FFF2-40B4-BE49-F238E27FC236}">
                <a16:creationId xmlns:a16="http://schemas.microsoft.com/office/drawing/2014/main" id="{2247E27C-0165-A38F-D8EE-AF3976DBEFCA}"/>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02</a:t>
            </a:r>
          </a:p>
        </p:txBody>
      </p:sp>
      <p:pic>
        <p:nvPicPr>
          <p:cNvPr id="9" name="Picture 8">
            <a:extLst>
              <a:ext uri="{FF2B5EF4-FFF2-40B4-BE49-F238E27FC236}">
                <a16:creationId xmlns:a16="http://schemas.microsoft.com/office/drawing/2014/main" id="{DF0BD034-C1BE-59E7-0D05-85468453615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85800" y="2590800"/>
            <a:ext cx="6096000" cy="3451274"/>
          </a:xfrm>
          <a:prstGeom prst="rect">
            <a:avLst/>
          </a:prstGeom>
        </p:spPr>
      </p:pic>
      <p:sp>
        <p:nvSpPr>
          <p:cNvPr id="10" name="text_8">
            <a:extLst>
              <a:ext uri="{FF2B5EF4-FFF2-40B4-BE49-F238E27FC236}">
                <a16:creationId xmlns:a16="http://schemas.microsoft.com/office/drawing/2014/main" id="{F7494349-D5EB-4B92-77BB-65915CDA9AA8}"/>
              </a:ext>
            </a:extLst>
          </p:cNvPr>
          <p:cNvSpPr txBox="1"/>
          <p:nvPr/>
        </p:nvSpPr>
        <p:spPr>
          <a:xfrm>
            <a:off x="7302500" y="2590799"/>
            <a:ext cx="4203700" cy="5842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World + environment</a:t>
            </a:r>
          </a:p>
        </p:txBody>
      </p:sp>
      <p:sp>
        <p:nvSpPr>
          <p:cNvPr id="11" name="text_9">
            <a:extLst>
              <a:ext uri="{FF2B5EF4-FFF2-40B4-BE49-F238E27FC236}">
                <a16:creationId xmlns:a16="http://schemas.microsoft.com/office/drawing/2014/main" id="{A5F83DA4-BCC0-922A-5EC1-AF072A66E26E}"/>
              </a:ext>
            </a:extLst>
          </p:cNvPr>
          <p:cNvSpPr txBox="1"/>
          <p:nvPr/>
        </p:nvSpPr>
        <p:spPr>
          <a:xfrm>
            <a:off x="7302500" y="3263899"/>
            <a:ext cx="4203700" cy="584200"/>
          </a:xfrm>
          <a:prstGeom prst="rect">
            <a:avLst/>
          </a:prstGeom>
          <a:noFill/>
        </p:spPr>
        <p:txBody>
          <a:bodyPr vert="horz" wrap="square" lIns="0" tIns="0" rIns="0" bIns="0" rtlCol="0" anchor="t">
            <a:noAutofit/>
          </a:bodyPr>
          <a:lstStyle/>
          <a:p>
            <a:r>
              <a:rPr lang="en-IL" sz="2600" b="1">
                <a:solidFill>
                  <a:srgbClr val="137F79"/>
                </a:solidFill>
                <a:latin typeface="Aptos" panose="020B0004020202020204" pitchFamily="34" charset="0"/>
              </a:rPr>
              <a:t>Robot models</a:t>
            </a:r>
          </a:p>
        </p:txBody>
      </p:sp>
      <p:sp>
        <p:nvSpPr>
          <p:cNvPr id="12" name="text_10">
            <a:extLst>
              <a:ext uri="{FF2B5EF4-FFF2-40B4-BE49-F238E27FC236}">
                <a16:creationId xmlns:a16="http://schemas.microsoft.com/office/drawing/2014/main" id="{7CE58A5E-EC8D-81B0-68E1-5C10720991B0}"/>
              </a:ext>
            </a:extLst>
          </p:cNvPr>
          <p:cNvSpPr txBox="1"/>
          <p:nvPr/>
        </p:nvSpPr>
        <p:spPr>
          <a:xfrm>
            <a:off x="7302500" y="3936999"/>
            <a:ext cx="4203700" cy="5842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Physics + controllers</a:t>
            </a:r>
          </a:p>
        </p:txBody>
      </p:sp>
      <p:sp>
        <p:nvSpPr>
          <p:cNvPr id="13" name="text_11">
            <a:extLst>
              <a:ext uri="{FF2B5EF4-FFF2-40B4-BE49-F238E27FC236}">
                <a16:creationId xmlns:a16="http://schemas.microsoft.com/office/drawing/2014/main" id="{F528E98A-3A48-C9D9-CBC9-926D99D35A7A}"/>
              </a:ext>
            </a:extLst>
          </p:cNvPr>
          <p:cNvSpPr txBox="1"/>
          <p:nvPr/>
        </p:nvSpPr>
        <p:spPr>
          <a:xfrm>
            <a:off x="7302500" y="4610099"/>
            <a:ext cx="4203700" cy="584200"/>
          </a:xfrm>
          <a:prstGeom prst="rect">
            <a:avLst/>
          </a:prstGeom>
          <a:noFill/>
        </p:spPr>
        <p:txBody>
          <a:bodyPr vert="horz" wrap="square" lIns="0" tIns="0" rIns="0" bIns="0" rtlCol="0" anchor="t">
            <a:noAutofit/>
          </a:bodyPr>
          <a:lstStyle/>
          <a:p>
            <a:r>
              <a:rPr lang="en-IL" sz="2600" b="1">
                <a:solidFill>
                  <a:srgbClr val="137F79"/>
                </a:solidFill>
                <a:latin typeface="Aptos" panose="020B0004020202020204" pitchFamily="34" charset="0"/>
              </a:rPr>
              <a:t>Simulation time</a:t>
            </a:r>
          </a:p>
        </p:txBody>
      </p:sp>
      <p:sp>
        <p:nvSpPr>
          <p:cNvPr id="14" name="text_12">
            <a:extLst>
              <a:ext uri="{FF2B5EF4-FFF2-40B4-BE49-F238E27FC236}">
                <a16:creationId xmlns:a16="http://schemas.microsoft.com/office/drawing/2014/main" id="{969160B1-7150-F61D-6132-9DD192652AD6}"/>
              </a:ext>
            </a:extLst>
          </p:cNvPr>
          <p:cNvSpPr txBox="1"/>
          <p:nvPr/>
        </p:nvSpPr>
        <p:spPr>
          <a:xfrm>
            <a:off x="7302500" y="5283199"/>
            <a:ext cx="4203700" cy="5842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Optional sensors</a:t>
            </a:r>
          </a:p>
        </p:txBody>
      </p:sp>
    </p:spTree>
    <p:extLst>
      <p:ext uri="{BB962C8B-B14F-4D97-AF65-F5344CB8AC3E}">
        <p14:creationId xmlns:p14="http://schemas.microsoft.com/office/powerpoint/2010/main" val="37044286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C84A0F29-B541-170A-3466-640F1B40FE74}"/>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03 / GAZEBO &amp; KINEMATICS</a:t>
            </a:r>
          </a:p>
        </p:txBody>
      </p:sp>
      <p:sp>
        <p:nvSpPr>
          <p:cNvPr id="3" name="text_2">
            <a:extLst>
              <a:ext uri="{FF2B5EF4-FFF2-40B4-BE49-F238E27FC236}">
                <a16:creationId xmlns:a16="http://schemas.microsoft.com/office/drawing/2014/main" id="{85D4B6F2-282B-12B1-6FF6-E948CD39FD48}"/>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Why simulate robots?</a:t>
            </a:r>
          </a:p>
        </p:txBody>
      </p:sp>
      <p:sp>
        <p:nvSpPr>
          <p:cNvPr id="4" name="text_3">
            <a:extLst>
              <a:ext uri="{FF2B5EF4-FFF2-40B4-BE49-F238E27FC236}">
                <a16:creationId xmlns:a16="http://schemas.microsoft.com/office/drawing/2014/main" id="{3337E3A7-E7C1-F451-8F15-D8141F11D8E9}"/>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Test ideas early and observe them under repeatable conditions.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85762776-A337-FF91-2C19-1DF041AD5C73}"/>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8CC2412B-688F-CDB2-81D1-B44CA1FDA202}"/>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IL" sz="1600">
                <a:solidFill>
                  <a:srgbClr val="526477"/>
                </a:solidFill>
                <a:latin typeface="Aptos" panose="020B0004020202020204" pitchFamily="34" charset="0"/>
              </a:rPr>
              <a:t>Robotics &amp; Autonomous Systems · ROS 2 Jazzy / Gazebo Harmonic</a:t>
            </a:r>
          </a:p>
        </p:txBody>
      </p:sp>
      <p:sp>
        <p:nvSpPr>
          <p:cNvPr id="7" name="text_6">
            <a:extLst>
              <a:ext uri="{FF2B5EF4-FFF2-40B4-BE49-F238E27FC236}">
                <a16:creationId xmlns:a16="http://schemas.microsoft.com/office/drawing/2014/main" id="{D4256FA4-2260-CB4A-8120-08E49764E194}"/>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03</a:t>
            </a:r>
          </a:p>
        </p:txBody>
      </p:sp>
      <p:sp>
        <p:nvSpPr>
          <p:cNvPr id="8" name="Rectangle: Rounded Corners 7">
            <a:extLst>
              <a:ext uri="{FF2B5EF4-FFF2-40B4-BE49-F238E27FC236}">
                <a16:creationId xmlns:a16="http://schemas.microsoft.com/office/drawing/2014/main" id="{5D07F2FF-BA5C-BF53-6449-84F60CBCADEC}"/>
              </a:ext>
            </a:extLst>
          </p:cNvPr>
          <p:cNvSpPr/>
          <p:nvPr/>
        </p:nvSpPr>
        <p:spPr>
          <a:xfrm>
            <a:off x="685800" y="2501900"/>
            <a:ext cx="5207000" cy="13970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D6A39AF6-B64D-E124-8760-1FF293474B53}"/>
              </a:ext>
            </a:extLst>
          </p:cNvPr>
          <p:cNvSpPr txBox="1"/>
          <p:nvPr/>
        </p:nvSpPr>
        <p:spPr>
          <a:xfrm>
            <a:off x="914400" y="2692399"/>
            <a:ext cx="4749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Before hardware</a:t>
            </a:r>
          </a:p>
        </p:txBody>
      </p:sp>
      <p:sp>
        <p:nvSpPr>
          <p:cNvPr id="10" name="text_9">
            <a:extLst>
              <a:ext uri="{FF2B5EF4-FFF2-40B4-BE49-F238E27FC236}">
                <a16:creationId xmlns:a16="http://schemas.microsoft.com/office/drawing/2014/main" id="{00C52E6D-0D12-E43D-8D66-AF8956282DDA}"/>
              </a:ext>
            </a:extLst>
          </p:cNvPr>
          <p:cNvSpPr txBox="1"/>
          <p:nvPr/>
        </p:nvSpPr>
        <p:spPr>
          <a:xfrm>
            <a:off x="914400" y="3378199"/>
            <a:ext cx="4749800" cy="4318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Develop early.</a:t>
            </a:r>
          </a:p>
        </p:txBody>
      </p:sp>
      <p:sp>
        <p:nvSpPr>
          <p:cNvPr id="11" name="Rectangle: Rounded Corners 10">
            <a:extLst>
              <a:ext uri="{FF2B5EF4-FFF2-40B4-BE49-F238E27FC236}">
                <a16:creationId xmlns:a16="http://schemas.microsoft.com/office/drawing/2014/main" id="{9D096C74-B25A-7777-FF85-396F9377FAEE}"/>
              </a:ext>
            </a:extLst>
          </p:cNvPr>
          <p:cNvSpPr/>
          <p:nvPr/>
        </p:nvSpPr>
        <p:spPr>
          <a:xfrm>
            <a:off x="6172200" y="2501900"/>
            <a:ext cx="5334000" cy="13970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DE6A302E-EE84-2D35-1DEF-DAD482B74F76}"/>
              </a:ext>
            </a:extLst>
          </p:cNvPr>
          <p:cNvSpPr txBox="1"/>
          <p:nvPr/>
        </p:nvSpPr>
        <p:spPr>
          <a:xfrm>
            <a:off x="6400800" y="2692399"/>
            <a:ext cx="48768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Repeat a setup</a:t>
            </a:r>
          </a:p>
        </p:txBody>
      </p:sp>
      <p:sp>
        <p:nvSpPr>
          <p:cNvPr id="13" name="text_12">
            <a:extLst>
              <a:ext uri="{FF2B5EF4-FFF2-40B4-BE49-F238E27FC236}">
                <a16:creationId xmlns:a16="http://schemas.microsoft.com/office/drawing/2014/main" id="{9F9B847C-EAB6-773B-5F76-52A9BA2624DA}"/>
              </a:ext>
            </a:extLst>
          </p:cNvPr>
          <p:cNvSpPr txBox="1"/>
          <p:nvPr/>
        </p:nvSpPr>
        <p:spPr>
          <a:xfrm>
            <a:off x="6400800" y="3378199"/>
            <a:ext cx="4876800" cy="4318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Compare experiments.</a:t>
            </a:r>
          </a:p>
        </p:txBody>
      </p:sp>
      <p:sp>
        <p:nvSpPr>
          <p:cNvPr id="14" name="Rectangle: Rounded Corners 13">
            <a:extLst>
              <a:ext uri="{FF2B5EF4-FFF2-40B4-BE49-F238E27FC236}">
                <a16:creationId xmlns:a16="http://schemas.microsoft.com/office/drawing/2014/main" id="{1A8B140F-69F5-503C-35FB-07034B8BEB61}"/>
              </a:ext>
            </a:extLst>
          </p:cNvPr>
          <p:cNvSpPr/>
          <p:nvPr/>
        </p:nvSpPr>
        <p:spPr>
          <a:xfrm>
            <a:off x="685800" y="4152900"/>
            <a:ext cx="5207000" cy="13970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EAEBEF64-87A1-972A-7DE1-182CCAE91B99}"/>
              </a:ext>
            </a:extLst>
          </p:cNvPr>
          <p:cNvSpPr txBox="1"/>
          <p:nvPr/>
        </p:nvSpPr>
        <p:spPr>
          <a:xfrm>
            <a:off x="914400" y="4343399"/>
            <a:ext cx="47498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Try commands</a:t>
            </a:r>
          </a:p>
        </p:txBody>
      </p:sp>
      <p:sp>
        <p:nvSpPr>
          <p:cNvPr id="16" name="text_15">
            <a:extLst>
              <a:ext uri="{FF2B5EF4-FFF2-40B4-BE49-F238E27FC236}">
                <a16:creationId xmlns:a16="http://schemas.microsoft.com/office/drawing/2014/main" id="{77A1A9D6-48C0-C7C3-D92A-000B41770102}"/>
              </a:ext>
            </a:extLst>
          </p:cNvPr>
          <p:cNvSpPr txBox="1"/>
          <p:nvPr/>
        </p:nvSpPr>
        <p:spPr>
          <a:xfrm>
            <a:off x="914400" y="5029199"/>
            <a:ext cx="4749800" cy="4318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Observe virtual motion.</a:t>
            </a:r>
          </a:p>
        </p:txBody>
      </p:sp>
      <p:sp>
        <p:nvSpPr>
          <p:cNvPr id="17" name="Rectangle: Rounded Corners 16">
            <a:extLst>
              <a:ext uri="{FF2B5EF4-FFF2-40B4-BE49-F238E27FC236}">
                <a16:creationId xmlns:a16="http://schemas.microsoft.com/office/drawing/2014/main" id="{DD41CD41-7A9A-097B-D043-A8FC1E12DC45}"/>
              </a:ext>
            </a:extLst>
          </p:cNvPr>
          <p:cNvSpPr/>
          <p:nvPr/>
        </p:nvSpPr>
        <p:spPr>
          <a:xfrm>
            <a:off x="6172200" y="4152900"/>
            <a:ext cx="5334000" cy="13970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8" name="text_17">
            <a:extLst>
              <a:ext uri="{FF2B5EF4-FFF2-40B4-BE49-F238E27FC236}">
                <a16:creationId xmlns:a16="http://schemas.microsoft.com/office/drawing/2014/main" id="{A980F073-03F9-9C80-B773-19C13777DE8A}"/>
              </a:ext>
            </a:extLst>
          </p:cNvPr>
          <p:cNvSpPr txBox="1"/>
          <p:nvPr/>
        </p:nvSpPr>
        <p:spPr>
          <a:xfrm>
            <a:off x="6400800" y="4343399"/>
            <a:ext cx="4876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Inspect results</a:t>
            </a:r>
          </a:p>
        </p:txBody>
      </p:sp>
      <p:sp>
        <p:nvSpPr>
          <p:cNvPr id="19" name="text_18">
            <a:extLst>
              <a:ext uri="{FF2B5EF4-FFF2-40B4-BE49-F238E27FC236}">
                <a16:creationId xmlns:a16="http://schemas.microsoft.com/office/drawing/2014/main" id="{A8FD3C4B-2A80-C096-E3A5-89756415119C}"/>
              </a:ext>
            </a:extLst>
          </p:cNvPr>
          <p:cNvSpPr txBox="1"/>
          <p:nvPr/>
        </p:nvSpPr>
        <p:spPr>
          <a:xfrm>
            <a:off x="6400800" y="5029199"/>
            <a:ext cx="4876800" cy="4318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Read joints, frames, and time.</a:t>
            </a:r>
            <a:endParaRPr lang="en-IL" sz="2400">
              <a:solidFill>
                <a:srgbClr val="15283B"/>
              </a:solidFill>
              <a:latin typeface="Aptos" panose="020B0004020202020204" pitchFamily="34" charset="0"/>
            </a:endParaRPr>
          </a:p>
        </p:txBody>
      </p:sp>
      <p:sp>
        <p:nvSpPr>
          <p:cNvPr id="20" name="text_19">
            <a:extLst>
              <a:ext uri="{FF2B5EF4-FFF2-40B4-BE49-F238E27FC236}">
                <a16:creationId xmlns:a16="http://schemas.microsoft.com/office/drawing/2014/main" id="{04373280-C3F4-1537-563C-2F09A0FBF0EC}"/>
              </a:ext>
            </a:extLst>
          </p:cNvPr>
          <p:cNvSpPr txBox="1"/>
          <p:nvPr/>
        </p:nvSpPr>
        <p:spPr>
          <a:xfrm>
            <a:off x="685800" y="5702299"/>
            <a:ext cx="10820400" cy="508000"/>
          </a:xfrm>
          <a:prstGeom prst="rect">
            <a:avLst/>
          </a:prstGeom>
          <a:noFill/>
        </p:spPr>
        <p:txBody>
          <a:bodyPr vert="horz" wrap="square" lIns="0" tIns="0" rIns="0" bIns="0" rtlCol="0" anchor="t">
            <a:noAutofit/>
          </a:bodyPr>
          <a:lstStyle/>
          <a:p>
            <a:r>
              <a:rPr lang="en-US" sz="2500">
                <a:solidFill>
                  <a:srgbClr val="526477"/>
                </a:solidFill>
                <a:latin typeface="Aptos" panose="020B0004020202020204" pitchFamily="34" charset="0"/>
              </a:rPr>
              <a:t>Results depend on the model. Validate later on hardware.</a:t>
            </a:r>
            <a:endParaRPr lang="en-IL" sz="2500">
              <a:solidFill>
                <a:srgbClr val="526477"/>
              </a:solidFill>
              <a:latin typeface="Aptos" panose="020B0004020202020204" pitchFamily="34" charset="0"/>
            </a:endParaRPr>
          </a:p>
        </p:txBody>
      </p:sp>
    </p:spTree>
    <p:extLst>
      <p:ext uri="{BB962C8B-B14F-4D97-AF65-F5344CB8AC3E}">
        <p14:creationId xmlns:p14="http://schemas.microsoft.com/office/powerpoint/2010/main" val="39783126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AC568800-0AA5-2FC6-1526-2DD106644625}"/>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03 / GAZEBO &amp; KINEMATICS</a:t>
            </a:r>
          </a:p>
        </p:txBody>
      </p:sp>
      <p:sp>
        <p:nvSpPr>
          <p:cNvPr id="3" name="text_2">
            <a:extLst>
              <a:ext uri="{FF2B5EF4-FFF2-40B4-BE49-F238E27FC236}">
                <a16:creationId xmlns:a16="http://schemas.microsoft.com/office/drawing/2014/main" id="{C57DDC2C-D4EE-C676-B825-D0B3AD3C855B}"/>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Why Gazebo fits this course</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BFF2902A-54DC-A3C8-4778-0717EBB2494B}"/>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ROS integration and reusable configuration keep attention on robotics.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76F6105B-E9B3-1B76-C76C-CA022AF749D2}"/>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D69345E9-0753-8BC8-A7FD-D17E8AB849FB}"/>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IL" sz="1600">
                <a:solidFill>
                  <a:srgbClr val="526477"/>
                </a:solidFill>
                <a:latin typeface="Aptos" panose="020B0004020202020204" pitchFamily="34" charset="0"/>
              </a:rPr>
              <a:t>Robotics &amp; Autonomous Systems · ROS 2 Jazzy / Gazebo Harmonic</a:t>
            </a:r>
          </a:p>
        </p:txBody>
      </p:sp>
      <p:sp>
        <p:nvSpPr>
          <p:cNvPr id="7" name="text_6">
            <a:extLst>
              <a:ext uri="{FF2B5EF4-FFF2-40B4-BE49-F238E27FC236}">
                <a16:creationId xmlns:a16="http://schemas.microsoft.com/office/drawing/2014/main" id="{4B2AF2AE-39A8-64E8-A694-559138F11FEC}"/>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04</a:t>
            </a:r>
          </a:p>
        </p:txBody>
      </p:sp>
      <p:sp>
        <p:nvSpPr>
          <p:cNvPr id="8" name="Rectangle: Rounded Corners 7">
            <a:extLst>
              <a:ext uri="{FF2B5EF4-FFF2-40B4-BE49-F238E27FC236}">
                <a16:creationId xmlns:a16="http://schemas.microsoft.com/office/drawing/2014/main" id="{BF356978-44E5-ED28-9646-B32D3EE56749}"/>
              </a:ext>
            </a:extLst>
          </p:cNvPr>
          <p:cNvSpPr/>
          <p:nvPr/>
        </p:nvSpPr>
        <p:spPr>
          <a:xfrm>
            <a:off x="685800" y="2578100"/>
            <a:ext cx="5207000" cy="15240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6F526F8F-ACA4-0228-6802-8ECBDB3EF2B5}"/>
              </a:ext>
            </a:extLst>
          </p:cNvPr>
          <p:cNvSpPr txBox="1"/>
          <p:nvPr/>
        </p:nvSpPr>
        <p:spPr>
          <a:xfrm>
            <a:off x="914400" y="2768599"/>
            <a:ext cx="4749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ROS integration</a:t>
            </a:r>
          </a:p>
        </p:txBody>
      </p:sp>
      <p:sp>
        <p:nvSpPr>
          <p:cNvPr id="10" name="text_9">
            <a:extLst>
              <a:ext uri="{FF2B5EF4-FFF2-40B4-BE49-F238E27FC236}">
                <a16:creationId xmlns:a16="http://schemas.microsoft.com/office/drawing/2014/main" id="{26A22F27-1258-9B98-3458-0C0A6B206762}"/>
              </a:ext>
            </a:extLst>
          </p:cNvPr>
          <p:cNvSpPr txBox="1"/>
          <p:nvPr/>
        </p:nvSpPr>
        <p:spPr>
          <a:xfrm>
            <a:off x="914400" y="3454399"/>
            <a:ext cx="4749800" cy="5588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Launch, spawn, bridge messages.</a:t>
            </a:r>
          </a:p>
        </p:txBody>
      </p:sp>
      <p:sp>
        <p:nvSpPr>
          <p:cNvPr id="11" name="Rectangle: Rounded Corners 10">
            <a:extLst>
              <a:ext uri="{FF2B5EF4-FFF2-40B4-BE49-F238E27FC236}">
                <a16:creationId xmlns:a16="http://schemas.microsoft.com/office/drawing/2014/main" id="{B9D6352E-BCCA-BC9E-F6AB-7552670700C1}"/>
              </a:ext>
            </a:extLst>
          </p:cNvPr>
          <p:cNvSpPr/>
          <p:nvPr/>
        </p:nvSpPr>
        <p:spPr>
          <a:xfrm>
            <a:off x="6172200" y="2578100"/>
            <a:ext cx="5334000" cy="15240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97728749-B88C-A3C1-F7B2-8BABDD633731}"/>
              </a:ext>
            </a:extLst>
          </p:cNvPr>
          <p:cNvSpPr txBox="1"/>
          <p:nvPr/>
        </p:nvSpPr>
        <p:spPr>
          <a:xfrm>
            <a:off x="6400800" y="2768599"/>
            <a:ext cx="48768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Configurable models</a:t>
            </a:r>
          </a:p>
        </p:txBody>
      </p:sp>
      <p:sp>
        <p:nvSpPr>
          <p:cNvPr id="13" name="text_12">
            <a:extLst>
              <a:ext uri="{FF2B5EF4-FFF2-40B4-BE49-F238E27FC236}">
                <a16:creationId xmlns:a16="http://schemas.microsoft.com/office/drawing/2014/main" id="{5BF3E018-3135-AB49-306E-4563D783A4DA}"/>
              </a:ext>
            </a:extLst>
          </p:cNvPr>
          <p:cNvSpPr txBox="1"/>
          <p:nvPr/>
        </p:nvSpPr>
        <p:spPr>
          <a:xfrm>
            <a:off x="6400800" y="3454399"/>
            <a:ext cx="4876800" cy="5588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Robot, world, and topic mapping.</a:t>
            </a:r>
            <a:endParaRPr lang="en-IL" sz="2400">
              <a:solidFill>
                <a:srgbClr val="15283B"/>
              </a:solidFill>
              <a:latin typeface="Aptos" panose="020B0004020202020204" pitchFamily="34" charset="0"/>
            </a:endParaRPr>
          </a:p>
        </p:txBody>
      </p:sp>
      <p:sp>
        <p:nvSpPr>
          <p:cNvPr id="14" name="Rectangle: Rounded Corners 13">
            <a:extLst>
              <a:ext uri="{FF2B5EF4-FFF2-40B4-BE49-F238E27FC236}">
                <a16:creationId xmlns:a16="http://schemas.microsoft.com/office/drawing/2014/main" id="{5CB4D233-F9EE-4C6C-7DBC-0661CFACBFA3}"/>
              </a:ext>
            </a:extLst>
          </p:cNvPr>
          <p:cNvSpPr/>
          <p:nvPr/>
        </p:nvSpPr>
        <p:spPr>
          <a:xfrm>
            <a:off x="685800" y="4432300"/>
            <a:ext cx="5207000" cy="15240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48DFC01F-DE03-3E73-DDBA-2E7A12068D51}"/>
              </a:ext>
            </a:extLst>
          </p:cNvPr>
          <p:cNvSpPr txBox="1"/>
          <p:nvPr/>
        </p:nvSpPr>
        <p:spPr>
          <a:xfrm>
            <a:off x="914400" y="4622799"/>
            <a:ext cx="47498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Reusable systems</a:t>
            </a:r>
          </a:p>
        </p:txBody>
      </p:sp>
      <p:sp>
        <p:nvSpPr>
          <p:cNvPr id="16" name="text_15">
            <a:extLst>
              <a:ext uri="{FF2B5EF4-FFF2-40B4-BE49-F238E27FC236}">
                <a16:creationId xmlns:a16="http://schemas.microsoft.com/office/drawing/2014/main" id="{6D9BA834-651F-783B-138B-98FEB0D7F5FD}"/>
              </a:ext>
            </a:extLst>
          </p:cNvPr>
          <p:cNvSpPr txBox="1"/>
          <p:nvPr/>
        </p:nvSpPr>
        <p:spPr>
          <a:xfrm>
            <a:off x="914400" y="5308599"/>
            <a:ext cx="4749800" cy="5588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Physics, control, sensors.</a:t>
            </a:r>
          </a:p>
        </p:txBody>
      </p:sp>
      <p:sp>
        <p:nvSpPr>
          <p:cNvPr id="17" name="Rectangle: Rounded Corners 16">
            <a:extLst>
              <a:ext uri="{FF2B5EF4-FFF2-40B4-BE49-F238E27FC236}">
                <a16:creationId xmlns:a16="http://schemas.microsoft.com/office/drawing/2014/main" id="{C170E0A4-ACEE-EF26-4F2C-9CC527988814}"/>
              </a:ext>
            </a:extLst>
          </p:cNvPr>
          <p:cNvSpPr/>
          <p:nvPr/>
        </p:nvSpPr>
        <p:spPr>
          <a:xfrm>
            <a:off x="6172200" y="4432300"/>
            <a:ext cx="5334000" cy="15240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8" name="text_17">
            <a:extLst>
              <a:ext uri="{FF2B5EF4-FFF2-40B4-BE49-F238E27FC236}">
                <a16:creationId xmlns:a16="http://schemas.microsoft.com/office/drawing/2014/main" id="{D96AEFB2-3CF5-3E34-935D-26FEAF6E40CC}"/>
              </a:ext>
            </a:extLst>
          </p:cNvPr>
          <p:cNvSpPr txBox="1"/>
          <p:nvPr/>
        </p:nvSpPr>
        <p:spPr>
          <a:xfrm>
            <a:off x="6400800" y="4622799"/>
            <a:ext cx="4876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GUI or headless</a:t>
            </a:r>
          </a:p>
        </p:txBody>
      </p:sp>
      <p:sp>
        <p:nvSpPr>
          <p:cNvPr id="19" name="text_18">
            <a:extLst>
              <a:ext uri="{FF2B5EF4-FFF2-40B4-BE49-F238E27FC236}">
                <a16:creationId xmlns:a16="http://schemas.microsoft.com/office/drawing/2014/main" id="{AB66A38A-FDF2-40B6-7110-F54807613AF1}"/>
              </a:ext>
            </a:extLst>
          </p:cNvPr>
          <p:cNvSpPr txBox="1"/>
          <p:nvPr/>
        </p:nvSpPr>
        <p:spPr>
          <a:xfrm>
            <a:off x="6400800" y="5308599"/>
            <a:ext cx="4876800" cy="5588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Same model and physics.</a:t>
            </a:r>
          </a:p>
        </p:txBody>
      </p:sp>
    </p:spTree>
    <p:extLst>
      <p:ext uri="{BB962C8B-B14F-4D97-AF65-F5344CB8AC3E}">
        <p14:creationId xmlns:p14="http://schemas.microsoft.com/office/powerpoint/2010/main" val="14179274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D6AE3C6A-B7C9-5B7C-61B0-A69E873AFB24}"/>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03 / GAZEBO &amp; KINEMATICS</a:t>
            </a:r>
          </a:p>
        </p:txBody>
      </p:sp>
      <p:sp>
        <p:nvSpPr>
          <p:cNvPr id="3" name="text_2">
            <a:extLst>
              <a:ext uri="{FF2B5EF4-FFF2-40B4-BE49-F238E27FC236}">
                <a16:creationId xmlns:a16="http://schemas.microsoft.com/office/drawing/2014/main" id="{F6E1907F-1223-3E30-F22D-04238CACEF09}"/>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Gazebo, ROS, and RViz</a:t>
            </a:r>
          </a:p>
        </p:txBody>
      </p:sp>
      <p:sp>
        <p:nvSpPr>
          <p:cNvPr id="4" name="text_3">
            <a:extLst>
              <a:ext uri="{FF2B5EF4-FFF2-40B4-BE49-F238E27FC236}">
                <a16:creationId xmlns:a16="http://schemas.microsoft.com/office/drawing/2014/main" id="{DFF99D1F-6FC8-0BC6-F775-C6A6342CDD52}"/>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Each has a different role in the same robotics workflow.</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D5351C15-62EC-0B35-2680-D46E2617F9FF}"/>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CDB8F62C-668A-E432-AA27-24C246D66657}"/>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IL" sz="1600">
                <a:solidFill>
                  <a:srgbClr val="526477"/>
                </a:solidFill>
                <a:latin typeface="Aptos" panose="020B0004020202020204" pitchFamily="34" charset="0"/>
              </a:rPr>
              <a:t>Robotics &amp; Autonomous Systems · ROS 2 Jazzy / Gazebo Harmonic</a:t>
            </a:r>
          </a:p>
        </p:txBody>
      </p:sp>
      <p:sp>
        <p:nvSpPr>
          <p:cNvPr id="7" name="text_6">
            <a:extLst>
              <a:ext uri="{FF2B5EF4-FFF2-40B4-BE49-F238E27FC236}">
                <a16:creationId xmlns:a16="http://schemas.microsoft.com/office/drawing/2014/main" id="{E678D25A-32BD-50F9-44DA-C70715C9B5C2}"/>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05</a:t>
            </a:r>
          </a:p>
        </p:txBody>
      </p:sp>
      <p:sp>
        <p:nvSpPr>
          <p:cNvPr id="8" name="Rectangle: Rounded Corners 7">
            <a:extLst>
              <a:ext uri="{FF2B5EF4-FFF2-40B4-BE49-F238E27FC236}">
                <a16:creationId xmlns:a16="http://schemas.microsoft.com/office/drawing/2014/main" id="{65CA6042-E029-2E41-C307-CADC099ACD97}"/>
              </a:ext>
            </a:extLst>
          </p:cNvPr>
          <p:cNvSpPr/>
          <p:nvPr/>
        </p:nvSpPr>
        <p:spPr>
          <a:xfrm>
            <a:off x="685800" y="2730500"/>
            <a:ext cx="3429000" cy="28321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4668C48B-E14B-1A2A-4C88-0A3D0580781E}"/>
              </a:ext>
            </a:extLst>
          </p:cNvPr>
          <p:cNvSpPr txBox="1"/>
          <p:nvPr/>
        </p:nvSpPr>
        <p:spPr>
          <a:xfrm>
            <a:off x="914400" y="2920999"/>
            <a:ext cx="2971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Gazebo</a:t>
            </a:r>
          </a:p>
        </p:txBody>
      </p:sp>
      <p:sp>
        <p:nvSpPr>
          <p:cNvPr id="10" name="text_9">
            <a:extLst>
              <a:ext uri="{FF2B5EF4-FFF2-40B4-BE49-F238E27FC236}">
                <a16:creationId xmlns:a16="http://schemas.microsoft.com/office/drawing/2014/main" id="{4E2047C5-6151-8732-4355-3752B774E9A9}"/>
              </a:ext>
            </a:extLst>
          </p:cNvPr>
          <p:cNvSpPr txBox="1"/>
          <p:nvPr/>
        </p:nvSpPr>
        <p:spPr>
          <a:xfrm>
            <a:off x="914400" y="3606799"/>
            <a:ext cx="2971800" cy="18669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Simulates motion
Produces measurements</a:t>
            </a:r>
          </a:p>
        </p:txBody>
      </p:sp>
      <p:sp>
        <p:nvSpPr>
          <p:cNvPr id="11" name="Rectangle: Rounded Corners 10">
            <a:extLst>
              <a:ext uri="{FF2B5EF4-FFF2-40B4-BE49-F238E27FC236}">
                <a16:creationId xmlns:a16="http://schemas.microsoft.com/office/drawing/2014/main" id="{C6F44ED7-7A71-445A-615F-359271E974C5}"/>
              </a:ext>
            </a:extLst>
          </p:cNvPr>
          <p:cNvSpPr/>
          <p:nvPr/>
        </p:nvSpPr>
        <p:spPr>
          <a:xfrm>
            <a:off x="4381500" y="2730500"/>
            <a:ext cx="3429000" cy="28321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D3C57396-D742-23F6-3F32-75DB09DCCE4D}"/>
              </a:ext>
            </a:extLst>
          </p:cNvPr>
          <p:cNvSpPr txBox="1"/>
          <p:nvPr/>
        </p:nvSpPr>
        <p:spPr>
          <a:xfrm>
            <a:off x="4610100" y="2920999"/>
            <a:ext cx="29718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ROS</a:t>
            </a:r>
          </a:p>
        </p:txBody>
      </p:sp>
      <p:sp>
        <p:nvSpPr>
          <p:cNvPr id="13" name="text_12">
            <a:extLst>
              <a:ext uri="{FF2B5EF4-FFF2-40B4-BE49-F238E27FC236}">
                <a16:creationId xmlns:a16="http://schemas.microsoft.com/office/drawing/2014/main" id="{B4180864-CE9B-B7C7-F451-56AD4C03278D}"/>
              </a:ext>
            </a:extLst>
          </p:cNvPr>
          <p:cNvSpPr txBox="1"/>
          <p:nvPr/>
        </p:nvSpPr>
        <p:spPr>
          <a:xfrm>
            <a:off x="4610100" y="3606799"/>
            <a:ext cx="2971800" cy="18669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Communicates data
Runs robot logic</a:t>
            </a:r>
          </a:p>
        </p:txBody>
      </p:sp>
      <p:sp>
        <p:nvSpPr>
          <p:cNvPr id="14" name="Rectangle: Rounded Corners 13">
            <a:extLst>
              <a:ext uri="{FF2B5EF4-FFF2-40B4-BE49-F238E27FC236}">
                <a16:creationId xmlns:a16="http://schemas.microsoft.com/office/drawing/2014/main" id="{2EAFA4E0-70D3-83DD-8F6F-2EE65E8095AE}"/>
              </a:ext>
            </a:extLst>
          </p:cNvPr>
          <p:cNvSpPr/>
          <p:nvPr/>
        </p:nvSpPr>
        <p:spPr>
          <a:xfrm>
            <a:off x="8077200" y="2730500"/>
            <a:ext cx="3429000" cy="28321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A3BF73C9-BBD4-0411-3BA3-19C666B191D1}"/>
              </a:ext>
            </a:extLst>
          </p:cNvPr>
          <p:cNvSpPr txBox="1"/>
          <p:nvPr/>
        </p:nvSpPr>
        <p:spPr>
          <a:xfrm>
            <a:off x="8305800" y="2920999"/>
            <a:ext cx="2971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RViz</a:t>
            </a:r>
          </a:p>
        </p:txBody>
      </p:sp>
      <p:sp>
        <p:nvSpPr>
          <p:cNvPr id="16" name="text_15">
            <a:extLst>
              <a:ext uri="{FF2B5EF4-FFF2-40B4-BE49-F238E27FC236}">
                <a16:creationId xmlns:a16="http://schemas.microsoft.com/office/drawing/2014/main" id="{1C9AB23E-1FEC-D8C1-70FE-8801824FD6F5}"/>
              </a:ext>
            </a:extLst>
          </p:cNvPr>
          <p:cNvSpPr txBox="1"/>
          <p:nvPr/>
        </p:nvSpPr>
        <p:spPr>
          <a:xfrm>
            <a:off x="8305800" y="3606799"/>
            <a:ext cx="2971800" cy="18669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Visualizes ROS data
Optional in this demo</a:t>
            </a:r>
          </a:p>
        </p:txBody>
      </p:sp>
      <p:sp>
        <p:nvSpPr>
          <p:cNvPr id="17" name="text_16">
            <a:extLst>
              <a:ext uri="{FF2B5EF4-FFF2-40B4-BE49-F238E27FC236}">
                <a16:creationId xmlns:a16="http://schemas.microsoft.com/office/drawing/2014/main" id="{B7A189CC-9ABB-907E-8457-CAC8DFAAFF3A}"/>
              </a:ext>
            </a:extLst>
          </p:cNvPr>
          <p:cNvSpPr txBox="1"/>
          <p:nvPr/>
        </p:nvSpPr>
        <p:spPr>
          <a:xfrm>
            <a:off x="685800" y="5714999"/>
            <a:ext cx="10820400" cy="469900"/>
          </a:xfrm>
          <a:prstGeom prst="rect">
            <a:avLst/>
          </a:prstGeom>
          <a:noFill/>
        </p:spPr>
        <p:txBody>
          <a:bodyPr vert="horz" wrap="square" lIns="0" tIns="0" rIns="0" bIns="0" rtlCol="0" anchor="t">
            <a:noAutofit/>
          </a:bodyPr>
          <a:lstStyle/>
          <a:p>
            <a:r>
              <a:rPr lang="en-IL" sz="2500">
                <a:solidFill>
                  <a:srgbClr val="526477"/>
                </a:solidFill>
                <a:latin typeface="Aptos" panose="020B0004020202020204" pitchFamily="34" charset="0"/>
              </a:rPr>
              <a:t>Simulation ↔ ROS data → visualization</a:t>
            </a:r>
          </a:p>
        </p:txBody>
      </p:sp>
    </p:spTree>
    <p:extLst>
      <p:ext uri="{BB962C8B-B14F-4D97-AF65-F5344CB8AC3E}">
        <p14:creationId xmlns:p14="http://schemas.microsoft.com/office/powerpoint/2010/main" val="23225751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8F03C8EE-81E3-D386-2EB7-FC8E35FD63EE}"/>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03 / GAZEBO &amp; KINEMATICS</a:t>
            </a:r>
          </a:p>
        </p:txBody>
      </p:sp>
      <p:sp>
        <p:nvSpPr>
          <p:cNvPr id="3" name="text_2">
            <a:extLst>
              <a:ext uri="{FF2B5EF4-FFF2-40B4-BE49-F238E27FC236}">
                <a16:creationId xmlns:a16="http://schemas.microsoft.com/office/drawing/2014/main" id="{28818FD1-ACEC-8EFC-A6ED-D340C54161AA}"/>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The ROS–Gazebo bridge</a:t>
            </a:r>
          </a:p>
        </p:txBody>
      </p:sp>
      <p:sp>
        <p:nvSpPr>
          <p:cNvPr id="4" name="text_3">
            <a:extLst>
              <a:ext uri="{FF2B5EF4-FFF2-40B4-BE49-F238E27FC236}">
                <a16:creationId xmlns:a16="http://schemas.microsoft.com/office/drawing/2014/main" id="{99ECC65C-E302-40FE-1F38-BF2D43985D72}"/>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Explicit message mappings connect two communication systems.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C972EE0C-38D8-D199-F36D-A8952F1FEB80}"/>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DE61D37C-677B-29A8-C576-2F001BF7F35E}"/>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IL" sz="1600">
                <a:solidFill>
                  <a:srgbClr val="526477"/>
                </a:solidFill>
                <a:latin typeface="Aptos" panose="020B0004020202020204" pitchFamily="34" charset="0"/>
              </a:rPr>
              <a:t>Robotics &amp; Autonomous Systems · ROS 2 Jazzy / Gazebo Harmonic</a:t>
            </a:r>
          </a:p>
        </p:txBody>
      </p:sp>
      <p:sp>
        <p:nvSpPr>
          <p:cNvPr id="7" name="text_6">
            <a:extLst>
              <a:ext uri="{FF2B5EF4-FFF2-40B4-BE49-F238E27FC236}">
                <a16:creationId xmlns:a16="http://schemas.microsoft.com/office/drawing/2014/main" id="{D52B65A0-AFCF-A8EF-3BAF-1321FE37305A}"/>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06</a:t>
            </a:r>
          </a:p>
        </p:txBody>
      </p:sp>
      <p:sp>
        <p:nvSpPr>
          <p:cNvPr id="8" name="text_7">
            <a:extLst>
              <a:ext uri="{FF2B5EF4-FFF2-40B4-BE49-F238E27FC236}">
                <a16:creationId xmlns:a16="http://schemas.microsoft.com/office/drawing/2014/main" id="{716DAA56-55A6-BA2B-21A7-7F6914DC41F6}"/>
              </a:ext>
            </a:extLst>
          </p:cNvPr>
          <p:cNvSpPr txBox="1"/>
          <p:nvPr/>
        </p:nvSpPr>
        <p:spPr>
          <a:xfrm>
            <a:off x="685800" y="2514599"/>
            <a:ext cx="10820400" cy="482600"/>
          </a:xfrm>
          <a:prstGeom prst="rect">
            <a:avLst/>
          </a:prstGeom>
          <a:noFill/>
        </p:spPr>
        <p:txBody>
          <a:bodyPr vert="horz" wrap="square" lIns="0" tIns="0" rIns="0" bIns="0" rtlCol="0" anchor="t">
            <a:noAutofit/>
          </a:bodyPr>
          <a:lstStyle/>
          <a:p>
            <a:pPr algn="ctr"/>
            <a:r>
              <a:rPr lang="en-IL" sz="2400" b="1">
                <a:solidFill>
                  <a:srgbClr val="2459D3"/>
                </a:solidFill>
                <a:latin typeface="Consolas" panose="020B0609020204030204" pitchFamily="49" charset="0"/>
              </a:rPr>
              <a:t>/arm/joint1/cmd_pos  +  /arm/joint2/cmd_pos</a:t>
            </a:r>
          </a:p>
        </p:txBody>
      </p:sp>
      <p:sp>
        <p:nvSpPr>
          <p:cNvPr id="9" name="Rectangle: Rounded Corners 8">
            <a:extLst>
              <a:ext uri="{FF2B5EF4-FFF2-40B4-BE49-F238E27FC236}">
                <a16:creationId xmlns:a16="http://schemas.microsoft.com/office/drawing/2014/main" id="{AF491EEF-C56A-BB5E-0D22-99ABC0E85EAD}"/>
              </a:ext>
            </a:extLst>
          </p:cNvPr>
          <p:cNvSpPr/>
          <p:nvPr/>
        </p:nvSpPr>
        <p:spPr>
          <a:xfrm>
            <a:off x="685800" y="3225800"/>
            <a:ext cx="2717800" cy="14351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 name="text_9">
            <a:extLst>
              <a:ext uri="{FF2B5EF4-FFF2-40B4-BE49-F238E27FC236}">
                <a16:creationId xmlns:a16="http://schemas.microsoft.com/office/drawing/2014/main" id="{F6A6407F-1190-144D-ED44-E77864962954}"/>
              </a:ext>
            </a:extLst>
          </p:cNvPr>
          <p:cNvSpPr txBox="1"/>
          <p:nvPr/>
        </p:nvSpPr>
        <p:spPr>
          <a:xfrm>
            <a:off x="787400" y="3416299"/>
            <a:ext cx="2514600" cy="1003300"/>
          </a:xfrm>
          <a:prstGeom prst="rect">
            <a:avLst/>
          </a:prstGeom>
          <a:noFill/>
        </p:spPr>
        <p:txBody>
          <a:bodyPr vert="horz" wrap="square" lIns="0" tIns="0" rIns="0" bIns="0" rtlCol="0" anchor="t">
            <a:noAutofit/>
          </a:bodyPr>
          <a:lstStyle/>
          <a:p>
            <a:pPr algn="ctr"/>
            <a:r>
              <a:rPr lang="en-IL" sz="2400" b="1">
                <a:solidFill>
                  <a:srgbClr val="2459D3"/>
                </a:solidFill>
                <a:latin typeface="Aptos" panose="020B0004020202020204" pitchFamily="34" charset="0"/>
              </a:rPr>
              <a:t>ROS
command_arm</a:t>
            </a:r>
          </a:p>
        </p:txBody>
      </p:sp>
      <p:sp>
        <p:nvSpPr>
          <p:cNvPr id="11" name="Rectangle: Rounded Corners 10">
            <a:extLst>
              <a:ext uri="{FF2B5EF4-FFF2-40B4-BE49-F238E27FC236}">
                <a16:creationId xmlns:a16="http://schemas.microsoft.com/office/drawing/2014/main" id="{2B2DB933-E778-6B55-6E27-F2C1CA7FE8F8}"/>
              </a:ext>
            </a:extLst>
          </p:cNvPr>
          <p:cNvSpPr/>
          <p:nvPr/>
        </p:nvSpPr>
        <p:spPr>
          <a:xfrm>
            <a:off x="4521200" y="3225800"/>
            <a:ext cx="3149600" cy="1435100"/>
          </a:xfrm>
          <a:prstGeom prst="roundRect">
            <a:avLst>
              <a:gd name="adj" fmla="val 9000"/>
            </a:avLst>
          </a:prstGeom>
          <a:solidFill>
            <a:srgbClr val="FFFFFF"/>
          </a:solidFill>
          <a:ln w="16510">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4A4512F1-88D3-A843-130C-A2FFA2BF52AC}"/>
              </a:ext>
            </a:extLst>
          </p:cNvPr>
          <p:cNvSpPr txBox="1"/>
          <p:nvPr/>
        </p:nvSpPr>
        <p:spPr>
          <a:xfrm>
            <a:off x="4673600" y="3606799"/>
            <a:ext cx="2844800" cy="749300"/>
          </a:xfrm>
          <a:prstGeom prst="rect">
            <a:avLst/>
          </a:prstGeom>
          <a:noFill/>
        </p:spPr>
        <p:txBody>
          <a:bodyPr vert="horz" wrap="square" lIns="0" tIns="0" rIns="0" bIns="0" rtlCol="0" anchor="t">
            <a:noAutofit/>
          </a:bodyPr>
          <a:lstStyle/>
          <a:p>
            <a:pPr algn="ctr"/>
            <a:r>
              <a:rPr lang="en-IL" sz="2600" b="1">
                <a:solidFill>
                  <a:srgbClr val="15283B"/>
                </a:solidFill>
                <a:latin typeface="Aptos" panose="020B0004020202020204" pitchFamily="34" charset="0"/>
              </a:rPr>
              <a:t>ros_gz_bridge</a:t>
            </a:r>
          </a:p>
        </p:txBody>
      </p:sp>
      <p:sp>
        <p:nvSpPr>
          <p:cNvPr id="13" name="Rectangle: Rounded Corners 12">
            <a:extLst>
              <a:ext uri="{FF2B5EF4-FFF2-40B4-BE49-F238E27FC236}">
                <a16:creationId xmlns:a16="http://schemas.microsoft.com/office/drawing/2014/main" id="{09686890-94F9-18CC-4366-EB3308CD2784}"/>
              </a:ext>
            </a:extLst>
          </p:cNvPr>
          <p:cNvSpPr/>
          <p:nvPr/>
        </p:nvSpPr>
        <p:spPr>
          <a:xfrm>
            <a:off x="8788400" y="3225800"/>
            <a:ext cx="2717800" cy="14351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4" name="text_13">
            <a:extLst>
              <a:ext uri="{FF2B5EF4-FFF2-40B4-BE49-F238E27FC236}">
                <a16:creationId xmlns:a16="http://schemas.microsoft.com/office/drawing/2014/main" id="{FA11544A-20EC-AC48-092F-A32F40AD006D}"/>
              </a:ext>
            </a:extLst>
          </p:cNvPr>
          <p:cNvSpPr txBox="1"/>
          <p:nvPr/>
        </p:nvSpPr>
        <p:spPr>
          <a:xfrm>
            <a:off x="8940800" y="3416299"/>
            <a:ext cx="2413000" cy="1003300"/>
          </a:xfrm>
          <a:prstGeom prst="rect">
            <a:avLst/>
          </a:prstGeom>
          <a:noFill/>
        </p:spPr>
        <p:txBody>
          <a:bodyPr vert="horz" wrap="square" lIns="0" tIns="0" rIns="0" bIns="0" rtlCol="0" anchor="t">
            <a:noAutofit/>
          </a:bodyPr>
          <a:lstStyle/>
          <a:p>
            <a:pPr algn="ctr"/>
            <a:r>
              <a:rPr lang="en-IL" sz="2600" b="1">
                <a:solidFill>
                  <a:srgbClr val="137F79"/>
                </a:solidFill>
                <a:latin typeface="Aptos" panose="020B0004020202020204" pitchFamily="34" charset="0"/>
              </a:rPr>
              <a:t>Gazebo
controllers</a:t>
            </a:r>
          </a:p>
        </p:txBody>
      </p:sp>
      <p:cxnSp>
        <p:nvCxnSpPr>
          <p:cNvPr id="15" name="Straight Connector 14">
            <a:extLst>
              <a:ext uri="{FF2B5EF4-FFF2-40B4-BE49-F238E27FC236}">
                <a16:creationId xmlns:a16="http://schemas.microsoft.com/office/drawing/2014/main" id="{063B1B40-D005-6F4F-6337-1F98E02F7806}"/>
              </a:ext>
            </a:extLst>
          </p:cNvPr>
          <p:cNvCxnSpPr/>
          <p:nvPr/>
        </p:nvCxnSpPr>
        <p:spPr>
          <a:xfrm>
            <a:off x="3403600" y="3556000"/>
            <a:ext cx="9652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84A22E9-1855-77B8-9A07-86B9BE5FD861}"/>
              </a:ext>
            </a:extLst>
          </p:cNvPr>
          <p:cNvCxnSpPr/>
          <p:nvPr/>
        </p:nvCxnSpPr>
        <p:spPr>
          <a:xfrm>
            <a:off x="7670800" y="3556000"/>
            <a:ext cx="9652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6079714E-3E8B-7286-2FAC-FB0C3EFCDE31}"/>
              </a:ext>
            </a:extLst>
          </p:cNvPr>
          <p:cNvCxnSpPr/>
          <p:nvPr/>
        </p:nvCxnSpPr>
        <p:spPr>
          <a:xfrm flipH="1">
            <a:off x="7823200" y="4318000"/>
            <a:ext cx="965200" cy="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96A9FC80-2CEF-E9F8-35FA-F77E6AA58FA3}"/>
              </a:ext>
            </a:extLst>
          </p:cNvPr>
          <p:cNvCxnSpPr/>
          <p:nvPr/>
        </p:nvCxnSpPr>
        <p:spPr>
          <a:xfrm flipH="1">
            <a:off x="3556000" y="4318000"/>
            <a:ext cx="965200" cy="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sp>
        <p:nvSpPr>
          <p:cNvPr id="19" name="text_18">
            <a:extLst>
              <a:ext uri="{FF2B5EF4-FFF2-40B4-BE49-F238E27FC236}">
                <a16:creationId xmlns:a16="http://schemas.microsoft.com/office/drawing/2014/main" id="{AA179562-AEEC-FC0C-39DC-656530D80B93}"/>
              </a:ext>
            </a:extLst>
          </p:cNvPr>
          <p:cNvSpPr txBox="1"/>
          <p:nvPr/>
        </p:nvSpPr>
        <p:spPr>
          <a:xfrm>
            <a:off x="685800" y="4775199"/>
            <a:ext cx="10820400" cy="469900"/>
          </a:xfrm>
          <a:prstGeom prst="rect">
            <a:avLst/>
          </a:prstGeom>
          <a:noFill/>
        </p:spPr>
        <p:txBody>
          <a:bodyPr vert="horz" wrap="square" lIns="0" tIns="0" rIns="0" bIns="0" rtlCol="0" anchor="t">
            <a:noAutofit/>
          </a:bodyPr>
          <a:lstStyle/>
          <a:p>
            <a:pPr algn="ctr"/>
            <a:r>
              <a:rPr lang="en-IL" sz="2500" b="1">
                <a:solidFill>
                  <a:srgbClr val="137F79"/>
                </a:solidFill>
                <a:latin typeface="Consolas" panose="020B0609020204030204" pitchFamily="49" charset="0"/>
              </a:rPr>
              <a:t>/joint_states  +  /clock</a:t>
            </a:r>
          </a:p>
        </p:txBody>
      </p:sp>
      <p:sp>
        <p:nvSpPr>
          <p:cNvPr id="20" name="Rectangle: Rounded Corners 19">
            <a:extLst>
              <a:ext uri="{FF2B5EF4-FFF2-40B4-BE49-F238E27FC236}">
                <a16:creationId xmlns:a16="http://schemas.microsoft.com/office/drawing/2014/main" id="{7796069E-7462-E555-746C-8CF272E552F6}"/>
              </a:ext>
            </a:extLst>
          </p:cNvPr>
          <p:cNvSpPr/>
          <p:nvPr/>
        </p:nvSpPr>
        <p:spPr>
          <a:xfrm>
            <a:off x="685800" y="5499100"/>
            <a:ext cx="2895600" cy="5588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1" name="text_20">
            <a:extLst>
              <a:ext uri="{FF2B5EF4-FFF2-40B4-BE49-F238E27FC236}">
                <a16:creationId xmlns:a16="http://schemas.microsoft.com/office/drawing/2014/main" id="{180F29CA-5EF8-F6DA-E69A-838AB2D634B9}"/>
              </a:ext>
            </a:extLst>
          </p:cNvPr>
          <p:cNvSpPr txBox="1"/>
          <p:nvPr/>
        </p:nvSpPr>
        <p:spPr>
          <a:xfrm>
            <a:off x="825500" y="5587999"/>
            <a:ext cx="2616200" cy="419100"/>
          </a:xfrm>
          <a:prstGeom prst="rect">
            <a:avLst/>
          </a:prstGeom>
          <a:noFill/>
        </p:spPr>
        <p:txBody>
          <a:bodyPr vert="horz" wrap="square" lIns="0" tIns="0" rIns="0" bIns="0" rtlCol="0" anchor="t">
            <a:noAutofit/>
          </a:bodyPr>
          <a:lstStyle/>
          <a:p>
            <a:pPr algn="ctr"/>
            <a:r>
              <a:rPr lang="en-IL" sz="2400">
                <a:solidFill>
                  <a:srgbClr val="137F79"/>
                </a:solidFill>
                <a:latin typeface="Aptos" panose="020B0004020202020204" pitchFamily="34" charset="0"/>
              </a:rPr>
              <a:t>/joint_states</a:t>
            </a:r>
          </a:p>
        </p:txBody>
      </p:sp>
      <p:sp>
        <p:nvSpPr>
          <p:cNvPr id="22" name="Rectangle: Rounded Corners 21">
            <a:extLst>
              <a:ext uri="{FF2B5EF4-FFF2-40B4-BE49-F238E27FC236}">
                <a16:creationId xmlns:a16="http://schemas.microsoft.com/office/drawing/2014/main" id="{5E66DF49-7661-BDA6-648D-4065A54E56F2}"/>
              </a:ext>
            </a:extLst>
          </p:cNvPr>
          <p:cNvSpPr/>
          <p:nvPr/>
        </p:nvSpPr>
        <p:spPr>
          <a:xfrm>
            <a:off x="4508500" y="5499100"/>
            <a:ext cx="5016500" cy="5588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3" name="text_22">
            <a:extLst>
              <a:ext uri="{FF2B5EF4-FFF2-40B4-BE49-F238E27FC236}">
                <a16:creationId xmlns:a16="http://schemas.microsoft.com/office/drawing/2014/main" id="{C71D93BB-29B4-5799-70D2-A5C08EC12968}"/>
              </a:ext>
            </a:extLst>
          </p:cNvPr>
          <p:cNvSpPr txBox="1"/>
          <p:nvPr/>
        </p:nvSpPr>
        <p:spPr>
          <a:xfrm>
            <a:off x="4635500" y="5587999"/>
            <a:ext cx="4762500" cy="419100"/>
          </a:xfrm>
          <a:prstGeom prst="rect">
            <a:avLst/>
          </a:prstGeom>
          <a:noFill/>
        </p:spPr>
        <p:txBody>
          <a:bodyPr vert="horz" wrap="square" lIns="0" tIns="0" rIns="0" bIns="0" rtlCol="0" anchor="t">
            <a:noAutofit/>
          </a:bodyPr>
          <a:lstStyle/>
          <a:p>
            <a:pPr algn="ctr"/>
            <a:r>
              <a:rPr lang="en-IL" sz="2400">
                <a:solidFill>
                  <a:srgbClr val="2459D3"/>
                </a:solidFill>
                <a:latin typeface="Aptos" panose="020B0004020202020204" pitchFamily="34" charset="0"/>
              </a:rPr>
              <a:t>robot_state_publisher + URDF</a:t>
            </a:r>
          </a:p>
        </p:txBody>
      </p:sp>
      <p:sp>
        <p:nvSpPr>
          <p:cNvPr id="24" name="Rectangle: Rounded Corners 23">
            <a:extLst>
              <a:ext uri="{FF2B5EF4-FFF2-40B4-BE49-F238E27FC236}">
                <a16:creationId xmlns:a16="http://schemas.microsoft.com/office/drawing/2014/main" id="{DF3DF31E-5F66-B390-2375-768BABE474CF}"/>
              </a:ext>
            </a:extLst>
          </p:cNvPr>
          <p:cNvSpPr/>
          <p:nvPr/>
        </p:nvSpPr>
        <p:spPr>
          <a:xfrm>
            <a:off x="10160000" y="5499100"/>
            <a:ext cx="1346200" cy="5588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5" name="text_24">
            <a:extLst>
              <a:ext uri="{FF2B5EF4-FFF2-40B4-BE49-F238E27FC236}">
                <a16:creationId xmlns:a16="http://schemas.microsoft.com/office/drawing/2014/main" id="{8C982FBB-FBA3-55A6-483C-16C8DB59FAD6}"/>
              </a:ext>
            </a:extLst>
          </p:cNvPr>
          <p:cNvSpPr txBox="1"/>
          <p:nvPr/>
        </p:nvSpPr>
        <p:spPr>
          <a:xfrm>
            <a:off x="10287000" y="5587999"/>
            <a:ext cx="1092200" cy="419100"/>
          </a:xfrm>
          <a:prstGeom prst="rect">
            <a:avLst/>
          </a:prstGeom>
          <a:noFill/>
        </p:spPr>
        <p:txBody>
          <a:bodyPr vert="horz" wrap="square" lIns="0" tIns="0" rIns="0" bIns="0" rtlCol="0" anchor="t">
            <a:noAutofit/>
          </a:bodyPr>
          <a:lstStyle/>
          <a:p>
            <a:pPr algn="ctr"/>
            <a:r>
              <a:rPr lang="en-IL" sz="2400" b="1">
                <a:solidFill>
                  <a:srgbClr val="137F79"/>
                </a:solidFill>
                <a:latin typeface="Aptos" panose="020B0004020202020204" pitchFamily="34" charset="0"/>
              </a:rPr>
              <a:t>TF</a:t>
            </a:r>
          </a:p>
        </p:txBody>
      </p:sp>
      <p:cxnSp>
        <p:nvCxnSpPr>
          <p:cNvPr id="26" name="Straight Connector 25">
            <a:extLst>
              <a:ext uri="{FF2B5EF4-FFF2-40B4-BE49-F238E27FC236}">
                <a16:creationId xmlns:a16="http://schemas.microsoft.com/office/drawing/2014/main" id="{48A5E83C-7265-C728-4C6F-D6BA46D21A50}"/>
              </a:ext>
            </a:extLst>
          </p:cNvPr>
          <p:cNvCxnSpPr/>
          <p:nvPr/>
        </p:nvCxnSpPr>
        <p:spPr>
          <a:xfrm>
            <a:off x="3581400" y="5778500"/>
            <a:ext cx="774700" cy="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A6C8A9AD-7A9F-6595-06B3-241896D405D2}"/>
              </a:ext>
            </a:extLst>
          </p:cNvPr>
          <p:cNvCxnSpPr/>
          <p:nvPr/>
        </p:nvCxnSpPr>
        <p:spPr>
          <a:xfrm>
            <a:off x="9525000" y="5778500"/>
            <a:ext cx="482600" cy="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566433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2CCF9E7A-ECF5-CC71-D9BD-B2EC55D08538}"/>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03 / GAZEBO &amp; KINEMATICS</a:t>
            </a:r>
          </a:p>
        </p:txBody>
      </p:sp>
      <p:sp>
        <p:nvSpPr>
          <p:cNvPr id="3" name="text_2">
            <a:extLst>
              <a:ext uri="{FF2B5EF4-FFF2-40B4-BE49-F238E27FC236}">
                <a16:creationId xmlns:a16="http://schemas.microsoft.com/office/drawing/2014/main" id="{1FFABB55-D378-4E40-AAB9-716CF6BA3517}"/>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The workflow</a:t>
            </a:r>
          </a:p>
        </p:txBody>
      </p:sp>
      <p:sp>
        <p:nvSpPr>
          <p:cNvPr id="4" name="text_3">
            <a:extLst>
              <a:ext uri="{FF2B5EF4-FFF2-40B4-BE49-F238E27FC236}">
                <a16:creationId xmlns:a16="http://schemas.microsoft.com/office/drawing/2014/main" id="{FBAA9CE0-B6F8-3E89-FA11-0C4F99F5B1DE}"/>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IL" sz="2600">
                <a:solidFill>
                  <a:srgbClr val="526477"/>
                </a:solidFill>
                <a:latin typeface="Aptos" panose="020B0004020202020204" pitchFamily="34" charset="0"/>
              </a:rPr>
              <a:t>Describe → launch → connect → command → inspect → compare.</a:t>
            </a:r>
          </a:p>
        </p:txBody>
      </p:sp>
      <p:cxnSp>
        <p:nvCxnSpPr>
          <p:cNvPr id="5" name="Straight Connector 4">
            <a:extLst>
              <a:ext uri="{FF2B5EF4-FFF2-40B4-BE49-F238E27FC236}">
                <a16:creationId xmlns:a16="http://schemas.microsoft.com/office/drawing/2014/main" id="{FE70E65E-ECB4-297F-A278-3C63FF53A321}"/>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918AE127-6398-C91B-DB30-8BB3CAD69AF8}"/>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IL" sz="1600">
                <a:solidFill>
                  <a:srgbClr val="526477"/>
                </a:solidFill>
                <a:latin typeface="Aptos" panose="020B0004020202020204" pitchFamily="34" charset="0"/>
              </a:rPr>
              <a:t>Robotics &amp; Autonomous Systems · ROS 2 Jazzy / Gazebo Harmonic</a:t>
            </a:r>
          </a:p>
        </p:txBody>
      </p:sp>
      <p:sp>
        <p:nvSpPr>
          <p:cNvPr id="7" name="text_6">
            <a:extLst>
              <a:ext uri="{FF2B5EF4-FFF2-40B4-BE49-F238E27FC236}">
                <a16:creationId xmlns:a16="http://schemas.microsoft.com/office/drawing/2014/main" id="{2F87DD27-B7B1-FC43-7C12-A590C3863D43}"/>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07</a:t>
            </a:r>
          </a:p>
        </p:txBody>
      </p:sp>
      <p:sp>
        <p:nvSpPr>
          <p:cNvPr id="8" name="Rectangle: Rounded Corners 7">
            <a:extLst>
              <a:ext uri="{FF2B5EF4-FFF2-40B4-BE49-F238E27FC236}">
                <a16:creationId xmlns:a16="http://schemas.microsoft.com/office/drawing/2014/main" id="{25D05EFB-5056-9B89-4646-CB4C6A97246B}"/>
              </a:ext>
            </a:extLst>
          </p:cNvPr>
          <p:cNvSpPr/>
          <p:nvPr/>
        </p:nvSpPr>
        <p:spPr>
          <a:xfrm>
            <a:off x="685800" y="2603500"/>
            <a:ext cx="3429000" cy="14351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3C9ECBB4-0E5C-891E-B6CB-ABFD8DBC597E}"/>
              </a:ext>
            </a:extLst>
          </p:cNvPr>
          <p:cNvSpPr txBox="1"/>
          <p:nvPr/>
        </p:nvSpPr>
        <p:spPr>
          <a:xfrm>
            <a:off x="914400" y="2793999"/>
            <a:ext cx="2971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1 · Describe</a:t>
            </a:r>
          </a:p>
        </p:txBody>
      </p:sp>
      <p:sp>
        <p:nvSpPr>
          <p:cNvPr id="10" name="text_9">
            <a:extLst>
              <a:ext uri="{FF2B5EF4-FFF2-40B4-BE49-F238E27FC236}">
                <a16:creationId xmlns:a16="http://schemas.microsoft.com/office/drawing/2014/main" id="{F638BE27-5A90-0FB8-6566-E4E773EEA857}"/>
              </a:ext>
            </a:extLst>
          </p:cNvPr>
          <p:cNvSpPr txBox="1"/>
          <p:nvPr/>
        </p:nvSpPr>
        <p:spPr>
          <a:xfrm>
            <a:off x="914400" y="3479799"/>
            <a:ext cx="2971800" cy="4699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arm.urdf + world.sdf</a:t>
            </a:r>
          </a:p>
        </p:txBody>
      </p:sp>
      <p:sp>
        <p:nvSpPr>
          <p:cNvPr id="11" name="Rectangle: Rounded Corners 10">
            <a:extLst>
              <a:ext uri="{FF2B5EF4-FFF2-40B4-BE49-F238E27FC236}">
                <a16:creationId xmlns:a16="http://schemas.microsoft.com/office/drawing/2014/main" id="{D0242CD7-C572-0490-20E2-B295246A6C0F}"/>
              </a:ext>
            </a:extLst>
          </p:cNvPr>
          <p:cNvSpPr/>
          <p:nvPr/>
        </p:nvSpPr>
        <p:spPr>
          <a:xfrm>
            <a:off x="4381500" y="2603500"/>
            <a:ext cx="3429000" cy="14351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B705941B-0239-2F7A-4705-13E2DE42CCDD}"/>
              </a:ext>
            </a:extLst>
          </p:cNvPr>
          <p:cNvSpPr txBox="1"/>
          <p:nvPr/>
        </p:nvSpPr>
        <p:spPr>
          <a:xfrm>
            <a:off x="4610100" y="2793999"/>
            <a:ext cx="2971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2 · Launch/spawn</a:t>
            </a:r>
          </a:p>
        </p:txBody>
      </p:sp>
      <p:sp>
        <p:nvSpPr>
          <p:cNvPr id="13" name="text_12">
            <a:extLst>
              <a:ext uri="{FF2B5EF4-FFF2-40B4-BE49-F238E27FC236}">
                <a16:creationId xmlns:a16="http://schemas.microsoft.com/office/drawing/2014/main" id="{1BB25C36-ACAC-6334-0CD5-D62593CB616C}"/>
              </a:ext>
            </a:extLst>
          </p:cNvPr>
          <p:cNvSpPr txBox="1"/>
          <p:nvPr/>
        </p:nvSpPr>
        <p:spPr>
          <a:xfrm>
            <a:off x="4610100" y="3479799"/>
            <a:ext cx="2971800" cy="4699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demo.launch.py</a:t>
            </a:r>
          </a:p>
        </p:txBody>
      </p:sp>
      <p:sp>
        <p:nvSpPr>
          <p:cNvPr id="14" name="Rectangle: Rounded Corners 13">
            <a:extLst>
              <a:ext uri="{FF2B5EF4-FFF2-40B4-BE49-F238E27FC236}">
                <a16:creationId xmlns:a16="http://schemas.microsoft.com/office/drawing/2014/main" id="{497C2756-68CF-3C81-3B8E-C19303230B58}"/>
              </a:ext>
            </a:extLst>
          </p:cNvPr>
          <p:cNvSpPr/>
          <p:nvPr/>
        </p:nvSpPr>
        <p:spPr>
          <a:xfrm>
            <a:off x="8077200" y="2603500"/>
            <a:ext cx="3429000" cy="14351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0E1F0FCB-E4DD-177A-D2E4-B26B80CCA0ED}"/>
              </a:ext>
            </a:extLst>
          </p:cNvPr>
          <p:cNvSpPr txBox="1"/>
          <p:nvPr/>
        </p:nvSpPr>
        <p:spPr>
          <a:xfrm>
            <a:off x="8305800" y="2793999"/>
            <a:ext cx="2971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3 · Connect</a:t>
            </a:r>
          </a:p>
        </p:txBody>
      </p:sp>
      <p:sp>
        <p:nvSpPr>
          <p:cNvPr id="16" name="text_15">
            <a:extLst>
              <a:ext uri="{FF2B5EF4-FFF2-40B4-BE49-F238E27FC236}">
                <a16:creationId xmlns:a16="http://schemas.microsoft.com/office/drawing/2014/main" id="{410119A8-F5BC-5936-26DC-5F4D7133BC50}"/>
              </a:ext>
            </a:extLst>
          </p:cNvPr>
          <p:cNvSpPr txBox="1"/>
          <p:nvPr/>
        </p:nvSpPr>
        <p:spPr>
          <a:xfrm>
            <a:off x="8305800" y="3479799"/>
            <a:ext cx="2971800" cy="4699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bridge.yaml</a:t>
            </a:r>
          </a:p>
        </p:txBody>
      </p:sp>
      <p:sp>
        <p:nvSpPr>
          <p:cNvPr id="17" name="Rectangle: Rounded Corners 16">
            <a:extLst>
              <a:ext uri="{FF2B5EF4-FFF2-40B4-BE49-F238E27FC236}">
                <a16:creationId xmlns:a16="http://schemas.microsoft.com/office/drawing/2014/main" id="{AE0295FF-7A92-B1EE-CFD8-665C769BA9E8}"/>
              </a:ext>
            </a:extLst>
          </p:cNvPr>
          <p:cNvSpPr/>
          <p:nvPr/>
        </p:nvSpPr>
        <p:spPr>
          <a:xfrm>
            <a:off x="8077200" y="4457700"/>
            <a:ext cx="3429000" cy="14351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8" name="text_17">
            <a:extLst>
              <a:ext uri="{FF2B5EF4-FFF2-40B4-BE49-F238E27FC236}">
                <a16:creationId xmlns:a16="http://schemas.microsoft.com/office/drawing/2014/main" id="{9EF97D2D-4121-2323-C818-3E62B05AB375}"/>
              </a:ext>
            </a:extLst>
          </p:cNvPr>
          <p:cNvSpPr txBox="1"/>
          <p:nvPr/>
        </p:nvSpPr>
        <p:spPr>
          <a:xfrm>
            <a:off x="8305800" y="4648199"/>
            <a:ext cx="2971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4 · Command</a:t>
            </a:r>
          </a:p>
        </p:txBody>
      </p:sp>
      <p:sp>
        <p:nvSpPr>
          <p:cNvPr id="19" name="text_18">
            <a:extLst>
              <a:ext uri="{FF2B5EF4-FFF2-40B4-BE49-F238E27FC236}">
                <a16:creationId xmlns:a16="http://schemas.microsoft.com/office/drawing/2014/main" id="{9110CED9-14DA-42D9-9979-506F8936E0AC}"/>
              </a:ext>
            </a:extLst>
          </p:cNvPr>
          <p:cNvSpPr txBox="1"/>
          <p:nvPr/>
        </p:nvSpPr>
        <p:spPr>
          <a:xfrm>
            <a:off x="8305800" y="5333999"/>
            <a:ext cx="2971800" cy="4699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command_arm.py</a:t>
            </a:r>
          </a:p>
        </p:txBody>
      </p:sp>
      <p:sp>
        <p:nvSpPr>
          <p:cNvPr id="20" name="Rectangle: Rounded Corners 19">
            <a:extLst>
              <a:ext uri="{FF2B5EF4-FFF2-40B4-BE49-F238E27FC236}">
                <a16:creationId xmlns:a16="http://schemas.microsoft.com/office/drawing/2014/main" id="{77A98A43-153D-A9A2-CE90-DEBE542A9EC0}"/>
              </a:ext>
            </a:extLst>
          </p:cNvPr>
          <p:cNvSpPr/>
          <p:nvPr/>
        </p:nvSpPr>
        <p:spPr>
          <a:xfrm>
            <a:off x="4381500" y="4457700"/>
            <a:ext cx="3429000" cy="14351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1" name="text_20">
            <a:extLst>
              <a:ext uri="{FF2B5EF4-FFF2-40B4-BE49-F238E27FC236}">
                <a16:creationId xmlns:a16="http://schemas.microsoft.com/office/drawing/2014/main" id="{4DA13C86-8DD5-0B68-6D68-3AAE9BC4FD0F}"/>
              </a:ext>
            </a:extLst>
          </p:cNvPr>
          <p:cNvSpPr txBox="1"/>
          <p:nvPr/>
        </p:nvSpPr>
        <p:spPr>
          <a:xfrm>
            <a:off x="4610100" y="4648199"/>
            <a:ext cx="2971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5 · Inspect</a:t>
            </a:r>
          </a:p>
        </p:txBody>
      </p:sp>
      <p:sp>
        <p:nvSpPr>
          <p:cNvPr id="22" name="text_21">
            <a:extLst>
              <a:ext uri="{FF2B5EF4-FFF2-40B4-BE49-F238E27FC236}">
                <a16:creationId xmlns:a16="http://schemas.microsoft.com/office/drawing/2014/main" id="{E3B7546A-7AF0-D754-D2F8-C7C9B19D7674}"/>
              </a:ext>
            </a:extLst>
          </p:cNvPr>
          <p:cNvSpPr txBox="1"/>
          <p:nvPr/>
        </p:nvSpPr>
        <p:spPr>
          <a:xfrm>
            <a:off x="4610100" y="5333999"/>
            <a:ext cx="2971800" cy="4699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Joint states + TF</a:t>
            </a:r>
          </a:p>
        </p:txBody>
      </p:sp>
      <p:sp>
        <p:nvSpPr>
          <p:cNvPr id="23" name="Rectangle: Rounded Corners 22">
            <a:extLst>
              <a:ext uri="{FF2B5EF4-FFF2-40B4-BE49-F238E27FC236}">
                <a16:creationId xmlns:a16="http://schemas.microsoft.com/office/drawing/2014/main" id="{75F856EA-91AD-BE46-B162-8980F30E6031}"/>
              </a:ext>
            </a:extLst>
          </p:cNvPr>
          <p:cNvSpPr/>
          <p:nvPr/>
        </p:nvSpPr>
        <p:spPr>
          <a:xfrm>
            <a:off x="685800" y="4457700"/>
            <a:ext cx="3429000" cy="14351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4" name="text_23">
            <a:extLst>
              <a:ext uri="{FF2B5EF4-FFF2-40B4-BE49-F238E27FC236}">
                <a16:creationId xmlns:a16="http://schemas.microsoft.com/office/drawing/2014/main" id="{1371EFE6-C761-B0A0-FD19-4B8061D7CFC6}"/>
              </a:ext>
            </a:extLst>
          </p:cNvPr>
          <p:cNvSpPr txBox="1"/>
          <p:nvPr/>
        </p:nvSpPr>
        <p:spPr>
          <a:xfrm>
            <a:off x="914400" y="4648199"/>
            <a:ext cx="2971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6 · Compare</a:t>
            </a:r>
          </a:p>
        </p:txBody>
      </p:sp>
      <p:sp>
        <p:nvSpPr>
          <p:cNvPr id="25" name="text_24">
            <a:extLst>
              <a:ext uri="{FF2B5EF4-FFF2-40B4-BE49-F238E27FC236}">
                <a16:creationId xmlns:a16="http://schemas.microsoft.com/office/drawing/2014/main" id="{D1B66E71-8E4C-82BE-B2F9-76F1EFDB6076}"/>
              </a:ext>
            </a:extLst>
          </p:cNvPr>
          <p:cNvSpPr txBox="1"/>
          <p:nvPr/>
        </p:nvSpPr>
        <p:spPr>
          <a:xfrm>
            <a:off x="914400" y="5333999"/>
            <a:ext cx="2971800" cy="4699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Predict ↔ measure</a:t>
            </a:r>
          </a:p>
        </p:txBody>
      </p:sp>
      <p:cxnSp>
        <p:nvCxnSpPr>
          <p:cNvPr id="26" name="Straight Connector 25">
            <a:extLst>
              <a:ext uri="{FF2B5EF4-FFF2-40B4-BE49-F238E27FC236}">
                <a16:creationId xmlns:a16="http://schemas.microsoft.com/office/drawing/2014/main" id="{12FEFFBE-714C-EB80-6A17-F1D8CF417FFE}"/>
              </a:ext>
            </a:extLst>
          </p:cNvPr>
          <p:cNvCxnSpPr/>
          <p:nvPr/>
        </p:nvCxnSpPr>
        <p:spPr>
          <a:xfrm>
            <a:off x="4114800" y="3314700"/>
            <a:ext cx="1905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142F6489-0C8A-E6EE-5BDE-321727967947}"/>
              </a:ext>
            </a:extLst>
          </p:cNvPr>
          <p:cNvCxnSpPr/>
          <p:nvPr/>
        </p:nvCxnSpPr>
        <p:spPr>
          <a:xfrm>
            <a:off x="7810500" y="3314700"/>
            <a:ext cx="1905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A064FDFE-4279-65C6-3CEB-7918F9D628BC}"/>
              </a:ext>
            </a:extLst>
          </p:cNvPr>
          <p:cNvCxnSpPr/>
          <p:nvPr/>
        </p:nvCxnSpPr>
        <p:spPr>
          <a:xfrm>
            <a:off x="9791700" y="4038600"/>
            <a:ext cx="0" cy="34290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9F679078-71EC-9AA9-76AC-1314C93C991C}"/>
              </a:ext>
            </a:extLst>
          </p:cNvPr>
          <p:cNvCxnSpPr/>
          <p:nvPr/>
        </p:nvCxnSpPr>
        <p:spPr>
          <a:xfrm flipH="1">
            <a:off x="7886700" y="5168900"/>
            <a:ext cx="190500" cy="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166D22CB-C713-5B56-74F3-D31E0CD864AA}"/>
              </a:ext>
            </a:extLst>
          </p:cNvPr>
          <p:cNvCxnSpPr/>
          <p:nvPr/>
        </p:nvCxnSpPr>
        <p:spPr>
          <a:xfrm flipH="1">
            <a:off x="4191000" y="5168900"/>
            <a:ext cx="190500" cy="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047953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EE54FFE3-D883-E9B0-1EF0-0F82EA690A3D}"/>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03 / GAZEBO &amp; KINEMATICS</a:t>
            </a:r>
          </a:p>
        </p:txBody>
      </p:sp>
      <p:sp>
        <p:nvSpPr>
          <p:cNvPr id="3" name="text_2">
            <a:extLst>
              <a:ext uri="{FF2B5EF4-FFF2-40B4-BE49-F238E27FC236}">
                <a16:creationId xmlns:a16="http://schemas.microsoft.com/office/drawing/2014/main" id="{DAFF3EA2-3DD1-4FAF-3E8B-93382044DAC4}"/>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Configure robot and world</a:t>
            </a:r>
          </a:p>
        </p:txBody>
      </p:sp>
      <p:sp>
        <p:nvSpPr>
          <p:cNvPr id="4" name="text_3">
            <a:extLst>
              <a:ext uri="{FF2B5EF4-FFF2-40B4-BE49-F238E27FC236}">
                <a16:creationId xmlns:a16="http://schemas.microsoft.com/office/drawing/2014/main" id="{C3C7245C-876B-F439-2B3A-70D4EF728F59}"/>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Small descriptions assemble a useful simulation.</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A2E87950-144F-4867-084C-7E66CDAB292A}"/>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9A5B5F7D-415D-0CD0-0F1F-5D7C2306CCDC}"/>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IL" sz="1600">
                <a:solidFill>
                  <a:srgbClr val="526477"/>
                </a:solidFill>
                <a:latin typeface="Aptos" panose="020B0004020202020204" pitchFamily="34" charset="0"/>
              </a:rPr>
              <a:t>Robotics &amp; Autonomous Systems · ROS 2 Jazzy / Gazebo Harmonic</a:t>
            </a:r>
          </a:p>
        </p:txBody>
      </p:sp>
      <p:sp>
        <p:nvSpPr>
          <p:cNvPr id="7" name="text_6">
            <a:extLst>
              <a:ext uri="{FF2B5EF4-FFF2-40B4-BE49-F238E27FC236}">
                <a16:creationId xmlns:a16="http://schemas.microsoft.com/office/drawing/2014/main" id="{B5273922-FEDC-6251-EEDA-26DB325514ED}"/>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08</a:t>
            </a:r>
          </a:p>
        </p:txBody>
      </p:sp>
      <p:sp>
        <p:nvSpPr>
          <p:cNvPr id="8" name="Rectangle: Rounded Corners 7">
            <a:extLst>
              <a:ext uri="{FF2B5EF4-FFF2-40B4-BE49-F238E27FC236}">
                <a16:creationId xmlns:a16="http://schemas.microsoft.com/office/drawing/2014/main" id="{FB7A0494-847E-64E3-1DC4-8ABBB25AF1A0}"/>
              </a:ext>
            </a:extLst>
          </p:cNvPr>
          <p:cNvSpPr/>
          <p:nvPr/>
        </p:nvSpPr>
        <p:spPr>
          <a:xfrm>
            <a:off x="685800" y="2565400"/>
            <a:ext cx="5207000" cy="23368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2B58B609-70AC-EE1F-F662-53F1D2F2CD71}"/>
              </a:ext>
            </a:extLst>
          </p:cNvPr>
          <p:cNvSpPr txBox="1"/>
          <p:nvPr/>
        </p:nvSpPr>
        <p:spPr>
          <a:xfrm>
            <a:off x="914400" y="2743199"/>
            <a:ext cx="4749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URDF · joint geometry</a:t>
            </a:r>
          </a:p>
        </p:txBody>
      </p:sp>
      <p:sp>
        <p:nvSpPr>
          <p:cNvPr id="10" name="text_9">
            <a:extLst>
              <a:ext uri="{FF2B5EF4-FFF2-40B4-BE49-F238E27FC236}">
                <a16:creationId xmlns:a16="http://schemas.microsoft.com/office/drawing/2014/main" id="{EDE2352C-3FAD-B3C9-E34A-EAFE03575529}"/>
              </a:ext>
            </a:extLst>
          </p:cNvPr>
          <p:cNvSpPr txBox="1"/>
          <p:nvPr/>
        </p:nvSpPr>
        <p:spPr>
          <a:xfrm>
            <a:off x="914400" y="3390899"/>
            <a:ext cx="4749800" cy="1257300"/>
          </a:xfrm>
          <a:prstGeom prst="rect">
            <a:avLst/>
          </a:prstGeom>
          <a:noFill/>
        </p:spPr>
        <p:txBody>
          <a:bodyPr vert="horz" wrap="square" lIns="0" tIns="0" rIns="0" bIns="0" rtlCol="0" anchor="t">
            <a:noAutofit/>
          </a:bodyPr>
          <a:lstStyle/>
          <a:p>
            <a:r>
              <a:rPr lang="en-IL" sz="2400">
                <a:solidFill>
                  <a:srgbClr val="15283B"/>
                </a:solidFill>
                <a:latin typeface="Consolas" panose="020B0609020204030204" pitchFamily="49" charset="0"/>
              </a:rPr>
              <a:t>&lt;origin xyz="0.6 0 0"/&gt;
&lt;axis xyz="0 0 1"/&gt;</a:t>
            </a:r>
          </a:p>
        </p:txBody>
      </p:sp>
      <p:sp>
        <p:nvSpPr>
          <p:cNvPr id="11" name="Rectangle: Rounded Corners 10">
            <a:extLst>
              <a:ext uri="{FF2B5EF4-FFF2-40B4-BE49-F238E27FC236}">
                <a16:creationId xmlns:a16="http://schemas.microsoft.com/office/drawing/2014/main" id="{BDFDBE5C-FD1A-0079-016F-085EC4A85644}"/>
              </a:ext>
            </a:extLst>
          </p:cNvPr>
          <p:cNvSpPr/>
          <p:nvPr/>
        </p:nvSpPr>
        <p:spPr>
          <a:xfrm>
            <a:off x="6172200" y="2565400"/>
            <a:ext cx="5334000" cy="23368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9C8D9978-895D-6D1A-18F2-30F0D172F410}"/>
              </a:ext>
            </a:extLst>
          </p:cNvPr>
          <p:cNvSpPr txBox="1"/>
          <p:nvPr/>
        </p:nvSpPr>
        <p:spPr>
          <a:xfrm>
            <a:off x="6400800" y="2743199"/>
            <a:ext cx="48768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SDF · world physics</a:t>
            </a:r>
          </a:p>
        </p:txBody>
      </p:sp>
      <p:sp>
        <p:nvSpPr>
          <p:cNvPr id="13" name="text_12">
            <a:extLst>
              <a:ext uri="{FF2B5EF4-FFF2-40B4-BE49-F238E27FC236}">
                <a16:creationId xmlns:a16="http://schemas.microsoft.com/office/drawing/2014/main" id="{2208B235-4D24-3759-76D5-2B13F759E556}"/>
              </a:ext>
            </a:extLst>
          </p:cNvPr>
          <p:cNvSpPr txBox="1"/>
          <p:nvPr/>
        </p:nvSpPr>
        <p:spPr>
          <a:xfrm>
            <a:off x="6400800" y="3365499"/>
            <a:ext cx="4876800" cy="1409700"/>
          </a:xfrm>
          <a:prstGeom prst="rect">
            <a:avLst/>
          </a:prstGeom>
          <a:noFill/>
        </p:spPr>
        <p:txBody>
          <a:bodyPr vert="horz" wrap="square" lIns="0" tIns="0" rIns="0" bIns="0" rtlCol="0" anchor="t">
            <a:noAutofit/>
          </a:bodyPr>
          <a:lstStyle/>
          <a:p>
            <a:r>
              <a:rPr lang="en-US" sz="2400">
                <a:solidFill>
                  <a:srgbClr val="15283B"/>
                </a:solidFill>
                <a:latin typeface="Consolas" panose="020B0609020204030204" pitchFamily="49" charset="0"/>
              </a:rPr>
              <a:t>&lt;gravity&gt;
  0 0 -9.81
&lt;/gravity&gt;</a:t>
            </a:r>
            <a:endParaRPr lang="en-IL" sz="2400">
              <a:solidFill>
                <a:srgbClr val="15283B"/>
              </a:solidFill>
              <a:latin typeface="Consolas" panose="020B0609020204030204" pitchFamily="49" charset="0"/>
            </a:endParaRPr>
          </a:p>
        </p:txBody>
      </p:sp>
      <p:sp>
        <p:nvSpPr>
          <p:cNvPr id="14" name="Rectangle: Rounded Corners 13">
            <a:extLst>
              <a:ext uri="{FF2B5EF4-FFF2-40B4-BE49-F238E27FC236}">
                <a16:creationId xmlns:a16="http://schemas.microsoft.com/office/drawing/2014/main" id="{CD9C9FBE-F592-0352-057E-22B04D728492}"/>
              </a:ext>
            </a:extLst>
          </p:cNvPr>
          <p:cNvSpPr/>
          <p:nvPr/>
        </p:nvSpPr>
        <p:spPr>
          <a:xfrm>
            <a:off x="685800" y="5245100"/>
            <a:ext cx="10820400" cy="8001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A472B8CD-DFC6-51A1-AD21-7E42A9CBC26C}"/>
              </a:ext>
            </a:extLst>
          </p:cNvPr>
          <p:cNvSpPr txBox="1"/>
          <p:nvPr/>
        </p:nvSpPr>
        <p:spPr>
          <a:xfrm>
            <a:off x="914400" y="5422899"/>
            <a:ext cx="2997200" cy="4699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bridge.yaml</a:t>
            </a:r>
          </a:p>
        </p:txBody>
      </p:sp>
      <p:sp>
        <p:nvSpPr>
          <p:cNvPr id="16" name="text_15">
            <a:extLst>
              <a:ext uri="{FF2B5EF4-FFF2-40B4-BE49-F238E27FC236}">
                <a16:creationId xmlns:a16="http://schemas.microsoft.com/office/drawing/2014/main" id="{1E9C9AD8-95F7-3AEF-A5A1-A85A922F941A}"/>
              </a:ext>
            </a:extLst>
          </p:cNvPr>
          <p:cNvSpPr txBox="1"/>
          <p:nvPr/>
        </p:nvSpPr>
        <p:spPr>
          <a:xfrm>
            <a:off x="4267200" y="5448299"/>
            <a:ext cx="7010400" cy="469900"/>
          </a:xfrm>
          <a:prstGeom prst="rect">
            <a:avLst/>
          </a:prstGeom>
          <a:noFill/>
        </p:spPr>
        <p:txBody>
          <a:bodyPr vert="horz" wrap="square" lIns="0" tIns="0" rIns="0" bIns="0" rtlCol="0" anchor="t">
            <a:noAutofit/>
          </a:bodyPr>
          <a:lstStyle/>
          <a:p>
            <a:r>
              <a:rPr lang="en-IL" sz="2400">
                <a:solidFill>
                  <a:srgbClr val="15283B"/>
                </a:solidFill>
                <a:latin typeface="Consolas" panose="020B0609020204030204" pitchFamily="49" charset="0"/>
              </a:rPr>
              <a:t>direction: ROS_TO_GZ</a:t>
            </a:r>
          </a:p>
        </p:txBody>
      </p:sp>
    </p:spTree>
    <p:extLst>
      <p:ext uri="{BB962C8B-B14F-4D97-AF65-F5344CB8AC3E}">
        <p14:creationId xmlns:p14="http://schemas.microsoft.com/office/powerpoint/2010/main" val="37492937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3FBFD6B7-5EFA-7FC6-3101-9D353E1AED5C}"/>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03 / GAZEBO &amp; KINEMATICS</a:t>
            </a:r>
          </a:p>
        </p:txBody>
      </p:sp>
      <p:sp>
        <p:nvSpPr>
          <p:cNvPr id="3" name="text_2">
            <a:extLst>
              <a:ext uri="{FF2B5EF4-FFF2-40B4-BE49-F238E27FC236}">
                <a16:creationId xmlns:a16="http://schemas.microsoft.com/office/drawing/2014/main" id="{0B489AF2-DA38-3D2F-DCE8-42F9DC2D33D7}"/>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Read the simulation</a:t>
            </a:r>
          </a:p>
        </p:txBody>
      </p:sp>
      <p:sp>
        <p:nvSpPr>
          <p:cNvPr id="4" name="text_3">
            <a:extLst>
              <a:ext uri="{FF2B5EF4-FFF2-40B4-BE49-F238E27FC236}">
                <a16:creationId xmlns:a16="http://schemas.microsoft.com/office/drawing/2014/main" id="{43D38BD9-7BE7-D6C8-E75B-02EC9508C1B8}"/>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The view, robot state, and simulation clock are separate.</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F91F9A82-5E17-CD2C-D614-1D81BEC90851}"/>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DA5913DB-284B-5644-49AB-B15C891419CC}"/>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IL" sz="1600">
                <a:solidFill>
                  <a:srgbClr val="526477"/>
                </a:solidFill>
                <a:latin typeface="Aptos" panose="020B0004020202020204" pitchFamily="34" charset="0"/>
              </a:rPr>
              <a:t>Robotics &amp; Autonomous Systems · ROS 2 Jazzy / Gazebo Harmonic</a:t>
            </a:r>
          </a:p>
        </p:txBody>
      </p:sp>
      <p:sp>
        <p:nvSpPr>
          <p:cNvPr id="7" name="text_6">
            <a:extLst>
              <a:ext uri="{FF2B5EF4-FFF2-40B4-BE49-F238E27FC236}">
                <a16:creationId xmlns:a16="http://schemas.microsoft.com/office/drawing/2014/main" id="{DD4D7F25-36D9-D717-5E88-F6FC2949DF27}"/>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09</a:t>
            </a:r>
          </a:p>
        </p:txBody>
      </p:sp>
      <p:pic>
        <p:nvPicPr>
          <p:cNvPr id="9" name="Picture 8">
            <a:extLst>
              <a:ext uri="{FF2B5EF4-FFF2-40B4-BE49-F238E27FC236}">
                <a16:creationId xmlns:a16="http://schemas.microsoft.com/office/drawing/2014/main" id="{E4D04FD0-24A7-8C21-751A-4BCE73C3B2E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85800" y="2108200"/>
            <a:ext cx="7112000" cy="4026486"/>
          </a:xfrm>
          <a:prstGeom prst="rect">
            <a:avLst/>
          </a:prstGeom>
        </p:spPr>
      </p:pic>
      <p:sp>
        <p:nvSpPr>
          <p:cNvPr id="10" name="text_8">
            <a:extLst>
              <a:ext uri="{FF2B5EF4-FFF2-40B4-BE49-F238E27FC236}">
                <a16:creationId xmlns:a16="http://schemas.microsoft.com/office/drawing/2014/main" id="{A240F120-1958-1F63-6E77-8708DC4F10C3}"/>
              </a:ext>
            </a:extLst>
          </p:cNvPr>
          <p:cNvSpPr txBox="1"/>
          <p:nvPr/>
        </p:nvSpPr>
        <p:spPr>
          <a:xfrm>
            <a:off x="8255000" y="2514599"/>
            <a:ext cx="3251200" cy="558800"/>
          </a:xfrm>
          <a:prstGeom prst="rect">
            <a:avLst/>
          </a:prstGeom>
          <a:noFill/>
        </p:spPr>
        <p:txBody>
          <a:bodyPr vert="horz" wrap="square" lIns="0" tIns="0" rIns="0" bIns="0" rtlCol="0" anchor="t">
            <a:noAutofit/>
          </a:bodyPr>
          <a:lstStyle/>
          <a:p>
            <a:r>
              <a:rPr lang="en-IL" sz="2500" b="1">
                <a:solidFill>
                  <a:srgbClr val="2459D3"/>
                </a:solidFill>
                <a:latin typeface="Aptos" panose="020B0004020202020204" pitchFamily="34" charset="0"/>
              </a:rPr>
              <a:t>World + robot</a:t>
            </a:r>
          </a:p>
        </p:txBody>
      </p:sp>
      <p:sp>
        <p:nvSpPr>
          <p:cNvPr id="11" name="text_9">
            <a:extLst>
              <a:ext uri="{FF2B5EF4-FFF2-40B4-BE49-F238E27FC236}">
                <a16:creationId xmlns:a16="http://schemas.microsoft.com/office/drawing/2014/main" id="{C5ABB8C7-98C3-9D5E-8E9F-FB569A257F71}"/>
              </a:ext>
            </a:extLst>
          </p:cNvPr>
          <p:cNvSpPr txBox="1"/>
          <p:nvPr/>
        </p:nvSpPr>
        <p:spPr>
          <a:xfrm>
            <a:off x="8255000" y="3352799"/>
            <a:ext cx="3251200" cy="558800"/>
          </a:xfrm>
          <a:prstGeom prst="rect">
            <a:avLst/>
          </a:prstGeom>
          <a:noFill/>
        </p:spPr>
        <p:txBody>
          <a:bodyPr vert="horz" wrap="square" lIns="0" tIns="0" rIns="0" bIns="0" rtlCol="0" anchor="t">
            <a:noAutofit/>
          </a:bodyPr>
          <a:lstStyle/>
          <a:p>
            <a:r>
              <a:rPr lang="en-IL" sz="2500" b="1">
                <a:solidFill>
                  <a:srgbClr val="137F79"/>
                </a:solidFill>
                <a:latin typeface="Aptos" panose="020B0004020202020204" pitchFamily="34" charset="0"/>
              </a:rPr>
              <a:t>Entity tree</a:t>
            </a:r>
          </a:p>
        </p:txBody>
      </p:sp>
      <p:sp>
        <p:nvSpPr>
          <p:cNvPr id="12" name="text_10">
            <a:extLst>
              <a:ext uri="{FF2B5EF4-FFF2-40B4-BE49-F238E27FC236}">
                <a16:creationId xmlns:a16="http://schemas.microsoft.com/office/drawing/2014/main" id="{59ED9924-9269-F4E3-92E2-107FA797DCDF}"/>
              </a:ext>
            </a:extLst>
          </p:cNvPr>
          <p:cNvSpPr txBox="1"/>
          <p:nvPr/>
        </p:nvSpPr>
        <p:spPr>
          <a:xfrm>
            <a:off x="8255000" y="4229099"/>
            <a:ext cx="3251200" cy="889000"/>
          </a:xfrm>
          <a:prstGeom prst="rect">
            <a:avLst/>
          </a:prstGeom>
          <a:noFill/>
        </p:spPr>
        <p:txBody>
          <a:bodyPr vert="horz" wrap="square" lIns="0" tIns="0" rIns="0" bIns="0" rtlCol="0" anchor="t">
            <a:noAutofit/>
          </a:bodyPr>
          <a:lstStyle/>
          <a:p>
            <a:r>
              <a:rPr lang="en-IL" sz="2500" b="1">
                <a:solidFill>
                  <a:srgbClr val="2459D3"/>
                </a:solidFill>
                <a:latin typeface="Aptos" panose="020B0004020202020204" pitchFamily="34" charset="0"/>
              </a:rPr>
              <a:t>Play/pause
+ reset</a:t>
            </a:r>
          </a:p>
        </p:txBody>
      </p:sp>
      <p:sp>
        <p:nvSpPr>
          <p:cNvPr id="13" name="text_11">
            <a:extLst>
              <a:ext uri="{FF2B5EF4-FFF2-40B4-BE49-F238E27FC236}">
                <a16:creationId xmlns:a16="http://schemas.microsoft.com/office/drawing/2014/main" id="{4307F867-5E3E-CD82-C7D1-60F1235081C2}"/>
              </a:ext>
            </a:extLst>
          </p:cNvPr>
          <p:cNvSpPr txBox="1"/>
          <p:nvPr/>
        </p:nvSpPr>
        <p:spPr>
          <a:xfrm>
            <a:off x="8255000" y="5346699"/>
            <a:ext cx="3251200" cy="736600"/>
          </a:xfrm>
          <a:prstGeom prst="rect">
            <a:avLst/>
          </a:prstGeom>
          <a:noFill/>
        </p:spPr>
        <p:txBody>
          <a:bodyPr vert="horz" wrap="square" lIns="0" tIns="0" rIns="0" bIns="0" rtlCol="0" anchor="t">
            <a:noAutofit/>
          </a:bodyPr>
          <a:lstStyle/>
          <a:p>
            <a:r>
              <a:rPr lang="en-IL" sz="2500" b="1">
                <a:solidFill>
                  <a:srgbClr val="137F79"/>
                </a:solidFill>
                <a:latin typeface="Aptos" panose="020B0004020202020204" pitchFamily="34" charset="0"/>
              </a:rPr>
              <a:t>Clock statistics</a:t>
            </a:r>
          </a:p>
        </p:txBody>
      </p:sp>
      <p:cxnSp>
        <p:nvCxnSpPr>
          <p:cNvPr id="14" name="Straight Connector 13">
            <a:extLst>
              <a:ext uri="{FF2B5EF4-FFF2-40B4-BE49-F238E27FC236}">
                <a16:creationId xmlns:a16="http://schemas.microsoft.com/office/drawing/2014/main" id="{CE86161C-BC16-B016-6783-050FFB297CA0}"/>
              </a:ext>
            </a:extLst>
          </p:cNvPr>
          <p:cNvCxnSpPr/>
          <p:nvPr/>
        </p:nvCxnSpPr>
        <p:spPr>
          <a:xfrm flipH="1">
            <a:off x="2959100" y="2781300"/>
            <a:ext cx="5143500" cy="1587500"/>
          </a:xfrm>
          <a:prstGeom prst="line">
            <a:avLst/>
          </a:prstGeom>
          <a:ln w="27940">
            <a:solidFill>
              <a:srgbClr val="2459D3"/>
            </a:solidFill>
            <a:prstDash val="dash"/>
            <a:tailEnd type="arrow"/>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6E4FBB5F-61F5-E611-2D46-6E96FC3C5661}"/>
              </a:ext>
            </a:extLst>
          </p:cNvPr>
          <p:cNvCxnSpPr/>
          <p:nvPr/>
        </p:nvCxnSpPr>
        <p:spPr>
          <a:xfrm flipH="1" flipV="1">
            <a:off x="6654800" y="3390900"/>
            <a:ext cx="1447800" cy="228600"/>
          </a:xfrm>
          <a:prstGeom prst="line">
            <a:avLst/>
          </a:prstGeom>
          <a:ln w="27940">
            <a:solidFill>
              <a:srgbClr val="137F79"/>
            </a:solidFill>
            <a:prstDash val="dash"/>
            <a:tailEnd type="arrow"/>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21B3A487-FD33-0F82-AC77-9A1185147005}"/>
              </a:ext>
            </a:extLst>
          </p:cNvPr>
          <p:cNvCxnSpPr/>
          <p:nvPr/>
        </p:nvCxnSpPr>
        <p:spPr>
          <a:xfrm flipH="1">
            <a:off x="1333500" y="4737100"/>
            <a:ext cx="6769100" cy="1130300"/>
          </a:xfrm>
          <a:prstGeom prst="line">
            <a:avLst/>
          </a:prstGeom>
          <a:ln w="27940">
            <a:solidFill>
              <a:srgbClr val="2459D3"/>
            </a:solidFill>
            <a:prstDash val="dash"/>
            <a:tailEnd type="arrow"/>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308CB089-C212-D729-2F4C-CD85F533A7AF}"/>
              </a:ext>
            </a:extLst>
          </p:cNvPr>
          <p:cNvCxnSpPr/>
          <p:nvPr/>
        </p:nvCxnSpPr>
        <p:spPr>
          <a:xfrm flipH="1">
            <a:off x="5626100" y="5600700"/>
            <a:ext cx="2476500" cy="381000"/>
          </a:xfrm>
          <a:prstGeom prst="line">
            <a:avLst/>
          </a:prstGeom>
          <a:ln w="27940">
            <a:solidFill>
              <a:srgbClr val="137F79"/>
            </a:solidFill>
            <a:prstDash val="dash"/>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965256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ABFEEA28-1A4C-72D2-3FBC-F6F637D53687}"/>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03 / GAZEBO &amp; KINEMATICS</a:t>
            </a:r>
          </a:p>
        </p:txBody>
      </p:sp>
      <p:sp>
        <p:nvSpPr>
          <p:cNvPr id="3" name="text_2">
            <a:extLst>
              <a:ext uri="{FF2B5EF4-FFF2-40B4-BE49-F238E27FC236}">
                <a16:creationId xmlns:a16="http://schemas.microsoft.com/office/drawing/2014/main" id="{4CBC5FE2-24F4-C5BE-A409-C9C9CB1C0BD1}"/>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Our two-joint arm</a:t>
            </a:r>
          </a:p>
        </p:txBody>
      </p:sp>
      <p:sp>
        <p:nvSpPr>
          <p:cNvPr id="4" name="text_3">
            <a:extLst>
              <a:ext uri="{FF2B5EF4-FFF2-40B4-BE49-F238E27FC236}">
                <a16:creationId xmlns:a16="http://schemas.microsoft.com/office/drawing/2014/main" id="{34F2DB4C-3335-B65F-DC89-8C9E5A674DEB}"/>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Zero points along +x; both joints rotate about +z.</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4D4F8298-0AAF-3344-BA8B-1DB262504BE9}"/>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D1BC470D-6EB2-505B-1809-65808C9DCB23}"/>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IL" sz="1600">
                <a:solidFill>
                  <a:srgbClr val="526477"/>
                </a:solidFill>
                <a:latin typeface="Aptos" panose="020B0004020202020204" pitchFamily="34" charset="0"/>
              </a:rPr>
              <a:t>Robotics &amp; Autonomous Systems · ROS 2 Jazzy / Gazebo Harmonic</a:t>
            </a:r>
          </a:p>
        </p:txBody>
      </p:sp>
      <p:sp>
        <p:nvSpPr>
          <p:cNvPr id="7" name="text_6">
            <a:extLst>
              <a:ext uri="{FF2B5EF4-FFF2-40B4-BE49-F238E27FC236}">
                <a16:creationId xmlns:a16="http://schemas.microsoft.com/office/drawing/2014/main" id="{53BC0AA0-A1A6-A47D-3CD1-3F50ACFA5F80}"/>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10</a:t>
            </a:r>
          </a:p>
        </p:txBody>
      </p:sp>
      <p:pic>
        <p:nvPicPr>
          <p:cNvPr id="9" name="Picture 8">
            <a:extLst>
              <a:ext uri="{FF2B5EF4-FFF2-40B4-BE49-F238E27FC236}">
                <a16:creationId xmlns:a16="http://schemas.microsoft.com/office/drawing/2014/main" id="{3AB65F6A-FDB4-C191-0D1F-30920A22CC54}"/>
              </a:ext>
            </a:extLst>
          </p:cNvPr>
          <p:cNvPicPr>
            <a:picLocks/>
          </p:cNvPicPr>
          <p:nvPr/>
        </p:nvPicPr>
        <p:blipFill>
          <a:blip r:embed="rId3">
            <a:extLst>
              <a:ext uri="{28A0092B-C50C-407E-A947-70E740481C1C}">
                <a14:useLocalDpi xmlns:a14="http://schemas.microsoft.com/office/drawing/2010/main" val="0"/>
              </a:ext>
            </a:extLst>
          </a:blip>
          <a:srcRect l="16640" t="39915" r="50026" b="26872"/>
          <a:stretch>
            <a:fillRect/>
          </a:stretch>
        </p:blipFill>
        <p:spPr>
          <a:xfrm>
            <a:off x="685800" y="2870200"/>
            <a:ext cx="4953000" cy="2794000"/>
          </a:xfrm>
          <a:prstGeom prst="rect">
            <a:avLst/>
          </a:prstGeom>
        </p:spPr>
      </p:pic>
      <p:sp>
        <p:nvSpPr>
          <p:cNvPr id="10" name="text_8">
            <a:extLst>
              <a:ext uri="{FF2B5EF4-FFF2-40B4-BE49-F238E27FC236}">
                <a16:creationId xmlns:a16="http://schemas.microsoft.com/office/drawing/2014/main" id="{FA2160A9-2BDC-DB91-0E92-CEF094B6BCED}"/>
              </a:ext>
            </a:extLst>
          </p:cNvPr>
          <p:cNvSpPr txBox="1"/>
          <p:nvPr/>
        </p:nvSpPr>
        <p:spPr>
          <a:xfrm>
            <a:off x="685800" y="5753099"/>
            <a:ext cx="4953000" cy="4572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The existing Gazebo demo</a:t>
            </a:r>
          </a:p>
        </p:txBody>
      </p:sp>
      <p:cxnSp>
        <p:nvCxnSpPr>
          <p:cNvPr id="11" name="Straight Connector 10">
            <a:extLst>
              <a:ext uri="{FF2B5EF4-FFF2-40B4-BE49-F238E27FC236}">
                <a16:creationId xmlns:a16="http://schemas.microsoft.com/office/drawing/2014/main" id="{EF4870DB-8A75-DBB2-EBF0-A549AA30DDB0}"/>
              </a:ext>
            </a:extLst>
          </p:cNvPr>
          <p:cNvCxnSpPr/>
          <p:nvPr/>
        </p:nvCxnSpPr>
        <p:spPr>
          <a:xfrm>
            <a:off x="7010400" y="4762500"/>
            <a:ext cx="952500" cy="0"/>
          </a:xfrm>
          <a:prstGeom prst="line">
            <a:avLst/>
          </a:prstGeom>
          <a:ln w="27940">
            <a:solidFill>
              <a:srgbClr val="D7E0E9"/>
            </a:solidFill>
            <a:tailEnd type="arrow"/>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0C740726-B722-FBA7-3EFE-818E0AF39A3D}"/>
              </a:ext>
            </a:extLst>
          </p:cNvPr>
          <p:cNvCxnSpPr/>
          <p:nvPr/>
        </p:nvCxnSpPr>
        <p:spPr>
          <a:xfrm flipV="1">
            <a:off x="7137400" y="3937000"/>
            <a:ext cx="0" cy="952500"/>
          </a:xfrm>
          <a:prstGeom prst="line">
            <a:avLst/>
          </a:prstGeom>
          <a:ln w="27940">
            <a:solidFill>
              <a:srgbClr val="D7E0E9"/>
            </a:solidFill>
            <a:tailEnd type="arrow"/>
          </a:ln>
        </p:spPr>
        <p:style>
          <a:lnRef idx="2">
            <a:schemeClr val="accent1"/>
          </a:lnRef>
          <a:fillRef idx="0">
            <a:schemeClr val="accent1"/>
          </a:fillRef>
          <a:effectRef idx="1">
            <a:schemeClr val="accent1"/>
          </a:effectRef>
          <a:fontRef idx="minor">
            <a:schemeClr val="tx1"/>
          </a:fontRef>
        </p:style>
      </p:cxnSp>
      <p:sp>
        <p:nvSpPr>
          <p:cNvPr id="13" name="text_11">
            <a:extLst>
              <a:ext uri="{FF2B5EF4-FFF2-40B4-BE49-F238E27FC236}">
                <a16:creationId xmlns:a16="http://schemas.microsoft.com/office/drawing/2014/main" id="{1FB9AEAB-679C-A07A-F47D-4D468670C0C3}"/>
              </a:ext>
            </a:extLst>
          </p:cNvPr>
          <p:cNvSpPr txBox="1"/>
          <p:nvPr/>
        </p:nvSpPr>
        <p:spPr>
          <a:xfrm>
            <a:off x="7937500" y="4787899"/>
            <a:ext cx="317500" cy="4318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x</a:t>
            </a:r>
          </a:p>
        </p:txBody>
      </p:sp>
      <p:sp>
        <p:nvSpPr>
          <p:cNvPr id="14" name="text_12">
            <a:extLst>
              <a:ext uri="{FF2B5EF4-FFF2-40B4-BE49-F238E27FC236}">
                <a16:creationId xmlns:a16="http://schemas.microsoft.com/office/drawing/2014/main" id="{2C660013-A042-EE6C-EA5C-203392C5DA29}"/>
              </a:ext>
            </a:extLst>
          </p:cNvPr>
          <p:cNvSpPr txBox="1"/>
          <p:nvPr/>
        </p:nvSpPr>
        <p:spPr>
          <a:xfrm>
            <a:off x="6731000" y="3797299"/>
            <a:ext cx="317500" cy="4318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y</a:t>
            </a:r>
          </a:p>
        </p:txBody>
      </p:sp>
      <p:cxnSp>
        <p:nvCxnSpPr>
          <p:cNvPr id="15" name="Straight Connector 14">
            <a:extLst>
              <a:ext uri="{FF2B5EF4-FFF2-40B4-BE49-F238E27FC236}">
                <a16:creationId xmlns:a16="http://schemas.microsoft.com/office/drawing/2014/main" id="{2C9F3549-24FD-33A3-5452-3508B36D18F1}"/>
              </a:ext>
            </a:extLst>
          </p:cNvPr>
          <p:cNvCxnSpPr/>
          <p:nvPr/>
        </p:nvCxnSpPr>
        <p:spPr>
          <a:xfrm>
            <a:off x="7137400" y="4762500"/>
            <a:ext cx="1752600" cy="0"/>
          </a:xfrm>
          <a:prstGeom prst="line">
            <a:avLst/>
          </a:prstGeom>
          <a:ln w="12700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D88FFC6B-06C0-7087-460F-39DF751D06B5}"/>
              </a:ext>
            </a:extLst>
          </p:cNvPr>
          <p:cNvCxnSpPr/>
          <p:nvPr/>
        </p:nvCxnSpPr>
        <p:spPr>
          <a:xfrm flipV="1">
            <a:off x="8890000" y="3594100"/>
            <a:ext cx="0" cy="1168400"/>
          </a:xfrm>
          <a:prstGeom prst="line">
            <a:avLst/>
          </a:prstGeom>
          <a:ln w="127000">
            <a:solidFill>
              <a:srgbClr val="E88932"/>
            </a:solidFill>
          </a:ln>
        </p:spPr>
        <p:style>
          <a:lnRef idx="2">
            <a:schemeClr val="accent1"/>
          </a:lnRef>
          <a:fillRef idx="0">
            <a:schemeClr val="accent1"/>
          </a:fillRef>
          <a:effectRef idx="1">
            <a:schemeClr val="accent1"/>
          </a:effectRef>
          <a:fontRef idx="minor">
            <a:schemeClr val="tx1"/>
          </a:fontRef>
        </p:style>
      </p:cxnSp>
      <p:sp>
        <p:nvSpPr>
          <p:cNvPr id="17" name="Oval 16">
            <a:extLst>
              <a:ext uri="{FF2B5EF4-FFF2-40B4-BE49-F238E27FC236}">
                <a16:creationId xmlns:a16="http://schemas.microsoft.com/office/drawing/2014/main" id="{1FA3C147-98BE-20D4-A075-4BD5D4FE077B}"/>
              </a:ext>
            </a:extLst>
          </p:cNvPr>
          <p:cNvSpPr/>
          <p:nvPr/>
        </p:nvSpPr>
        <p:spPr>
          <a:xfrm>
            <a:off x="7035800" y="4660900"/>
            <a:ext cx="203200" cy="203200"/>
          </a:xfrm>
          <a:prstGeom prst="ellipse">
            <a:avLst/>
          </a:prstGeom>
          <a:solidFill>
            <a:srgbClr val="1528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8" name="Oval 17">
            <a:extLst>
              <a:ext uri="{FF2B5EF4-FFF2-40B4-BE49-F238E27FC236}">
                <a16:creationId xmlns:a16="http://schemas.microsoft.com/office/drawing/2014/main" id="{4899E864-8950-72AD-C2FF-D9DEE01200AC}"/>
              </a:ext>
            </a:extLst>
          </p:cNvPr>
          <p:cNvSpPr/>
          <p:nvPr/>
        </p:nvSpPr>
        <p:spPr>
          <a:xfrm>
            <a:off x="8801100" y="4673600"/>
            <a:ext cx="177800" cy="177800"/>
          </a:xfrm>
          <a:prstGeom prst="ellipse">
            <a:avLst/>
          </a:prstGeom>
          <a:solidFill>
            <a:srgbClr val="1528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9" name="Oval 18">
            <a:extLst>
              <a:ext uri="{FF2B5EF4-FFF2-40B4-BE49-F238E27FC236}">
                <a16:creationId xmlns:a16="http://schemas.microsoft.com/office/drawing/2014/main" id="{5C449128-FFB5-F639-C959-2648444132B2}"/>
              </a:ext>
            </a:extLst>
          </p:cNvPr>
          <p:cNvSpPr/>
          <p:nvPr/>
        </p:nvSpPr>
        <p:spPr>
          <a:xfrm>
            <a:off x="8775700" y="3479800"/>
            <a:ext cx="228600" cy="228600"/>
          </a:xfrm>
          <a:prstGeom prst="ellipse">
            <a:avLst/>
          </a:prstGeom>
          <a:solidFill>
            <a:srgbClr val="21965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20" name="Straight Connector 19">
            <a:extLst>
              <a:ext uri="{FF2B5EF4-FFF2-40B4-BE49-F238E27FC236}">
                <a16:creationId xmlns:a16="http://schemas.microsoft.com/office/drawing/2014/main" id="{512D265E-9E8C-E856-6047-4574E46B4008}"/>
              </a:ext>
            </a:extLst>
          </p:cNvPr>
          <p:cNvCxnSpPr/>
          <p:nvPr/>
        </p:nvCxnSpPr>
        <p:spPr>
          <a:xfrm>
            <a:off x="7505700" y="47625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01D4C224-3848-3F00-9723-1ED44A88F727}"/>
              </a:ext>
            </a:extLst>
          </p:cNvPr>
          <p:cNvCxnSpPr/>
          <p:nvPr/>
        </p:nvCxnSpPr>
        <p:spPr>
          <a:xfrm>
            <a:off x="7505700" y="47625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C09E1E1D-99F5-FBC7-126F-B6FC2B1C6DB2}"/>
              </a:ext>
            </a:extLst>
          </p:cNvPr>
          <p:cNvCxnSpPr/>
          <p:nvPr/>
        </p:nvCxnSpPr>
        <p:spPr>
          <a:xfrm>
            <a:off x="7505700" y="47625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C29C493D-E8FF-1402-9C4C-5E0140BCB9DE}"/>
              </a:ext>
            </a:extLst>
          </p:cNvPr>
          <p:cNvCxnSpPr/>
          <p:nvPr/>
        </p:nvCxnSpPr>
        <p:spPr>
          <a:xfrm>
            <a:off x="7505700" y="47625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868C719D-1B32-151B-760B-69A0A7E083C7}"/>
              </a:ext>
            </a:extLst>
          </p:cNvPr>
          <p:cNvCxnSpPr/>
          <p:nvPr/>
        </p:nvCxnSpPr>
        <p:spPr>
          <a:xfrm>
            <a:off x="7505700" y="47625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5F33585C-8D49-A90A-D8BF-EAB01E04C382}"/>
              </a:ext>
            </a:extLst>
          </p:cNvPr>
          <p:cNvCxnSpPr/>
          <p:nvPr/>
        </p:nvCxnSpPr>
        <p:spPr>
          <a:xfrm>
            <a:off x="7505700" y="47625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F611DEB0-AC03-BD9F-180C-3B14118387B7}"/>
              </a:ext>
            </a:extLst>
          </p:cNvPr>
          <p:cNvCxnSpPr/>
          <p:nvPr/>
        </p:nvCxnSpPr>
        <p:spPr>
          <a:xfrm>
            <a:off x="7505700" y="47625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CCF6FFFF-EF9A-FAC3-FB0F-D6EED78D3010}"/>
              </a:ext>
            </a:extLst>
          </p:cNvPr>
          <p:cNvCxnSpPr/>
          <p:nvPr/>
        </p:nvCxnSpPr>
        <p:spPr>
          <a:xfrm>
            <a:off x="7505700" y="47625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9E5B7CD7-EAF8-F343-005E-909795D07DCD}"/>
              </a:ext>
            </a:extLst>
          </p:cNvPr>
          <p:cNvCxnSpPr/>
          <p:nvPr/>
        </p:nvCxnSpPr>
        <p:spPr>
          <a:xfrm>
            <a:off x="7505700" y="47625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BC203EA5-6551-697D-7AEE-1C0A502DFED4}"/>
              </a:ext>
            </a:extLst>
          </p:cNvPr>
          <p:cNvCxnSpPr/>
          <p:nvPr/>
        </p:nvCxnSpPr>
        <p:spPr>
          <a:xfrm>
            <a:off x="7505700" y="47625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F6D36BA5-67E7-B796-079E-BD4B7B2D1945}"/>
              </a:ext>
            </a:extLst>
          </p:cNvPr>
          <p:cNvCxnSpPr/>
          <p:nvPr/>
        </p:nvCxnSpPr>
        <p:spPr>
          <a:xfrm>
            <a:off x="7505700" y="47625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057A1055-B774-C241-BA96-9FC458BCCCDD}"/>
              </a:ext>
            </a:extLst>
          </p:cNvPr>
          <p:cNvCxnSpPr/>
          <p:nvPr/>
        </p:nvCxnSpPr>
        <p:spPr>
          <a:xfrm>
            <a:off x="7505700" y="47625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67F076FB-FE73-559F-93B1-94707088BC25}"/>
              </a:ext>
            </a:extLst>
          </p:cNvPr>
          <p:cNvCxnSpPr/>
          <p:nvPr/>
        </p:nvCxnSpPr>
        <p:spPr>
          <a:xfrm>
            <a:off x="7505700" y="47625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4763C8DF-B5F5-4460-CA96-3D91C78CBD2E}"/>
              </a:ext>
            </a:extLst>
          </p:cNvPr>
          <p:cNvCxnSpPr/>
          <p:nvPr/>
        </p:nvCxnSpPr>
        <p:spPr>
          <a:xfrm>
            <a:off x="7505700" y="47625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92586F94-781D-422F-7FE0-C325E5C5A41D}"/>
              </a:ext>
            </a:extLst>
          </p:cNvPr>
          <p:cNvCxnSpPr/>
          <p:nvPr/>
        </p:nvCxnSpPr>
        <p:spPr>
          <a:xfrm flipH="1" flipV="1">
            <a:off x="9218124" y="4725529"/>
            <a:ext cx="2076" cy="36971"/>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16B1F33C-E6E7-CD46-07FE-A5772DD46AA5}"/>
              </a:ext>
            </a:extLst>
          </p:cNvPr>
          <p:cNvCxnSpPr/>
          <p:nvPr/>
        </p:nvCxnSpPr>
        <p:spPr>
          <a:xfrm flipH="1" flipV="1">
            <a:off x="9211921" y="4689023"/>
            <a:ext cx="6203" cy="36506"/>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C67C8B7E-37D3-93AD-3C94-9E2132807646}"/>
              </a:ext>
            </a:extLst>
          </p:cNvPr>
          <p:cNvCxnSpPr/>
          <p:nvPr/>
        </p:nvCxnSpPr>
        <p:spPr>
          <a:xfrm flipH="1" flipV="1">
            <a:off x="9201670" y="4653442"/>
            <a:ext cx="10251" cy="35581"/>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C67A3A03-467F-52E8-9AAB-0E5355C7F0CA}"/>
              </a:ext>
            </a:extLst>
          </p:cNvPr>
          <p:cNvCxnSpPr/>
          <p:nvPr/>
        </p:nvCxnSpPr>
        <p:spPr>
          <a:xfrm flipH="1" flipV="1">
            <a:off x="9187500" y="4619232"/>
            <a:ext cx="14170" cy="34210"/>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C301CA03-C0E5-58F5-FEF7-8D2194150F9B}"/>
              </a:ext>
            </a:extLst>
          </p:cNvPr>
          <p:cNvCxnSpPr/>
          <p:nvPr/>
        </p:nvCxnSpPr>
        <p:spPr>
          <a:xfrm flipH="1" flipV="1">
            <a:off x="9169588" y="4586823"/>
            <a:ext cx="17912" cy="32409"/>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445179C1-B341-27A3-1E6C-580EE12257F0}"/>
              </a:ext>
            </a:extLst>
          </p:cNvPr>
          <p:cNvCxnSpPr/>
          <p:nvPr/>
        </p:nvCxnSpPr>
        <p:spPr>
          <a:xfrm flipH="1" flipV="1">
            <a:off x="9148161" y="4556624"/>
            <a:ext cx="21427" cy="30199"/>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F4DBC68B-89E3-9201-99D5-FC37A0A4C48D}"/>
              </a:ext>
            </a:extLst>
          </p:cNvPr>
          <p:cNvCxnSpPr/>
          <p:nvPr/>
        </p:nvCxnSpPr>
        <p:spPr>
          <a:xfrm flipH="1" flipV="1">
            <a:off x="9123487" y="4529013"/>
            <a:ext cx="24674" cy="27611"/>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AC94463C-1C7D-232B-FD6F-48ED56B7C7AC}"/>
              </a:ext>
            </a:extLst>
          </p:cNvPr>
          <p:cNvCxnSpPr/>
          <p:nvPr/>
        </p:nvCxnSpPr>
        <p:spPr>
          <a:xfrm flipH="1" flipV="1">
            <a:off x="9095877" y="4504339"/>
            <a:ext cx="27610" cy="24674"/>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B58FF6CD-9800-98E3-141A-1DE199A8335D}"/>
              </a:ext>
            </a:extLst>
          </p:cNvPr>
          <p:cNvCxnSpPr/>
          <p:nvPr/>
        </p:nvCxnSpPr>
        <p:spPr>
          <a:xfrm flipH="1" flipV="1">
            <a:off x="9065677" y="4482912"/>
            <a:ext cx="30200" cy="21427"/>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05D1BCE2-26D7-7C88-3A5A-B027DE2A29C4}"/>
              </a:ext>
            </a:extLst>
          </p:cNvPr>
          <p:cNvCxnSpPr/>
          <p:nvPr/>
        </p:nvCxnSpPr>
        <p:spPr>
          <a:xfrm flipH="1" flipV="1">
            <a:off x="9033269" y="4465000"/>
            <a:ext cx="32408" cy="17912"/>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D7B6BC93-8AB1-0D3F-012E-AF0FD4154626}"/>
              </a:ext>
            </a:extLst>
          </p:cNvPr>
          <p:cNvCxnSpPr/>
          <p:nvPr/>
        </p:nvCxnSpPr>
        <p:spPr>
          <a:xfrm flipH="1" flipV="1">
            <a:off x="8999058" y="4450830"/>
            <a:ext cx="34211" cy="14170"/>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4BC1E7FD-FA05-E2C9-9166-C7E0589CDD53}"/>
              </a:ext>
            </a:extLst>
          </p:cNvPr>
          <p:cNvCxnSpPr/>
          <p:nvPr/>
        </p:nvCxnSpPr>
        <p:spPr>
          <a:xfrm flipH="1" flipV="1">
            <a:off x="8963476" y="4440579"/>
            <a:ext cx="35582" cy="10251"/>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72E6005B-EB00-8A6F-27CE-A9C03DA84441}"/>
              </a:ext>
            </a:extLst>
          </p:cNvPr>
          <p:cNvCxnSpPr/>
          <p:nvPr/>
        </p:nvCxnSpPr>
        <p:spPr>
          <a:xfrm flipH="1" flipV="1">
            <a:off x="8926971" y="4434376"/>
            <a:ext cx="36505" cy="6203"/>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679E0ECE-A430-EF17-6C4F-17D10F64DFCC}"/>
              </a:ext>
            </a:extLst>
          </p:cNvPr>
          <p:cNvCxnSpPr/>
          <p:nvPr/>
        </p:nvCxnSpPr>
        <p:spPr>
          <a:xfrm flipH="1" flipV="1">
            <a:off x="8890000" y="4432300"/>
            <a:ext cx="36971" cy="2076"/>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sp>
        <p:nvSpPr>
          <p:cNvPr id="48" name="text_46">
            <a:extLst>
              <a:ext uri="{FF2B5EF4-FFF2-40B4-BE49-F238E27FC236}">
                <a16:creationId xmlns:a16="http://schemas.microsoft.com/office/drawing/2014/main" id="{EA6FC66A-1871-0578-5892-E98F2632F52C}"/>
              </a:ext>
            </a:extLst>
          </p:cNvPr>
          <p:cNvSpPr txBox="1"/>
          <p:nvPr/>
        </p:nvSpPr>
        <p:spPr>
          <a:xfrm>
            <a:off x="7518400" y="5181599"/>
            <a:ext cx="1397000" cy="508000"/>
          </a:xfrm>
          <a:prstGeom prst="rect">
            <a:avLst/>
          </a:prstGeom>
          <a:noFill/>
        </p:spPr>
        <p:txBody>
          <a:bodyPr vert="horz" wrap="square" lIns="0" tIns="0" rIns="0" bIns="0" rtlCol="0" anchor="t">
            <a:noAutofit/>
          </a:bodyPr>
          <a:lstStyle/>
          <a:p>
            <a:r>
              <a:rPr lang="en-IL" sz="2500">
                <a:solidFill>
                  <a:srgbClr val="2459D3"/>
                </a:solidFill>
                <a:latin typeface="Cambria Math" panose="02040503050406030204" pitchFamily="18" charset="0"/>
              </a:rPr>
              <a:t>q</a:t>
            </a:r>
            <a:r>
              <a:rPr lang="en-IL" baseline="-22000">
                <a:solidFill>
                  <a:srgbClr val="2459D3"/>
                </a:solidFill>
                <a:latin typeface="Cambria Math" panose="02040503050406030204" pitchFamily="18" charset="0"/>
              </a:rPr>
              <a:t>1</a:t>
            </a:r>
          </a:p>
        </p:txBody>
      </p:sp>
      <p:sp>
        <p:nvSpPr>
          <p:cNvPr id="49" name="text_47">
            <a:extLst>
              <a:ext uri="{FF2B5EF4-FFF2-40B4-BE49-F238E27FC236}">
                <a16:creationId xmlns:a16="http://schemas.microsoft.com/office/drawing/2014/main" id="{B7BCB508-B486-0D61-E9B4-624C731D902D}"/>
              </a:ext>
            </a:extLst>
          </p:cNvPr>
          <p:cNvSpPr txBox="1"/>
          <p:nvPr/>
        </p:nvSpPr>
        <p:spPr>
          <a:xfrm>
            <a:off x="9296400" y="4254499"/>
            <a:ext cx="1016000" cy="508000"/>
          </a:xfrm>
          <a:prstGeom prst="rect">
            <a:avLst/>
          </a:prstGeom>
          <a:noFill/>
        </p:spPr>
        <p:txBody>
          <a:bodyPr vert="horz" wrap="square" lIns="0" tIns="0" rIns="0" bIns="0" rtlCol="0" anchor="t">
            <a:noAutofit/>
          </a:bodyPr>
          <a:lstStyle/>
          <a:p>
            <a:r>
              <a:rPr lang="en-IL" sz="2500">
                <a:solidFill>
                  <a:srgbClr val="E88932"/>
                </a:solidFill>
                <a:latin typeface="Cambria Math" panose="02040503050406030204" pitchFamily="18" charset="0"/>
              </a:rPr>
              <a:t>q</a:t>
            </a:r>
            <a:r>
              <a:rPr lang="en-IL" baseline="-22000">
                <a:solidFill>
                  <a:srgbClr val="E88932"/>
                </a:solidFill>
                <a:latin typeface="Cambria Math" panose="02040503050406030204" pitchFamily="18" charset="0"/>
              </a:rPr>
              <a:t>2</a:t>
            </a:r>
          </a:p>
        </p:txBody>
      </p:sp>
      <p:sp>
        <p:nvSpPr>
          <p:cNvPr id="50" name="text_48">
            <a:extLst>
              <a:ext uri="{FF2B5EF4-FFF2-40B4-BE49-F238E27FC236}">
                <a16:creationId xmlns:a16="http://schemas.microsoft.com/office/drawing/2014/main" id="{AC51A0D8-3C47-5575-C30D-4745AA8B162E}"/>
              </a:ext>
            </a:extLst>
          </p:cNvPr>
          <p:cNvSpPr txBox="1"/>
          <p:nvPr/>
        </p:nvSpPr>
        <p:spPr>
          <a:xfrm>
            <a:off x="7543800" y="4089399"/>
            <a:ext cx="1854200" cy="482600"/>
          </a:xfrm>
          <a:prstGeom prst="rect">
            <a:avLst/>
          </a:prstGeom>
          <a:noFill/>
        </p:spPr>
        <p:txBody>
          <a:bodyPr vert="horz" wrap="square" lIns="0" tIns="0" rIns="0" bIns="0" rtlCol="0" anchor="t">
            <a:noAutofit/>
          </a:bodyPr>
          <a:lstStyle/>
          <a:p>
            <a:r>
              <a:rPr lang="en-IL" sz="2400" b="1">
                <a:solidFill>
                  <a:srgbClr val="2459D3"/>
                </a:solidFill>
                <a:latin typeface="Aptos" panose="020B0004020202020204" pitchFamily="34" charset="0"/>
              </a:rPr>
              <a:t>0.6 m</a:t>
            </a:r>
          </a:p>
        </p:txBody>
      </p:sp>
      <p:sp>
        <p:nvSpPr>
          <p:cNvPr id="51" name="text_49">
            <a:extLst>
              <a:ext uri="{FF2B5EF4-FFF2-40B4-BE49-F238E27FC236}">
                <a16:creationId xmlns:a16="http://schemas.microsoft.com/office/drawing/2014/main" id="{4E2E3466-4E6A-017D-F1B7-4C4E5F3FD6FC}"/>
              </a:ext>
            </a:extLst>
          </p:cNvPr>
          <p:cNvSpPr txBox="1"/>
          <p:nvPr/>
        </p:nvSpPr>
        <p:spPr>
          <a:xfrm>
            <a:off x="9144000" y="3746499"/>
            <a:ext cx="1727200" cy="482600"/>
          </a:xfrm>
          <a:prstGeom prst="rect">
            <a:avLst/>
          </a:prstGeom>
          <a:noFill/>
        </p:spPr>
        <p:txBody>
          <a:bodyPr vert="horz" wrap="square" lIns="0" tIns="0" rIns="0" bIns="0" rtlCol="0" anchor="t">
            <a:noAutofit/>
          </a:bodyPr>
          <a:lstStyle/>
          <a:p>
            <a:r>
              <a:rPr lang="en-IL" sz="2400" b="1">
                <a:solidFill>
                  <a:srgbClr val="E88932"/>
                </a:solidFill>
                <a:latin typeface="Aptos" panose="020B0004020202020204" pitchFamily="34" charset="0"/>
              </a:rPr>
              <a:t>0.4 m</a:t>
            </a:r>
          </a:p>
        </p:txBody>
      </p:sp>
      <p:sp>
        <p:nvSpPr>
          <p:cNvPr id="52" name="text_50">
            <a:extLst>
              <a:ext uri="{FF2B5EF4-FFF2-40B4-BE49-F238E27FC236}">
                <a16:creationId xmlns:a16="http://schemas.microsoft.com/office/drawing/2014/main" id="{8D4AD0C2-A4BA-7219-6325-074FFD91C94F}"/>
              </a:ext>
            </a:extLst>
          </p:cNvPr>
          <p:cNvSpPr txBox="1"/>
          <p:nvPr/>
        </p:nvSpPr>
        <p:spPr>
          <a:xfrm>
            <a:off x="6451600" y="2628899"/>
            <a:ext cx="5054600" cy="5461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Top view · base_link</a:t>
            </a:r>
          </a:p>
        </p:txBody>
      </p:sp>
      <p:sp>
        <p:nvSpPr>
          <p:cNvPr id="53" name="text_51">
            <a:extLst>
              <a:ext uri="{FF2B5EF4-FFF2-40B4-BE49-F238E27FC236}">
                <a16:creationId xmlns:a16="http://schemas.microsoft.com/office/drawing/2014/main" id="{AB98012C-B8FA-30C7-C0FF-FA6B75D827DF}"/>
              </a:ext>
            </a:extLst>
          </p:cNvPr>
          <p:cNvSpPr txBox="1"/>
          <p:nvPr/>
        </p:nvSpPr>
        <p:spPr>
          <a:xfrm>
            <a:off x="6451600" y="5676899"/>
            <a:ext cx="5054600" cy="457200"/>
          </a:xfrm>
          <a:prstGeom prst="rect">
            <a:avLst/>
          </a:prstGeom>
          <a:noFill/>
        </p:spPr>
        <p:txBody>
          <a:bodyPr vert="horz" wrap="square" lIns="0" tIns="0" rIns="0" bIns="0" rtlCol="0" anchor="t">
            <a:noAutofit/>
          </a:bodyPr>
          <a:lstStyle/>
          <a:p>
            <a:r>
              <a:rPr lang="en-US" sz="2500">
                <a:solidFill>
                  <a:srgbClr val="526477"/>
                </a:solidFill>
                <a:latin typeface="Aptos" panose="020B0004020202020204" pitchFamily="34" charset="0"/>
              </a:rPr>
              <a:t>q₂ is relative to link1.</a:t>
            </a:r>
            <a:endParaRPr lang="en-IL" sz="2500">
              <a:solidFill>
                <a:srgbClr val="526477"/>
              </a:solidFill>
              <a:latin typeface="Aptos" panose="020B0004020202020204" pitchFamily="34" charset="0"/>
            </a:endParaRPr>
          </a:p>
        </p:txBody>
      </p:sp>
    </p:spTree>
    <p:extLst>
      <p:ext uri="{BB962C8B-B14F-4D97-AF65-F5344CB8AC3E}">
        <p14:creationId xmlns:p14="http://schemas.microsoft.com/office/powerpoint/2010/main" val="35023561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0F2E6478-2484-5DCC-B29C-3C43C4298365}"/>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03 / GAZEBO &amp; KINEMATICS</a:t>
            </a:r>
          </a:p>
        </p:txBody>
      </p:sp>
      <p:sp>
        <p:nvSpPr>
          <p:cNvPr id="3" name="text_2">
            <a:extLst>
              <a:ext uri="{FF2B5EF4-FFF2-40B4-BE49-F238E27FC236}">
                <a16:creationId xmlns:a16="http://schemas.microsoft.com/office/drawing/2014/main" id="{89DB4D67-3822-D039-E26D-30668F0D7491}"/>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Forward kinematics</a:t>
            </a:r>
          </a:p>
        </p:txBody>
      </p:sp>
      <p:sp>
        <p:nvSpPr>
          <p:cNvPr id="4" name="text_3">
            <a:extLst>
              <a:ext uri="{FF2B5EF4-FFF2-40B4-BE49-F238E27FC236}">
                <a16:creationId xmlns:a16="http://schemas.microsoft.com/office/drawing/2014/main" id="{9D4EEE7F-50A0-BECA-14DB-9C346FA71D6F}"/>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Joint angles → tool position in base_link.</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E44D83B7-47D9-4038-F75A-E008AF1C817C}"/>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6C7BAD0C-0137-E77F-6ED6-F95322E71560}"/>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IL" sz="1600">
                <a:solidFill>
                  <a:srgbClr val="526477"/>
                </a:solidFill>
                <a:latin typeface="Aptos" panose="020B0004020202020204" pitchFamily="34" charset="0"/>
              </a:rPr>
              <a:t>Robotics &amp; Autonomous Systems · ROS 2 Jazzy / Gazebo Harmonic</a:t>
            </a:r>
          </a:p>
        </p:txBody>
      </p:sp>
      <p:sp>
        <p:nvSpPr>
          <p:cNvPr id="7" name="text_6">
            <a:extLst>
              <a:ext uri="{FF2B5EF4-FFF2-40B4-BE49-F238E27FC236}">
                <a16:creationId xmlns:a16="http://schemas.microsoft.com/office/drawing/2014/main" id="{88D5B817-191F-2B99-C7F9-DF6F4B906B01}"/>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11</a:t>
            </a:r>
          </a:p>
        </p:txBody>
      </p:sp>
      <p:cxnSp>
        <p:nvCxnSpPr>
          <p:cNvPr id="8" name="Straight Connector 7">
            <a:extLst>
              <a:ext uri="{FF2B5EF4-FFF2-40B4-BE49-F238E27FC236}">
                <a16:creationId xmlns:a16="http://schemas.microsoft.com/office/drawing/2014/main" id="{ED3913DE-A672-B37B-6DA4-1B17921BF617}"/>
              </a:ext>
            </a:extLst>
          </p:cNvPr>
          <p:cNvCxnSpPr/>
          <p:nvPr/>
        </p:nvCxnSpPr>
        <p:spPr>
          <a:xfrm>
            <a:off x="1320800" y="4610100"/>
            <a:ext cx="952500" cy="0"/>
          </a:xfrm>
          <a:prstGeom prst="line">
            <a:avLst/>
          </a:prstGeom>
          <a:ln w="27940">
            <a:solidFill>
              <a:srgbClr val="D7E0E9"/>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D998B73E-0323-5C6E-86C8-513AFD83B35A}"/>
              </a:ext>
            </a:extLst>
          </p:cNvPr>
          <p:cNvCxnSpPr/>
          <p:nvPr/>
        </p:nvCxnSpPr>
        <p:spPr>
          <a:xfrm flipV="1">
            <a:off x="1447800" y="3784600"/>
            <a:ext cx="0" cy="952500"/>
          </a:xfrm>
          <a:prstGeom prst="line">
            <a:avLst/>
          </a:prstGeom>
          <a:ln w="27940">
            <a:solidFill>
              <a:srgbClr val="D7E0E9"/>
            </a:solidFill>
            <a:tailEnd type="arrow"/>
          </a:ln>
        </p:spPr>
        <p:style>
          <a:lnRef idx="2">
            <a:schemeClr val="accent1"/>
          </a:lnRef>
          <a:fillRef idx="0">
            <a:schemeClr val="accent1"/>
          </a:fillRef>
          <a:effectRef idx="1">
            <a:schemeClr val="accent1"/>
          </a:effectRef>
          <a:fontRef idx="minor">
            <a:schemeClr val="tx1"/>
          </a:fontRef>
        </p:style>
      </p:cxnSp>
      <p:sp>
        <p:nvSpPr>
          <p:cNvPr id="10" name="text_9">
            <a:extLst>
              <a:ext uri="{FF2B5EF4-FFF2-40B4-BE49-F238E27FC236}">
                <a16:creationId xmlns:a16="http://schemas.microsoft.com/office/drawing/2014/main" id="{C618A862-CA0B-1197-845B-6114991FB38F}"/>
              </a:ext>
            </a:extLst>
          </p:cNvPr>
          <p:cNvSpPr txBox="1"/>
          <p:nvPr/>
        </p:nvSpPr>
        <p:spPr>
          <a:xfrm>
            <a:off x="2247900" y="4635499"/>
            <a:ext cx="317500" cy="4318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x</a:t>
            </a:r>
          </a:p>
        </p:txBody>
      </p:sp>
      <p:sp>
        <p:nvSpPr>
          <p:cNvPr id="11" name="text_10">
            <a:extLst>
              <a:ext uri="{FF2B5EF4-FFF2-40B4-BE49-F238E27FC236}">
                <a16:creationId xmlns:a16="http://schemas.microsoft.com/office/drawing/2014/main" id="{9C5015AA-43CD-CACB-3ED9-C5172E0312FB}"/>
              </a:ext>
            </a:extLst>
          </p:cNvPr>
          <p:cNvSpPr txBox="1"/>
          <p:nvPr/>
        </p:nvSpPr>
        <p:spPr>
          <a:xfrm>
            <a:off x="1041400" y="3644899"/>
            <a:ext cx="317500" cy="4318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y</a:t>
            </a:r>
          </a:p>
        </p:txBody>
      </p:sp>
      <p:cxnSp>
        <p:nvCxnSpPr>
          <p:cNvPr id="12" name="Straight Connector 11">
            <a:extLst>
              <a:ext uri="{FF2B5EF4-FFF2-40B4-BE49-F238E27FC236}">
                <a16:creationId xmlns:a16="http://schemas.microsoft.com/office/drawing/2014/main" id="{A2BEF974-FE1E-79F5-999B-EBA7832A51BD}"/>
              </a:ext>
            </a:extLst>
          </p:cNvPr>
          <p:cNvCxnSpPr/>
          <p:nvPr/>
        </p:nvCxnSpPr>
        <p:spPr>
          <a:xfrm>
            <a:off x="1447800" y="4610100"/>
            <a:ext cx="1676400" cy="0"/>
          </a:xfrm>
          <a:prstGeom prst="line">
            <a:avLst/>
          </a:prstGeom>
          <a:ln w="12700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DEFC7C9C-215C-15F3-038A-B407A16F3050}"/>
              </a:ext>
            </a:extLst>
          </p:cNvPr>
          <p:cNvCxnSpPr/>
          <p:nvPr/>
        </p:nvCxnSpPr>
        <p:spPr>
          <a:xfrm flipV="1">
            <a:off x="3124200" y="3492500"/>
            <a:ext cx="0" cy="1117600"/>
          </a:xfrm>
          <a:prstGeom prst="line">
            <a:avLst/>
          </a:prstGeom>
          <a:ln w="127000">
            <a:solidFill>
              <a:srgbClr val="E88932"/>
            </a:solidFill>
          </a:ln>
        </p:spPr>
        <p:style>
          <a:lnRef idx="2">
            <a:schemeClr val="accent1"/>
          </a:lnRef>
          <a:fillRef idx="0">
            <a:schemeClr val="accent1"/>
          </a:fillRef>
          <a:effectRef idx="1">
            <a:schemeClr val="accent1"/>
          </a:effectRef>
          <a:fontRef idx="minor">
            <a:schemeClr val="tx1"/>
          </a:fontRef>
        </p:style>
      </p:cxnSp>
      <p:sp>
        <p:nvSpPr>
          <p:cNvPr id="14" name="Oval 13">
            <a:extLst>
              <a:ext uri="{FF2B5EF4-FFF2-40B4-BE49-F238E27FC236}">
                <a16:creationId xmlns:a16="http://schemas.microsoft.com/office/drawing/2014/main" id="{06FC8F3D-6B1F-D63B-50FE-0D141A4E873D}"/>
              </a:ext>
            </a:extLst>
          </p:cNvPr>
          <p:cNvSpPr/>
          <p:nvPr/>
        </p:nvSpPr>
        <p:spPr>
          <a:xfrm>
            <a:off x="1346200" y="4508500"/>
            <a:ext cx="203200" cy="203200"/>
          </a:xfrm>
          <a:prstGeom prst="ellipse">
            <a:avLst/>
          </a:prstGeom>
          <a:solidFill>
            <a:srgbClr val="1528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Oval 14">
            <a:extLst>
              <a:ext uri="{FF2B5EF4-FFF2-40B4-BE49-F238E27FC236}">
                <a16:creationId xmlns:a16="http://schemas.microsoft.com/office/drawing/2014/main" id="{124EF925-7710-44B7-1781-C39390FB0BA6}"/>
              </a:ext>
            </a:extLst>
          </p:cNvPr>
          <p:cNvSpPr/>
          <p:nvPr/>
        </p:nvSpPr>
        <p:spPr>
          <a:xfrm>
            <a:off x="3035300" y="4521200"/>
            <a:ext cx="177800" cy="177800"/>
          </a:xfrm>
          <a:prstGeom prst="ellipse">
            <a:avLst/>
          </a:prstGeom>
          <a:solidFill>
            <a:srgbClr val="1528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6" name="Oval 15">
            <a:extLst>
              <a:ext uri="{FF2B5EF4-FFF2-40B4-BE49-F238E27FC236}">
                <a16:creationId xmlns:a16="http://schemas.microsoft.com/office/drawing/2014/main" id="{96FA990C-B9D8-91B9-CC3E-3DE84565DF38}"/>
              </a:ext>
            </a:extLst>
          </p:cNvPr>
          <p:cNvSpPr/>
          <p:nvPr/>
        </p:nvSpPr>
        <p:spPr>
          <a:xfrm>
            <a:off x="3009900" y="3378200"/>
            <a:ext cx="228600" cy="228600"/>
          </a:xfrm>
          <a:prstGeom prst="ellipse">
            <a:avLst/>
          </a:prstGeom>
          <a:solidFill>
            <a:srgbClr val="21965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17" name="Straight Connector 16">
            <a:extLst>
              <a:ext uri="{FF2B5EF4-FFF2-40B4-BE49-F238E27FC236}">
                <a16:creationId xmlns:a16="http://schemas.microsoft.com/office/drawing/2014/main" id="{A7F4D94B-48F9-E8D0-AFE0-7B14E0747E57}"/>
              </a:ext>
            </a:extLst>
          </p:cNvPr>
          <p:cNvCxnSpPr/>
          <p:nvPr/>
        </p:nvCxnSpPr>
        <p:spPr>
          <a:xfrm>
            <a:off x="1816100" y="46101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9FF2324E-1370-4FD1-4D66-BFDA17485910}"/>
              </a:ext>
            </a:extLst>
          </p:cNvPr>
          <p:cNvCxnSpPr/>
          <p:nvPr/>
        </p:nvCxnSpPr>
        <p:spPr>
          <a:xfrm>
            <a:off x="1816100" y="46101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0E868797-947A-F754-DCFC-1C3797D91E2C}"/>
              </a:ext>
            </a:extLst>
          </p:cNvPr>
          <p:cNvCxnSpPr/>
          <p:nvPr/>
        </p:nvCxnSpPr>
        <p:spPr>
          <a:xfrm>
            <a:off x="1816100" y="46101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DD832356-E76B-DECB-D6AD-4773563A84A9}"/>
              </a:ext>
            </a:extLst>
          </p:cNvPr>
          <p:cNvCxnSpPr/>
          <p:nvPr/>
        </p:nvCxnSpPr>
        <p:spPr>
          <a:xfrm>
            <a:off x="1816100" y="46101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C22AA167-0BD1-9C61-5738-A365ED60E57C}"/>
              </a:ext>
            </a:extLst>
          </p:cNvPr>
          <p:cNvCxnSpPr/>
          <p:nvPr/>
        </p:nvCxnSpPr>
        <p:spPr>
          <a:xfrm>
            <a:off x="1816100" y="46101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56C3A673-749B-B640-D5BA-173AC73FC428}"/>
              </a:ext>
            </a:extLst>
          </p:cNvPr>
          <p:cNvCxnSpPr/>
          <p:nvPr/>
        </p:nvCxnSpPr>
        <p:spPr>
          <a:xfrm>
            <a:off x="1816100" y="46101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D8FD9DD4-B0BC-B6DF-AB76-ECDB520DEBA3}"/>
              </a:ext>
            </a:extLst>
          </p:cNvPr>
          <p:cNvCxnSpPr/>
          <p:nvPr/>
        </p:nvCxnSpPr>
        <p:spPr>
          <a:xfrm>
            <a:off x="1816100" y="46101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26BE38D8-8BE5-4C59-1025-13DF955403FB}"/>
              </a:ext>
            </a:extLst>
          </p:cNvPr>
          <p:cNvCxnSpPr/>
          <p:nvPr/>
        </p:nvCxnSpPr>
        <p:spPr>
          <a:xfrm>
            <a:off x="1816100" y="46101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1CF43217-B509-3FF2-4511-115FB2D51114}"/>
              </a:ext>
            </a:extLst>
          </p:cNvPr>
          <p:cNvCxnSpPr/>
          <p:nvPr/>
        </p:nvCxnSpPr>
        <p:spPr>
          <a:xfrm>
            <a:off x="1816100" y="46101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6EE6C6CF-20D0-44CF-DB3C-06C26AAEED9C}"/>
              </a:ext>
            </a:extLst>
          </p:cNvPr>
          <p:cNvCxnSpPr/>
          <p:nvPr/>
        </p:nvCxnSpPr>
        <p:spPr>
          <a:xfrm>
            <a:off x="1816100" y="46101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90A3C6C6-C389-5645-33B0-1710AE9B0AC6}"/>
              </a:ext>
            </a:extLst>
          </p:cNvPr>
          <p:cNvCxnSpPr/>
          <p:nvPr/>
        </p:nvCxnSpPr>
        <p:spPr>
          <a:xfrm>
            <a:off x="1816100" y="46101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BA4960E4-290C-3D8A-59F3-B74ADEEB519E}"/>
              </a:ext>
            </a:extLst>
          </p:cNvPr>
          <p:cNvCxnSpPr/>
          <p:nvPr/>
        </p:nvCxnSpPr>
        <p:spPr>
          <a:xfrm>
            <a:off x="1816100" y="46101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AD9EB639-36B5-CD9D-A11A-F28CC4537677}"/>
              </a:ext>
            </a:extLst>
          </p:cNvPr>
          <p:cNvCxnSpPr/>
          <p:nvPr/>
        </p:nvCxnSpPr>
        <p:spPr>
          <a:xfrm>
            <a:off x="1816100" y="46101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C4983CD7-CDE9-4323-5BCF-C04EC6B5280B}"/>
              </a:ext>
            </a:extLst>
          </p:cNvPr>
          <p:cNvCxnSpPr/>
          <p:nvPr/>
        </p:nvCxnSpPr>
        <p:spPr>
          <a:xfrm>
            <a:off x="1816100" y="46101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DAD127D3-9C5E-F34A-B323-ABEECFE51F53}"/>
              </a:ext>
            </a:extLst>
          </p:cNvPr>
          <p:cNvCxnSpPr/>
          <p:nvPr/>
        </p:nvCxnSpPr>
        <p:spPr>
          <a:xfrm flipH="1" flipV="1">
            <a:off x="3452324" y="4573129"/>
            <a:ext cx="2076" cy="36971"/>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891EA9AB-175A-F470-CF7A-94AAA764B78D}"/>
              </a:ext>
            </a:extLst>
          </p:cNvPr>
          <p:cNvCxnSpPr/>
          <p:nvPr/>
        </p:nvCxnSpPr>
        <p:spPr>
          <a:xfrm flipH="1" flipV="1">
            <a:off x="3446121" y="4536623"/>
            <a:ext cx="6203" cy="36506"/>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B27938F1-9682-2253-813B-E8821F55D90B}"/>
              </a:ext>
            </a:extLst>
          </p:cNvPr>
          <p:cNvCxnSpPr/>
          <p:nvPr/>
        </p:nvCxnSpPr>
        <p:spPr>
          <a:xfrm flipH="1" flipV="1">
            <a:off x="3435870" y="4501042"/>
            <a:ext cx="10251" cy="35581"/>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0A88E63B-4AF0-B25A-21E5-DA7ACFEC92DB}"/>
              </a:ext>
            </a:extLst>
          </p:cNvPr>
          <p:cNvCxnSpPr/>
          <p:nvPr/>
        </p:nvCxnSpPr>
        <p:spPr>
          <a:xfrm flipH="1" flipV="1">
            <a:off x="3421700" y="4466832"/>
            <a:ext cx="14170" cy="34210"/>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B61B05BB-3F3E-B296-DC19-DE3FE0A7DCDC}"/>
              </a:ext>
            </a:extLst>
          </p:cNvPr>
          <p:cNvCxnSpPr/>
          <p:nvPr/>
        </p:nvCxnSpPr>
        <p:spPr>
          <a:xfrm flipH="1" flipV="1">
            <a:off x="3403788" y="4434423"/>
            <a:ext cx="17912" cy="32409"/>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86BF7D8F-5334-085F-6AC0-689026130874}"/>
              </a:ext>
            </a:extLst>
          </p:cNvPr>
          <p:cNvCxnSpPr/>
          <p:nvPr/>
        </p:nvCxnSpPr>
        <p:spPr>
          <a:xfrm flipH="1" flipV="1">
            <a:off x="3382361" y="4404224"/>
            <a:ext cx="21427" cy="30199"/>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A6DFFAAD-6A45-B504-83C9-0692B6B85B2A}"/>
              </a:ext>
            </a:extLst>
          </p:cNvPr>
          <p:cNvCxnSpPr/>
          <p:nvPr/>
        </p:nvCxnSpPr>
        <p:spPr>
          <a:xfrm flipH="1" flipV="1">
            <a:off x="3357687" y="4376613"/>
            <a:ext cx="24674" cy="27611"/>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564AB464-C730-1AE4-9626-3E86B82B7868}"/>
              </a:ext>
            </a:extLst>
          </p:cNvPr>
          <p:cNvCxnSpPr/>
          <p:nvPr/>
        </p:nvCxnSpPr>
        <p:spPr>
          <a:xfrm flipH="1" flipV="1">
            <a:off x="3330076" y="4351939"/>
            <a:ext cx="27611" cy="24674"/>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B1F962D5-F437-6C04-2AC8-7F38B43CE0D1}"/>
              </a:ext>
            </a:extLst>
          </p:cNvPr>
          <p:cNvCxnSpPr/>
          <p:nvPr/>
        </p:nvCxnSpPr>
        <p:spPr>
          <a:xfrm flipH="1" flipV="1">
            <a:off x="3299877" y="4330512"/>
            <a:ext cx="30199" cy="21427"/>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726D38D5-AC4D-AF67-8A81-5A49B0201637}"/>
              </a:ext>
            </a:extLst>
          </p:cNvPr>
          <p:cNvCxnSpPr/>
          <p:nvPr/>
        </p:nvCxnSpPr>
        <p:spPr>
          <a:xfrm flipH="1" flipV="1">
            <a:off x="3267468" y="4312600"/>
            <a:ext cx="32409" cy="17912"/>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62458BF1-39B2-03EA-6B1C-CC30AC90252E}"/>
              </a:ext>
            </a:extLst>
          </p:cNvPr>
          <p:cNvCxnSpPr/>
          <p:nvPr/>
        </p:nvCxnSpPr>
        <p:spPr>
          <a:xfrm flipH="1" flipV="1">
            <a:off x="3233258" y="4298430"/>
            <a:ext cx="34210" cy="14170"/>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C41DDCD3-A61A-A559-1DB4-8F23DEFE14FC}"/>
              </a:ext>
            </a:extLst>
          </p:cNvPr>
          <p:cNvCxnSpPr/>
          <p:nvPr/>
        </p:nvCxnSpPr>
        <p:spPr>
          <a:xfrm flipH="1" flipV="1">
            <a:off x="3197676" y="4288179"/>
            <a:ext cx="35582" cy="10251"/>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0778BEE5-9F36-EF25-6B18-4E076FFCB40C}"/>
              </a:ext>
            </a:extLst>
          </p:cNvPr>
          <p:cNvCxnSpPr/>
          <p:nvPr/>
        </p:nvCxnSpPr>
        <p:spPr>
          <a:xfrm flipH="1" flipV="1">
            <a:off x="3161171" y="4281976"/>
            <a:ext cx="36505" cy="6203"/>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2EEFEE38-5447-2FEA-6A32-4AE9580B63F7}"/>
              </a:ext>
            </a:extLst>
          </p:cNvPr>
          <p:cNvCxnSpPr/>
          <p:nvPr/>
        </p:nvCxnSpPr>
        <p:spPr>
          <a:xfrm flipH="1" flipV="1">
            <a:off x="3124200" y="4279900"/>
            <a:ext cx="36971" cy="2076"/>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sp>
        <p:nvSpPr>
          <p:cNvPr id="45" name="text_44">
            <a:extLst>
              <a:ext uri="{FF2B5EF4-FFF2-40B4-BE49-F238E27FC236}">
                <a16:creationId xmlns:a16="http://schemas.microsoft.com/office/drawing/2014/main" id="{3CD5563A-1E7D-8663-3FB2-89C1C034C5E0}"/>
              </a:ext>
            </a:extLst>
          </p:cNvPr>
          <p:cNvSpPr txBox="1"/>
          <p:nvPr/>
        </p:nvSpPr>
        <p:spPr>
          <a:xfrm>
            <a:off x="1828800" y="5029199"/>
            <a:ext cx="1397000" cy="508000"/>
          </a:xfrm>
          <a:prstGeom prst="rect">
            <a:avLst/>
          </a:prstGeom>
          <a:noFill/>
        </p:spPr>
        <p:txBody>
          <a:bodyPr vert="horz" wrap="square" lIns="0" tIns="0" rIns="0" bIns="0" rtlCol="0" anchor="t">
            <a:noAutofit/>
          </a:bodyPr>
          <a:lstStyle/>
          <a:p>
            <a:r>
              <a:rPr lang="en-IL" sz="2500">
                <a:solidFill>
                  <a:srgbClr val="2459D3"/>
                </a:solidFill>
                <a:latin typeface="Cambria Math" panose="02040503050406030204" pitchFamily="18" charset="0"/>
              </a:rPr>
              <a:t>q</a:t>
            </a:r>
            <a:r>
              <a:rPr lang="en-IL" baseline="-22000">
                <a:solidFill>
                  <a:srgbClr val="2459D3"/>
                </a:solidFill>
                <a:latin typeface="Cambria Math" panose="02040503050406030204" pitchFamily="18" charset="0"/>
              </a:rPr>
              <a:t>1</a:t>
            </a:r>
          </a:p>
        </p:txBody>
      </p:sp>
      <p:sp>
        <p:nvSpPr>
          <p:cNvPr id="46" name="text_45">
            <a:extLst>
              <a:ext uri="{FF2B5EF4-FFF2-40B4-BE49-F238E27FC236}">
                <a16:creationId xmlns:a16="http://schemas.microsoft.com/office/drawing/2014/main" id="{D01143CC-BC10-D331-C0DE-EBE537C3A9CD}"/>
              </a:ext>
            </a:extLst>
          </p:cNvPr>
          <p:cNvSpPr txBox="1"/>
          <p:nvPr/>
        </p:nvSpPr>
        <p:spPr>
          <a:xfrm>
            <a:off x="3530600" y="4102099"/>
            <a:ext cx="1016000" cy="508000"/>
          </a:xfrm>
          <a:prstGeom prst="rect">
            <a:avLst/>
          </a:prstGeom>
          <a:noFill/>
        </p:spPr>
        <p:txBody>
          <a:bodyPr vert="horz" wrap="square" lIns="0" tIns="0" rIns="0" bIns="0" rtlCol="0" anchor="t">
            <a:noAutofit/>
          </a:bodyPr>
          <a:lstStyle/>
          <a:p>
            <a:r>
              <a:rPr lang="en-IL" sz="2500">
                <a:solidFill>
                  <a:srgbClr val="E88932"/>
                </a:solidFill>
                <a:latin typeface="Cambria Math" panose="02040503050406030204" pitchFamily="18" charset="0"/>
              </a:rPr>
              <a:t>q</a:t>
            </a:r>
            <a:r>
              <a:rPr lang="en-IL" baseline="-22000">
                <a:solidFill>
                  <a:srgbClr val="E88932"/>
                </a:solidFill>
                <a:latin typeface="Cambria Math" panose="02040503050406030204" pitchFamily="18" charset="0"/>
              </a:rPr>
              <a:t>2</a:t>
            </a:r>
          </a:p>
        </p:txBody>
      </p:sp>
      <p:sp>
        <p:nvSpPr>
          <p:cNvPr id="47" name="text_46">
            <a:extLst>
              <a:ext uri="{FF2B5EF4-FFF2-40B4-BE49-F238E27FC236}">
                <a16:creationId xmlns:a16="http://schemas.microsoft.com/office/drawing/2014/main" id="{FF919F52-0711-876D-39FC-112CBFAD0C1D}"/>
              </a:ext>
            </a:extLst>
          </p:cNvPr>
          <p:cNvSpPr txBox="1"/>
          <p:nvPr/>
        </p:nvSpPr>
        <p:spPr>
          <a:xfrm>
            <a:off x="1854200" y="3936999"/>
            <a:ext cx="1854200" cy="482600"/>
          </a:xfrm>
          <a:prstGeom prst="rect">
            <a:avLst/>
          </a:prstGeom>
          <a:noFill/>
        </p:spPr>
        <p:txBody>
          <a:bodyPr vert="horz" wrap="square" lIns="0" tIns="0" rIns="0" bIns="0" rtlCol="0" anchor="t">
            <a:noAutofit/>
          </a:bodyPr>
          <a:lstStyle/>
          <a:p>
            <a:r>
              <a:rPr lang="en-IL" sz="2400" b="1">
                <a:solidFill>
                  <a:srgbClr val="2459D3"/>
                </a:solidFill>
                <a:latin typeface="Aptos" panose="020B0004020202020204" pitchFamily="34" charset="0"/>
              </a:rPr>
              <a:t>0.6 m</a:t>
            </a:r>
          </a:p>
        </p:txBody>
      </p:sp>
      <p:sp>
        <p:nvSpPr>
          <p:cNvPr id="48" name="text_47">
            <a:extLst>
              <a:ext uri="{FF2B5EF4-FFF2-40B4-BE49-F238E27FC236}">
                <a16:creationId xmlns:a16="http://schemas.microsoft.com/office/drawing/2014/main" id="{1357A325-A0EC-5326-C7D5-7BAED6378CCC}"/>
              </a:ext>
            </a:extLst>
          </p:cNvPr>
          <p:cNvSpPr txBox="1"/>
          <p:nvPr/>
        </p:nvSpPr>
        <p:spPr>
          <a:xfrm>
            <a:off x="3378200" y="3644899"/>
            <a:ext cx="1727200" cy="482600"/>
          </a:xfrm>
          <a:prstGeom prst="rect">
            <a:avLst/>
          </a:prstGeom>
          <a:noFill/>
        </p:spPr>
        <p:txBody>
          <a:bodyPr vert="horz" wrap="square" lIns="0" tIns="0" rIns="0" bIns="0" rtlCol="0" anchor="t">
            <a:noAutofit/>
          </a:bodyPr>
          <a:lstStyle/>
          <a:p>
            <a:r>
              <a:rPr lang="en-IL" sz="2400" b="1">
                <a:solidFill>
                  <a:srgbClr val="E88932"/>
                </a:solidFill>
                <a:latin typeface="Aptos" panose="020B0004020202020204" pitchFamily="34" charset="0"/>
              </a:rPr>
              <a:t>0.4 m</a:t>
            </a:r>
          </a:p>
        </p:txBody>
      </p:sp>
      <p:sp>
        <p:nvSpPr>
          <p:cNvPr id="49" name="text_48">
            <a:extLst>
              <a:ext uri="{FF2B5EF4-FFF2-40B4-BE49-F238E27FC236}">
                <a16:creationId xmlns:a16="http://schemas.microsoft.com/office/drawing/2014/main" id="{C3A36B9D-72F4-C8E4-BAE8-581B13F5B230}"/>
              </a:ext>
            </a:extLst>
          </p:cNvPr>
          <p:cNvSpPr txBox="1"/>
          <p:nvPr/>
        </p:nvSpPr>
        <p:spPr>
          <a:xfrm>
            <a:off x="5207000" y="3060699"/>
            <a:ext cx="6299200" cy="711200"/>
          </a:xfrm>
          <a:prstGeom prst="rect">
            <a:avLst/>
          </a:prstGeom>
          <a:noFill/>
        </p:spPr>
        <p:txBody>
          <a:bodyPr vert="horz" wrap="square" lIns="0" tIns="0" rIns="0" bIns="0" rtlCol="0" anchor="t">
            <a:noAutofit/>
          </a:bodyPr>
          <a:lstStyle/>
          <a:p>
            <a:r>
              <a:rPr lang="en-IL" sz="2900">
                <a:solidFill>
                  <a:srgbClr val="2459D3"/>
                </a:solidFill>
                <a:latin typeface="Cambria Math" panose="02040503050406030204" pitchFamily="18" charset="0"/>
              </a:rPr>
              <a:t>x = L</a:t>
            </a:r>
            <a:r>
              <a:rPr lang="en-IL" sz="2088" baseline="-22000">
                <a:solidFill>
                  <a:srgbClr val="2459D3"/>
                </a:solidFill>
                <a:latin typeface="Cambria Math" panose="02040503050406030204" pitchFamily="18" charset="0"/>
              </a:rPr>
              <a:t>1</a:t>
            </a:r>
            <a:r>
              <a:rPr lang="en-IL" sz="2900">
                <a:solidFill>
                  <a:srgbClr val="2459D3"/>
                </a:solidFill>
                <a:latin typeface="Cambria Math" panose="02040503050406030204" pitchFamily="18" charset="0"/>
              </a:rPr>
              <a:t> cos(q</a:t>
            </a:r>
            <a:r>
              <a:rPr lang="en-IL" sz="2088" baseline="-22000">
                <a:solidFill>
                  <a:srgbClr val="2459D3"/>
                </a:solidFill>
                <a:latin typeface="Cambria Math" panose="02040503050406030204" pitchFamily="18" charset="0"/>
              </a:rPr>
              <a:t>1</a:t>
            </a:r>
            <a:r>
              <a:rPr lang="en-IL" sz="2900">
                <a:solidFill>
                  <a:srgbClr val="2459D3"/>
                </a:solidFill>
                <a:latin typeface="Cambria Math" panose="02040503050406030204" pitchFamily="18" charset="0"/>
              </a:rPr>
              <a:t>) + L</a:t>
            </a:r>
            <a:r>
              <a:rPr lang="en-IL" sz="2088" baseline="-22000">
                <a:solidFill>
                  <a:srgbClr val="2459D3"/>
                </a:solidFill>
                <a:latin typeface="Cambria Math" panose="02040503050406030204" pitchFamily="18" charset="0"/>
              </a:rPr>
              <a:t>2</a:t>
            </a:r>
            <a:r>
              <a:rPr lang="en-IL" sz="2900">
                <a:solidFill>
                  <a:srgbClr val="2459D3"/>
                </a:solidFill>
                <a:latin typeface="Cambria Math" panose="02040503050406030204" pitchFamily="18" charset="0"/>
              </a:rPr>
              <a:t> cos(q</a:t>
            </a:r>
            <a:r>
              <a:rPr lang="en-IL" sz="2088" baseline="-22000">
                <a:solidFill>
                  <a:srgbClr val="2459D3"/>
                </a:solidFill>
                <a:latin typeface="Cambria Math" panose="02040503050406030204" pitchFamily="18" charset="0"/>
              </a:rPr>
              <a:t>1</a:t>
            </a:r>
            <a:r>
              <a:rPr lang="en-IL" sz="2900">
                <a:solidFill>
                  <a:srgbClr val="2459D3"/>
                </a:solidFill>
                <a:latin typeface="Cambria Math" panose="02040503050406030204" pitchFamily="18" charset="0"/>
              </a:rPr>
              <a:t>+q</a:t>
            </a:r>
            <a:r>
              <a:rPr lang="en-IL" sz="2088" baseline="-22000">
                <a:solidFill>
                  <a:srgbClr val="2459D3"/>
                </a:solidFill>
                <a:latin typeface="Cambria Math" panose="02040503050406030204" pitchFamily="18" charset="0"/>
              </a:rPr>
              <a:t>2</a:t>
            </a:r>
            <a:r>
              <a:rPr lang="en-IL" sz="2900">
                <a:solidFill>
                  <a:srgbClr val="2459D3"/>
                </a:solidFill>
                <a:latin typeface="Cambria Math" panose="02040503050406030204" pitchFamily="18" charset="0"/>
              </a:rPr>
              <a:t>)</a:t>
            </a:r>
          </a:p>
        </p:txBody>
      </p:sp>
      <p:sp>
        <p:nvSpPr>
          <p:cNvPr id="50" name="text_49">
            <a:extLst>
              <a:ext uri="{FF2B5EF4-FFF2-40B4-BE49-F238E27FC236}">
                <a16:creationId xmlns:a16="http://schemas.microsoft.com/office/drawing/2014/main" id="{C6B509E9-7F20-D1C6-8B49-5AFBED69035E}"/>
              </a:ext>
            </a:extLst>
          </p:cNvPr>
          <p:cNvSpPr txBox="1"/>
          <p:nvPr/>
        </p:nvSpPr>
        <p:spPr>
          <a:xfrm>
            <a:off x="5207000" y="4000499"/>
            <a:ext cx="6299200" cy="711200"/>
          </a:xfrm>
          <a:prstGeom prst="rect">
            <a:avLst/>
          </a:prstGeom>
          <a:noFill/>
        </p:spPr>
        <p:txBody>
          <a:bodyPr vert="horz" wrap="square" lIns="0" tIns="0" rIns="0" bIns="0" rtlCol="0" anchor="t">
            <a:noAutofit/>
          </a:bodyPr>
          <a:lstStyle/>
          <a:p>
            <a:r>
              <a:rPr lang="es-ES" sz="2900">
                <a:solidFill>
                  <a:srgbClr val="137F79"/>
                </a:solidFill>
                <a:latin typeface="Cambria Math" panose="02040503050406030204" pitchFamily="18" charset="0"/>
              </a:rPr>
              <a:t>y = L</a:t>
            </a:r>
            <a:r>
              <a:rPr lang="es-ES" sz="2088" baseline="-22000">
                <a:solidFill>
                  <a:srgbClr val="137F79"/>
                </a:solidFill>
                <a:latin typeface="Cambria Math" panose="02040503050406030204" pitchFamily="18" charset="0"/>
              </a:rPr>
              <a:t>1</a:t>
            </a:r>
            <a:r>
              <a:rPr lang="es-ES" sz="2900">
                <a:solidFill>
                  <a:srgbClr val="137F79"/>
                </a:solidFill>
                <a:latin typeface="Cambria Math" panose="02040503050406030204" pitchFamily="18" charset="0"/>
              </a:rPr>
              <a:t> sin(q</a:t>
            </a:r>
            <a:r>
              <a:rPr lang="es-ES" sz="2088" baseline="-22000">
                <a:solidFill>
                  <a:srgbClr val="137F79"/>
                </a:solidFill>
                <a:latin typeface="Cambria Math" panose="02040503050406030204" pitchFamily="18" charset="0"/>
              </a:rPr>
              <a:t>1</a:t>
            </a:r>
            <a:r>
              <a:rPr lang="es-ES" sz="2900">
                <a:solidFill>
                  <a:srgbClr val="137F79"/>
                </a:solidFill>
                <a:latin typeface="Cambria Math" panose="02040503050406030204" pitchFamily="18" charset="0"/>
              </a:rPr>
              <a:t>) + L</a:t>
            </a:r>
            <a:r>
              <a:rPr lang="es-ES" sz="2088" baseline="-22000">
                <a:solidFill>
                  <a:srgbClr val="137F79"/>
                </a:solidFill>
                <a:latin typeface="Cambria Math" panose="02040503050406030204" pitchFamily="18" charset="0"/>
              </a:rPr>
              <a:t>2</a:t>
            </a:r>
            <a:r>
              <a:rPr lang="es-ES" sz="2900">
                <a:solidFill>
                  <a:srgbClr val="137F79"/>
                </a:solidFill>
                <a:latin typeface="Cambria Math" panose="02040503050406030204" pitchFamily="18" charset="0"/>
              </a:rPr>
              <a:t> sin(q</a:t>
            </a:r>
            <a:r>
              <a:rPr lang="es-ES" sz="2088" baseline="-22000">
                <a:solidFill>
                  <a:srgbClr val="137F79"/>
                </a:solidFill>
                <a:latin typeface="Cambria Math" panose="02040503050406030204" pitchFamily="18" charset="0"/>
              </a:rPr>
              <a:t>1</a:t>
            </a:r>
            <a:r>
              <a:rPr lang="es-ES" sz="2900">
                <a:solidFill>
                  <a:srgbClr val="137F79"/>
                </a:solidFill>
                <a:latin typeface="Cambria Math" panose="02040503050406030204" pitchFamily="18" charset="0"/>
              </a:rPr>
              <a:t>+q</a:t>
            </a:r>
            <a:r>
              <a:rPr lang="es-ES" sz="2088" baseline="-22000">
                <a:solidFill>
                  <a:srgbClr val="137F79"/>
                </a:solidFill>
                <a:latin typeface="Cambria Math" panose="02040503050406030204" pitchFamily="18" charset="0"/>
              </a:rPr>
              <a:t>2</a:t>
            </a:r>
            <a:r>
              <a:rPr lang="es-ES" sz="2900">
                <a:solidFill>
                  <a:srgbClr val="137F79"/>
                </a:solidFill>
                <a:latin typeface="Cambria Math" panose="02040503050406030204" pitchFamily="18" charset="0"/>
              </a:rPr>
              <a:t>)</a:t>
            </a:r>
            <a:endParaRPr lang="en-IL" sz="2900">
              <a:solidFill>
                <a:srgbClr val="137F79"/>
              </a:solidFill>
              <a:latin typeface="Cambria Math" panose="02040503050406030204" pitchFamily="18" charset="0"/>
            </a:endParaRPr>
          </a:p>
        </p:txBody>
      </p:sp>
      <p:sp>
        <p:nvSpPr>
          <p:cNvPr id="51" name="text_50">
            <a:extLst>
              <a:ext uri="{FF2B5EF4-FFF2-40B4-BE49-F238E27FC236}">
                <a16:creationId xmlns:a16="http://schemas.microsoft.com/office/drawing/2014/main" id="{E670619E-C0FC-0A52-E8EB-7B4EFFC3CCB8}"/>
              </a:ext>
            </a:extLst>
          </p:cNvPr>
          <p:cNvSpPr txBox="1"/>
          <p:nvPr/>
        </p:nvSpPr>
        <p:spPr>
          <a:xfrm>
            <a:off x="685800" y="5549899"/>
            <a:ext cx="10820400" cy="546100"/>
          </a:xfrm>
          <a:prstGeom prst="rect">
            <a:avLst/>
          </a:prstGeom>
          <a:noFill/>
        </p:spPr>
        <p:txBody>
          <a:bodyPr vert="horz" wrap="square" lIns="0" tIns="0" rIns="0" bIns="0" rtlCol="0" anchor="t">
            <a:noAutofit/>
          </a:bodyPr>
          <a:lstStyle/>
          <a:p>
            <a:r>
              <a:rPr lang="es-ES" sz="2800" b="1">
                <a:solidFill>
                  <a:srgbClr val="15283B"/>
                </a:solidFill>
                <a:latin typeface="Aptos" panose="020B0004020202020204" pitchFamily="34" charset="0"/>
              </a:rPr>
              <a:t>(q₁, q₂) = (0, π/2)   →   (x, y) = (0.6, 0.4) m</a:t>
            </a:r>
            <a:endParaRPr lang="en-IL" sz="2800" b="1">
              <a:solidFill>
                <a:srgbClr val="15283B"/>
              </a:solidFill>
              <a:latin typeface="Aptos" panose="020B0004020202020204" pitchFamily="34" charset="0"/>
            </a:endParaRPr>
          </a:p>
        </p:txBody>
      </p:sp>
    </p:spTree>
    <p:extLst>
      <p:ext uri="{BB962C8B-B14F-4D97-AF65-F5344CB8AC3E}">
        <p14:creationId xmlns:p14="http://schemas.microsoft.com/office/powerpoint/2010/main" val="18770153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6504262E-9D16-DA49-7CE8-BC9EB3D250BA}"/>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03 / GAZEBO &amp; KINEMATICS</a:t>
            </a:r>
          </a:p>
        </p:txBody>
      </p:sp>
      <p:sp>
        <p:nvSpPr>
          <p:cNvPr id="3" name="text_2">
            <a:extLst>
              <a:ext uri="{FF2B5EF4-FFF2-40B4-BE49-F238E27FC236}">
                <a16:creationId xmlns:a16="http://schemas.microsoft.com/office/drawing/2014/main" id="{39D8926A-08A7-7624-A2EB-F6DFD30EFA2A}"/>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Inverse kinematics</a:t>
            </a:r>
          </a:p>
        </p:txBody>
      </p:sp>
      <p:sp>
        <p:nvSpPr>
          <p:cNvPr id="4" name="text_3">
            <a:extLst>
              <a:ext uri="{FF2B5EF4-FFF2-40B4-BE49-F238E27FC236}">
                <a16:creationId xmlns:a16="http://schemas.microsoft.com/office/drawing/2014/main" id="{BAD7915E-C85B-5CE3-A384-EA5F777590FC}"/>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One tool target can have two arm configurations.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5401D6BF-C649-6467-462E-1372AAC0274F}"/>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BE1DD1CA-FC63-42A4-6D03-DF206FF48508}"/>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IL" sz="1600">
                <a:solidFill>
                  <a:srgbClr val="526477"/>
                </a:solidFill>
                <a:latin typeface="Aptos" panose="020B0004020202020204" pitchFamily="34" charset="0"/>
              </a:rPr>
              <a:t>Robotics &amp; Autonomous Systems · ROS 2 Jazzy / Gazebo Harmonic</a:t>
            </a:r>
          </a:p>
        </p:txBody>
      </p:sp>
      <p:sp>
        <p:nvSpPr>
          <p:cNvPr id="7" name="text_6">
            <a:extLst>
              <a:ext uri="{FF2B5EF4-FFF2-40B4-BE49-F238E27FC236}">
                <a16:creationId xmlns:a16="http://schemas.microsoft.com/office/drawing/2014/main" id="{B0103AA2-EFF8-960E-EB83-3AE33D253293}"/>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12</a:t>
            </a:r>
          </a:p>
        </p:txBody>
      </p:sp>
      <p:sp>
        <p:nvSpPr>
          <p:cNvPr id="8" name="text_7">
            <a:extLst>
              <a:ext uri="{FF2B5EF4-FFF2-40B4-BE49-F238E27FC236}">
                <a16:creationId xmlns:a16="http://schemas.microsoft.com/office/drawing/2014/main" id="{A6CD06EB-8201-4644-F868-86DEA6685FB7}"/>
              </a:ext>
            </a:extLst>
          </p:cNvPr>
          <p:cNvSpPr txBox="1"/>
          <p:nvPr/>
        </p:nvSpPr>
        <p:spPr>
          <a:xfrm>
            <a:off x="685800" y="2654299"/>
            <a:ext cx="2260600" cy="508000"/>
          </a:xfrm>
          <a:prstGeom prst="rect">
            <a:avLst/>
          </a:prstGeom>
          <a:noFill/>
        </p:spPr>
        <p:txBody>
          <a:bodyPr vert="horz" wrap="square" lIns="0" tIns="0" rIns="0" bIns="0" rtlCol="0" anchor="t">
            <a:noAutofit/>
          </a:bodyPr>
          <a:lstStyle/>
          <a:p>
            <a:r>
              <a:rPr lang="en-IL" sz="2500" b="1">
                <a:solidFill>
                  <a:srgbClr val="2459D3"/>
                </a:solidFill>
                <a:latin typeface="Aptos" panose="020B0004020202020204" pitchFamily="34" charset="0"/>
              </a:rPr>
              <a:t>Positive q₂</a:t>
            </a:r>
          </a:p>
        </p:txBody>
      </p:sp>
      <p:sp>
        <p:nvSpPr>
          <p:cNvPr id="9" name="text_8">
            <a:extLst>
              <a:ext uri="{FF2B5EF4-FFF2-40B4-BE49-F238E27FC236}">
                <a16:creationId xmlns:a16="http://schemas.microsoft.com/office/drawing/2014/main" id="{4E7621B9-AA6E-EF29-710E-3F40073AD5F0}"/>
              </a:ext>
            </a:extLst>
          </p:cNvPr>
          <p:cNvSpPr txBox="1"/>
          <p:nvPr/>
        </p:nvSpPr>
        <p:spPr>
          <a:xfrm>
            <a:off x="3251200" y="2654299"/>
            <a:ext cx="2425700" cy="508000"/>
          </a:xfrm>
          <a:prstGeom prst="rect">
            <a:avLst/>
          </a:prstGeom>
          <a:noFill/>
        </p:spPr>
        <p:txBody>
          <a:bodyPr vert="horz" wrap="square" lIns="0" tIns="0" rIns="0" bIns="0" rtlCol="0" anchor="t">
            <a:noAutofit/>
          </a:bodyPr>
          <a:lstStyle/>
          <a:p>
            <a:r>
              <a:rPr lang="en-IL" sz="2500" b="1">
                <a:solidFill>
                  <a:srgbClr val="137F79"/>
                </a:solidFill>
                <a:latin typeface="Aptos" panose="020B0004020202020204" pitchFamily="34" charset="0"/>
              </a:rPr>
              <a:t>Negative q₂</a:t>
            </a:r>
          </a:p>
        </p:txBody>
      </p:sp>
      <p:cxnSp>
        <p:nvCxnSpPr>
          <p:cNvPr id="10" name="Straight Connector 9">
            <a:extLst>
              <a:ext uri="{FF2B5EF4-FFF2-40B4-BE49-F238E27FC236}">
                <a16:creationId xmlns:a16="http://schemas.microsoft.com/office/drawing/2014/main" id="{50BCEA56-A516-4ED9-9895-98B737AE9F10}"/>
              </a:ext>
            </a:extLst>
          </p:cNvPr>
          <p:cNvCxnSpPr/>
          <p:nvPr/>
        </p:nvCxnSpPr>
        <p:spPr>
          <a:xfrm>
            <a:off x="1104900" y="4635500"/>
            <a:ext cx="952500" cy="0"/>
          </a:xfrm>
          <a:prstGeom prst="line">
            <a:avLst/>
          </a:prstGeom>
          <a:ln w="27940">
            <a:solidFill>
              <a:srgbClr val="D7E0E9"/>
            </a:solidFill>
            <a:tailEnd type="arrow"/>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0F88A4D2-2CF1-29A3-191B-EC49B7C3777F}"/>
              </a:ext>
            </a:extLst>
          </p:cNvPr>
          <p:cNvCxnSpPr/>
          <p:nvPr/>
        </p:nvCxnSpPr>
        <p:spPr>
          <a:xfrm flipV="1">
            <a:off x="1231900" y="3810000"/>
            <a:ext cx="0" cy="952500"/>
          </a:xfrm>
          <a:prstGeom prst="line">
            <a:avLst/>
          </a:prstGeom>
          <a:ln w="27940">
            <a:solidFill>
              <a:srgbClr val="D7E0E9"/>
            </a:solidFill>
            <a:tailEnd type="arrow"/>
          </a:ln>
        </p:spPr>
        <p:style>
          <a:lnRef idx="2">
            <a:schemeClr val="accent1"/>
          </a:lnRef>
          <a:fillRef idx="0">
            <a:schemeClr val="accent1"/>
          </a:fillRef>
          <a:effectRef idx="1">
            <a:schemeClr val="accent1"/>
          </a:effectRef>
          <a:fontRef idx="minor">
            <a:schemeClr val="tx1"/>
          </a:fontRef>
        </p:style>
      </p:cxnSp>
      <p:sp>
        <p:nvSpPr>
          <p:cNvPr id="12" name="text_11">
            <a:extLst>
              <a:ext uri="{FF2B5EF4-FFF2-40B4-BE49-F238E27FC236}">
                <a16:creationId xmlns:a16="http://schemas.microsoft.com/office/drawing/2014/main" id="{E714E6B6-268B-7B20-812D-24B9BC7FA673}"/>
              </a:ext>
            </a:extLst>
          </p:cNvPr>
          <p:cNvSpPr txBox="1"/>
          <p:nvPr/>
        </p:nvSpPr>
        <p:spPr>
          <a:xfrm>
            <a:off x="2032000" y="4660899"/>
            <a:ext cx="317500" cy="4318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x</a:t>
            </a:r>
          </a:p>
        </p:txBody>
      </p:sp>
      <p:sp>
        <p:nvSpPr>
          <p:cNvPr id="13" name="text_12">
            <a:extLst>
              <a:ext uri="{FF2B5EF4-FFF2-40B4-BE49-F238E27FC236}">
                <a16:creationId xmlns:a16="http://schemas.microsoft.com/office/drawing/2014/main" id="{CD1C36B7-298B-1D43-FB65-BD3F1FC7C6EE}"/>
              </a:ext>
            </a:extLst>
          </p:cNvPr>
          <p:cNvSpPr txBox="1"/>
          <p:nvPr/>
        </p:nvSpPr>
        <p:spPr>
          <a:xfrm>
            <a:off x="825500" y="3670299"/>
            <a:ext cx="317500" cy="4318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y</a:t>
            </a:r>
          </a:p>
        </p:txBody>
      </p:sp>
      <p:cxnSp>
        <p:nvCxnSpPr>
          <p:cNvPr id="14" name="Straight Connector 13">
            <a:extLst>
              <a:ext uri="{FF2B5EF4-FFF2-40B4-BE49-F238E27FC236}">
                <a16:creationId xmlns:a16="http://schemas.microsoft.com/office/drawing/2014/main" id="{949876E2-09F4-A81C-D5E9-D78C68107BA1}"/>
              </a:ext>
            </a:extLst>
          </p:cNvPr>
          <p:cNvCxnSpPr/>
          <p:nvPr/>
        </p:nvCxnSpPr>
        <p:spPr>
          <a:xfrm>
            <a:off x="1231900" y="4635500"/>
            <a:ext cx="1303020" cy="0"/>
          </a:xfrm>
          <a:prstGeom prst="line">
            <a:avLst/>
          </a:prstGeom>
          <a:ln w="12700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72B47818-511E-DCC0-0979-21FB4CF61ED7}"/>
              </a:ext>
            </a:extLst>
          </p:cNvPr>
          <p:cNvCxnSpPr/>
          <p:nvPr/>
        </p:nvCxnSpPr>
        <p:spPr>
          <a:xfrm flipV="1">
            <a:off x="2534920" y="3766820"/>
            <a:ext cx="0" cy="868680"/>
          </a:xfrm>
          <a:prstGeom prst="line">
            <a:avLst/>
          </a:prstGeom>
          <a:ln w="127000">
            <a:solidFill>
              <a:srgbClr val="E88932"/>
            </a:solidFill>
          </a:ln>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4685EC66-9668-FA00-8D47-2BC1BD7DECE1}"/>
              </a:ext>
            </a:extLst>
          </p:cNvPr>
          <p:cNvSpPr/>
          <p:nvPr/>
        </p:nvSpPr>
        <p:spPr>
          <a:xfrm>
            <a:off x="1130300" y="4533900"/>
            <a:ext cx="203200" cy="203200"/>
          </a:xfrm>
          <a:prstGeom prst="ellipse">
            <a:avLst/>
          </a:prstGeom>
          <a:solidFill>
            <a:srgbClr val="1528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7" name="Oval 16">
            <a:extLst>
              <a:ext uri="{FF2B5EF4-FFF2-40B4-BE49-F238E27FC236}">
                <a16:creationId xmlns:a16="http://schemas.microsoft.com/office/drawing/2014/main" id="{7E3DE4AA-5536-4080-0915-B669F802F1E2}"/>
              </a:ext>
            </a:extLst>
          </p:cNvPr>
          <p:cNvSpPr/>
          <p:nvPr/>
        </p:nvSpPr>
        <p:spPr>
          <a:xfrm>
            <a:off x="2446020" y="4546600"/>
            <a:ext cx="177800" cy="177800"/>
          </a:xfrm>
          <a:prstGeom prst="ellipse">
            <a:avLst/>
          </a:prstGeom>
          <a:solidFill>
            <a:srgbClr val="1528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8" name="Oval 17">
            <a:extLst>
              <a:ext uri="{FF2B5EF4-FFF2-40B4-BE49-F238E27FC236}">
                <a16:creationId xmlns:a16="http://schemas.microsoft.com/office/drawing/2014/main" id="{D19A45C4-F971-AAD5-1653-46B04A0041AC}"/>
              </a:ext>
            </a:extLst>
          </p:cNvPr>
          <p:cNvSpPr/>
          <p:nvPr/>
        </p:nvSpPr>
        <p:spPr>
          <a:xfrm>
            <a:off x="2420620" y="3652520"/>
            <a:ext cx="228600" cy="228600"/>
          </a:xfrm>
          <a:prstGeom prst="ellipse">
            <a:avLst/>
          </a:prstGeom>
          <a:solidFill>
            <a:srgbClr val="21965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19" name="Straight Connector 18">
            <a:extLst>
              <a:ext uri="{FF2B5EF4-FFF2-40B4-BE49-F238E27FC236}">
                <a16:creationId xmlns:a16="http://schemas.microsoft.com/office/drawing/2014/main" id="{509E91D4-8A33-67A1-6009-D044E1FF352B}"/>
              </a:ext>
            </a:extLst>
          </p:cNvPr>
          <p:cNvCxnSpPr/>
          <p:nvPr/>
        </p:nvCxnSpPr>
        <p:spPr>
          <a:xfrm>
            <a:off x="1600200" y="46355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EFD8AF04-9C27-E64E-A6D6-F3389000FF23}"/>
              </a:ext>
            </a:extLst>
          </p:cNvPr>
          <p:cNvCxnSpPr/>
          <p:nvPr/>
        </p:nvCxnSpPr>
        <p:spPr>
          <a:xfrm>
            <a:off x="1600200" y="46355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B935DB02-84AF-AFA8-5C2F-03B375F1281A}"/>
              </a:ext>
            </a:extLst>
          </p:cNvPr>
          <p:cNvCxnSpPr/>
          <p:nvPr/>
        </p:nvCxnSpPr>
        <p:spPr>
          <a:xfrm>
            <a:off x="1600200" y="46355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03D91C6F-54CB-8839-ACE4-F832588EF2BA}"/>
              </a:ext>
            </a:extLst>
          </p:cNvPr>
          <p:cNvCxnSpPr/>
          <p:nvPr/>
        </p:nvCxnSpPr>
        <p:spPr>
          <a:xfrm>
            <a:off x="1600200" y="46355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D508F620-3D01-A020-E88F-12CEB8DA6038}"/>
              </a:ext>
            </a:extLst>
          </p:cNvPr>
          <p:cNvCxnSpPr/>
          <p:nvPr/>
        </p:nvCxnSpPr>
        <p:spPr>
          <a:xfrm>
            <a:off x="1600200" y="46355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8956DAAF-91D3-FD9A-FC38-0A761C11607D}"/>
              </a:ext>
            </a:extLst>
          </p:cNvPr>
          <p:cNvCxnSpPr/>
          <p:nvPr/>
        </p:nvCxnSpPr>
        <p:spPr>
          <a:xfrm>
            <a:off x="1600200" y="46355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309A9F55-98D6-87D2-E731-6AF591DFE240}"/>
              </a:ext>
            </a:extLst>
          </p:cNvPr>
          <p:cNvCxnSpPr/>
          <p:nvPr/>
        </p:nvCxnSpPr>
        <p:spPr>
          <a:xfrm>
            <a:off x="1600200" y="46355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00C40E46-B637-9BEC-21E0-A848FD981387}"/>
              </a:ext>
            </a:extLst>
          </p:cNvPr>
          <p:cNvCxnSpPr/>
          <p:nvPr/>
        </p:nvCxnSpPr>
        <p:spPr>
          <a:xfrm>
            <a:off x="1600200" y="46355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912DC08B-D529-D710-1F93-BB549E4A3BCA}"/>
              </a:ext>
            </a:extLst>
          </p:cNvPr>
          <p:cNvCxnSpPr/>
          <p:nvPr/>
        </p:nvCxnSpPr>
        <p:spPr>
          <a:xfrm>
            <a:off x="1600200" y="46355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B072DDFB-7C5A-8318-0D74-4AE7D04C0A7F}"/>
              </a:ext>
            </a:extLst>
          </p:cNvPr>
          <p:cNvCxnSpPr/>
          <p:nvPr/>
        </p:nvCxnSpPr>
        <p:spPr>
          <a:xfrm>
            <a:off x="1600200" y="46355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C0BF7857-5803-224C-3E7F-B9820A27E16D}"/>
              </a:ext>
            </a:extLst>
          </p:cNvPr>
          <p:cNvCxnSpPr/>
          <p:nvPr/>
        </p:nvCxnSpPr>
        <p:spPr>
          <a:xfrm>
            <a:off x="1600200" y="46355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38FB4072-C05C-6889-9880-1617BD1B3856}"/>
              </a:ext>
            </a:extLst>
          </p:cNvPr>
          <p:cNvCxnSpPr/>
          <p:nvPr/>
        </p:nvCxnSpPr>
        <p:spPr>
          <a:xfrm>
            <a:off x="1600200" y="46355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377A8394-826C-2C45-7197-9D334B3D178A}"/>
              </a:ext>
            </a:extLst>
          </p:cNvPr>
          <p:cNvCxnSpPr/>
          <p:nvPr/>
        </p:nvCxnSpPr>
        <p:spPr>
          <a:xfrm>
            <a:off x="1600200" y="46355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41057BF-2EDA-C40F-358B-C651D2F083C1}"/>
              </a:ext>
            </a:extLst>
          </p:cNvPr>
          <p:cNvCxnSpPr/>
          <p:nvPr/>
        </p:nvCxnSpPr>
        <p:spPr>
          <a:xfrm>
            <a:off x="1600200" y="4635500"/>
            <a:ext cx="0" cy="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774F31D6-572A-8848-1DDD-D36D55FC0FEE}"/>
              </a:ext>
            </a:extLst>
          </p:cNvPr>
          <p:cNvCxnSpPr/>
          <p:nvPr/>
        </p:nvCxnSpPr>
        <p:spPr>
          <a:xfrm flipH="1" flipV="1">
            <a:off x="2863044" y="4598529"/>
            <a:ext cx="2076" cy="36971"/>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5EE10C82-32AB-FC47-4B84-D48429D32955}"/>
              </a:ext>
            </a:extLst>
          </p:cNvPr>
          <p:cNvCxnSpPr/>
          <p:nvPr/>
        </p:nvCxnSpPr>
        <p:spPr>
          <a:xfrm flipH="1" flipV="1">
            <a:off x="2856841" y="4562023"/>
            <a:ext cx="6203" cy="36506"/>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38E71E3C-C10A-08DC-C925-41329D3D84AC}"/>
              </a:ext>
            </a:extLst>
          </p:cNvPr>
          <p:cNvCxnSpPr/>
          <p:nvPr/>
        </p:nvCxnSpPr>
        <p:spPr>
          <a:xfrm flipH="1" flipV="1">
            <a:off x="2846590" y="4526442"/>
            <a:ext cx="10251" cy="35581"/>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4E4472D5-D71C-E224-9C97-8E907F0A3DC6}"/>
              </a:ext>
            </a:extLst>
          </p:cNvPr>
          <p:cNvCxnSpPr/>
          <p:nvPr/>
        </p:nvCxnSpPr>
        <p:spPr>
          <a:xfrm flipH="1" flipV="1">
            <a:off x="2832420" y="4492232"/>
            <a:ext cx="14170" cy="34210"/>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1A577371-5990-1A36-2C8B-B249A3B7FF57}"/>
              </a:ext>
            </a:extLst>
          </p:cNvPr>
          <p:cNvCxnSpPr/>
          <p:nvPr/>
        </p:nvCxnSpPr>
        <p:spPr>
          <a:xfrm flipH="1" flipV="1">
            <a:off x="2814508" y="4459823"/>
            <a:ext cx="17912" cy="32409"/>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78C663A3-3439-46E9-6D75-5CAD81ED9797}"/>
              </a:ext>
            </a:extLst>
          </p:cNvPr>
          <p:cNvCxnSpPr/>
          <p:nvPr/>
        </p:nvCxnSpPr>
        <p:spPr>
          <a:xfrm flipH="1" flipV="1">
            <a:off x="2793081" y="4429624"/>
            <a:ext cx="21427" cy="30199"/>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FE831485-D500-3EDC-4352-26C835F6CC94}"/>
              </a:ext>
            </a:extLst>
          </p:cNvPr>
          <p:cNvCxnSpPr/>
          <p:nvPr/>
        </p:nvCxnSpPr>
        <p:spPr>
          <a:xfrm flipH="1" flipV="1">
            <a:off x="2768407" y="4402013"/>
            <a:ext cx="24674" cy="27611"/>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A15E8373-4224-A03B-E968-F7F6027A0D7C}"/>
              </a:ext>
            </a:extLst>
          </p:cNvPr>
          <p:cNvCxnSpPr/>
          <p:nvPr/>
        </p:nvCxnSpPr>
        <p:spPr>
          <a:xfrm flipH="1" flipV="1">
            <a:off x="2740796" y="4377339"/>
            <a:ext cx="27611" cy="24674"/>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13791AC5-C2A7-E4C1-69A1-D716A3B537D1}"/>
              </a:ext>
            </a:extLst>
          </p:cNvPr>
          <p:cNvCxnSpPr/>
          <p:nvPr/>
        </p:nvCxnSpPr>
        <p:spPr>
          <a:xfrm flipH="1" flipV="1">
            <a:off x="2710597" y="4355912"/>
            <a:ext cx="30199" cy="21427"/>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8FAE640D-FBA3-E1C8-25CA-EBAEDEBB2F89}"/>
              </a:ext>
            </a:extLst>
          </p:cNvPr>
          <p:cNvCxnSpPr/>
          <p:nvPr/>
        </p:nvCxnSpPr>
        <p:spPr>
          <a:xfrm flipH="1" flipV="1">
            <a:off x="2678188" y="4338000"/>
            <a:ext cx="32409" cy="17912"/>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BDC836B0-741D-20BC-1DBB-1CD98A0F11E1}"/>
              </a:ext>
            </a:extLst>
          </p:cNvPr>
          <p:cNvCxnSpPr/>
          <p:nvPr/>
        </p:nvCxnSpPr>
        <p:spPr>
          <a:xfrm flipH="1" flipV="1">
            <a:off x="2643978" y="4323830"/>
            <a:ext cx="34210" cy="14170"/>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0DDC1EEC-C8B1-C3A4-0546-DBDE1530C263}"/>
              </a:ext>
            </a:extLst>
          </p:cNvPr>
          <p:cNvCxnSpPr/>
          <p:nvPr/>
        </p:nvCxnSpPr>
        <p:spPr>
          <a:xfrm flipH="1" flipV="1">
            <a:off x="2608396" y="4313579"/>
            <a:ext cx="35582" cy="10251"/>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790F2E5B-0FDD-B4B1-A02C-D1D597A4149A}"/>
              </a:ext>
            </a:extLst>
          </p:cNvPr>
          <p:cNvCxnSpPr/>
          <p:nvPr/>
        </p:nvCxnSpPr>
        <p:spPr>
          <a:xfrm flipH="1" flipV="1">
            <a:off x="2571891" y="4307376"/>
            <a:ext cx="36505" cy="6203"/>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A7CBCA97-AC66-A319-5EC6-54773F57C892}"/>
              </a:ext>
            </a:extLst>
          </p:cNvPr>
          <p:cNvCxnSpPr/>
          <p:nvPr/>
        </p:nvCxnSpPr>
        <p:spPr>
          <a:xfrm flipH="1" flipV="1">
            <a:off x="2534920" y="4305300"/>
            <a:ext cx="36971" cy="2076"/>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B7F01B44-C1EC-727B-42A8-2FA575646695}"/>
              </a:ext>
            </a:extLst>
          </p:cNvPr>
          <p:cNvCxnSpPr/>
          <p:nvPr/>
        </p:nvCxnSpPr>
        <p:spPr>
          <a:xfrm>
            <a:off x="3556000" y="4635500"/>
            <a:ext cx="952500" cy="0"/>
          </a:xfrm>
          <a:prstGeom prst="line">
            <a:avLst/>
          </a:prstGeom>
          <a:ln w="27940">
            <a:solidFill>
              <a:srgbClr val="D7E0E9"/>
            </a:solidFill>
            <a:tailEnd type="arrow"/>
          </a:ln>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52E9BC49-1DE4-7B01-FA76-1B492AF00EBB}"/>
              </a:ext>
            </a:extLst>
          </p:cNvPr>
          <p:cNvCxnSpPr/>
          <p:nvPr/>
        </p:nvCxnSpPr>
        <p:spPr>
          <a:xfrm flipV="1">
            <a:off x="3683000" y="3810000"/>
            <a:ext cx="0" cy="952500"/>
          </a:xfrm>
          <a:prstGeom prst="line">
            <a:avLst/>
          </a:prstGeom>
          <a:ln w="27940">
            <a:solidFill>
              <a:srgbClr val="D7E0E9"/>
            </a:solidFill>
            <a:tailEnd type="arrow"/>
          </a:ln>
        </p:spPr>
        <p:style>
          <a:lnRef idx="2">
            <a:schemeClr val="accent1"/>
          </a:lnRef>
          <a:fillRef idx="0">
            <a:schemeClr val="accent1"/>
          </a:fillRef>
          <a:effectRef idx="1">
            <a:schemeClr val="accent1"/>
          </a:effectRef>
          <a:fontRef idx="minor">
            <a:schemeClr val="tx1"/>
          </a:fontRef>
        </p:style>
      </p:cxnSp>
      <p:sp>
        <p:nvSpPr>
          <p:cNvPr id="49" name="text_48">
            <a:extLst>
              <a:ext uri="{FF2B5EF4-FFF2-40B4-BE49-F238E27FC236}">
                <a16:creationId xmlns:a16="http://schemas.microsoft.com/office/drawing/2014/main" id="{04860E25-25BB-4C22-B913-8EA0CEF47F5F}"/>
              </a:ext>
            </a:extLst>
          </p:cNvPr>
          <p:cNvSpPr txBox="1"/>
          <p:nvPr/>
        </p:nvSpPr>
        <p:spPr>
          <a:xfrm>
            <a:off x="4483100" y="4660899"/>
            <a:ext cx="317500" cy="4318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x</a:t>
            </a:r>
          </a:p>
        </p:txBody>
      </p:sp>
      <p:sp>
        <p:nvSpPr>
          <p:cNvPr id="50" name="text_49">
            <a:extLst>
              <a:ext uri="{FF2B5EF4-FFF2-40B4-BE49-F238E27FC236}">
                <a16:creationId xmlns:a16="http://schemas.microsoft.com/office/drawing/2014/main" id="{71BAB4CE-7215-8182-EB65-61945FFE7E6D}"/>
              </a:ext>
            </a:extLst>
          </p:cNvPr>
          <p:cNvSpPr txBox="1"/>
          <p:nvPr/>
        </p:nvSpPr>
        <p:spPr>
          <a:xfrm>
            <a:off x="3276600" y="3670299"/>
            <a:ext cx="317500" cy="4318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y</a:t>
            </a:r>
          </a:p>
        </p:txBody>
      </p:sp>
      <p:cxnSp>
        <p:nvCxnSpPr>
          <p:cNvPr id="51" name="Straight Connector 50">
            <a:extLst>
              <a:ext uri="{FF2B5EF4-FFF2-40B4-BE49-F238E27FC236}">
                <a16:creationId xmlns:a16="http://schemas.microsoft.com/office/drawing/2014/main" id="{0BB3C79C-7E6D-D66C-6417-BC34F07E790B}"/>
              </a:ext>
            </a:extLst>
          </p:cNvPr>
          <p:cNvCxnSpPr/>
          <p:nvPr/>
        </p:nvCxnSpPr>
        <p:spPr>
          <a:xfrm flipV="1">
            <a:off x="3683000" y="3432712"/>
            <a:ext cx="501162" cy="1202788"/>
          </a:xfrm>
          <a:prstGeom prst="line">
            <a:avLst/>
          </a:prstGeom>
          <a:ln w="12700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3A9038B0-089E-BD8A-C65A-CD0B1F0F9B77}"/>
              </a:ext>
            </a:extLst>
          </p:cNvPr>
          <p:cNvCxnSpPr/>
          <p:nvPr/>
        </p:nvCxnSpPr>
        <p:spPr>
          <a:xfrm>
            <a:off x="4184162" y="3432712"/>
            <a:ext cx="801858" cy="334108"/>
          </a:xfrm>
          <a:prstGeom prst="line">
            <a:avLst/>
          </a:prstGeom>
          <a:ln w="127000">
            <a:solidFill>
              <a:srgbClr val="E88932"/>
            </a:solidFill>
          </a:ln>
        </p:spPr>
        <p:style>
          <a:lnRef idx="2">
            <a:schemeClr val="accent1"/>
          </a:lnRef>
          <a:fillRef idx="0">
            <a:schemeClr val="accent1"/>
          </a:fillRef>
          <a:effectRef idx="1">
            <a:schemeClr val="accent1"/>
          </a:effectRef>
          <a:fontRef idx="minor">
            <a:schemeClr val="tx1"/>
          </a:fontRef>
        </p:style>
      </p:cxnSp>
      <p:sp>
        <p:nvSpPr>
          <p:cNvPr id="53" name="Oval 52">
            <a:extLst>
              <a:ext uri="{FF2B5EF4-FFF2-40B4-BE49-F238E27FC236}">
                <a16:creationId xmlns:a16="http://schemas.microsoft.com/office/drawing/2014/main" id="{C714F47A-4C69-579B-8E62-20812247FA92}"/>
              </a:ext>
            </a:extLst>
          </p:cNvPr>
          <p:cNvSpPr/>
          <p:nvPr/>
        </p:nvSpPr>
        <p:spPr>
          <a:xfrm>
            <a:off x="3581400" y="4533900"/>
            <a:ext cx="203200" cy="203200"/>
          </a:xfrm>
          <a:prstGeom prst="ellipse">
            <a:avLst/>
          </a:prstGeom>
          <a:solidFill>
            <a:srgbClr val="1528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4" name="Oval 53">
            <a:extLst>
              <a:ext uri="{FF2B5EF4-FFF2-40B4-BE49-F238E27FC236}">
                <a16:creationId xmlns:a16="http://schemas.microsoft.com/office/drawing/2014/main" id="{B17B3A3F-8C6A-5AEA-83DC-7E84F4F24F35}"/>
              </a:ext>
            </a:extLst>
          </p:cNvPr>
          <p:cNvSpPr/>
          <p:nvPr/>
        </p:nvSpPr>
        <p:spPr>
          <a:xfrm>
            <a:off x="4095262" y="3343812"/>
            <a:ext cx="177800" cy="177800"/>
          </a:xfrm>
          <a:prstGeom prst="ellipse">
            <a:avLst/>
          </a:prstGeom>
          <a:solidFill>
            <a:srgbClr val="1528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5" name="Oval 54">
            <a:extLst>
              <a:ext uri="{FF2B5EF4-FFF2-40B4-BE49-F238E27FC236}">
                <a16:creationId xmlns:a16="http://schemas.microsoft.com/office/drawing/2014/main" id="{FE800174-7EA6-A5D8-89F7-75555866F0A4}"/>
              </a:ext>
            </a:extLst>
          </p:cNvPr>
          <p:cNvSpPr/>
          <p:nvPr/>
        </p:nvSpPr>
        <p:spPr>
          <a:xfrm>
            <a:off x="4871720" y="3652520"/>
            <a:ext cx="228600" cy="228600"/>
          </a:xfrm>
          <a:prstGeom prst="ellipse">
            <a:avLst/>
          </a:prstGeom>
          <a:solidFill>
            <a:srgbClr val="21965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56" name="Straight Connector 55">
            <a:extLst>
              <a:ext uri="{FF2B5EF4-FFF2-40B4-BE49-F238E27FC236}">
                <a16:creationId xmlns:a16="http://schemas.microsoft.com/office/drawing/2014/main" id="{055E2C92-50C3-9609-2156-1BEC066A864F}"/>
              </a:ext>
            </a:extLst>
          </p:cNvPr>
          <p:cNvCxnSpPr/>
          <p:nvPr/>
        </p:nvCxnSpPr>
        <p:spPr>
          <a:xfrm flipH="1" flipV="1">
            <a:off x="4050001" y="4604599"/>
            <a:ext cx="1299" cy="30901"/>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6FE10C29-8B80-849C-07A3-BE879F343FBA}"/>
              </a:ext>
            </a:extLst>
          </p:cNvPr>
          <p:cNvCxnSpPr/>
          <p:nvPr/>
        </p:nvCxnSpPr>
        <p:spPr>
          <a:xfrm flipH="1" flipV="1">
            <a:off x="4046115" y="4573916"/>
            <a:ext cx="3886" cy="30683"/>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BC32F425-ACF9-7EEF-8762-D0559C3B06A6}"/>
              </a:ext>
            </a:extLst>
          </p:cNvPr>
          <p:cNvCxnSpPr/>
          <p:nvPr/>
        </p:nvCxnSpPr>
        <p:spPr>
          <a:xfrm flipH="1" flipV="1">
            <a:off x="4039667" y="4543667"/>
            <a:ext cx="6448" cy="30249"/>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7D54A606-7D68-E953-B47A-598DE1EBD84A}"/>
              </a:ext>
            </a:extLst>
          </p:cNvPr>
          <p:cNvCxnSpPr/>
          <p:nvPr/>
        </p:nvCxnSpPr>
        <p:spPr>
          <a:xfrm flipH="1" flipV="1">
            <a:off x="4030705" y="4514066"/>
            <a:ext cx="8962" cy="29601"/>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DA1AA085-3E88-227F-5121-B8ED04CD2646}"/>
              </a:ext>
            </a:extLst>
          </p:cNvPr>
          <p:cNvCxnSpPr/>
          <p:nvPr/>
        </p:nvCxnSpPr>
        <p:spPr>
          <a:xfrm flipH="1" flipV="1">
            <a:off x="4019290" y="4485321"/>
            <a:ext cx="11415" cy="28745"/>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6005704F-0EE3-9E9B-53AB-25AD495CA07A}"/>
              </a:ext>
            </a:extLst>
          </p:cNvPr>
          <p:cNvCxnSpPr/>
          <p:nvPr/>
        </p:nvCxnSpPr>
        <p:spPr>
          <a:xfrm flipH="1" flipV="1">
            <a:off x="4005504" y="4457635"/>
            <a:ext cx="13786" cy="27686"/>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CBDFF942-7923-E303-E751-6A2382135B4A}"/>
              </a:ext>
            </a:extLst>
          </p:cNvPr>
          <p:cNvCxnSpPr/>
          <p:nvPr/>
        </p:nvCxnSpPr>
        <p:spPr>
          <a:xfrm flipH="1" flipV="1">
            <a:off x="3989444" y="4431204"/>
            <a:ext cx="16060" cy="26431"/>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95C8E9BC-8654-1429-9721-3C4DCFB39B19}"/>
              </a:ext>
            </a:extLst>
          </p:cNvPr>
          <p:cNvCxnSpPr/>
          <p:nvPr/>
        </p:nvCxnSpPr>
        <p:spPr>
          <a:xfrm flipH="1" flipV="1">
            <a:off x="3971223" y="4406213"/>
            <a:ext cx="18221" cy="24991"/>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DB844A8C-979F-5247-5E3B-31BC3DD96E65}"/>
              </a:ext>
            </a:extLst>
          </p:cNvPr>
          <p:cNvCxnSpPr/>
          <p:nvPr/>
        </p:nvCxnSpPr>
        <p:spPr>
          <a:xfrm flipH="1" flipV="1">
            <a:off x="3950969" y="4382839"/>
            <a:ext cx="20254" cy="23374"/>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40030B52-7D09-86B4-ABD3-337E0BA5F5B4}"/>
              </a:ext>
            </a:extLst>
          </p:cNvPr>
          <p:cNvCxnSpPr/>
          <p:nvPr/>
        </p:nvCxnSpPr>
        <p:spPr>
          <a:xfrm flipH="1" flipV="1">
            <a:off x="3928826" y="4361247"/>
            <a:ext cx="22143" cy="21592"/>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5A1ED558-C4B3-E3A7-3423-EFE0FF6E57B9}"/>
              </a:ext>
            </a:extLst>
          </p:cNvPr>
          <p:cNvCxnSpPr/>
          <p:nvPr/>
        </p:nvCxnSpPr>
        <p:spPr>
          <a:xfrm flipH="1" flipV="1">
            <a:off x="3904948" y="4341589"/>
            <a:ext cx="23878" cy="19658"/>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id="{CBD2D7FA-624F-6C20-C668-FFC52C37B235}"/>
              </a:ext>
            </a:extLst>
          </p:cNvPr>
          <p:cNvCxnSpPr/>
          <p:nvPr/>
        </p:nvCxnSpPr>
        <p:spPr>
          <a:xfrm flipH="1" flipV="1">
            <a:off x="3879506" y="4324004"/>
            <a:ext cx="25442" cy="17585"/>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68" name="Straight Connector 67">
            <a:extLst>
              <a:ext uri="{FF2B5EF4-FFF2-40B4-BE49-F238E27FC236}">
                <a16:creationId xmlns:a16="http://schemas.microsoft.com/office/drawing/2014/main" id="{113A83F4-6A55-7F02-5E0D-2E248F613CC4}"/>
              </a:ext>
            </a:extLst>
          </p:cNvPr>
          <p:cNvCxnSpPr/>
          <p:nvPr/>
        </p:nvCxnSpPr>
        <p:spPr>
          <a:xfrm flipH="1" flipV="1">
            <a:off x="3852678" y="4308615"/>
            <a:ext cx="26828" cy="15389"/>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69" name="Straight Connector 68">
            <a:extLst>
              <a:ext uri="{FF2B5EF4-FFF2-40B4-BE49-F238E27FC236}">
                <a16:creationId xmlns:a16="http://schemas.microsoft.com/office/drawing/2014/main" id="{60E4C590-9033-7EF9-B4FC-13E37E596E7B}"/>
              </a:ext>
            </a:extLst>
          </p:cNvPr>
          <p:cNvCxnSpPr/>
          <p:nvPr/>
        </p:nvCxnSpPr>
        <p:spPr>
          <a:xfrm flipH="1" flipV="1">
            <a:off x="3824654" y="4295531"/>
            <a:ext cx="28024" cy="13084"/>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ECB251A6-8390-B830-42BF-C2FAE939C8B2}"/>
              </a:ext>
            </a:extLst>
          </p:cNvPr>
          <p:cNvCxnSpPr/>
          <p:nvPr/>
        </p:nvCxnSpPr>
        <p:spPr>
          <a:xfrm>
            <a:off x="4311162" y="3127912"/>
            <a:ext cx="33328" cy="16136"/>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71" name="Straight Connector 70">
            <a:extLst>
              <a:ext uri="{FF2B5EF4-FFF2-40B4-BE49-F238E27FC236}">
                <a16:creationId xmlns:a16="http://schemas.microsoft.com/office/drawing/2014/main" id="{2A5B0DFA-610F-14F6-4A46-0BA5AB0455D0}"/>
              </a:ext>
            </a:extLst>
          </p:cNvPr>
          <p:cNvCxnSpPr/>
          <p:nvPr/>
        </p:nvCxnSpPr>
        <p:spPr>
          <a:xfrm>
            <a:off x="4344490" y="3144048"/>
            <a:ext cx="31312" cy="19766"/>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F8D6BAF9-5C3F-9EB3-21BD-13BA503AC144}"/>
              </a:ext>
            </a:extLst>
          </p:cNvPr>
          <p:cNvCxnSpPr/>
          <p:nvPr/>
        </p:nvCxnSpPr>
        <p:spPr>
          <a:xfrm>
            <a:off x="4375802" y="3163814"/>
            <a:ext cx="28902" cy="23148"/>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F8AA6D7A-0666-5091-EDA3-7F1ACE9B9491}"/>
              </a:ext>
            </a:extLst>
          </p:cNvPr>
          <p:cNvCxnSpPr/>
          <p:nvPr/>
        </p:nvCxnSpPr>
        <p:spPr>
          <a:xfrm>
            <a:off x="4404704" y="3186962"/>
            <a:ext cx="26128" cy="26238"/>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74" name="Straight Connector 73">
            <a:extLst>
              <a:ext uri="{FF2B5EF4-FFF2-40B4-BE49-F238E27FC236}">
                <a16:creationId xmlns:a16="http://schemas.microsoft.com/office/drawing/2014/main" id="{20E96A50-DBD9-D245-FD9A-5E6857929CAE}"/>
              </a:ext>
            </a:extLst>
          </p:cNvPr>
          <p:cNvCxnSpPr/>
          <p:nvPr/>
        </p:nvCxnSpPr>
        <p:spPr>
          <a:xfrm>
            <a:off x="4430832" y="3213200"/>
            <a:ext cx="23027" cy="28999"/>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75" name="Straight Connector 74">
            <a:extLst>
              <a:ext uri="{FF2B5EF4-FFF2-40B4-BE49-F238E27FC236}">
                <a16:creationId xmlns:a16="http://schemas.microsoft.com/office/drawing/2014/main" id="{208F9E67-0EDB-1E67-B8F3-716FB9D657AC}"/>
              </a:ext>
            </a:extLst>
          </p:cNvPr>
          <p:cNvCxnSpPr/>
          <p:nvPr/>
        </p:nvCxnSpPr>
        <p:spPr>
          <a:xfrm>
            <a:off x="4453859" y="3242199"/>
            <a:ext cx="19635" cy="31394"/>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76" name="Straight Connector 75">
            <a:extLst>
              <a:ext uri="{FF2B5EF4-FFF2-40B4-BE49-F238E27FC236}">
                <a16:creationId xmlns:a16="http://schemas.microsoft.com/office/drawing/2014/main" id="{9CFB4E06-0E98-136F-CD07-ACD59CC2A538}"/>
              </a:ext>
            </a:extLst>
          </p:cNvPr>
          <p:cNvCxnSpPr/>
          <p:nvPr/>
        </p:nvCxnSpPr>
        <p:spPr>
          <a:xfrm>
            <a:off x="4473494" y="3273593"/>
            <a:ext cx="15996" cy="33396"/>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5FF69167-9E35-DC59-0578-1DB69C6F9DD0}"/>
              </a:ext>
            </a:extLst>
          </p:cNvPr>
          <p:cNvCxnSpPr/>
          <p:nvPr/>
        </p:nvCxnSpPr>
        <p:spPr>
          <a:xfrm>
            <a:off x="4489490" y="3306989"/>
            <a:ext cx="12157" cy="34976"/>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5C9EF874-D815-E636-A255-12982D399491}"/>
              </a:ext>
            </a:extLst>
          </p:cNvPr>
          <p:cNvCxnSpPr/>
          <p:nvPr/>
        </p:nvCxnSpPr>
        <p:spPr>
          <a:xfrm>
            <a:off x="4501647" y="3341965"/>
            <a:ext cx="8164" cy="36118"/>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40BF9396-4122-84FF-C9A4-14D8EC3CB8BE}"/>
              </a:ext>
            </a:extLst>
          </p:cNvPr>
          <p:cNvCxnSpPr/>
          <p:nvPr/>
        </p:nvCxnSpPr>
        <p:spPr>
          <a:xfrm>
            <a:off x="4509811" y="3378083"/>
            <a:ext cx="4069" cy="36805"/>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2CBA83F5-8E4A-B797-58A6-1C1495774ACE}"/>
              </a:ext>
            </a:extLst>
          </p:cNvPr>
          <p:cNvCxnSpPr/>
          <p:nvPr/>
        </p:nvCxnSpPr>
        <p:spPr>
          <a:xfrm flipH="1">
            <a:off x="4513803" y="3414888"/>
            <a:ext cx="77" cy="37028"/>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5FD2BF7D-C996-9272-7CDE-A34DDA88CBA4}"/>
              </a:ext>
            </a:extLst>
          </p:cNvPr>
          <p:cNvCxnSpPr/>
          <p:nvPr/>
        </p:nvCxnSpPr>
        <p:spPr>
          <a:xfrm flipH="1">
            <a:off x="4509580" y="3451916"/>
            <a:ext cx="4223" cy="36788"/>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1A5A9CE6-2695-4DB4-E102-B398A302556B}"/>
              </a:ext>
            </a:extLst>
          </p:cNvPr>
          <p:cNvCxnSpPr/>
          <p:nvPr/>
        </p:nvCxnSpPr>
        <p:spPr>
          <a:xfrm flipH="1">
            <a:off x="4501264" y="3488704"/>
            <a:ext cx="8316" cy="36083"/>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A4DD5F77-E99D-AECA-3ACC-85C56DF8EC4C}"/>
              </a:ext>
            </a:extLst>
          </p:cNvPr>
          <p:cNvCxnSpPr/>
          <p:nvPr/>
        </p:nvCxnSpPr>
        <p:spPr>
          <a:xfrm flipH="1">
            <a:off x="4488962" y="3524787"/>
            <a:ext cx="12302" cy="34925"/>
          </a:xfrm>
          <a:prstGeom prst="line">
            <a:avLst/>
          </a:prstGeom>
          <a:ln w="27940">
            <a:solidFill>
              <a:srgbClr val="E88932"/>
            </a:solidFill>
          </a:ln>
        </p:spPr>
        <p:style>
          <a:lnRef idx="2">
            <a:schemeClr val="accent1"/>
          </a:lnRef>
          <a:fillRef idx="0">
            <a:schemeClr val="accent1"/>
          </a:fillRef>
          <a:effectRef idx="1">
            <a:schemeClr val="accent1"/>
          </a:effectRef>
          <a:fontRef idx="minor">
            <a:schemeClr val="tx1"/>
          </a:fontRef>
        </p:style>
      </p:cxnSp>
      <p:sp>
        <p:nvSpPr>
          <p:cNvPr id="84" name="text_83">
            <a:extLst>
              <a:ext uri="{FF2B5EF4-FFF2-40B4-BE49-F238E27FC236}">
                <a16:creationId xmlns:a16="http://schemas.microsoft.com/office/drawing/2014/main" id="{50AAE414-8F82-700F-7B09-B5F8E721C9DC}"/>
              </a:ext>
            </a:extLst>
          </p:cNvPr>
          <p:cNvSpPr txBox="1"/>
          <p:nvPr/>
        </p:nvSpPr>
        <p:spPr>
          <a:xfrm>
            <a:off x="685800" y="5537199"/>
            <a:ext cx="4991100" cy="546100"/>
          </a:xfrm>
          <a:prstGeom prst="rect">
            <a:avLst/>
          </a:prstGeom>
          <a:noFill/>
        </p:spPr>
        <p:txBody>
          <a:bodyPr vert="horz" wrap="square" lIns="0" tIns="0" rIns="0" bIns="0" rtlCol="0" anchor="t">
            <a:noAutofit/>
          </a:bodyPr>
          <a:lstStyle/>
          <a:p>
            <a:r>
              <a:rPr lang="en-US" sz="2500" b="1">
                <a:solidFill>
                  <a:srgbClr val="15283B"/>
                </a:solidFill>
                <a:latin typeface="Aptos" panose="020B0004020202020204" pitchFamily="34" charset="0"/>
              </a:rPr>
              <a:t>Same target: (0.6, 0.4) m</a:t>
            </a:r>
            <a:endParaRPr lang="en-IL" sz="2500" b="1">
              <a:solidFill>
                <a:srgbClr val="15283B"/>
              </a:solidFill>
              <a:latin typeface="Aptos" panose="020B0004020202020204" pitchFamily="34" charset="0"/>
            </a:endParaRPr>
          </a:p>
        </p:txBody>
      </p:sp>
      <p:sp>
        <p:nvSpPr>
          <p:cNvPr id="85" name="text_84">
            <a:extLst>
              <a:ext uri="{FF2B5EF4-FFF2-40B4-BE49-F238E27FC236}">
                <a16:creationId xmlns:a16="http://schemas.microsoft.com/office/drawing/2014/main" id="{2BEC7ED4-2989-35C9-20A2-B9567761D352}"/>
              </a:ext>
            </a:extLst>
          </p:cNvPr>
          <p:cNvSpPr txBox="1"/>
          <p:nvPr/>
        </p:nvSpPr>
        <p:spPr>
          <a:xfrm>
            <a:off x="5905500" y="2819399"/>
            <a:ext cx="5600700" cy="647700"/>
          </a:xfrm>
          <a:prstGeom prst="rect">
            <a:avLst/>
          </a:prstGeom>
          <a:noFill/>
        </p:spPr>
        <p:txBody>
          <a:bodyPr vert="horz" wrap="square" lIns="0" tIns="0" rIns="0" bIns="0" rtlCol="0" anchor="t">
            <a:noAutofit/>
          </a:bodyPr>
          <a:lstStyle/>
          <a:p>
            <a:r>
              <a:rPr lang="es-ES" sz="2600">
                <a:solidFill>
                  <a:srgbClr val="2459D3"/>
                </a:solidFill>
                <a:latin typeface="Cambria Math" panose="02040503050406030204" pitchFamily="18" charset="0"/>
              </a:rPr>
              <a:t>c</a:t>
            </a:r>
            <a:r>
              <a:rPr lang="es-ES" sz="1872" baseline="-22000">
                <a:solidFill>
                  <a:srgbClr val="2459D3"/>
                </a:solidFill>
                <a:latin typeface="Cambria Math" panose="02040503050406030204" pitchFamily="18" charset="0"/>
              </a:rPr>
              <a:t>2</a:t>
            </a:r>
            <a:r>
              <a:rPr lang="es-ES" sz="2600">
                <a:solidFill>
                  <a:srgbClr val="2459D3"/>
                </a:solidFill>
                <a:latin typeface="Cambria Math" panose="02040503050406030204" pitchFamily="18" charset="0"/>
              </a:rPr>
              <a:t> = (x²+y²−L</a:t>
            </a:r>
            <a:r>
              <a:rPr lang="es-ES" sz="1872" baseline="-22000">
                <a:solidFill>
                  <a:srgbClr val="2459D3"/>
                </a:solidFill>
                <a:latin typeface="Cambria Math" panose="02040503050406030204" pitchFamily="18" charset="0"/>
              </a:rPr>
              <a:t>1</a:t>
            </a:r>
            <a:r>
              <a:rPr lang="es-ES" sz="2600">
                <a:solidFill>
                  <a:srgbClr val="2459D3"/>
                </a:solidFill>
                <a:latin typeface="Cambria Math" panose="02040503050406030204" pitchFamily="18" charset="0"/>
              </a:rPr>
              <a:t>²−L</a:t>
            </a:r>
            <a:r>
              <a:rPr lang="es-ES" sz="1872" baseline="-22000">
                <a:solidFill>
                  <a:srgbClr val="2459D3"/>
                </a:solidFill>
                <a:latin typeface="Cambria Math" panose="02040503050406030204" pitchFamily="18" charset="0"/>
              </a:rPr>
              <a:t>2</a:t>
            </a:r>
            <a:r>
              <a:rPr lang="es-ES" sz="2600">
                <a:solidFill>
                  <a:srgbClr val="2459D3"/>
                </a:solidFill>
                <a:latin typeface="Cambria Math" panose="02040503050406030204" pitchFamily="18" charset="0"/>
              </a:rPr>
              <a:t>²)/(2L</a:t>
            </a:r>
            <a:r>
              <a:rPr lang="es-ES" sz="1872" baseline="-22000">
                <a:solidFill>
                  <a:srgbClr val="2459D3"/>
                </a:solidFill>
                <a:latin typeface="Cambria Math" panose="02040503050406030204" pitchFamily="18" charset="0"/>
              </a:rPr>
              <a:t>1</a:t>
            </a:r>
            <a:r>
              <a:rPr lang="es-ES" sz="2600">
                <a:solidFill>
                  <a:srgbClr val="2459D3"/>
                </a:solidFill>
                <a:latin typeface="Cambria Math" panose="02040503050406030204" pitchFamily="18" charset="0"/>
              </a:rPr>
              <a:t>L</a:t>
            </a:r>
            <a:r>
              <a:rPr lang="es-ES" sz="1872" baseline="-22000">
                <a:solidFill>
                  <a:srgbClr val="2459D3"/>
                </a:solidFill>
                <a:latin typeface="Cambria Math" panose="02040503050406030204" pitchFamily="18" charset="0"/>
              </a:rPr>
              <a:t>2</a:t>
            </a:r>
            <a:r>
              <a:rPr lang="es-ES" sz="2600">
                <a:solidFill>
                  <a:srgbClr val="2459D3"/>
                </a:solidFill>
                <a:latin typeface="Cambria Math" panose="02040503050406030204" pitchFamily="18" charset="0"/>
              </a:rPr>
              <a:t>)</a:t>
            </a:r>
            <a:endParaRPr lang="en-IL" sz="2600">
              <a:solidFill>
                <a:srgbClr val="2459D3"/>
              </a:solidFill>
              <a:latin typeface="Cambria Math" panose="02040503050406030204" pitchFamily="18" charset="0"/>
            </a:endParaRPr>
          </a:p>
        </p:txBody>
      </p:sp>
      <p:sp>
        <p:nvSpPr>
          <p:cNvPr id="86" name="text_85">
            <a:extLst>
              <a:ext uri="{FF2B5EF4-FFF2-40B4-BE49-F238E27FC236}">
                <a16:creationId xmlns:a16="http://schemas.microsoft.com/office/drawing/2014/main" id="{18F8DBA2-CD64-FB2D-4241-650D76455386}"/>
              </a:ext>
            </a:extLst>
          </p:cNvPr>
          <p:cNvSpPr txBox="1"/>
          <p:nvPr/>
        </p:nvSpPr>
        <p:spPr>
          <a:xfrm>
            <a:off x="5905500" y="3670299"/>
            <a:ext cx="5600700" cy="635000"/>
          </a:xfrm>
          <a:prstGeom prst="rect">
            <a:avLst/>
          </a:prstGeom>
          <a:noFill/>
        </p:spPr>
        <p:txBody>
          <a:bodyPr vert="horz" wrap="square" lIns="0" tIns="0" rIns="0" bIns="0" rtlCol="0" anchor="t">
            <a:noAutofit/>
          </a:bodyPr>
          <a:lstStyle/>
          <a:p>
            <a:r>
              <a:rPr lang="en-IL" sz="3100">
                <a:solidFill>
                  <a:srgbClr val="137F79"/>
                </a:solidFill>
                <a:latin typeface="Cambria Math" panose="02040503050406030204" pitchFamily="18" charset="0"/>
              </a:rPr>
              <a:t>q</a:t>
            </a:r>
            <a:r>
              <a:rPr lang="en-IL" sz="2232" baseline="-22000">
                <a:solidFill>
                  <a:srgbClr val="137F79"/>
                </a:solidFill>
                <a:latin typeface="Cambria Math" panose="02040503050406030204" pitchFamily="18" charset="0"/>
              </a:rPr>
              <a:t>2</a:t>
            </a:r>
            <a:r>
              <a:rPr lang="en-IL" sz="3100">
                <a:solidFill>
                  <a:srgbClr val="137F79"/>
                </a:solidFill>
                <a:latin typeface="Cambria Math" panose="02040503050406030204" pitchFamily="18" charset="0"/>
              </a:rPr>
              <a:t> = ±acos(c</a:t>
            </a:r>
            <a:r>
              <a:rPr lang="en-IL" sz="2232" baseline="-22000">
                <a:solidFill>
                  <a:srgbClr val="137F79"/>
                </a:solidFill>
                <a:latin typeface="Cambria Math" panose="02040503050406030204" pitchFamily="18" charset="0"/>
              </a:rPr>
              <a:t>2</a:t>
            </a:r>
            <a:r>
              <a:rPr lang="en-IL" sz="3100">
                <a:solidFill>
                  <a:srgbClr val="137F79"/>
                </a:solidFill>
                <a:latin typeface="Cambria Math" panose="02040503050406030204" pitchFamily="18" charset="0"/>
              </a:rPr>
              <a:t>)</a:t>
            </a:r>
          </a:p>
        </p:txBody>
      </p:sp>
      <p:sp>
        <p:nvSpPr>
          <p:cNvPr id="87" name="text_86">
            <a:extLst>
              <a:ext uri="{FF2B5EF4-FFF2-40B4-BE49-F238E27FC236}">
                <a16:creationId xmlns:a16="http://schemas.microsoft.com/office/drawing/2014/main" id="{CD4A50EC-FC11-7447-D96B-EA12C134EF09}"/>
              </a:ext>
            </a:extLst>
          </p:cNvPr>
          <p:cNvSpPr txBox="1"/>
          <p:nvPr/>
        </p:nvSpPr>
        <p:spPr>
          <a:xfrm>
            <a:off x="5905500" y="4546599"/>
            <a:ext cx="5600700" cy="571500"/>
          </a:xfrm>
          <a:prstGeom prst="rect">
            <a:avLst/>
          </a:prstGeom>
          <a:noFill/>
        </p:spPr>
        <p:txBody>
          <a:bodyPr vert="horz" wrap="square" lIns="0" tIns="0" rIns="0" bIns="0" rtlCol="0" anchor="t">
            <a:noAutofit/>
          </a:bodyPr>
          <a:lstStyle/>
          <a:p>
            <a:r>
              <a:rPr lang="en-IL" sz="2800">
                <a:solidFill>
                  <a:srgbClr val="15283B"/>
                </a:solidFill>
                <a:latin typeface="Cambria Math" panose="02040503050406030204" pitchFamily="18" charset="0"/>
              </a:rPr>
              <a:t>q</a:t>
            </a:r>
            <a:r>
              <a:rPr lang="en-IL" sz="2016" baseline="-22000">
                <a:solidFill>
                  <a:srgbClr val="15283B"/>
                </a:solidFill>
                <a:latin typeface="Cambria Math" panose="02040503050406030204" pitchFamily="18" charset="0"/>
              </a:rPr>
              <a:t>1</a:t>
            </a:r>
            <a:r>
              <a:rPr lang="en-IL" sz="2800">
                <a:solidFill>
                  <a:srgbClr val="15283B"/>
                </a:solidFill>
                <a:latin typeface="Cambria Math" panose="02040503050406030204" pitchFamily="18" charset="0"/>
              </a:rPr>
              <a:t> = atan2(y,x) −</a:t>
            </a:r>
          </a:p>
        </p:txBody>
      </p:sp>
      <p:sp>
        <p:nvSpPr>
          <p:cNvPr id="88" name="text_87">
            <a:extLst>
              <a:ext uri="{FF2B5EF4-FFF2-40B4-BE49-F238E27FC236}">
                <a16:creationId xmlns:a16="http://schemas.microsoft.com/office/drawing/2014/main" id="{DF4E2452-7187-136D-D6C9-3E9ADAA6398F}"/>
              </a:ext>
            </a:extLst>
          </p:cNvPr>
          <p:cNvSpPr txBox="1"/>
          <p:nvPr/>
        </p:nvSpPr>
        <p:spPr>
          <a:xfrm>
            <a:off x="5905500" y="5143499"/>
            <a:ext cx="5600700" cy="825500"/>
          </a:xfrm>
          <a:prstGeom prst="rect">
            <a:avLst/>
          </a:prstGeom>
          <a:noFill/>
        </p:spPr>
        <p:txBody>
          <a:bodyPr vert="horz" wrap="square" lIns="0" tIns="0" rIns="0" bIns="0" rtlCol="0" anchor="t">
            <a:noAutofit/>
          </a:bodyPr>
          <a:lstStyle/>
          <a:p>
            <a:r>
              <a:rPr lang="es-ES" sz="2600">
                <a:solidFill>
                  <a:srgbClr val="15283B"/>
                </a:solidFill>
                <a:latin typeface="Cambria Math" panose="02040503050406030204" pitchFamily="18" charset="0"/>
              </a:rPr>
              <a:t>atan2(L</a:t>
            </a:r>
            <a:r>
              <a:rPr lang="es-ES" sz="1872" baseline="-22000">
                <a:solidFill>
                  <a:srgbClr val="15283B"/>
                </a:solidFill>
                <a:latin typeface="Cambria Math" panose="02040503050406030204" pitchFamily="18" charset="0"/>
              </a:rPr>
              <a:t>2</a:t>
            </a:r>
            <a:r>
              <a:rPr lang="es-ES" sz="2600">
                <a:solidFill>
                  <a:srgbClr val="15283B"/>
                </a:solidFill>
                <a:latin typeface="Cambria Math" panose="02040503050406030204" pitchFamily="18" charset="0"/>
              </a:rPr>
              <a:t> sin q</a:t>
            </a:r>
            <a:r>
              <a:rPr lang="es-ES" sz="1872" baseline="-22000">
                <a:solidFill>
                  <a:srgbClr val="15283B"/>
                </a:solidFill>
                <a:latin typeface="Cambria Math" panose="02040503050406030204" pitchFamily="18" charset="0"/>
              </a:rPr>
              <a:t>2</a:t>
            </a:r>
            <a:r>
              <a:rPr lang="es-ES" sz="2600">
                <a:solidFill>
                  <a:srgbClr val="15283B"/>
                </a:solidFill>
                <a:latin typeface="Cambria Math" panose="02040503050406030204" pitchFamily="18" charset="0"/>
              </a:rPr>
              <a:t>, L</a:t>
            </a:r>
            <a:r>
              <a:rPr lang="es-ES" sz="1872" baseline="-22000">
                <a:solidFill>
                  <a:srgbClr val="15283B"/>
                </a:solidFill>
                <a:latin typeface="Cambria Math" panose="02040503050406030204" pitchFamily="18" charset="0"/>
              </a:rPr>
              <a:t>1</a:t>
            </a:r>
            <a:r>
              <a:rPr lang="es-ES" sz="2600">
                <a:solidFill>
                  <a:srgbClr val="15283B"/>
                </a:solidFill>
                <a:latin typeface="Cambria Math" panose="02040503050406030204" pitchFamily="18" charset="0"/>
              </a:rPr>
              <a:t>+L</a:t>
            </a:r>
            <a:r>
              <a:rPr lang="es-ES" sz="1872" baseline="-22000">
                <a:solidFill>
                  <a:srgbClr val="15283B"/>
                </a:solidFill>
                <a:latin typeface="Cambria Math" panose="02040503050406030204" pitchFamily="18" charset="0"/>
              </a:rPr>
              <a:t>2</a:t>
            </a:r>
            <a:r>
              <a:rPr lang="es-ES" sz="2600">
                <a:solidFill>
                  <a:srgbClr val="15283B"/>
                </a:solidFill>
                <a:latin typeface="Cambria Math" panose="02040503050406030204" pitchFamily="18" charset="0"/>
              </a:rPr>
              <a:t> cos q</a:t>
            </a:r>
            <a:r>
              <a:rPr lang="es-ES" sz="1872" baseline="-22000">
                <a:solidFill>
                  <a:srgbClr val="15283B"/>
                </a:solidFill>
                <a:latin typeface="Cambria Math" panose="02040503050406030204" pitchFamily="18" charset="0"/>
              </a:rPr>
              <a:t>2</a:t>
            </a:r>
            <a:r>
              <a:rPr lang="es-ES" sz="2600">
                <a:solidFill>
                  <a:srgbClr val="15283B"/>
                </a:solidFill>
                <a:latin typeface="Cambria Math" panose="02040503050406030204" pitchFamily="18" charset="0"/>
              </a:rPr>
              <a:t>)</a:t>
            </a:r>
            <a:endParaRPr lang="en-IL" sz="2600">
              <a:solidFill>
                <a:srgbClr val="15283B"/>
              </a:solidFill>
              <a:latin typeface="Cambria Math" panose="02040503050406030204" pitchFamily="18" charset="0"/>
            </a:endParaRPr>
          </a:p>
        </p:txBody>
      </p:sp>
    </p:spTree>
    <p:extLst>
      <p:ext uri="{BB962C8B-B14F-4D97-AF65-F5344CB8AC3E}">
        <p14:creationId xmlns:p14="http://schemas.microsoft.com/office/powerpoint/2010/main" val="40788466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43F4FABB-261B-6233-5568-8A0C6CFEE75F}"/>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03 / GAZEBO &amp; KINEMATICS</a:t>
            </a:r>
          </a:p>
        </p:txBody>
      </p:sp>
      <p:sp>
        <p:nvSpPr>
          <p:cNvPr id="3" name="text_2">
            <a:extLst>
              <a:ext uri="{FF2B5EF4-FFF2-40B4-BE49-F238E27FC236}">
                <a16:creationId xmlns:a16="http://schemas.microsoft.com/office/drawing/2014/main" id="{68CE9080-F7E0-1580-2B79-91652BD2C59F}"/>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Verify what happened</a:t>
            </a:r>
          </a:p>
        </p:txBody>
      </p:sp>
      <p:sp>
        <p:nvSpPr>
          <p:cNvPr id="4" name="text_3">
            <a:extLst>
              <a:ext uri="{FF2B5EF4-FFF2-40B4-BE49-F238E27FC236}">
                <a16:creationId xmlns:a16="http://schemas.microsoft.com/office/drawing/2014/main" id="{AA97FD2C-9F0F-5605-8D7F-2397DB9060F4}"/>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A requested target is a prediction; measured feedback checks it.</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34BB12AC-07AD-6F36-AD22-455F11CC3801}"/>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C221C577-908A-183B-9604-D2BCD350F848}"/>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IL" sz="1600">
                <a:solidFill>
                  <a:srgbClr val="526477"/>
                </a:solidFill>
                <a:latin typeface="Aptos" panose="020B0004020202020204" pitchFamily="34" charset="0"/>
              </a:rPr>
              <a:t>Robotics &amp; Autonomous Systems · ROS 2 Jazzy / Gazebo Harmonic</a:t>
            </a:r>
          </a:p>
        </p:txBody>
      </p:sp>
      <p:sp>
        <p:nvSpPr>
          <p:cNvPr id="7" name="text_6">
            <a:extLst>
              <a:ext uri="{FF2B5EF4-FFF2-40B4-BE49-F238E27FC236}">
                <a16:creationId xmlns:a16="http://schemas.microsoft.com/office/drawing/2014/main" id="{76A8CC2B-63CA-B7BB-8BC6-1E9607C79C6F}"/>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13</a:t>
            </a:r>
          </a:p>
        </p:txBody>
      </p:sp>
      <p:sp>
        <p:nvSpPr>
          <p:cNvPr id="8" name="text_7">
            <a:extLst>
              <a:ext uri="{FF2B5EF4-FFF2-40B4-BE49-F238E27FC236}">
                <a16:creationId xmlns:a16="http://schemas.microsoft.com/office/drawing/2014/main" id="{5B599A81-AB97-A4FF-E661-7BFEA1B926B3}"/>
              </a:ext>
            </a:extLst>
          </p:cNvPr>
          <p:cNvSpPr txBox="1"/>
          <p:nvPr/>
        </p:nvSpPr>
        <p:spPr>
          <a:xfrm>
            <a:off x="685800" y="2578099"/>
            <a:ext cx="4000500" cy="889000"/>
          </a:xfrm>
          <a:prstGeom prst="rect">
            <a:avLst/>
          </a:prstGeom>
          <a:noFill/>
        </p:spPr>
        <p:txBody>
          <a:bodyPr vert="horz" wrap="square" lIns="0" tIns="0" rIns="0" bIns="0" rtlCol="0" anchor="t">
            <a:noAutofit/>
          </a:bodyPr>
          <a:lstStyle/>
          <a:p>
            <a:r>
              <a:rPr lang="en-IL" sz="2500" b="1">
                <a:solidFill>
                  <a:srgbClr val="AE651D"/>
                </a:solidFill>
                <a:latin typeface="Aptos" panose="020B0004020202020204" pitchFamily="34" charset="0"/>
              </a:rPr>
              <a:t>Reject (0,0) and (1.2,0).</a:t>
            </a:r>
          </a:p>
        </p:txBody>
      </p:sp>
      <p:sp>
        <p:nvSpPr>
          <p:cNvPr id="9" name="Oval 8">
            <a:extLst>
              <a:ext uri="{FF2B5EF4-FFF2-40B4-BE49-F238E27FC236}">
                <a16:creationId xmlns:a16="http://schemas.microsoft.com/office/drawing/2014/main" id="{6ACB19A3-788D-2AA9-0EEC-B813044BF3E2}"/>
              </a:ext>
            </a:extLst>
          </p:cNvPr>
          <p:cNvSpPr/>
          <p:nvPr/>
        </p:nvSpPr>
        <p:spPr>
          <a:xfrm>
            <a:off x="1117600" y="3162300"/>
            <a:ext cx="2184400" cy="2184400"/>
          </a:xfrm>
          <a:prstGeom prst="ellipse">
            <a:avLst/>
          </a:prstGeom>
          <a:solidFill>
            <a:srgbClr val="E5F3F0"/>
          </a:solidFill>
          <a:ln w="25400">
            <a:solidFill>
              <a:srgbClr val="137F7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 name="Oval 9">
            <a:extLst>
              <a:ext uri="{FF2B5EF4-FFF2-40B4-BE49-F238E27FC236}">
                <a16:creationId xmlns:a16="http://schemas.microsoft.com/office/drawing/2014/main" id="{749B6F6F-3788-E143-013A-4A7296123866}"/>
              </a:ext>
            </a:extLst>
          </p:cNvPr>
          <p:cNvSpPr/>
          <p:nvPr/>
        </p:nvSpPr>
        <p:spPr>
          <a:xfrm>
            <a:off x="1991360" y="4036060"/>
            <a:ext cx="436880" cy="436880"/>
          </a:xfrm>
          <a:prstGeom prst="ellipse">
            <a:avLst/>
          </a:prstGeom>
          <a:solidFill>
            <a:srgbClr val="F7F9FC"/>
          </a:solidFill>
          <a:ln w="25400">
            <a:solidFill>
              <a:srgbClr val="137F7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Oval 10">
            <a:extLst>
              <a:ext uri="{FF2B5EF4-FFF2-40B4-BE49-F238E27FC236}">
                <a16:creationId xmlns:a16="http://schemas.microsoft.com/office/drawing/2014/main" id="{6BD62FB5-0065-C7D7-70A6-44D825709DE5}"/>
              </a:ext>
            </a:extLst>
          </p:cNvPr>
          <p:cNvSpPr/>
          <p:nvPr/>
        </p:nvSpPr>
        <p:spPr>
          <a:xfrm>
            <a:off x="2159000" y="4203700"/>
            <a:ext cx="101600" cy="101600"/>
          </a:xfrm>
          <a:prstGeom prst="ellipse">
            <a:avLst/>
          </a:prstGeom>
          <a:solidFill>
            <a:srgbClr val="AE651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Oval 11">
            <a:extLst>
              <a:ext uri="{FF2B5EF4-FFF2-40B4-BE49-F238E27FC236}">
                <a16:creationId xmlns:a16="http://schemas.microsoft.com/office/drawing/2014/main" id="{A0397C93-BDC3-4A0E-8E7B-3EC0E6B1D0E6}"/>
              </a:ext>
            </a:extLst>
          </p:cNvPr>
          <p:cNvSpPr/>
          <p:nvPr/>
        </p:nvSpPr>
        <p:spPr>
          <a:xfrm>
            <a:off x="3431540" y="4165600"/>
            <a:ext cx="177800" cy="177800"/>
          </a:xfrm>
          <a:prstGeom prst="ellipse">
            <a:avLst/>
          </a:prstGeom>
          <a:solidFill>
            <a:srgbClr val="AE651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13" name="Straight Connector 12">
            <a:extLst>
              <a:ext uri="{FF2B5EF4-FFF2-40B4-BE49-F238E27FC236}">
                <a16:creationId xmlns:a16="http://schemas.microsoft.com/office/drawing/2014/main" id="{05A9BE60-93C3-8625-AD2D-AE0E917E53B9}"/>
              </a:ext>
            </a:extLst>
          </p:cNvPr>
          <p:cNvCxnSpPr/>
          <p:nvPr/>
        </p:nvCxnSpPr>
        <p:spPr>
          <a:xfrm>
            <a:off x="2209800" y="4254500"/>
            <a:ext cx="10922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14" name="text_13">
            <a:extLst>
              <a:ext uri="{FF2B5EF4-FFF2-40B4-BE49-F238E27FC236}">
                <a16:creationId xmlns:a16="http://schemas.microsoft.com/office/drawing/2014/main" id="{65BD49D8-8C5D-C4C9-711E-1182EFF4ECCB}"/>
              </a:ext>
            </a:extLst>
          </p:cNvPr>
          <p:cNvSpPr txBox="1"/>
          <p:nvPr/>
        </p:nvSpPr>
        <p:spPr>
          <a:xfrm>
            <a:off x="685800" y="5575299"/>
            <a:ext cx="4000500" cy="508000"/>
          </a:xfrm>
          <a:prstGeom prst="rect">
            <a:avLst/>
          </a:prstGeom>
          <a:noFill/>
        </p:spPr>
        <p:txBody>
          <a:bodyPr vert="horz" wrap="square" lIns="0" tIns="0" rIns="0" bIns="0" rtlCol="0" anchor="t">
            <a:noAutofit/>
          </a:bodyPr>
          <a:lstStyle/>
          <a:p>
            <a:r>
              <a:rPr lang="en-IL" sz="2600" b="1">
                <a:solidFill>
                  <a:srgbClr val="137F79"/>
                </a:solidFill>
                <a:latin typeface="Aptos" panose="020B0004020202020204" pitchFamily="34" charset="0"/>
              </a:rPr>
              <a:t>0.2 ≤ radius ≤ 1.0 m</a:t>
            </a:r>
          </a:p>
        </p:txBody>
      </p:sp>
      <p:sp>
        <p:nvSpPr>
          <p:cNvPr id="15" name="Rectangle: Rounded Corners 14">
            <a:extLst>
              <a:ext uri="{FF2B5EF4-FFF2-40B4-BE49-F238E27FC236}">
                <a16:creationId xmlns:a16="http://schemas.microsoft.com/office/drawing/2014/main" id="{FC123D82-B543-9E3A-8CF3-7ABABA4114D0}"/>
              </a:ext>
            </a:extLst>
          </p:cNvPr>
          <p:cNvSpPr/>
          <p:nvPr/>
        </p:nvSpPr>
        <p:spPr>
          <a:xfrm>
            <a:off x="5194300" y="2755900"/>
            <a:ext cx="6311900" cy="533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6" name="text_15">
            <a:extLst>
              <a:ext uri="{FF2B5EF4-FFF2-40B4-BE49-F238E27FC236}">
                <a16:creationId xmlns:a16="http://schemas.microsoft.com/office/drawing/2014/main" id="{A4CF5D1D-624C-97EC-55C5-FEE745FB5D9D}"/>
              </a:ext>
            </a:extLst>
          </p:cNvPr>
          <p:cNvSpPr txBox="1"/>
          <p:nvPr/>
        </p:nvSpPr>
        <p:spPr>
          <a:xfrm>
            <a:off x="5346700" y="2844799"/>
            <a:ext cx="6007100" cy="381000"/>
          </a:xfrm>
          <a:prstGeom prst="rect">
            <a:avLst/>
          </a:prstGeom>
          <a:noFill/>
        </p:spPr>
        <p:txBody>
          <a:bodyPr vert="horz" wrap="square" lIns="0" tIns="0" rIns="0" bIns="0" rtlCol="0" anchor="t">
            <a:noAutofit/>
          </a:bodyPr>
          <a:lstStyle/>
          <a:p>
            <a:r>
              <a:rPr lang="en-IL" sz="2400" b="1">
                <a:solidFill>
                  <a:srgbClr val="2459D3"/>
                </a:solidFill>
                <a:latin typeface="Aptos" panose="020B0004020202020204" pitchFamily="34" charset="0"/>
              </a:rPr>
              <a:t>Measured joints</a:t>
            </a:r>
          </a:p>
        </p:txBody>
      </p:sp>
      <p:sp>
        <p:nvSpPr>
          <p:cNvPr id="17" name="Rectangle: Rounded Corners 16">
            <a:extLst>
              <a:ext uri="{FF2B5EF4-FFF2-40B4-BE49-F238E27FC236}">
                <a16:creationId xmlns:a16="http://schemas.microsoft.com/office/drawing/2014/main" id="{8991E3B3-A384-FBE8-AAF8-293D4161FF39}"/>
              </a:ext>
            </a:extLst>
          </p:cNvPr>
          <p:cNvSpPr/>
          <p:nvPr/>
        </p:nvSpPr>
        <p:spPr>
          <a:xfrm>
            <a:off x="5194300" y="3937000"/>
            <a:ext cx="6311900" cy="5334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8" name="text_17">
            <a:extLst>
              <a:ext uri="{FF2B5EF4-FFF2-40B4-BE49-F238E27FC236}">
                <a16:creationId xmlns:a16="http://schemas.microsoft.com/office/drawing/2014/main" id="{6A88FFBB-4901-F4A2-7A89-2363B5EC4A74}"/>
              </a:ext>
            </a:extLst>
          </p:cNvPr>
          <p:cNvSpPr txBox="1"/>
          <p:nvPr/>
        </p:nvSpPr>
        <p:spPr>
          <a:xfrm>
            <a:off x="5346700" y="4025899"/>
            <a:ext cx="6007100" cy="381000"/>
          </a:xfrm>
          <a:prstGeom prst="rect">
            <a:avLst/>
          </a:prstGeom>
          <a:noFill/>
        </p:spPr>
        <p:txBody>
          <a:bodyPr vert="horz" wrap="square" lIns="0" tIns="0" rIns="0" bIns="0" rtlCol="0" anchor="t">
            <a:noAutofit/>
          </a:bodyPr>
          <a:lstStyle/>
          <a:p>
            <a:r>
              <a:rPr lang="en-IL" sz="2400" b="1">
                <a:solidFill>
                  <a:srgbClr val="137F79"/>
                </a:solidFill>
                <a:latin typeface="Aptos" panose="020B0004020202020204" pitchFamily="34" charset="0"/>
              </a:rPr>
              <a:t>FK + end-effector TF</a:t>
            </a:r>
          </a:p>
        </p:txBody>
      </p:sp>
      <p:sp>
        <p:nvSpPr>
          <p:cNvPr id="19" name="Rectangle: Rounded Corners 18">
            <a:extLst>
              <a:ext uri="{FF2B5EF4-FFF2-40B4-BE49-F238E27FC236}">
                <a16:creationId xmlns:a16="http://schemas.microsoft.com/office/drawing/2014/main" id="{4A54B00C-8A57-8B77-B2DF-5FD1B5E55F76}"/>
              </a:ext>
            </a:extLst>
          </p:cNvPr>
          <p:cNvSpPr/>
          <p:nvPr/>
        </p:nvSpPr>
        <p:spPr>
          <a:xfrm>
            <a:off x="5194300" y="5118100"/>
            <a:ext cx="6311900" cy="533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0" name="text_19">
            <a:extLst>
              <a:ext uri="{FF2B5EF4-FFF2-40B4-BE49-F238E27FC236}">
                <a16:creationId xmlns:a16="http://schemas.microsoft.com/office/drawing/2014/main" id="{B2D5DE6B-85FC-642B-4873-7F5A003F1428}"/>
              </a:ext>
            </a:extLst>
          </p:cNvPr>
          <p:cNvSpPr txBox="1"/>
          <p:nvPr/>
        </p:nvSpPr>
        <p:spPr>
          <a:xfrm>
            <a:off x="5346700" y="5206999"/>
            <a:ext cx="6007100" cy="381000"/>
          </a:xfrm>
          <a:prstGeom prst="rect">
            <a:avLst/>
          </a:prstGeom>
          <a:noFill/>
        </p:spPr>
        <p:txBody>
          <a:bodyPr vert="horz" wrap="square" lIns="0" tIns="0" rIns="0" bIns="0" rtlCol="0" anchor="t">
            <a:noAutofit/>
          </a:bodyPr>
          <a:lstStyle/>
          <a:p>
            <a:r>
              <a:rPr lang="en-IL" sz="2400" b="1">
                <a:solidFill>
                  <a:srgbClr val="2459D3"/>
                </a:solidFill>
                <a:latin typeface="Aptos" panose="020B0004020202020204" pitchFamily="34" charset="0"/>
              </a:rPr>
              <a:t>Compare with target</a:t>
            </a:r>
          </a:p>
        </p:txBody>
      </p:sp>
      <p:cxnSp>
        <p:nvCxnSpPr>
          <p:cNvPr id="21" name="Straight Connector 20">
            <a:extLst>
              <a:ext uri="{FF2B5EF4-FFF2-40B4-BE49-F238E27FC236}">
                <a16:creationId xmlns:a16="http://schemas.microsoft.com/office/drawing/2014/main" id="{723D486A-3FAA-52B1-4283-DB85666499C3}"/>
              </a:ext>
            </a:extLst>
          </p:cNvPr>
          <p:cNvCxnSpPr/>
          <p:nvPr/>
        </p:nvCxnSpPr>
        <p:spPr>
          <a:xfrm>
            <a:off x="8343900" y="3365500"/>
            <a:ext cx="0" cy="48260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8F49953A-DB23-7837-2890-3A9A01A89D76}"/>
              </a:ext>
            </a:extLst>
          </p:cNvPr>
          <p:cNvCxnSpPr/>
          <p:nvPr/>
        </p:nvCxnSpPr>
        <p:spPr>
          <a:xfrm>
            <a:off x="8343900" y="4546600"/>
            <a:ext cx="0" cy="48260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sp>
        <p:nvSpPr>
          <p:cNvPr id="23" name="text_22">
            <a:extLst>
              <a:ext uri="{FF2B5EF4-FFF2-40B4-BE49-F238E27FC236}">
                <a16:creationId xmlns:a16="http://schemas.microsoft.com/office/drawing/2014/main" id="{946498AE-8374-12CF-E353-0BC8B75A4E15}"/>
              </a:ext>
            </a:extLst>
          </p:cNvPr>
          <p:cNvSpPr txBox="1"/>
          <p:nvPr/>
        </p:nvSpPr>
        <p:spPr>
          <a:xfrm>
            <a:off x="5194300" y="5740399"/>
            <a:ext cx="6311900" cy="4445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IK ≠ collision-free motion planning</a:t>
            </a:r>
          </a:p>
        </p:txBody>
      </p:sp>
    </p:spTree>
    <p:extLst>
      <p:ext uri="{BB962C8B-B14F-4D97-AF65-F5344CB8AC3E}">
        <p14:creationId xmlns:p14="http://schemas.microsoft.com/office/powerpoint/2010/main" val="22360060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6972A9C1-AB11-04C8-EE2F-18AD0991868D}"/>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03 / GAZEBO &amp; KINEMATICS</a:t>
            </a:r>
          </a:p>
        </p:txBody>
      </p:sp>
      <p:sp>
        <p:nvSpPr>
          <p:cNvPr id="3" name="text_2">
            <a:extLst>
              <a:ext uri="{FF2B5EF4-FFF2-40B4-BE49-F238E27FC236}">
                <a16:creationId xmlns:a16="http://schemas.microsoft.com/office/drawing/2014/main" id="{D82C3032-BE4D-EEC2-165C-868A2CFA4B88}"/>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Live demo: predict, command, inspect</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34462A18-D2E5-D0F2-F335-107850F06D78}"/>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Keep the simulated robot and its measured state connected.</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CD1675FD-4E07-230C-8E61-AB02BF491AE9}"/>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81518B69-F122-8454-DCFD-83D0322CC23D}"/>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IL" sz="1600">
                <a:solidFill>
                  <a:srgbClr val="526477"/>
                </a:solidFill>
                <a:latin typeface="Aptos" panose="020B0004020202020204" pitchFamily="34" charset="0"/>
              </a:rPr>
              <a:t>Robotics &amp; Autonomous Systems · ROS 2 Jazzy / Gazebo Harmonic</a:t>
            </a:r>
          </a:p>
        </p:txBody>
      </p:sp>
      <p:sp>
        <p:nvSpPr>
          <p:cNvPr id="7" name="text_6">
            <a:extLst>
              <a:ext uri="{FF2B5EF4-FFF2-40B4-BE49-F238E27FC236}">
                <a16:creationId xmlns:a16="http://schemas.microsoft.com/office/drawing/2014/main" id="{04DD5688-7717-41EA-1C58-B56AF064CBED}"/>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14</a:t>
            </a:r>
          </a:p>
        </p:txBody>
      </p:sp>
      <p:pic>
        <p:nvPicPr>
          <p:cNvPr id="9" name="Picture 8">
            <a:extLst>
              <a:ext uri="{FF2B5EF4-FFF2-40B4-BE49-F238E27FC236}">
                <a16:creationId xmlns:a16="http://schemas.microsoft.com/office/drawing/2014/main" id="{467193A7-13B4-AE60-37C7-9BD46EFEF1FC}"/>
              </a:ext>
            </a:extLst>
          </p:cNvPr>
          <p:cNvPicPr>
            <a:picLocks/>
          </p:cNvPicPr>
          <p:nvPr/>
        </p:nvPicPr>
        <p:blipFill>
          <a:blip r:embed="rId3">
            <a:extLst>
              <a:ext uri="{28A0092B-C50C-407E-A947-70E740481C1C}">
                <a14:useLocalDpi xmlns:a14="http://schemas.microsoft.com/office/drawing/2010/main" val="0"/>
              </a:ext>
            </a:extLst>
          </a:blip>
          <a:srcRect l="16640" t="39915" r="50026" b="26872"/>
          <a:stretch>
            <a:fillRect/>
          </a:stretch>
        </p:blipFill>
        <p:spPr>
          <a:xfrm>
            <a:off x="685800" y="2819400"/>
            <a:ext cx="4953000" cy="2794000"/>
          </a:xfrm>
          <a:prstGeom prst="rect">
            <a:avLst/>
          </a:prstGeom>
        </p:spPr>
      </p:pic>
      <p:sp>
        <p:nvSpPr>
          <p:cNvPr id="10" name="text_8">
            <a:extLst>
              <a:ext uri="{FF2B5EF4-FFF2-40B4-BE49-F238E27FC236}">
                <a16:creationId xmlns:a16="http://schemas.microsoft.com/office/drawing/2014/main" id="{A776CB97-EE50-4A28-F79E-EAE3834402A3}"/>
              </a:ext>
            </a:extLst>
          </p:cNvPr>
          <p:cNvSpPr txBox="1"/>
          <p:nvPr/>
        </p:nvSpPr>
        <p:spPr>
          <a:xfrm>
            <a:off x="6337300" y="2628899"/>
            <a:ext cx="5168900" cy="6858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8 min · interface + joints</a:t>
            </a:r>
          </a:p>
        </p:txBody>
      </p:sp>
      <p:sp>
        <p:nvSpPr>
          <p:cNvPr id="11" name="text_9">
            <a:extLst>
              <a:ext uri="{FF2B5EF4-FFF2-40B4-BE49-F238E27FC236}">
                <a16:creationId xmlns:a16="http://schemas.microsoft.com/office/drawing/2014/main" id="{C9D34C79-2771-1A91-796C-D91DB590F8F4}"/>
              </a:ext>
            </a:extLst>
          </p:cNvPr>
          <p:cNvSpPr txBox="1"/>
          <p:nvPr/>
        </p:nvSpPr>
        <p:spPr>
          <a:xfrm>
            <a:off x="6337300" y="3759199"/>
            <a:ext cx="5168900" cy="889000"/>
          </a:xfrm>
          <a:prstGeom prst="rect">
            <a:avLst/>
          </a:prstGeom>
          <a:noFill/>
        </p:spPr>
        <p:txBody>
          <a:bodyPr vert="horz" wrap="square" lIns="0" tIns="0" rIns="0" bIns="0" rtlCol="0" anchor="t">
            <a:noAutofit/>
          </a:bodyPr>
          <a:lstStyle/>
          <a:p>
            <a:r>
              <a:rPr lang="en-US" sz="2800" b="1">
                <a:solidFill>
                  <a:srgbClr val="137F79"/>
                </a:solidFill>
                <a:latin typeface="Aptos" panose="020B0004020202020204" pitchFamily="34" charset="0"/>
              </a:rPr>
              <a:t>10 min · target + two branches</a:t>
            </a:r>
            <a:endParaRPr lang="en-IL" sz="2800" b="1">
              <a:solidFill>
                <a:srgbClr val="137F79"/>
              </a:solidFill>
              <a:latin typeface="Aptos" panose="020B0004020202020204" pitchFamily="34" charset="0"/>
            </a:endParaRPr>
          </a:p>
        </p:txBody>
      </p:sp>
      <p:sp>
        <p:nvSpPr>
          <p:cNvPr id="12" name="text_10">
            <a:extLst>
              <a:ext uri="{FF2B5EF4-FFF2-40B4-BE49-F238E27FC236}">
                <a16:creationId xmlns:a16="http://schemas.microsoft.com/office/drawing/2014/main" id="{91E111A0-FFF1-3561-1DF9-6D81A1FD1638}"/>
              </a:ext>
            </a:extLst>
          </p:cNvPr>
          <p:cNvSpPr txBox="1"/>
          <p:nvPr/>
        </p:nvSpPr>
        <p:spPr>
          <a:xfrm>
            <a:off x="6337300" y="5067299"/>
            <a:ext cx="5168900" cy="8890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7 min · rejection + checkpoint</a:t>
            </a:r>
          </a:p>
        </p:txBody>
      </p:sp>
      <p:sp>
        <p:nvSpPr>
          <p:cNvPr id="13" name="text_11">
            <a:extLst>
              <a:ext uri="{FF2B5EF4-FFF2-40B4-BE49-F238E27FC236}">
                <a16:creationId xmlns:a16="http://schemas.microsoft.com/office/drawing/2014/main" id="{F6CB4E8C-55DC-ECBD-0925-5BBE8A7A578B}"/>
              </a:ext>
            </a:extLst>
          </p:cNvPr>
          <p:cNvSpPr txBox="1"/>
          <p:nvPr/>
        </p:nvSpPr>
        <p:spPr>
          <a:xfrm>
            <a:off x="685800" y="5714999"/>
            <a:ext cx="4953000" cy="546100"/>
          </a:xfrm>
          <a:prstGeom prst="rect">
            <a:avLst/>
          </a:prstGeom>
          <a:noFill/>
        </p:spPr>
        <p:txBody>
          <a:bodyPr vert="horz" wrap="square" lIns="0" tIns="0" rIns="0" bIns="0" rtlCol="0" anchor="t">
            <a:noAutofit/>
          </a:bodyPr>
          <a:lstStyle/>
          <a:p>
            <a:r>
              <a:rPr lang="en-IL" sz="2500">
                <a:solidFill>
                  <a:srgbClr val="526477"/>
                </a:solidFill>
                <a:latin typeface="Aptos" panose="020B0004020202020204" pitchFamily="34" charset="0"/>
              </a:rPr>
              <a:t>Predict → command → measure</a:t>
            </a:r>
          </a:p>
        </p:txBody>
      </p:sp>
    </p:spTree>
    <p:extLst>
      <p:ext uri="{BB962C8B-B14F-4D97-AF65-F5344CB8AC3E}">
        <p14:creationId xmlns:p14="http://schemas.microsoft.com/office/powerpoint/2010/main" val="31564656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C34AC7EA-BF37-B9BE-51F8-7B4B6A77C0C4}"/>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8745BEE7-8236-1A76-4FB5-AB1F946A3503}"/>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Forward kinematics as transforms</a:t>
            </a:r>
          </a:p>
        </p:txBody>
      </p:sp>
      <p:sp>
        <p:nvSpPr>
          <p:cNvPr id="4" name="text_3">
            <a:extLst>
              <a:ext uri="{FF2B5EF4-FFF2-40B4-BE49-F238E27FC236}">
                <a16:creationId xmlns:a16="http://schemas.microsoft.com/office/drawing/2014/main" id="{B90C46EE-5FF6-7210-32FD-E7E4347615EB}"/>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Column vectors, right-handed rotations, and joint-relative frames.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AB93C82A-2D66-54B5-A778-3EE7253008DA}"/>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83FAFB00-22F0-0688-C371-128D46C01760}"/>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IL" sz="1600">
                <a:solidFill>
                  <a:srgbClr val="526477"/>
                </a:solidFill>
                <a:latin typeface="Aptos" panose="020B0004020202020204" pitchFamily="34" charset="0"/>
              </a:rPr>
              <a:t>Robotics &amp; Autonomous Systems · ROS 2 Jazzy / Gazebo Harmonic</a:t>
            </a:r>
          </a:p>
        </p:txBody>
      </p:sp>
      <p:sp>
        <p:nvSpPr>
          <p:cNvPr id="7" name="text_6">
            <a:extLst>
              <a:ext uri="{FF2B5EF4-FFF2-40B4-BE49-F238E27FC236}">
                <a16:creationId xmlns:a16="http://schemas.microsoft.com/office/drawing/2014/main" id="{B7A4D382-A781-98B4-0A15-AB8D1C768FCD}"/>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15</a:t>
            </a:r>
          </a:p>
        </p:txBody>
      </p:sp>
      <p:sp>
        <p:nvSpPr>
          <p:cNvPr id="8" name="text_7">
            <a:extLst>
              <a:ext uri="{FF2B5EF4-FFF2-40B4-BE49-F238E27FC236}">
                <a16:creationId xmlns:a16="http://schemas.microsoft.com/office/drawing/2014/main" id="{1C7DAF42-375C-0E48-42FF-2787FDA676E5}"/>
              </a:ext>
            </a:extLst>
          </p:cNvPr>
          <p:cNvSpPr txBox="1"/>
          <p:nvPr/>
        </p:nvSpPr>
        <p:spPr>
          <a:xfrm>
            <a:off x="685800" y="2501899"/>
            <a:ext cx="10820400" cy="698500"/>
          </a:xfrm>
          <a:prstGeom prst="rect">
            <a:avLst/>
          </a:prstGeom>
          <a:noFill/>
        </p:spPr>
        <p:txBody>
          <a:bodyPr vert="horz" wrap="square" lIns="0" tIns="0" rIns="0" bIns="0" rtlCol="0" anchor="t">
            <a:noAutofit/>
          </a:bodyPr>
          <a:lstStyle/>
          <a:p>
            <a:r>
              <a:rPr lang="de-DE" sz="2900">
                <a:solidFill>
                  <a:srgbClr val="2459D3"/>
                </a:solidFill>
                <a:latin typeface="Cambria Math" panose="02040503050406030204" pitchFamily="18" charset="0"/>
              </a:rPr>
              <a:t>T = RotZ(q</a:t>
            </a:r>
            <a:r>
              <a:rPr lang="de-DE" sz="2088" baseline="-22000">
                <a:solidFill>
                  <a:srgbClr val="2459D3"/>
                </a:solidFill>
                <a:latin typeface="Cambria Math" panose="02040503050406030204" pitchFamily="18" charset="0"/>
              </a:rPr>
              <a:t>1</a:t>
            </a:r>
            <a:r>
              <a:rPr lang="de-DE" sz="2900">
                <a:solidFill>
                  <a:srgbClr val="2459D3"/>
                </a:solidFill>
                <a:latin typeface="Cambria Math" panose="02040503050406030204" pitchFamily="18" charset="0"/>
              </a:rPr>
              <a:t>) TransX(L</a:t>
            </a:r>
            <a:r>
              <a:rPr lang="de-DE" sz="2088" baseline="-22000">
                <a:solidFill>
                  <a:srgbClr val="2459D3"/>
                </a:solidFill>
                <a:latin typeface="Cambria Math" panose="02040503050406030204" pitchFamily="18" charset="0"/>
              </a:rPr>
              <a:t>1</a:t>
            </a:r>
            <a:r>
              <a:rPr lang="de-DE" sz="2900">
                <a:solidFill>
                  <a:srgbClr val="2459D3"/>
                </a:solidFill>
                <a:latin typeface="Cambria Math" panose="02040503050406030204" pitchFamily="18" charset="0"/>
              </a:rPr>
              <a:t>) RotZ(q</a:t>
            </a:r>
            <a:r>
              <a:rPr lang="de-DE" sz="2088" baseline="-22000">
                <a:solidFill>
                  <a:srgbClr val="2459D3"/>
                </a:solidFill>
                <a:latin typeface="Cambria Math" panose="02040503050406030204" pitchFamily="18" charset="0"/>
              </a:rPr>
              <a:t>2</a:t>
            </a:r>
            <a:r>
              <a:rPr lang="de-DE" sz="2900">
                <a:solidFill>
                  <a:srgbClr val="2459D3"/>
                </a:solidFill>
                <a:latin typeface="Cambria Math" panose="02040503050406030204" pitchFamily="18" charset="0"/>
              </a:rPr>
              <a:t>) TransX(L</a:t>
            </a:r>
            <a:r>
              <a:rPr lang="de-DE" sz="2088" baseline="-22000">
                <a:solidFill>
                  <a:srgbClr val="2459D3"/>
                </a:solidFill>
                <a:latin typeface="Cambria Math" panose="02040503050406030204" pitchFamily="18" charset="0"/>
              </a:rPr>
              <a:t>2</a:t>
            </a:r>
            <a:r>
              <a:rPr lang="de-DE" sz="2900">
                <a:solidFill>
                  <a:srgbClr val="2459D3"/>
                </a:solidFill>
                <a:latin typeface="Cambria Math" panose="02040503050406030204" pitchFamily="18" charset="0"/>
              </a:rPr>
              <a:t>)</a:t>
            </a:r>
            <a:endParaRPr lang="en-IL" sz="2900">
              <a:solidFill>
                <a:srgbClr val="2459D3"/>
              </a:solidFill>
              <a:latin typeface="Cambria Math" panose="02040503050406030204" pitchFamily="18" charset="0"/>
            </a:endParaRPr>
          </a:p>
        </p:txBody>
      </p:sp>
      <p:cxnSp>
        <p:nvCxnSpPr>
          <p:cNvPr id="9" name="Straight Connector 8">
            <a:extLst>
              <a:ext uri="{FF2B5EF4-FFF2-40B4-BE49-F238E27FC236}">
                <a16:creationId xmlns:a16="http://schemas.microsoft.com/office/drawing/2014/main" id="{D90FB629-B29D-6155-0B2C-8796BD7878EE}"/>
              </a:ext>
            </a:extLst>
          </p:cNvPr>
          <p:cNvCxnSpPr/>
          <p:nvPr/>
        </p:nvCxnSpPr>
        <p:spPr>
          <a:xfrm>
            <a:off x="685800" y="3594100"/>
            <a:ext cx="0" cy="200660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2C413CDB-EB7F-E6B7-3FCC-64B48B29B6D1}"/>
              </a:ext>
            </a:extLst>
          </p:cNvPr>
          <p:cNvCxnSpPr/>
          <p:nvPr/>
        </p:nvCxnSpPr>
        <p:spPr>
          <a:xfrm>
            <a:off x="685800" y="35941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4DB2C176-9B6D-3DAE-2559-543E70B9AA73}"/>
              </a:ext>
            </a:extLst>
          </p:cNvPr>
          <p:cNvCxnSpPr/>
          <p:nvPr/>
        </p:nvCxnSpPr>
        <p:spPr>
          <a:xfrm>
            <a:off x="685800" y="56007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9BC5D96B-F210-C1EC-B614-A5F9E7610CFC}"/>
              </a:ext>
            </a:extLst>
          </p:cNvPr>
          <p:cNvCxnSpPr/>
          <p:nvPr/>
        </p:nvCxnSpPr>
        <p:spPr>
          <a:xfrm>
            <a:off x="6654800" y="3594100"/>
            <a:ext cx="0" cy="200660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E499202D-2883-982D-3F63-40B83735B045}"/>
              </a:ext>
            </a:extLst>
          </p:cNvPr>
          <p:cNvCxnSpPr/>
          <p:nvPr/>
        </p:nvCxnSpPr>
        <p:spPr>
          <a:xfrm flipH="1">
            <a:off x="6553200" y="35941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D684F70-0AD7-C026-607E-C11C18F1480C}"/>
              </a:ext>
            </a:extLst>
          </p:cNvPr>
          <p:cNvCxnSpPr/>
          <p:nvPr/>
        </p:nvCxnSpPr>
        <p:spPr>
          <a:xfrm flipH="1">
            <a:off x="6553200" y="56007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sp>
        <p:nvSpPr>
          <p:cNvPr id="15" name="text_14">
            <a:extLst>
              <a:ext uri="{FF2B5EF4-FFF2-40B4-BE49-F238E27FC236}">
                <a16:creationId xmlns:a16="http://schemas.microsoft.com/office/drawing/2014/main" id="{5C72A46C-1338-775A-93AC-DE46C3099EC2}"/>
              </a:ext>
            </a:extLst>
          </p:cNvPr>
          <p:cNvSpPr txBox="1"/>
          <p:nvPr/>
        </p:nvSpPr>
        <p:spPr>
          <a:xfrm>
            <a:off x="825500" y="3644899"/>
            <a:ext cx="1422400" cy="450850"/>
          </a:xfrm>
          <a:prstGeom prst="rect">
            <a:avLst/>
          </a:prstGeom>
          <a:noFill/>
        </p:spPr>
        <p:txBody>
          <a:bodyPr vert="horz" wrap="square" lIns="0" tIns="0" rIns="0" bIns="0" rtlCol="0" anchor="t">
            <a:noAutofit/>
          </a:bodyPr>
          <a:lstStyle/>
          <a:p>
            <a:pPr algn="ctr"/>
            <a:r>
              <a:rPr lang="en-IL" sz="2600">
                <a:solidFill>
                  <a:srgbClr val="15283B"/>
                </a:solidFill>
                <a:latin typeface="Cambria Math" panose="02040503050406030204" pitchFamily="18" charset="0"/>
              </a:rPr>
              <a:t>cos </a:t>
            </a:r>
            <a:r>
              <a:rPr lang="el-GR" sz="2600">
                <a:solidFill>
                  <a:srgbClr val="15283B"/>
                </a:solidFill>
                <a:latin typeface="Cambria Math" panose="02040503050406030204" pitchFamily="18" charset="0"/>
              </a:rPr>
              <a:t>α</a:t>
            </a:r>
            <a:endParaRPr lang="en-IL" sz="2600">
              <a:solidFill>
                <a:srgbClr val="15283B"/>
              </a:solidFill>
              <a:latin typeface="Cambria Math" panose="02040503050406030204" pitchFamily="18" charset="0"/>
            </a:endParaRPr>
          </a:p>
        </p:txBody>
      </p:sp>
      <p:sp>
        <p:nvSpPr>
          <p:cNvPr id="16" name="text_15">
            <a:extLst>
              <a:ext uri="{FF2B5EF4-FFF2-40B4-BE49-F238E27FC236}">
                <a16:creationId xmlns:a16="http://schemas.microsoft.com/office/drawing/2014/main" id="{EF4CA250-F5AE-B854-3FB8-5B03D5195D17}"/>
              </a:ext>
            </a:extLst>
          </p:cNvPr>
          <p:cNvSpPr txBox="1"/>
          <p:nvPr/>
        </p:nvSpPr>
        <p:spPr>
          <a:xfrm>
            <a:off x="2247900" y="3644899"/>
            <a:ext cx="1422400" cy="450850"/>
          </a:xfrm>
          <a:prstGeom prst="rect">
            <a:avLst/>
          </a:prstGeom>
          <a:noFill/>
        </p:spPr>
        <p:txBody>
          <a:bodyPr vert="horz" wrap="square" lIns="0" tIns="0" rIns="0" bIns="0" rtlCol="0" anchor="t">
            <a:noAutofit/>
          </a:bodyPr>
          <a:lstStyle/>
          <a:p>
            <a:pPr algn="ctr"/>
            <a:r>
              <a:rPr lang="en-IL" sz="2600">
                <a:solidFill>
                  <a:srgbClr val="15283B"/>
                </a:solidFill>
                <a:latin typeface="Cambria Math" panose="02040503050406030204" pitchFamily="18" charset="0"/>
              </a:rPr>
              <a:t>−sin </a:t>
            </a:r>
            <a:r>
              <a:rPr lang="el-GR" sz="2600">
                <a:solidFill>
                  <a:srgbClr val="15283B"/>
                </a:solidFill>
                <a:latin typeface="Cambria Math" panose="02040503050406030204" pitchFamily="18" charset="0"/>
              </a:rPr>
              <a:t>α</a:t>
            </a:r>
            <a:endParaRPr lang="en-IL" sz="2600">
              <a:solidFill>
                <a:srgbClr val="15283B"/>
              </a:solidFill>
              <a:latin typeface="Cambria Math" panose="02040503050406030204" pitchFamily="18" charset="0"/>
            </a:endParaRPr>
          </a:p>
        </p:txBody>
      </p:sp>
      <p:sp>
        <p:nvSpPr>
          <p:cNvPr id="17" name="text_16">
            <a:extLst>
              <a:ext uri="{FF2B5EF4-FFF2-40B4-BE49-F238E27FC236}">
                <a16:creationId xmlns:a16="http://schemas.microsoft.com/office/drawing/2014/main" id="{E5A1F8E3-CE6D-3D22-40BE-A387F581BF7F}"/>
              </a:ext>
            </a:extLst>
          </p:cNvPr>
          <p:cNvSpPr txBox="1"/>
          <p:nvPr/>
        </p:nvSpPr>
        <p:spPr>
          <a:xfrm>
            <a:off x="3670300" y="3644899"/>
            <a:ext cx="1422400" cy="450850"/>
          </a:xfrm>
          <a:prstGeom prst="rect">
            <a:avLst/>
          </a:prstGeom>
          <a:noFill/>
        </p:spPr>
        <p:txBody>
          <a:bodyPr vert="horz" wrap="square" lIns="0" tIns="0" rIns="0" bIns="0" rtlCol="0" anchor="t">
            <a:noAutofit/>
          </a:bodyPr>
          <a:lstStyle/>
          <a:p>
            <a:pPr algn="ctr"/>
            <a:r>
              <a:rPr lang="en-IL" sz="2600">
                <a:solidFill>
                  <a:srgbClr val="15283B"/>
                </a:solidFill>
                <a:latin typeface="Cambria Math" panose="02040503050406030204" pitchFamily="18" charset="0"/>
              </a:rPr>
              <a:t>0</a:t>
            </a:r>
          </a:p>
        </p:txBody>
      </p:sp>
      <p:sp>
        <p:nvSpPr>
          <p:cNvPr id="18" name="text_17">
            <a:extLst>
              <a:ext uri="{FF2B5EF4-FFF2-40B4-BE49-F238E27FC236}">
                <a16:creationId xmlns:a16="http://schemas.microsoft.com/office/drawing/2014/main" id="{AC59782A-E267-9937-EF5F-37A60FAF0103}"/>
              </a:ext>
            </a:extLst>
          </p:cNvPr>
          <p:cNvSpPr txBox="1"/>
          <p:nvPr/>
        </p:nvSpPr>
        <p:spPr>
          <a:xfrm>
            <a:off x="5092700" y="3644899"/>
            <a:ext cx="1422400" cy="450850"/>
          </a:xfrm>
          <a:prstGeom prst="rect">
            <a:avLst/>
          </a:prstGeom>
          <a:noFill/>
        </p:spPr>
        <p:txBody>
          <a:bodyPr vert="horz" wrap="square" lIns="0" tIns="0" rIns="0" bIns="0" rtlCol="0" anchor="t">
            <a:noAutofit/>
          </a:bodyPr>
          <a:lstStyle/>
          <a:p>
            <a:pPr algn="ctr"/>
            <a:r>
              <a:rPr lang="en-IL" sz="2600">
                <a:solidFill>
                  <a:srgbClr val="15283B"/>
                </a:solidFill>
                <a:latin typeface="Cambria Math" panose="02040503050406030204" pitchFamily="18" charset="0"/>
              </a:rPr>
              <a:t>x</a:t>
            </a:r>
          </a:p>
        </p:txBody>
      </p:sp>
      <p:sp>
        <p:nvSpPr>
          <p:cNvPr id="19" name="text_18">
            <a:extLst>
              <a:ext uri="{FF2B5EF4-FFF2-40B4-BE49-F238E27FC236}">
                <a16:creationId xmlns:a16="http://schemas.microsoft.com/office/drawing/2014/main" id="{292F753B-F0A8-17A1-010A-0515337BAC89}"/>
              </a:ext>
            </a:extLst>
          </p:cNvPr>
          <p:cNvSpPr txBox="1"/>
          <p:nvPr/>
        </p:nvSpPr>
        <p:spPr>
          <a:xfrm>
            <a:off x="825500" y="4146549"/>
            <a:ext cx="1422400" cy="450850"/>
          </a:xfrm>
          <a:prstGeom prst="rect">
            <a:avLst/>
          </a:prstGeom>
          <a:noFill/>
        </p:spPr>
        <p:txBody>
          <a:bodyPr vert="horz" wrap="square" lIns="0" tIns="0" rIns="0" bIns="0" rtlCol="0" anchor="t">
            <a:noAutofit/>
          </a:bodyPr>
          <a:lstStyle/>
          <a:p>
            <a:pPr algn="ctr"/>
            <a:r>
              <a:rPr lang="en-IL" sz="2600">
                <a:solidFill>
                  <a:srgbClr val="15283B"/>
                </a:solidFill>
                <a:latin typeface="Cambria Math" panose="02040503050406030204" pitchFamily="18" charset="0"/>
              </a:rPr>
              <a:t>sin </a:t>
            </a:r>
            <a:r>
              <a:rPr lang="el-GR" sz="2600">
                <a:solidFill>
                  <a:srgbClr val="15283B"/>
                </a:solidFill>
                <a:latin typeface="Cambria Math" panose="02040503050406030204" pitchFamily="18" charset="0"/>
              </a:rPr>
              <a:t>α</a:t>
            </a:r>
            <a:endParaRPr lang="en-IL" sz="2600">
              <a:solidFill>
                <a:srgbClr val="15283B"/>
              </a:solidFill>
              <a:latin typeface="Cambria Math" panose="02040503050406030204" pitchFamily="18" charset="0"/>
            </a:endParaRPr>
          </a:p>
        </p:txBody>
      </p:sp>
      <p:sp>
        <p:nvSpPr>
          <p:cNvPr id="20" name="text_19">
            <a:extLst>
              <a:ext uri="{FF2B5EF4-FFF2-40B4-BE49-F238E27FC236}">
                <a16:creationId xmlns:a16="http://schemas.microsoft.com/office/drawing/2014/main" id="{9AD5B810-458C-F7EB-C694-33438FFEB2DD}"/>
              </a:ext>
            </a:extLst>
          </p:cNvPr>
          <p:cNvSpPr txBox="1"/>
          <p:nvPr/>
        </p:nvSpPr>
        <p:spPr>
          <a:xfrm>
            <a:off x="2247900" y="4146549"/>
            <a:ext cx="1422400" cy="450850"/>
          </a:xfrm>
          <a:prstGeom prst="rect">
            <a:avLst/>
          </a:prstGeom>
          <a:noFill/>
        </p:spPr>
        <p:txBody>
          <a:bodyPr vert="horz" wrap="square" lIns="0" tIns="0" rIns="0" bIns="0" rtlCol="0" anchor="t">
            <a:noAutofit/>
          </a:bodyPr>
          <a:lstStyle/>
          <a:p>
            <a:pPr algn="ctr"/>
            <a:r>
              <a:rPr lang="en-IL" sz="2600">
                <a:solidFill>
                  <a:srgbClr val="15283B"/>
                </a:solidFill>
                <a:latin typeface="Cambria Math" panose="02040503050406030204" pitchFamily="18" charset="0"/>
              </a:rPr>
              <a:t>cos </a:t>
            </a:r>
            <a:r>
              <a:rPr lang="el-GR" sz="2600">
                <a:solidFill>
                  <a:srgbClr val="15283B"/>
                </a:solidFill>
                <a:latin typeface="Cambria Math" panose="02040503050406030204" pitchFamily="18" charset="0"/>
              </a:rPr>
              <a:t>α</a:t>
            </a:r>
            <a:endParaRPr lang="en-IL" sz="2600">
              <a:solidFill>
                <a:srgbClr val="15283B"/>
              </a:solidFill>
              <a:latin typeface="Cambria Math" panose="02040503050406030204" pitchFamily="18" charset="0"/>
            </a:endParaRPr>
          </a:p>
        </p:txBody>
      </p:sp>
      <p:sp>
        <p:nvSpPr>
          <p:cNvPr id="21" name="text_20">
            <a:extLst>
              <a:ext uri="{FF2B5EF4-FFF2-40B4-BE49-F238E27FC236}">
                <a16:creationId xmlns:a16="http://schemas.microsoft.com/office/drawing/2014/main" id="{2823997A-8239-734F-1AA4-31E4193C9D53}"/>
              </a:ext>
            </a:extLst>
          </p:cNvPr>
          <p:cNvSpPr txBox="1"/>
          <p:nvPr/>
        </p:nvSpPr>
        <p:spPr>
          <a:xfrm>
            <a:off x="3670300" y="4146549"/>
            <a:ext cx="1422400" cy="450850"/>
          </a:xfrm>
          <a:prstGeom prst="rect">
            <a:avLst/>
          </a:prstGeom>
          <a:noFill/>
        </p:spPr>
        <p:txBody>
          <a:bodyPr vert="horz" wrap="square" lIns="0" tIns="0" rIns="0" bIns="0" rtlCol="0" anchor="t">
            <a:noAutofit/>
          </a:bodyPr>
          <a:lstStyle/>
          <a:p>
            <a:pPr algn="ctr"/>
            <a:r>
              <a:rPr lang="en-IL" sz="2600">
                <a:solidFill>
                  <a:srgbClr val="15283B"/>
                </a:solidFill>
                <a:latin typeface="Cambria Math" panose="02040503050406030204" pitchFamily="18" charset="0"/>
              </a:rPr>
              <a:t>0</a:t>
            </a:r>
          </a:p>
        </p:txBody>
      </p:sp>
      <p:sp>
        <p:nvSpPr>
          <p:cNvPr id="22" name="text_21">
            <a:extLst>
              <a:ext uri="{FF2B5EF4-FFF2-40B4-BE49-F238E27FC236}">
                <a16:creationId xmlns:a16="http://schemas.microsoft.com/office/drawing/2014/main" id="{B7D6B4CD-55D7-4AA6-5E45-F18B63F1C865}"/>
              </a:ext>
            </a:extLst>
          </p:cNvPr>
          <p:cNvSpPr txBox="1"/>
          <p:nvPr/>
        </p:nvSpPr>
        <p:spPr>
          <a:xfrm>
            <a:off x="5092700" y="4146549"/>
            <a:ext cx="1422400" cy="450850"/>
          </a:xfrm>
          <a:prstGeom prst="rect">
            <a:avLst/>
          </a:prstGeom>
          <a:noFill/>
        </p:spPr>
        <p:txBody>
          <a:bodyPr vert="horz" wrap="square" lIns="0" tIns="0" rIns="0" bIns="0" rtlCol="0" anchor="t">
            <a:noAutofit/>
          </a:bodyPr>
          <a:lstStyle/>
          <a:p>
            <a:pPr algn="ctr"/>
            <a:r>
              <a:rPr lang="en-IL" sz="2600">
                <a:solidFill>
                  <a:srgbClr val="15283B"/>
                </a:solidFill>
                <a:latin typeface="Cambria Math" panose="02040503050406030204" pitchFamily="18" charset="0"/>
              </a:rPr>
              <a:t>y</a:t>
            </a:r>
          </a:p>
        </p:txBody>
      </p:sp>
      <p:sp>
        <p:nvSpPr>
          <p:cNvPr id="23" name="text_22">
            <a:extLst>
              <a:ext uri="{FF2B5EF4-FFF2-40B4-BE49-F238E27FC236}">
                <a16:creationId xmlns:a16="http://schemas.microsoft.com/office/drawing/2014/main" id="{2CA196A3-0642-C29D-B556-69EAAB5F6D6D}"/>
              </a:ext>
            </a:extLst>
          </p:cNvPr>
          <p:cNvSpPr txBox="1"/>
          <p:nvPr/>
        </p:nvSpPr>
        <p:spPr>
          <a:xfrm>
            <a:off x="825500" y="4648199"/>
            <a:ext cx="1422400" cy="450850"/>
          </a:xfrm>
          <a:prstGeom prst="rect">
            <a:avLst/>
          </a:prstGeom>
          <a:noFill/>
        </p:spPr>
        <p:txBody>
          <a:bodyPr vert="horz" wrap="square" lIns="0" tIns="0" rIns="0" bIns="0" rtlCol="0" anchor="t">
            <a:noAutofit/>
          </a:bodyPr>
          <a:lstStyle/>
          <a:p>
            <a:pPr algn="ctr"/>
            <a:r>
              <a:rPr lang="en-IL" sz="2600">
                <a:solidFill>
                  <a:srgbClr val="15283B"/>
                </a:solidFill>
                <a:latin typeface="Cambria Math" panose="02040503050406030204" pitchFamily="18" charset="0"/>
              </a:rPr>
              <a:t>0</a:t>
            </a:r>
          </a:p>
        </p:txBody>
      </p:sp>
      <p:sp>
        <p:nvSpPr>
          <p:cNvPr id="24" name="text_23">
            <a:extLst>
              <a:ext uri="{FF2B5EF4-FFF2-40B4-BE49-F238E27FC236}">
                <a16:creationId xmlns:a16="http://schemas.microsoft.com/office/drawing/2014/main" id="{35B9FC80-DDD7-B24D-115B-F281F677BE78}"/>
              </a:ext>
            </a:extLst>
          </p:cNvPr>
          <p:cNvSpPr txBox="1"/>
          <p:nvPr/>
        </p:nvSpPr>
        <p:spPr>
          <a:xfrm>
            <a:off x="2247900" y="4648199"/>
            <a:ext cx="1422400" cy="450850"/>
          </a:xfrm>
          <a:prstGeom prst="rect">
            <a:avLst/>
          </a:prstGeom>
          <a:noFill/>
        </p:spPr>
        <p:txBody>
          <a:bodyPr vert="horz" wrap="square" lIns="0" tIns="0" rIns="0" bIns="0" rtlCol="0" anchor="t">
            <a:noAutofit/>
          </a:bodyPr>
          <a:lstStyle/>
          <a:p>
            <a:pPr algn="ctr"/>
            <a:r>
              <a:rPr lang="en-IL" sz="2600">
                <a:solidFill>
                  <a:srgbClr val="15283B"/>
                </a:solidFill>
                <a:latin typeface="Cambria Math" panose="02040503050406030204" pitchFamily="18" charset="0"/>
              </a:rPr>
              <a:t>0</a:t>
            </a:r>
          </a:p>
        </p:txBody>
      </p:sp>
      <p:sp>
        <p:nvSpPr>
          <p:cNvPr id="25" name="text_24">
            <a:extLst>
              <a:ext uri="{FF2B5EF4-FFF2-40B4-BE49-F238E27FC236}">
                <a16:creationId xmlns:a16="http://schemas.microsoft.com/office/drawing/2014/main" id="{3962AC2A-BEA0-2C35-55A6-ECA93C5914DD}"/>
              </a:ext>
            </a:extLst>
          </p:cNvPr>
          <p:cNvSpPr txBox="1"/>
          <p:nvPr/>
        </p:nvSpPr>
        <p:spPr>
          <a:xfrm>
            <a:off x="3670300" y="4648199"/>
            <a:ext cx="1422400" cy="450850"/>
          </a:xfrm>
          <a:prstGeom prst="rect">
            <a:avLst/>
          </a:prstGeom>
          <a:noFill/>
        </p:spPr>
        <p:txBody>
          <a:bodyPr vert="horz" wrap="square" lIns="0" tIns="0" rIns="0" bIns="0" rtlCol="0" anchor="t">
            <a:noAutofit/>
          </a:bodyPr>
          <a:lstStyle/>
          <a:p>
            <a:pPr algn="ctr"/>
            <a:r>
              <a:rPr lang="en-IL" sz="2600">
                <a:solidFill>
                  <a:srgbClr val="15283B"/>
                </a:solidFill>
                <a:latin typeface="Cambria Math" panose="02040503050406030204" pitchFamily="18" charset="0"/>
              </a:rPr>
              <a:t>1</a:t>
            </a:r>
          </a:p>
        </p:txBody>
      </p:sp>
      <p:sp>
        <p:nvSpPr>
          <p:cNvPr id="26" name="text_25">
            <a:extLst>
              <a:ext uri="{FF2B5EF4-FFF2-40B4-BE49-F238E27FC236}">
                <a16:creationId xmlns:a16="http://schemas.microsoft.com/office/drawing/2014/main" id="{49B24BCF-F660-0CF9-FB03-D98CF38A7A9C}"/>
              </a:ext>
            </a:extLst>
          </p:cNvPr>
          <p:cNvSpPr txBox="1"/>
          <p:nvPr/>
        </p:nvSpPr>
        <p:spPr>
          <a:xfrm>
            <a:off x="5092700" y="4648199"/>
            <a:ext cx="1422400" cy="450850"/>
          </a:xfrm>
          <a:prstGeom prst="rect">
            <a:avLst/>
          </a:prstGeom>
          <a:noFill/>
        </p:spPr>
        <p:txBody>
          <a:bodyPr vert="horz" wrap="square" lIns="0" tIns="0" rIns="0" bIns="0" rtlCol="0" anchor="t">
            <a:noAutofit/>
          </a:bodyPr>
          <a:lstStyle/>
          <a:p>
            <a:pPr algn="ctr"/>
            <a:r>
              <a:rPr lang="en-IL" sz="2600">
                <a:solidFill>
                  <a:srgbClr val="15283B"/>
                </a:solidFill>
                <a:latin typeface="Cambria Math" panose="02040503050406030204" pitchFamily="18" charset="0"/>
              </a:rPr>
              <a:t>0</a:t>
            </a:r>
          </a:p>
        </p:txBody>
      </p:sp>
      <p:sp>
        <p:nvSpPr>
          <p:cNvPr id="27" name="text_26">
            <a:extLst>
              <a:ext uri="{FF2B5EF4-FFF2-40B4-BE49-F238E27FC236}">
                <a16:creationId xmlns:a16="http://schemas.microsoft.com/office/drawing/2014/main" id="{69BF7956-27D7-B0D0-CF0C-48291DE9E8DC}"/>
              </a:ext>
            </a:extLst>
          </p:cNvPr>
          <p:cNvSpPr txBox="1"/>
          <p:nvPr/>
        </p:nvSpPr>
        <p:spPr>
          <a:xfrm>
            <a:off x="825500" y="5149849"/>
            <a:ext cx="1422400" cy="450850"/>
          </a:xfrm>
          <a:prstGeom prst="rect">
            <a:avLst/>
          </a:prstGeom>
          <a:noFill/>
        </p:spPr>
        <p:txBody>
          <a:bodyPr vert="horz" wrap="square" lIns="0" tIns="0" rIns="0" bIns="0" rtlCol="0" anchor="t">
            <a:noAutofit/>
          </a:bodyPr>
          <a:lstStyle/>
          <a:p>
            <a:pPr algn="ctr"/>
            <a:r>
              <a:rPr lang="en-IL" sz="2600">
                <a:solidFill>
                  <a:srgbClr val="15283B"/>
                </a:solidFill>
                <a:latin typeface="Cambria Math" panose="02040503050406030204" pitchFamily="18" charset="0"/>
              </a:rPr>
              <a:t>0</a:t>
            </a:r>
          </a:p>
        </p:txBody>
      </p:sp>
      <p:sp>
        <p:nvSpPr>
          <p:cNvPr id="28" name="text_27">
            <a:extLst>
              <a:ext uri="{FF2B5EF4-FFF2-40B4-BE49-F238E27FC236}">
                <a16:creationId xmlns:a16="http://schemas.microsoft.com/office/drawing/2014/main" id="{C7631B4F-FD6F-CC62-6F1E-6B437735A82E}"/>
              </a:ext>
            </a:extLst>
          </p:cNvPr>
          <p:cNvSpPr txBox="1"/>
          <p:nvPr/>
        </p:nvSpPr>
        <p:spPr>
          <a:xfrm>
            <a:off x="2247900" y="5149849"/>
            <a:ext cx="1422400" cy="450850"/>
          </a:xfrm>
          <a:prstGeom prst="rect">
            <a:avLst/>
          </a:prstGeom>
          <a:noFill/>
        </p:spPr>
        <p:txBody>
          <a:bodyPr vert="horz" wrap="square" lIns="0" tIns="0" rIns="0" bIns="0" rtlCol="0" anchor="t">
            <a:noAutofit/>
          </a:bodyPr>
          <a:lstStyle/>
          <a:p>
            <a:pPr algn="ctr"/>
            <a:r>
              <a:rPr lang="en-IL" sz="2600">
                <a:solidFill>
                  <a:srgbClr val="15283B"/>
                </a:solidFill>
                <a:latin typeface="Cambria Math" panose="02040503050406030204" pitchFamily="18" charset="0"/>
              </a:rPr>
              <a:t>0</a:t>
            </a:r>
          </a:p>
        </p:txBody>
      </p:sp>
      <p:sp>
        <p:nvSpPr>
          <p:cNvPr id="29" name="text_28">
            <a:extLst>
              <a:ext uri="{FF2B5EF4-FFF2-40B4-BE49-F238E27FC236}">
                <a16:creationId xmlns:a16="http://schemas.microsoft.com/office/drawing/2014/main" id="{C167A303-402A-F1DA-167B-204B9255991F}"/>
              </a:ext>
            </a:extLst>
          </p:cNvPr>
          <p:cNvSpPr txBox="1"/>
          <p:nvPr/>
        </p:nvSpPr>
        <p:spPr>
          <a:xfrm>
            <a:off x="3670300" y="5149849"/>
            <a:ext cx="1422400" cy="450850"/>
          </a:xfrm>
          <a:prstGeom prst="rect">
            <a:avLst/>
          </a:prstGeom>
          <a:noFill/>
        </p:spPr>
        <p:txBody>
          <a:bodyPr vert="horz" wrap="square" lIns="0" tIns="0" rIns="0" bIns="0" rtlCol="0" anchor="t">
            <a:noAutofit/>
          </a:bodyPr>
          <a:lstStyle/>
          <a:p>
            <a:pPr algn="ctr"/>
            <a:r>
              <a:rPr lang="en-IL" sz="2600">
                <a:solidFill>
                  <a:srgbClr val="15283B"/>
                </a:solidFill>
                <a:latin typeface="Cambria Math" panose="02040503050406030204" pitchFamily="18" charset="0"/>
              </a:rPr>
              <a:t>0</a:t>
            </a:r>
          </a:p>
        </p:txBody>
      </p:sp>
      <p:sp>
        <p:nvSpPr>
          <p:cNvPr id="30" name="text_29">
            <a:extLst>
              <a:ext uri="{FF2B5EF4-FFF2-40B4-BE49-F238E27FC236}">
                <a16:creationId xmlns:a16="http://schemas.microsoft.com/office/drawing/2014/main" id="{AECEF2A0-EA51-71F4-1781-6500B45C3A67}"/>
              </a:ext>
            </a:extLst>
          </p:cNvPr>
          <p:cNvSpPr txBox="1"/>
          <p:nvPr/>
        </p:nvSpPr>
        <p:spPr>
          <a:xfrm>
            <a:off x="5092700" y="5149849"/>
            <a:ext cx="1422400" cy="450850"/>
          </a:xfrm>
          <a:prstGeom prst="rect">
            <a:avLst/>
          </a:prstGeom>
          <a:noFill/>
        </p:spPr>
        <p:txBody>
          <a:bodyPr vert="horz" wrap="square" lIns="0" tIns="0" rIns="0" bIns="0" rtlCol="0" anchor="t">
            <a:noAutofit/>
          </a:bodyPr>
          <a:lstStyle/>
          <a:p>
            <a:pPr algn="ctr"/>
            <a:r>
              <a:rPr lang="en-IL" sz="2600">
                <a:solidFill>
                  <a:srgbClr val="15283B"/>
                </a:solidFill>
                <a:latin typeface="Cambria Math" panose="02040503050406030204" pitchFamily="18" charset="0"/>
              </a:rPr>
              <a:t>1</a:t>
            </a:r>
          </a:p>
        </p:txBody>
      </p:sp>
      <p:sp>
        <p:nvSpPr>
          <p:cNvPr id="31" name="text_30">
            <a:extLst>
              <a:ext uri="{FF2B5EF4-FFF2-40B4-BE49-F238E27FC236}">
                <a16:creationId xmlns:a16="http://schemas.microsoft.com/office/drawing/2014/main" id="{93D2B50F-310A-DBFA-0752-B3E720449D78}"/>
              </a:ext>
            </a:extLst>
          </p:cNvPr>
          <p:cNvSpPr txBox="1"/>
          <p:nvPr/>
        </p:nvSpPr>
        <p:spPr>
          <a:xfrm>
            <a:off x="7480300" y="3467099"/>
            <a:ext cx="4025900" cy="1079500"/>
          </a:xfrm>
          <a:prstGeom prst="rect">
            <a:avLst/>
          </a:prstGeom>
          <a:noFill/>
        </p:spPr>
        <p:txBody>
          <a:bodyPr vert="horz" wrap="square" lIns="0" tIns="0" rIns="0" bIns="0" rtlCol="0" anchor="t">
            <a:noAutofit/>
          </a:bodyPr>
          <a:lstStyle/>
          <a:p>
            <a:r>
              <a:rPr lang="en-US" sz="2500">
                <a:solidFill>
                  <a:srgbClr val="15283B"/>
                </a:solidFill>
                <a:latin typeface="Aptos" panose="020B0004020202020204" pitchFamily="34" charset="0"/>
              </a:rPr>
              <a:t>R: rotation (3×3)
t: origin offset (3×1)</a:t>
            </a:r>
            <a:endParaRPr lang="en-IL" sz="2500">
              <a:solidFill>
                <a:srgbClr val="15283B"/>
              </a:solidFill>
              <a:latin typeface="Aptos" panose="020B0004020202020204" pitchFamily="34" charset="0"/>
            </a:endParaRPr>
          </a:p>
        </p:txBody>
      </p:sp>
      <p:sp>
        <p:nvSpPr>
          <p:cNvPr id="32" name="text_31">
            <a:extLst>
              <a:ext uri="{FF2B5EF4-FFF2-40B4-BE49-F238E27FC236}">
                <a16:creationId xmlns:a16="http://schemas.microsoft.com/office/drawing/2014/main" id="{77B99A04-EBF7-48C7-E3D3-F0D070546F53}"/>
              </a:ext>
            </a:extLst>
          </p:cNvPr>
          <p:cNvSpPr txBox="1"/>
          <p:nvPr/>
        </p:nvSpPr>
        <p:spPr>
          <a:xfrm>
            <a:off x="7480300" y="4749799"/>
            <a:ext cx="4025900" cy="698500"/>
          </a:xfrm>
          <a:prstGeom prst="rect">
            <a:avLst/>
          </a:prstGeom>
          <a:noFill/>
        </p:spPr>
        <p:txBody>
          <a:bodyPr vert="horz" wrap="square" lIns="0" tIns="0" rIns="0" bIns="0" rtlCol="0" anchor="t">
            <a:noAutofit/>
          </a:bodyPr>
          <a:lstStyle/>
          <a:p>
            <a:r>
              <a:rPr lang="en-IL" sz="2900">
                <a:solidFill>
                  <a:srgbClr val="137F79"/>
                </a:solidFill>
                <a:latin typeface="Cambria Math" panose="02040503050406030204" pitchFamily="18" charset="0"/>
              </a:rPr>
              <a:t>T = [R  t; 0  1]</a:t>
            </a:r>
          </a:p>
        </p:txBody>
      </p:sp>
      <p:sp>
        <p:nvSpPr>
          <p:cNvPr id="33" name="text_32">
            <a:extLst>
              <a:ext uri="{FF2B5EF4-FFF2-40B4-BE49-F238E27FC236}">
                <a16:creationId xmlns:a16="http://schemas.microsoft.com/office/drawing/2014/main" id="{A0E708EB-F031-0C65-8742-9CA90240E876}"/>
              </a:ext>
            </a:extLst>
          </p:cNvPr>
          <p:cNvSpPr txBox="1"/>
          <p:nvPr/>
        </p:nvSpPr>
        <p:spPr>
          <a:xfrm>
            <a:off x="685800" y="5765799"/>
            <a:ext cx="5969000" cy="469900"/>
          </a:xfrm>
          <a:prstGeom prst="rect">
            <a:avLst/>
          </a:prstGeom>
          <a:noFill/>
        </p:spPr>
        <p:txBody>
          <a:bodyPr vert="horz" wrap="square" lIns="0" tIns="0" rIns="0" bIns="0" rtlCol="0" anchor="t">
            <a:noAutofit/>
          </a:bodyPr>
          <a:lstStyle/>
          <a:p>
            <a:r>
              <a:rPr lang="el-GR" sz="2600">
                <a:solidFill>
                  <a:srgbClr val="526477"/>
                </a:solidFill>
                <a:latin typeface="Cambria Math" panose="02040503050406030204" pitchFamily="18" charset="0"/>
              </a:rPr>
              <a:t>α = </a:t>
            </a:r>
            <a:r>
              <a:rPr lang="en-IL" sz="2600">
                <a:solidFill>
                  <a:srgbClr val="526477"/>
                </a:solidFill>
                <a:latin typeface="Cambria Math" panose="02040503050406030204" pitchFamily="18" charset="0"/>
              </a:rPr>
              <a:t>q</a:t>
            </a:r>
            <a:r>
              <a:rPr lang="en-IL" sz="1872" baseline="-22000">
                <a:solidFill>
                  <a:srgbClr val="526477"/>
                </a:solidFill>
                <a:latin typeface="Cambria Math" panose="02040503050406030204" pitchFamily="18" charset="0"/>
              </a:rPr>
              <a:t>1</a:t>
            </a:r>
            <a:r>
              <a:rPr lang="en-IL" sz="2600">
                <a:solidFill>
                  <a:srgbClr val="526477"/>
                </a:solidFill>
                <a:latin typeface="Cambria Math" panose="02040503050406030204" pitchFamily="18" charset="0"/>
              </a:rPr>
              <a:t> + q</a:t>
            </a:r>
            <a:r>
              <a:rPr lang="en-IL" sz="1872" baseline="-22000">
                <a:solidFill>
                  <a:srgbClr val="526477"/>
                </a:solidFill>
                <a:latin typeface="Cambria Math" panose="02040503050406030204" pitchFamily="18" charset="0"/>
              </a:rPr>
              <a:t>2</a:t>
            </a:r>
          </a:p>
        </p:txBody>
      </p:sp>
    </p:spTree>
    <p:extLst>
      <p:ext uri="{BB962C8B-B14F-4D97-AF65-F5344CB8AC3E}">
        <p14:creationId xmlns:p14="http://schemas.microsoft.com/office/powerpoint/2010/main" val="10723409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C7807AFE-C15E-9E21-0142-50675F107855}"/>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527D7B34-FA54-570C-E353-885EB41D4B4C}"/>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Derive the inverse kinematics</a:t>
            </a:r>
          </a:p>
        </p:txBody>
      </p:sp>
      <p:sp>
        <p:nvSpPr>
          <p:cNvPr id="4" name="text_3">
            <a:extLst>
              <a:ext uri="{FF2B5EF4-FFF2-40B4-BE49-F238E27FC236}">
                <a16:creationId xmlns:a16="http://schemas.microsoft.com/office/drawing/2014/main" id="{7D6A3F42-6713-B291-B58A-9D4488FBC989}"/>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Cosine rule determines the elbow; atan2 determines the shoulder.</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2AD4FE2D-330E-FD41-AC09-37E0BD306206}"/>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EB0E97D8-C683-16D5-34DC-6790316809A3}"/>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IL" sz="1600">
                <a:solidFill>
                  <a:srgbClr val="526477"/>
                </a:solidFill>
                <a:latin typeface="Aptos" panose="020B0004020202020204" pitchFamily="34" charset="0"/>
              </a:rPr>
              <a:t>Robotics &amp; Autonomous Systems · ROS 2 Jazzy / Gazebo Harmonic</a:t>
            </a:r>
          </a:p>
        </p:txBody>
      </p:sp>
      <p:sp>
        <p:nvSpPr>
          <p:cNvPr id="7" name="text_6">
            <a:extLst>
              <a:ext uri="{FF2B5EF4-FFF2-40B4-BE49-F238E27FC236}">
                <a16:creationId xmlns:a16="http://schemas.microsoft.com/office/drawing/2014/main" id="{1BF0846D-A588-B802-EB48-A065E2B6812D}"/>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16</a:t>
            </a:r>
          </a:p>
        </p:txBody>
      </p:sp>
      <p:sp>
        <p:nvSpPr>
          <p:cNvPr id="8" name="text_7">
            <a:extLst>
              <a:ext uri="{FF2B5EF4-FFF2-40B4-BE49-F238E27FC236}">
                <a16:creationId xmlns:a16="http://schemas.microsoft.com/office/drawing/2014/main" id="{437F2355-FAA1-A4BB-613B-2F81BD8448A7}"/>
              </a:ext>
            </a:extLst>
          </p:cNvPr>
          <p:cNvSpPr txBox="1"/>
          <p:nvPr/>
        </p:nvSpPr>
        <p:spPr>
          <a:xfrm>
            <a:off x="685800" y="2666999"/>
            <a:ext cx="10820400" cy="609600"/>
          </a:xfrm>
          <a:prstGeom prst="rect">
            <a:avLst/>
          </a:prstGeom>
          <a:noFill/>
        </p:spPr>
        <p:txBody>
          <a:bodyPr vert="horz" wrap="square" lIns="0" tIns="0" rIns="0" bIns="0" rtlCol="0" anchor="t">
            <a:noAutofit/>
          </a:bodyPr>
          <a:lstStyle/>
          <a:p>
            <a:r>
              <a:rPr lang="es-ES" sz="3200">
                <a:solidFill>
                  <a:srgbClr val="2459D3"/>
                </a:solidFill>
                <a:latin typeface="Cambria Math" panose="02040503050406030204" pitchFamily="18" charset="0"/>
              </a:rPr>
              <a:t>x²+y² = L</a:t>
            </a:r>
            <a:r>
              <a:rPr lang="es-ES" sz="2304" baseline="-22000">
                <a:solidFill>
                  <a:srgbClr val="2459D3"/>
                </a:solidFill>
                <a:latin typeface="Cambria Math" panose="02040503050406030204" pitchFamily="18" charset="0"/>
              </a:rPr>
              <a:t>1</a:t>
            </a:r>
            <a:r>
              <a:rPr lang="es-ES" sz="3200">
                <a:solidFill>
                  <a:srgbClr val="2459D3"/>
                </a:solidFill>
                <a:latin typeface="Cambria Math" panose="02040503050406030204" pitchFamily="18" charset="0"/>
              </a:rPr>
              <a:t>²+L</a:t>
            </a:r>
            <a:r>
              <a:rPr lang="es-ES" sz="2304" baseline="-22000">
                <a:solidFill>
                  <a:srgbClr val="2459D3"/>
                </a:solidFill>
                <a:latin typeface="Cambria Math" panose="02040503050406030204" pitchFamily="18" charset="0"/>
              </a:rPr>
              <a:t>2</a:t>
            </a:r>
            <a:r>
              <a:rPr lang="es-ES" sz="3200">
                <a:solidFill>
                  <a:srgbClr val="2459D3"/>
                </a:solidFill>
                <a:latin typeface="Cambria Math" panose="02040503050406030204" pitchFamily="18" charset="0"/>
              </a:rPr>
              <a:t>²+2L</a:t>
            </a:r>
            <a:r>
              <a:rPr lang="es-ES" sz="2304" baseline="-22000">
                <a:solidFill>
                  <a:srgbClr val="2459D3"/>
                </a:solidFill>
                <a:latin typeface="Cambria Math" panose="02040503050406030204" pitchFamily="18" charset="0"/>
              </a:rPr>
              <a:t>1</a:t>
            </a:r>
            <a:r>
              <a:rPr lang="es-ES" sz="3200">
                <a:solidFill>
                  <a:srgbClr val="2459D3"/>
                </a:solidFill>
                <a:latin typeface="Cambria Math" panose="02040503050406030204" pitchFamily="18" charset="0"/>
              </a:rPr>
              <a:t>L</a:t>
            </a:r>
            <a:r>
              <a:rPr lang="es-ES" sz="2304" baseline="-22000">
                <a:solidFill>
                  <a:srgbClr val="2459D3"/>
                </a:solidFill>
                <a:latin typeface="Cambria Math" panose="02040503050406030204" pitchFamily="18" charset="0"/>
              </a:rPr>
              <a:t>2</a:t>
            </a:r>
            <a:r>
              <a:rPr lang="es-ES" sz="3200">
                <a:solidFill>
                  <a:srgbClr val="2459D3"/>
                </a:solidFill>
                <a:latin typeface="Cambria Math" panose="02040503050406030204" pitchFamily="18" charset="0"/>
              </a:rPr>
              <a:t> cos(q</a:t>
            </a:r>
            <a:r>
              <a:rPr lang="es-ES" sz="2304" baseline="-22000">
                <a:solidFill>
                  <a:srgbClr val="2459D3"/>
                </a:solidFill>
                <a:latin typeface="Cambria Math" panose="02040503050406030204" pitchFamily="18" charset="0"/>
              </a:rPr>
              <a:t>2</a:t>
            </a:r>
            <a:r>
              <a:rPr lang="es-ES" sz="3200">
                <a:solidFill>
                  <a:srgbClr val="2459D3"/>
                </a:solidFill>
                <a:latin typeface="Cambria Math" panose="02040503050406030204" pitchFamily="18" charset="0"/>
              </a:rPr>
              <a:t>)</a:t>
            </a:r>
            <a:endParaRPr lang="en-IL" sz="3200">
              <a:solidFill>
                <a:srgbClr val="2459D3"/>
              </a:solidFill>
              <a:latin typeface="Cambria Math" panose="02040503050406030204" pitchFamily="18" charset="0"/>
            </a:endParaRPr>
          </a:p>
        </p:txBody>
      </p:sp>
      <p:sp>
        <p:nvSpPr>
          <p:cNvPr id="9" name="text_8">
            <a:extLst>
              <a:ext uri="{FF2B5EF4-FFF2-40B4-BE49-F238E27FC236}">
                <a16:creationId xmlns:a16="http://schemas.microsoft.com/office/drawing/2014/main" id="{98650C46-4833-4683-7145-7E76CAB06CC6}"/>
              </a:ext>
            </a:extLst>
          </p:cNvPr>
          <p:cNvSpPr txBox="1"/>
          <p:nvPr/>
        </p:nvSpPr>
        <p:spPr>
          <a:xfrm>
            <a:off x="685800" y="3479799"/>
            <a:ext cx="10820400" cy="609600"/>
          </a:xfrm>
          <a:prstGeom prst="rect">
            <a:avLst/>
          </a:prstGeom>
          <a:noFill/>
        </p:spPr>
        <p:txBody>
          <a:bodyPr vert="horz" wrap="square" lIns="0" tIns="0" rIns="0" bIns="0" rtlCol="0" anchor="t">
            <a:noAutofit/>
          </a:bodyPr>
          <a:lstStyle/>
          <a:p>
            <a:r>
              <a:rPr lang="es-ES" sz="3000">
                <a:solidFill>
                  <a:srgbClr val="15283B"/>
                </a:solidFill>
                <a:latin typeface="Cambria Math" panose="02040503050406030204" pitchFamily="18" charset="0"/>
              </a:rPr>
              <a:t>q</a:t>
            </a:r>
            <a:r>
              <a:rPr lang="es-ES" sz="2160" baseline="-22000">
                <a:solidFill>
                  <a:srgbClr val="15283B"/>
                </a:solidFill>
                <a:latin typeface="Cambria Math" panose="02040503050406030204" pitchFamily="18" charset="0"/>
              </a:rPr>
              <a:t>2</a:t>
            </a:r>
            <a:r>
              <a:rPr lang="es-ES" sz="3000">
                <a:solidFill>
                  <a:srgbClr val="15283B"/>
                </a:solidFill>
                <a:latin typeface="Cambria Math" panose="02040503050406030204" pitchFamily="18" charset="0"/>
              </a:rPr>
              <a:t> = ±acos((x²+y²−L</a:t>
            </a:r>
            <a:r>
              <a:rPr lang="es-ES" sz="2160" baseline="-22000">
                <a:solidFill>
                  <a:srgbClr val="15283B"/>
                </a:solidFill>
                <a:latin typeface="Cambria Math" panose="02040503050406030204" pitchFamily="18" charset="0"/>
              </a:rPr>
              <a:t>1</a:t>
            </a:r>
            <a:r>
              <a:rPr lang="es-ES" sz="3000">
                <a:solidFill>
                  <a:srgbClr val="15283B"/>
                </a:solidFill>
                <a:latin typeface="Cambria Math" panose="02040503050406030204" pitchFamily="18" charset="0"/>
              </a:rPr>
              <a:t>²−L</a:t>
            </a:r>
            <a:r>
              <a:rPr lang="es-ES" sz="2160" baseline="-22000">
                <a:solidFill>
                  <a:srgbClr val="15283B"/>
                </a:solidFill>
                <a:latin typeface="Cambria Math" panose="02040503050406030204" pitchFamily="18" charset="0"/>
              </a:rPr>
              <a:t>2</a:t>
            </a:r>
            <a:r>
              <a:rPr lang="es-ES" sz="3000">
                <a:solidFill>
                  <a:srgbClr val="15283B"/>
                </a:solidFill>
                <a:latin typeface="Cambria Math" panose="02040503050406030204" pitchFamily="18" charset="0"/>
              </a:rPr>
              <a:t>²)/(2L</a:t>
            </a:r>
            <a:r>
              <a:rPr lang="es-ES" sz="2160" baseline="-22000">
                <a:solidFill>
                  <a:srgbClr val="15283B"/>
                </a:solidFill>
                <a:latin typeface="Cambria Math" panose="02040503050406030204" pitchFamily="18" charset="0"/>
              </a:rPr>
              <a:t>1</a:t>
            </a:r>
            <a:r>
              <a:rPr lang="es-ES" sz="3000">
                <a:solidFill>
                  <a:srgbClr val="15283B"/>
                </a:solidFill>
                <a:latin typeface="Cambria Math" panose="02040503050406030204" pitchFamily="18" charset="0"/>
              </a:rPr>
              <a:t>L</a:t>
            </a:r>
            <a:r>
              <a:rPr lang="es-ES" sz="2160" baseline="-22000">
                <a:solidFill>
                  <a:srgbClr val="15283B"/>
                </a:solidFill>
                <a:latin typeface="Cambria Math" panose="02040503050406030204" pitchFamily="18" charset="0"/>
              </a:rPr>
              <a:t>2</a:t>
            </a:r>
            <a:r>
              <a:rPr lang="es-ES" sz="3000">
                <a:solidFill>
                  <a:srgbClr val="15283B"/>
                </a:solidFill>
                <a:latin typeface="Cambria Math" panose="02040503050406030204" pitchFamily="18" charset="0"/>
              </a:rPr>
              <a:t>))</a:t>
            </a:r>
            <a:endParaRPr lang="en-IL" sz="3000">
              <a:solidFill>
                <a:srgbClr val="15283B"/>
              </a:solidFill>
              <a:latin typeface="Cambria Math" panose="02040503050406030204" pitchFamily="18" charset="0"/>
            </a:endParaRPr>
          </a:p>
        </p:txBody>
      </p:sp>
      <p:sp>
        <p:nvSpPr>
          <p:cNvPr id="10" name="text_9">
            <a:extLst>
              <a:ext uri="{FF2B5EF4-FFF2-40B4-BE49-F238E27FC236}">
                <a16:creationId xmlns:a16="http://schemas.microsoft.com/office/drawing/2014/main" id="{58855CE0-475B-2599-2203-9563EA1993F7}"/>
              </a:ext>
            </a:extLst>
          </p:cNvPr>
          <p:cNvSpPr txBox="1"/>
          <p:nvPr/>
        </p:nvSpPr>
        <p:spPr>
          <a:xfrm>
            <a:off x="685800" y="4279899"/>
            <a:ext cx="10820400" cy="609600"/>
          </a:xfrm>
          <a:prstGeom prst="rect">
            <a:avLst/>
          </a:prstGeom>
          <a:noFill/>
        </p:spPr>
        <p:txBody>
          <a:bodyPr vert="horz" wrap="square" lIns="0" tIns="0" rIns="0" bIns="0" rtlCol="0" anchor="t">
            <a:noAutofit/>
          </a:bodyPr>
          <a:lstStyle/>
          <a:p>
            <a:r>
              <a:rPr lang="es-ES" sz="2900">
                <a:solidFill>
                  <a:srgbClr val="15283B"/>
                </a:solidFill>
                <a:latin typeface="Cambria Math" panose="02040503050406030204" pitchFamily="18" charset="0"/>
              </a:rPr>
              <a:t>q</a:t>
            </a:r>
            <a:r>
              <a:rPr lang="es-ES" sz="2088" baseline="-22000">
                <a:solidFill>
                  <a:srgbClr val="15283B"/>
                </a:solidFill>
                <a:latin typeface="Cambria Math" panose="02040503050406030204" pitchFamily="18" charset="0"/>
              </a:rPr>
              <a:t>1</a:t>
            </a:r>
            <a:r>
              <a:rPr lang="es-ES" sz="2900">
                <a:solidFill>
                  <a:srgbClr val="15283B"/>
                </a:solidFill>
                <a:latin typeface="Cambria Math" panose="02040503050406030204" pitchFamily="18" charset="0"/>
              </a:rPr>
              <a:t> = atan2(y,x) − atan2(L</a:t>
            </a:r>
            <a:r>
              <a:rPr lang="es-ES" sz="2088" baseline="-22000">
                <a:solidFill>
                  <a:srgbClr val="15283B"/>
                </a:solidFill>
                <a:latin typeface="Cambria Math" panose="02040503050406030204" pitchFamily="18" charset="0"/>
              </a:rPr>
              <a:t>2</a:t>
            </a:r>
            <a:r>
              <a:rPr lang="es-ES" sz="2900">
                <a:solidFill>
                  <a:srgbClr val="15283B"/>
                </a:solidFill>
                <a:latin typeface="Cambria Math" panose="02040503050406030204" pitchFamily="18" charset="0"/>
              </a:rPr>
              <a:t> sin q</a:t>
            </a:r>
            <a:r>
              <a:rPr lang="es-ES" sz="2088" baseline="-22000">
                <a:solidFill>
                  <a:srgbClr val="15283B"/>
                </a:solidFill>
                <a:latin typeface="Cambria Math" panose="02040503050406030204" pitchFamily="18" charset="0"/>
              </a:rPr>
              <a:t>2</a:t>
            </a:r>
            <a:r>
              <a:rPr lang="es-ES" sz="2900">
                <a:solidFill>
                  <a:srgbClr val="15283B"/>
                </a:solidFill>
                <a:latin typeface="Cambria Math" panose="02040503050406030204" pitchFamily="18" charset="0"/>
              </a:rPr>
              <a:t>, L</a:t>
            </a:r>
            <a:r>
              <a:rPr lang="es-ES" sz="2088" baseline="-22000">
                <a:solidFill>
                  <a:srgbClr val="15283B"/>
                </a:solidFill>
                <a:latin typeface="Cambria Math" panose="02040503050406030204" pitchFamily="18" charset="0"/>
              </a:rPr>
              <a:t>1</a:t>
            </a:r>
            <a:r>
              <a:rPr lang="es-ES" sz="2900">
                <a:solidFill>
                  <a:srgbClr val="15283B"/>
                </a:solidFill>
                <a:latin typeface="Cambria Math" panose="02040503050406030204" pitchFamily="18" charset="0"/>
              </a:rPr>
              <a:t>+L</a:t>
            </a:r>
            <a:r>
              <a:rPr lang="es-ES" sz="2088" baseline="-22000">
                <a:solidFill>
                  <a:srgbClr val="15283B"/>
                </a:solidFill>
                <a:latin typeface="Cambria Math" panose="02040503050406030204" pitchFamily="18" charset="0"/>
              </a:rPr>
              <a:t>2</a:t>
            </a:r>
            <a:r>
              <a:rPr lang="es-ES" sz="2900">
                <a:solidFill>
                  <a:srgbClr val="15283B"/>
                </a:solidFill>
                <a:latin typeface="Cambria Math" panose="02040503050406030204" pitchFamily="18" charset="0"/>
              </a:rPr>
              <a:t> cos q</a:t>
            </a:r>
            <a:r>
              <a:rPr lang="es-ES" sz="2088" baseline="-22000">
                <a:solidFill>
                  <a:srgbClr val="15283B"/>
                </a:solidFill>
                <a:latin typeface="Cambria Math" panose="02040503050406030204" pitchFamily="18" charset="0"/>
              </a:rPr>
              <a:t>2</a:t>
            </a:r>
            <a:r>
              <a:rPr lang="es-ES" sz="2900">
                <a:solidFill>
                  <a:srgbClr val="15283B"/>
                </a:solidFill>
                <a:latin typeface="Cambria Math" panose="02040503050406030204" pitchFamily="18" charset="0"/>
              </a:rPr>
              <a:t>)</a:t>
            </a:r>
            <a:endParaRPr lang="en-IL" sz="2900">
              <a:solidFill>
                <a:srgbClr val="15283B"/>
              </a:solidFill>
              <a:latin typeface="Cambria Math" panose="02040503050406030204" pitchFamily="18" charset="0"/>
            </a:endParaRPr>
          </a:p>
        </p:txBody>
      </p:sp>
      <p:sp>
        <p:nvSpPr>
          <p:cNvPr id="11" name="Rectangle: Rounded Corners 10">
            <a:extLst>
              <a:ext uri="{FF2B5EF4-FFF2-40B4-BE49-F238E27FC236}">
                <a16:creationId xmlns:a16="http://schemas.microsoft.com/office/drawing/2014/main" id="{E2B731C6-3675-A1B7-D1AF-12C06182E4CE}"/>
              </a:ext>
            </a:extLst>
          </p:cNvPr>
          <p:cNvSpPr/>
          <p:nvPr/>
        </p:nvSpPr>
        <p:spPr>
          <a:xfrm>
            <a:off x="685800" y="5270500"/>
            <a:ext cx="10820400" cy="8128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9B971939-C2BE-7C23-7958-AF4A1E8EE24E}"/>
              </a:ext>
            </a:extLst>
          </p:cNvPr>
          <p:cNvSpPr txBox="1"/>
          <p:nvPr/>
        </p:nvSpPr>
        <p:spPr>
          <a:xfrm>
            <a:off x="914400" y="5460999"/>
            <a:ext cx="10363200" cy="508000"/>
          </a:xfrm>
          <a:prstGeom prst="rect">
            <a:avLst/>
          </a:prstGeom>
          <a:noFill/>
        </p:spPr>
        <p:txBody>
          <a:bodyPr vert="horz" wrap="square" lIns="0" tIns="0" rIns="0" bIns="0" rtlCol="0" anchor="t">
            <a:noAutofit/>
          </a:bodyPr>
          <a:lstStyle/>
          <a:p>
            <a:r>
              <a:rPr lang="en-IL" sz="2600" b="1">
                <a:solidFill>
                  <a:srgbClr val="137F79"/>
                </a:solidFill>
                <a:latin typeface="Aptos" panose="020B0004020202020204" pitchFamily="34" charset="0"/>
              </a:rPr>
              <a:t>(0.6,0.4): (0,1.570796) or (1.176005,−1.570796) rad</a:t>
            </a:r>
          </a:p>
        </p:txBody>
      </p:sp>
    </p:spTree>
    <p:extLst>
      <p:ext uri="{BB962C8B-B14F-4D97-AF65-F5344CB8AC3E}">
        <p14:creationId xmlns:p14="http://schemas.microsoft.com/office/powerpoint/2010/main" val="37669661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0841F32C-32C1-61C0-F2D0-E84D7E78C490}"/>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593B7BDE-146D-E761-2FDE-14E38479E9EF}"/>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Workspace and singular boundaries</a:t>
            </a:r>
          </a:p>
        </p:txBody>
      </p:sp>
      <p:sp>
        <p:nvSpPr>
          <p:cNvPr id="4" name="text_3">
            <a:extLst>
              <a:ext uri="{FF2B5EF4-FFF2-40B4-BE49-F238E27FC236}">
                <a16:creationId xmlns:a16="http://schemas.microsoft.com/office/drawing/2014/main" id="{35AD680E-2681-3CC2-D47D-0E60848777A2}"/>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Geometric reachability does not guarantee feasible motion.</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686D1633-665E-0853-CA4E-289989FFEC58}"/>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000E0D77-4BD5-7221-731E-926F1E85FE55}"/>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IL" sz="1600">
                <a:solidFill>
                  <a:srgbClr val="526477"/>
                </a:solidFill>
                <a:latin typeface="Aptos" panose="020B0004020202020204" pitchFamily="34" charset="0"/>
              </a:rPr>
              <a:t>Robotics &amp; Autonomous Systems · ROS 2 Jazzy / Gazebo Harmonic</a:t>
            </a:r>
          </a:p>
        </p:txBody>
      </p:sp>
      <p:sp>
        <p:nvSpPr>
          <p:cNvPr id="7" name="text_6">
            <a:extLst>
              <a:ext uri="{FF2B5EF4-FFF2-40B4-BE49-F238E27FC236}">
                <a16:creationId xmlns:a16="http://schemas.microsoft.com/office/drawing/2014/main" id="{9D481BBF-2700-7AFD-672E-F010A3F24F8E}"/>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17</a:t>
            </a:r>
          </a:p>
        </p:txBody>
      </p:sp>
      <p:sp>
        <p:nvSpPr>
          <p:cNvPr id="8" name="Oval 7">
            <a:extLst>
              <a:ext uri="{FF2B5EF4-FFF2-40B4-BE49-F238E27FC236}">
                <a16:creationId xmlns:a16="http://schemas.microsoft.com/office/drawing/2014/main" id="{882C9D97-72C7-6E81-1030-DE68FDF21105}"/>
              </a:ext>
            </a:extLst>
          </p:cNvPr>
          <p:cNvSpPr/>
          <p:nvPr/>
        </p:nvSpPr>
        <p:spPr>
          <a:xfrm>
            <a:off x="1155700" y="2971800"/>
            <a:ext cx="2438400" cy="2438400"/>
          </a:xfrm>
          <a:prstGeom prst="ellipse">
            <a:avLst/>
          </a:prstGeom>
          <a:solidFill>
            <a:srgbClr val="E5F3F0"/>
          </a:solidFill>
          <a:ln w="25400">
            <a:solidFill>
              <a:srgbClr val="137F7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Oval 8">
            <a:extLst>
              <a:ext uri="{FF2B5EF4-FFF2-40B4-BE49-F238E27FC236}">
                <a16:creationId xmlns:a16="http://schemas.microsoft.com/office/drawing/2014/main" id="{7AD45939-E1B3-69F5-2ACB-3CEA0113EE2F}"/>
              </a:ext>
            </a:extLst>
          </p:cNvPr>
          <p:cNvSpPr/>
          <p:nvPr/>
        </p:nvSpPr>
        <p:spPr>
          <a:xfrm>
            <a:off x="2131060" y="3947160"/>
            <a:ext cx="487680" cy="487680"/>
          </a:xfrm>
          <a:prstGeom prst="ellipse">
            <a:avLst/>
          </a:prstGeom>
          <a:solidFill>
            <a:srgbClr val="F7F9FC"/>
          </a:solidFill>
          <a:ln w="25400">
            <a:solidFill>
              <a:srgbClr val="137F7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 name="Oval 9">
            <a:extLst>
              <a:ext uri="{FF2B5EF4-FFF2-40B4-BE49-F238E27FC236}">
                <a16:creationId xmlns:a16="http://schemas.microsoft.com/office/drawing/2014/main" id="{3D98CFBE-A5A9-37B9-3E0E-3D15968311C4}"/>
              </a:ext>
            </a:extLst>
          </p:cNvPr>
          <p:cNvSpPr/>
          <p:nvPr/>
        </p:nvSpPr>
        <p:spPr>
          <a:xfrm>
            <a:off x="2324100" y="4140200"/>
            <a:ext cx="101600" cy="101600"/>
          </a:xfrm>
          <a:prstGeom prst="ellipse">
            <a:avLst/>
          </a:prstGeom>
          <a:solidFill>
            <a:srgbClr val="AE651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Oval 10">
            <a:extLst>
              <a:ext uri="{FF2B5EF4-FFF2-40B4-BE49-F238E27FC236}">
                <a16:creationId xmlns:a16="http://schemas.microsoft.com/office/drawing/2014/main" id="{B76D89F7-9522-D00D-7CD5-3E3BEB967398}"/>
              </a:ext>
            </a:extLst>
          </p:cNvPr>
          <p:cNvSpPr/>
          <p:nvPr/>
        </p:nvSpPr>
        <p:spPr>
          <a:xfrm>
            <a:off x="3749040" y="4102100"/>
            <a:ext cx="177800" cy="177800"/>
          </a:xfrm>
          <a:prstGeom prst="ellipse">
            <a:avLst/>
          </a:prstGeom>
          <a:solidFill>
            <a:srgbClr val="AE651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12" name="Straight Connector 11">
            <a:extLst>
              <a:ext uri="{FF2B5EF4-FFF2-40B4-BE49-F238E27FC236}">
                <a16:creationId xmlns:a16="http://schemas.microsoft.com/office/drawing/2014/main" id="{63E22181-0E90-C9BA-A1CD-894625888F42}"/>
              </a:ext>
            </a:extLst>
          </p:cNvPr>
          <p:cNvCxnSpPr/>
          <p:nvPr/>
        </p:nvCxnSpPr>
        <p:spPr>
          <a:xfrm>
            <a:off x="2374900" y="4191000"/>
            <a:ext cx="12192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13" name="text_12">
            <a:extLst>
              <a:ext uri="{FF2B5EF4-FFF2-40B4-BE49-F238E27FC236}">
                <a16:creationId xmlns:a16="http://schemas.microsoft.com/office/drawing/2014/main" id="{73978CDB-5AF8-8641-AE8A-0376CA6A6422}"/>
              </a:ext>
            </a:extLst>
          </p:cNvPr>
          <p:cNvSpPr txBox="1"/>
          <p:nvPr/>
        </p:nvSpPr>
        <p:spPr>
          <a:xfrm>
            <a:off x="685800" y="5562599"/>
            <a:ext cx="4038600" cy="533400"/>
          </a:xfrm>
          <a:prstGeom prst="rect">
            <a:avLst/>
          </a:prstGeom>
          <a:noFill/>
        </p:spPr>
        <p:txBody>
          <a:bodyPr vert="horz" wrap="square" lIns="0" tIns="0" rIns="0" bIns="0" rtlCol="0" anchor="t">
            <a:noAutofit/>
          </a:bodyPr>
          <a:lstStyle/>
          <a:p>
            <a:r>
              <a:rPr lang="en-IL" sz="2600" b="1">
                <a:solidFill>
                  <a:srgbClr val="137F79"/>
                </a:solidFill>
                <a:latin typeface="Aptos" panose="020B0004020202020204" pitchFamily="34" charset="0"/>
              </a:rPr>
              <a:t>0.2 ≤ radius ≤ 1.0 m</a:t>
            </a:r>
          </a:p>
        </p:txBody>
      </p:sp>
      <p:sp>
        <p:nvSpPr>
          <p:cNvPr id="14" name="text_13">
            <a:extLst>
              <a:ext uri="{FF2B5EF4-FFF2-40B4-BE49-F238E27FC236}">
                <a16:creationId xmlns:a16="http://schemas.microsoft.com/office/drawing/2014/main" id="{9DAA26F8-4705-0FE4-D33D-A3427DAD1972}"/>
              </a:ext>
            </a:extLst>
          </p:cNvPr>
          <p:cNvSpPr txBox="1"/>
          <p:nvPr/>
        </p:nvSpPr>
        <p:spPr>
          <a:xfrm>
            <a:off x="5486400" y="2984499"/>
            <a:ext cx="6019800" cy="622300"/>
          </a:xfrm>
          <a:prstGeom prst="rect">
            <a:avLst/>
          </a:prstGeom>
          <a:noFill/>
        </p:spPr>
        <p:txBody>
          <a:bodyPr vert="horz" wrap="square" lIns="0" tIns="0" rIns="0" bIns="0" rtlCol="0" anchor="t">
            <a:noAutofit/>
          </a:bodyPr>
          <a:lstStyle/>
          <a:p>
            <a:r>
              <a:rPr lang="en-IL" sz="3200">
                <a:solidFill>
                  <a:srgbClr val="2459D3"/>
                </a:solidFill>
                <a:latin typeface="Cambria Math" panose="02040503050406030204" pitchFamily="18" charset="0"/>
              </a:rPr>
              <a:t>det J = L</a:t>
            </a:r>
            <a:r>
              <a:rPr lang="en-IL" sz="2304" baseline="-22000">
                <a:solidFill>
                  <a:srgbClr val="2459D3"/>
                </a:solidFill>
                <a:latin typeface="Cambria Math" panose="02040503050406030204" pitchFamily="18" charset="0"/>
              </a:rPr>
              <a:t>1</a:t>
            </a:r>
            <a:r>
              <a:rPr lang="en-IL" sz="3200">
                <a:solidFill>
                  <a:srgbClr val="2459D3"/>
                </a:solidFill>
                <a:latin typeface="Cambria Math" panose="02040503050406030204" pitchFamily="18" charset="0"/>
              </a:rPr>
              <a:t>L</a:t>
            </a:r>
            <a:r>
              <a:rPr lang="en-IL" sz="2304" baseline="-22000">
                <a:solidFill>
                  <a:srgbClr val="2459D3"/>
                </a:solidFill>
                <a:latin typeface="Cambria Math" panose="02040503050406030204" pitchFamily="18" charset="0"/>
              </a:rPr>
              <a:t>2</a:t>
            </a:r>
            <a:r>
              <a:rPr lang="en-IL" sz="3200">
                <a:solidFill>
                  <a:srgbClr val="2459D3"/>
                </a:solidFill>
                <a:latin typeface="Cambria Math" panose="02040503050406030204" pitchFamily="18" charset="0"/>
              </a:rPr>
              <a:t> sin(q</a:t>
            </a:r>
            <a:r>
              <a:rPr lang="en-IL" sz="2304" baseline="-22000">
                <a:solidFill>
                  <a:srgbClr val="2459D3"/>
                </a:solidFill>
                <a:latin typeface="Cambria Math" panose="02040503050406030204" pitchFamily="18" charset="0"/>
              </a:rPr>
              <a:t>2</a:t>
            </a:r>
            <a:r>
              <a:rPr lang="en-IL" sz="3200">
                <a:solidFill>
                  <a:srgbClr val="2459D3"/>
                </a:solidFill>
                <a:latin typeface="Cambria Math" panose="02040503050406030204" pitchFamily="18" charset="0"/>
              </a:rPr>
              <a:t>)</a:t>
            </a:r>
          </a:p>
        </p:txBody>
      </p:sp>
      <p:sp>
        <p:nvSpPr>
          <p:cNvPr id="15" name="text_14">
            <a:extLst>
              <a:ext uri="{FF2B5EF4-FFF2-40B4-BE49-F238E27FC236}">
                <a16:creationId xmlns:a16="http://schemas.microsoft.com/office/drawing/2014/main" id="{3EC41248-C540-BA62-7259-5E2071EA9DA5}"/>
              </a:ext>
            </a:extLst>
          </p:cNvPr>
          <p:cNvSpPr txBox="1"/>
          <p:nvPr/>
        </p:nvSpPr>
        <p:spPr>
          <a:xfrm>
            <a:off x="5486400" y="4025899"/>
            <a:ext cx="6019800" cy="914400"/>
          </a:xfrm>
          <a:prstGeom prst="rect">
            <a:avLst/>
          </a:prstGeom>
          <a:noFill/>
        </p:spPr>
        <p:txBody>
          <a:bodyPr vert="horz" wrap="square" lIns="0" tIns="0" rIns="0" bIns="0" rtlCol="0" anchor="t">
            <a:noAutofit/>
          </a:bodyPr>
          <a:lstStyle/>
          <a:p>
            <a:r>
              <a:rPr lang="en-US" sz="2800" b="1">
                <a:solidFill>
                  <a:srgbClr val="15283B"/>
                </a:solidFill>
                <a:latin typeface="Aptos" panose="020B0004020202020204" pitchFamily="34" charset="0"/>
              </a:rPr>
              <a:t>Singular at q₂ = 0 or ±π.</a:t>
            </a:r>
            <a:endParaRPr lang="en-IL" sz="2800" b="1">
              <a:solidFill>
                <a:srgbClr val="15283B"/>
              </a:solidFill>
              <a:latin typeface="Aptos" panose="020B0004020202020204" pitchFamily="34" charset="0"/>
            </a:endParaRPr>
          </a:p>
        </p:txBody>
      </p:sp>
      <p:sp>
        <p:nvSpPr>
          <p:cNvPr id="16" name="text_15">
            <a:extLst>
              <a:ext uri="{FF2B5EF4-FFF2-40B4-BE49-F238E27FC236}">
                <a16:creationId xmlns:a16="http://schemas.microsoft.com/office/drawing/2014/main" id="{B1DA8FC4-8564-5105-2C97-C50D1A40AF55}"/>
              </a:ext>
            </a:extLst>
          </p:cNvPr>
          <p:cNvSpPr txBox="1"/>
          <p:nvPr/>
        </p:nvSpPr>
        <p:spPr>
          <a:xfrm>
            <a:off x="5486400" y="5194299"/>
            <a:ext cx="6019800" cy="889000"/>
          </a:xfrm>
          <a:prstGeom prst="rect">
            <a:avLst/>
          </a:prstGeom>
          <a:noFill/>
        </p:spPr>
        <p:txBody>
          <a:bodyPr vert="horz" wrap="square" lIns="0" tIns="0" rIns="0" bIns="0" rtlCol="0" anchor="t">
            <a:noAutofit/>
          </a:bodyPr>
          <a:lstStyle/>
          <a:p>
            <a:r>
              <a:rPr lang="en-IL" sz="2500">
                <a:solidFill>
                  <a:srgbClr val="526477"/>
                </a:solidFill>
                <a:latin typeface="Aptos" panose="020B0004020202020204" pitchFamily="34" charset="0"/>
              </a:rPr>
              <a:t>Joint limits and obstacles add constraints.</a:t>
            </a:r>
          </a:p>
        </p:txBody>
      </p:sp>
    </p:spTree>
    <p:extLst>
      <p:ext uri="{BB962C8B-B14F-4D97-AF65-F5344CB8AC3E}">
        <p14:creationId xmlns:p14="http://schemas.microsoft.com/office/powerpoint/2010/main" val="6440961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D22AF0F2-1862-A9A8-23B0-B25FE1512082}"/>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13B6172C-6F4B-2541-754D-73FFD98E713D}"/>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Bridge and configuration checks</a:t>
            </a:r>
          </a:p>
        </p:txBody>
      </p:sp>
      <p:sp>
        <p:nvSpPr>
          <p:cNvPr id="4" name="text_3">
            <a:extLst>
              <a:ext uri="{FF2B5EF4-FFF2-40B4-BE49-F238E27FC236}">
                <a16:creationId xmlns:a16="http://schemas.microsoft.com/office/drawing/2014/main" id="{DF007F74-E93B-CF2D-E753-AB59D17817E9}"/>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Trace commands, feedback, and clock separately.</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851B93B4-E589-8342-9114-2305AE36B24F}"/>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EE2A200A-4D30-F4B6-A84E-CE07062E77ED}"/>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IL" sz="1600">
                <a:solidFill>
                  <a:srgbClr val="526477"/>
                </a:solidFill>
                <a:latin typeface="Aptos" panose="020B0004020202020204" pitchFamily="34" charset="0"/>
              </a:rPr>
              <a:t>Robotics &amp; Autonomous Systems · ROS 2 Jazzy / Gazebo Harmonic</a:t>
            </a:r>
          </a:p>
        </p:txBody>
      </p:sp>
      <p:sp>
        <p:nvSpPr>
          <p:cNvPr id="7" name="text_6">
            <a:extLst>
              <a:ext uri="{FF2B5EF4-FFF2-40B4-BE49-F238E27FC236}">
                <a16:creationId xmlns:a16="http://schemas.microsoft.com/office/drawing/2014/main" id="{1C52BA7E-5DCE-F03C-A2F7-1772EBDFAAED}"/>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18</a:t>
            </a:r>
          </a:p>
        </p:txBody>
      </p:sp>
      <p:sp>
        <p:nvSpPr>
          <p:cNvPr id="8" name="Rectangle: Rounded Corners 7">
            <a:extLst>
              <a:ext uri="{FF2B5EF4-FFF2-40B4-BE49-F238E27FC236}">
                <a16:creationId xmlns:a16="http://schemas.microsoft.com/office/drawing/2014/main" id="{C5F442B8-7084-71E4-2009-DC1B33C68C43}"/>
              </a:ext>
            </a:extLst>
          </p:cNvPr>
          <p:cNvSpPr/>
          <p:nvPr/>
        </p:nvSpPr>
        <p:spPr>
          <a:xfrm>
            <a:off x="685800" y="2501900"/>
            <a:ext cx="5207000" cy="13970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8F45F586-0C76-0A46-8FB2-977EE9F8C847}"/>
              </a:ext>
            </a:extLst>
          </p:cNvPr>
          <p:cNvSpPr txBox="1"/>
          <p:nvPr/>
        </p:nvSpPr>
        <p:spPr>
          <a:xfrm>
            <a:off x="914400" y="2692399"/>
            <a:ext cx="4749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No motion</a:t>
            </a:r>
          </a:p>
        </p:txBody>
      </p:sp>
      <p:sp>
        <p:nvSpPr>
          <p:cNvPr id="10" name="text_9">
            <a:extLst>
              <a:ext uri="{FF2B5EF4-FFF2-40B4-BE49-F238E27FC236}">
                <a16:creationId xmlns:a16="http://schemas.microsoft.com/office/drawing/2014/main" id="{A03F1F2E-B33D-FC68-35FE-FB2A243C4493}"/>
              </a:ext>
            </a:extLst>
          </p:cNvPr>
          <p:cNvSpPr txBox="1"/>
          <p:nvPr/>
        </p:nvSpPr>
        <p:spPr>
          <a:xfrm>
            <a:off x="914400" y="3378199"/>
            <a:ext cx="4749800" cy="4318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Pause → bridge → controller</a:t>
            </a:r>
          </a:p>
        </p:txBody>
      </p:sp>
      <p:sp>
        <p:nvSpPr>
          <p:cNvPr id="11" name="Rectangle: Rounded Corners 10">
            <a:extLst>
              <a:ext uri="{FF2B5EF4-FFF2-40B4-BE49-F238E27FC236}">
                <a16:creationId xmlns:a16="http://schemas.microsoft.com/office/drawing/2014/main" id="{EA124687-11A2-5494-52C9-0C14DAC7EA15}"/>
              </a:ext>
            </a:extLst>
          </p:cNvPr>
          <p:cNvSpPr/>
          <p:nvPr/>
        </p:nvSpPr>
        <p:spPr>
          <a:xfrm>
            <a:off x="6172200" y="2501900"/>
            <a:ext cx="5334000" cy="13970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99E159B5-556E-8D7F-D650-51BF2662D005}"/>
              </a:ext>
            </a:extLst>
          </p:cNvPr>
          <p:cNvSpPr txBox="1"/>
          <p:nvPr/>
        </p:nvSpPr>
        <p:spPr>
          <a:xfrm>
            <a:off x="6400800" y="2692399"/>
            <a:ext cx="48768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No feedback</a:t>
            </a:r>
          </a:p>
        </p:txBody>
      </p:sp>
      <p:sp>
        <p:nvSpPr>
          <p:cNvPr id="13" name="text_12">
            <a:extLst>
              <a:ext uri="{FF2B5EF4-FFF2-40B4-BE49-F238E27FC236}">
                <a16:creationId xmlns:a16="http://schemas.microsoft.com/office/drawing/2014/main" id="{8AF851BA-6AFF-F617-91FF-114242274F8A}"/>
              </a:ext>
            </a:extLst>
          </p:cNvPr>
          <p:cNvSpPr txBox="1"/>
          <p:nvPr/>
        </p:nvSpPr>
        <p:spPr>
          <a:xfrm>
            <a:off x="6400800" y="3378199"/>
            <a:ext cx="4876800" cy="4318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Topic mapping + joint names</a:t>
            </a:r>
          </a:p>
        </p:txBody>
      </p:sp>
      <p:sp>
        <p:nvSpPr>
          <p:cNvPr id="14" name="Rectangle: Rounded Corners 13">
            <a:extLst>
              <a:ext uri="{FF2B5EF4-FFF2-40B4-BE49-F238E27FC236}">
                <a16:creationId xmlns:a16="http://schemas.microsoft.com/office/drawing/2014/main" id="{0DF46631-F80D-743F-654F-BD7DF343B12D}"/>
              </a:ext>
            </a:extLst>
          </p:cNvPr>
          <p:cNvSpPr/>
          <p:nvPr/>
        </p:nvSpPr>
        <p:spPr>
          <a:xfrm>
            <a:off x="685800" y="4152900"/>
            <a:ext cx="5207000" cy="13970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8BA5ED6C-B1E7-F21E-7EA7-F2217F3F4173}"/>
              </a:ext>
            </a:extLst>
          </p:cNvPr>
          <p:cNvSpPr txBox="1"/>
          <p:nvPr/>
        </p:nvSpPr>
        <p:spPr>
          <a:xfrm>
            <a:off x="914400" y="4343399"/>
            <a:ext cx="47498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No TF</a:t>
            </a:r>
          </a:p>
        </p:txBody>
      </p:sp>
      <p:sp>
        <p:nvSpPr>
          <p:cNvPr id="16" name="text_15">
            <a:extLst>
              <a:ext uri="{FF2B5EF4-FFF2-40B4-BE49-F238E27FC236}">
                <a16:creationId xmlns:a16="http://schemas.microsoft.com/office/drawing/2014/main" id="{61859E19-6343-212A-0F9B-64E98265E415}"/>
              </a:ext>
            </a:extLst>
          </p:cNvPr>
          <p:cNvSpPr txBox="1"/>
          <p:nvPr/>
        </p:nvSpPr>
        <p:spPr>
          <a:xfrm>
            <a:off x="914400" y="5029199"/>
            <a:ext cx="4749800" cy="4318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Measured joints + URDF</a:t>
            </a:r>
          </a:p>
        </p:txBody>
      </p:sp>
      <p:sp>
        <p:nvSpPr>
          <p:cNvPr id="17" name="Rectangle: Rounded Corners 16">
            <a:extLst>
              <a:ext uri="{FF2B5EF4-FFF2-40B4-BE49-F238E27FC236}">
                <a16:creationId xmlns:a16="http://schemas.microsoft.com/office/drawing/2014/main" id="{357757DE-BE00-008C-0471-9D7CF86C8499}"/>
              </a:ext>
            </a:extLst>
          </p:cNvPr>
          <p:cNvSpPr/>
          <p:nvPr/>
        </p:nvSpPr>
        <p:spPr>
          <a:xfrm>
            <a:off x="6172200" y="4152900"/>
            <a:ext cx="5334000" cy="13970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8" name="text_17">
            <a:extLst>
              <a:ext uri="{FF2B5EF4-FFF2-40B4-BE49-F238E27FC236}">
                <a16:creationId xmlns:a16="http://schemas.microsoft.com/office/drawing/2014/main" id="{6EE6D671-4D1C-F6C4-686D-0E8866B9EF25}"/>
              </a:ext>
            </a:extLst>
          </p:cNvPr>
          <p:cNvSpPr txBox="1"/>
          <p:nvPr/>
        </p:nvSpPr>
        <p:spPr>
          <a:xfrm>
            <a:off x="6400800" y="4343399"/>
            <a:ext cx="4876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Clock stopped</a:t>
            </a:r>
          </a:p>
        </p:txBody>
      </p:sp>
      <p:sp>
        <p:nvSpPr>
          <p:cNvPr id="19" name="text_18">
            <a:extLst>
              <a:ext uri="{FF2B5EF4-FFF2-40B4-BE49-F238E27FC236}">
                <a16:creationId xmlns:a16="http://schemas.microsoft.com/office/drawing/2014/main" id="{15C72F8C-5531-AAA8-B541-692241892DEE}"/>
              </a:ext>
            </a:extLst>
          </p:cNvPr>
          <p:cNvSpPr txBox="1"/>
          <p:nvPr/>
        </p:nvSpPr>
        <p:spPr>
          <a:xfrm>
            <a:off x="6400800" y="5029199"/>
            <a:ext cx="4876800" cy="4318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Check /clock and play/pause</a:t>
            </a:r>
            <a:endParaRPr lang="en-IL" sz="2400">
              <a:solidFill>
                <a:srgbClr val="15283B"/>
              </a:solidFill>
              <a:latin typeface="Aptos" panose="020B0004020202020204" pitchFamily="34" charset="0"/>
            </a:endParaRPr>
          </a:p>
        </p:txBody>
      </p:sp>
      <p:sp>
        <p:nvSpPr>
          <p:cNvPr id="20" name="text_19">
            <a:extLst>
              <a:ext uri="{FF2B5EF4-FFF2-40B4-BE49-F238E27FC236}">
                <a16:creationId xmlns:a16="http://schemas.microsoft.com/office/drawing/2014/main" id="{DB28C2D9-161D-AD76-4945-61A4803F2DB0}"/>
              </a:ext>
            </a:extLst>
          </p:cNvPr>
          <p:cNvSpPr txBox="1"/>
          <p:nvPr/>
        </p:nvSpPr>
        <p:spPr>
          <a:xfrm>
            <a:off x="685800" y="5702299"/>
            <a:ext cx="10820400" cy="508000"/>
          </a:xfrm>
          <a:prstGeom prst="rect">
            <a:avLst/>
          </a:prstGeom>
          <a:noFill/>
        </p:spPr>
        <p:txBody>
          <a:bodyPr vert="horz" wrap="square" lIns="0" tIns="0" rIns="0" bIns="0" rtlCol="0" anchor="t">
            <a:noAutofit/>
          </a:bodyPr>
          <a:lstStyle/>
          <a:p>
            <a:r>
              <a:rPr lang="en-US" sz="2500">
                <a:solidFill>
                  <a:srgbClr val="526477"/>
                </a:solidFill>
                <a:latin typeface="Aptos" panose="020B0004020202020204" pitchFamily="34" charset="0"/>
              </a:rPr>
              <a:t>Full restart restores the baseline. GUI reset is different.</a:t>
            </a:r>
            <a:endParaRPr lang="en-IL" sz="2500">
              <a:solidFill>
                <a:srgbClr val="526477"/>
              </a:solidFill>
              <a:latin typeface="Aptos" panose="020B0004020202020204" pitchFamily="34" charset="0"/>
            </a:endParaRPr>
          </a:p>
        </p:txBody>
      </p:sp>
    </p:spTree>
    <p:extLst>
      <p:ext uri="{BB962C8B-B14F-4D97-AF65-F5344CB8AC3E}">
        <p14:creationId xmlns:p14="http://schemas.microsoft.com/office/powerpoint/2010/main" val="4624983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5662</Words>
  <Application>Microsoft Office PowerPoint</Application>
  <PresentationFormat>Custom</PresentationFormat>
  <Paragraphs>370</Paragraphs>
  <Slides>18</Slides>
  <Notes>18</Notes>
  <HiddenSlides>4</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vt:lpstr>
      <vt:lpstr>Aptos Display</vt:lpstr>
      <vt:lpstr>Arial</vt:lpstr>
      <vt:lpstr>Cambria Math</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גלעד ליפשיץ</dc:creator>
  <cp:lastModifiedBy>גלעד ליפשיץ</cp:lastModifiedBy>
  <cp:revision>1</cp:revision>
  <dcterms:created xsi:type="dcterms:W3CDTF">2026-10-04T16:32:29Z</dcterms:created>
  <dcterms:modified xsi:type="dcterms:W3CDTF">2026-10-04T16:32:29Z</dcterms:modified>
</cp:coreProperties>
</file>