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7E868-5E40-4F1C-911B-E54C35FBD8FC}" type="datetimeFigureOut">
              <a:rPr lang="en-IL" smtClean="0"/>
              <a:t>05/10/2026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1C2384-FC6C-46F9-A4CB-6ED049FBB061}" type="slidenum">
              <a:rPr lang="en-IL" smtClean="0"/>
              <a:t>‹#›</a:t>
            </a:fld>
            <a:endParaRPr lang="en-IL"/>
          </a:p>
        </p:txBody>
      </p:sp>
    </p:spTree>
    <p:extLst>
      <p:ext uri="{BB962C8B-B14F-4D97-AF65-F5344CB8AC3E}">
        <p14:creationId xmlns:p14="http://schemas.microsoft.com/office/powerpoint/2010/main" val="188766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Week7 has two distinct subjects: seven minutes MuJoCo and fifteen minutes imitation learning, followed by eighteen minutes demo and five minutes recap. Students know Python and prior weeks; no least-squares derivation or simulator API tutorial is needed. Explain the practical labeled-data viewpoint with its closed-loop complications. All eleven original files were read, including the saved plot. Preserve every demo file and teaching notes. The professor PDF was not found; its printed-slide references are existing references, not independently reviewed material.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p>
          <a:p>
            <a:r>
              <a:rPr lang="en-US">
                <a:latin typeface="Aptos" panose="020B0004020202020204" pitchFamily="34" charset="0"/>
              </a:rPr>
              <a:t>Existing Class9-ImitationLearning.pdf printed-slide references: motivation/setup 3–6; behavior cloning 8–11; DAgger 13–15; existing plan further references 33. PDF not found locally and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a:t>
            </a:fld>
            <a:endParaRPr lang="en-IL"/>
          </a:p>
        </p:txBody>
      </p:sp>
    </p:spTree>
    <p:extLst>
      <p:ext uri="{BB962C8B-B14F-4D97-AF65-F5344CB8AC3E}">
        <p14:creationId xmlns:p14="http://schemas.microsoft.com/office/powerpoint/2010/main" val="2795296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Untimed divider. Establish the distinction between the simulator, which computes motion, and the learning method, which changes a policy. Refer back to Gazebo in Week3; both are simulation tools. Focus on purpose, tradeoffs and the GPU distinction. Installation, model authoring and API calls stay outside this presentation.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https://mujoco.readthedocs.io/en/stable/overview.html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2</a:t>
            </a:fld>
            <a:endParaRPr lang="en-IL"/>
          </a:p>
        </p:txBody>
      </p:sp>
    </p:spTree>
    <p:extLst>
      <p:ext uri="{BB962C8B-B14F-4D97-AF65-F5344CB8AC3E}">
        <p14:creationId xmlns:p14="http://schemas.microsoft.com/office/powerpoint/2010/main" val="3763151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MuJoCo stands for Multi-Joint dynamics with Contact. Its model describes bodies, joints, geometry, actuators and physical properties; its simulation state evolves under forces and constraints. Show the repeating observation→controller→forces→physics→new-observation loop. Rendering lets us view the motion but is separate from the physics calculation. The controller may be scripted or learned; MuJoCo itself does not train our policy. Our task is a simple moving body, not an arm, although the simulator supports articulated systems and contacts.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https://mujoco.readthedocs.io/en/stable/overview.html</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3</a:t>
            </a:fld>
            <a:endParaRPr lang="en-IL"/>
          </a:p>
        </p:txBody>
      </p:sp>
    </p:spTree>
    <p:extLst>
      <p:ext uri="{BB962C8B-B14F-4D97-AF65-F5344CB8AC3E}">
        <p14:creationId xmlns:p14="http://schemas.microsoft.com/office/powerpoint/2010/main" val="2675886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RL chooses actions, observes transitions and rewards, and improves a policy from experience. Repeated trials on hardware consume time, wear components and can be costly or risky. Simulation offers controlled initial conditions, inexpensive resets, repeatable comparisons and parallel rollouts. Headless operation avoids unnecessary rendering when observations are state vectors. MuJoCo is a useful option, not a requirement for all RL: other simulators and hardware interaction are valid. Simulation results depend on model quality, so success does not automatically transfer to hardware. This week uses expert labels rather than reward-based RL updates.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https://mujoco.readthedocs.io/en/stable/overview.html</a:t>
            </a:r>
          </a:p>
          <a:p>
            <a:r>
              <a:rPr lang="en-US">
                <a:latin typeface="Aptos" panose="020B0004020202020204" pitchFamily="34" charset="0"/>
              </a:rPr>
              <a:t>https://mujoco.readthedocs.io/en/stable/mjx.html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4</a:t>
            </a:fld>
            <a:endParaRPr lang="en-IL"/>
          </a:p>
        </p:txBody>
      </p:sp>
    </p:spTree>
    <p:extLst>
      <p:ext uri="{BB962C8B-B14F-4D97-AF65-F5344CB8AC3E}">
        <p14:creationId xmlns:p14="http://schemas.microsoft.com/office/powerpoint/2010/main" val="1281710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Explain this as a course-oriented comparison, not a universal speed or fidelity ranking. MuJoCo strengths here are direct programmatic control, compact experiments and high-throughput learning backends. The tradeoff is that a ROS-integrated robot system and full sensor/application workflow need additional integration. Gazebo strengths are its ROS ecosystem, sensor/noise models and modular worlds/systems; that broader system setup can be more than this small state-based experiment needs. Gazebo can run headless and support learning, while MuJoCo has rendering and sensors too. Neither is restricted to its preferred course role; speed and physical fidelity depend on model, physics configuration and workload.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https://mujoco.readthedocs.io/en/stable/overview.html</a:t>
            </a:r>
          </a:p>
          <a:p>
            <a:r>
              <a:rPr lang="en-US">
                <a:latin typeface="Aptos" panose="020B0004020202020204" pitchFamily="34" charset="0"/>
              </a:rPr>
              <a:t>https://gazebosim.org/docs/harmonic/architecture/</a:t>
            </a:r>
          </a:p>
          <a:p>
            <a:r>
              <a:rPr lang="en-US">
                <a:latin typeface="Aptos" panose="020B0004020202020204" pitchFamily="34" charset="0"/>
              </a:rPr>
              <a:t>https://gazebosim.org/libs/sensors/</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5</a:t>
            </a:fld>
            <a:endParaRPr lang="en-IL"/>
          </a:p>
        </p:txBody>
      </p:sp>
    </p:spTree>
    <p:extLst>
      <p:ext uri="{BB962C8B-B14F-4D97-AF65-F5344CB8AC3E}">
        <p14:creationId xmlns:p14="http://schemas.microsoft.com/office/powerpoint/2010/main" val="2536746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1.5 minutes.</a:t>
            </a:r>
          </a:p>
          <a:p>
            <a:r>
              <a:rPr lang="en-IL">
                <a:latin typeface="Aptos" panose="020B0004020202020204" pitchFamily="34" charset="0"/>
              </a:rPr>
              <a:t>Separate GPU rendering of images, GPU computation for training a policy, and GPU physics advancing simulated states. Standard MuJoCo C-engine physics uses CPU execution; its viewer uses OpenGL rendering. MJX provides accelerator-oriented simulation, with JAX and Warp implementations; MuJoCo Warp targets NVIDIA GPUs. Explain batches as many environment instances producing experience together. GPU speedups depend on batch size, workload, transfer/compilation overhead, hardware and backend feature support; one tiny environment need not be faster. CPU models do not become GPU simulations automatically. This repository uses ordinary mujoco stepping and NumPy least squares, without MJX, Warp, JAX or GPU learning. Keep backend APIs and configuration out of slides.</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https://mujoco.readthedocs.io/en/stable/overview.html</a:t>
            </a:r>
          </a:p>
          <a:p>
            <a:r>
              <a:rPr lang="en-IL">
                <a:latin typeface="Aptos" panose="020B0004020202020204" pitchFamily="34" charset="0"/>
              </a:rPr>
              <a:t>https://mujoco.readthedocs.io/en/stable/mjx.html</a:t>
            </a:r>
          </a:p>
          <a:p>
            <a:r>
              <a:rPr lang="en-IL">
                <a:latin typeface="Aptos" panose="020B0004020202020204" pitchFamily="34" charset="0"/>
              </a:rPr>
              <a:t>Local: demo/task.py, expert.py, learning.py, demo.py, robot.xml, test_demo.py, README.md and comparison.png.</a:t>
            </a:r>
          </a:p>
        </p:txBody>
      </p:sp>
      <p:sp>
        <p:nvSpPr>
          <p:cNvPr id="4" name="Slide Number Placeholder 3"/>
          <p:cNvSpPr>
            <a:spLocks noGrp="1"/>
          </p:cNvSpPr>
          <p:nvPr>
            <p:ph type="sldNum" sz="quarter" idx="5"/>
          </p:nvPr>
        </p:nvSpPr>
        <p:spPr/>
        <p:txBody>
          <a:bodyPr/>
          <a:lstStyle/>
          <a:p>
            <a:fld id="{551C2384-FC6C-46F9-A4CB-6ED049FBB061}" type="slidenum">
              <a:rPr lang="en-IL" smtClean="0"/>
              <a:t>6</a:t>
            </a:fld>
            <a:endParaRPr lang="en-IL"/>
          </a:p>
        </p:txBody>
      </p:sp>
    </p:spTree>
    <p:extLst>
      <p:ext uri="{BB962C8B-B14F-4D97-AF65-F5344CB8AC3E}">
        <p14:creationId xmlns:p14="http://schemas.microsoft.com/office/powerpoint/2010/main" val="747204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Untimed divider. We now move from the simulation tool to the learning method. The simulator provides dynamics; expert demonstrations provide labels; behavior cloning provides the fitted policy. Keep those responsibilities separate. The key comparison is supervised learning versus deployment in a feedback loop, not MuJoCo versus a machine-learning algorithm.</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https://arxiv.org/abs/1011.0686</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7</a:t>
            </a:fld>
            <a:endParaRPr lang="en-IL"/>
          </a:p>
        </p:txBody>
      </p:sp>
    </p:spTree>
    <p:extLst>
      <p:ext uri="{BB962C8B-B14F-4D97-AF65-F5344CB8AC3E}">
        <p14:creationId xmlns:p14="http://schemas.microsoft.com/office/powerpoint/2010/main" val="1646266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Week6 optimized expected return using known transition probabilities and rewards. This week fits behavior from expert observations/actions instead of solving Bellman equations. The input is an observation in our continuous reaching task, not a symbolic four-state identifier. We use imitation learning rather than reward-based RL. A fitted policy can be a small regression model, not necessarily a neural network. At deployment it chooses a new action for the current observation, just as the policy concept predicts.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p>
          <a:p>
            <a:r>
              <a:rPr lang="en-US">
                <a:latin typeface="Aptos" panose="020B0004020202020204" pitchFamily="34" charset="0"/>
              </a:rPr>
              <a:t>Existing Class9-ImitationLearning.pdf printed-slide references: motivation/setup 3–6; behavior cloning 8–11; DAgger 13–15; existing plan further references 33. PDF not found locally and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8</a:t>
            </a:fld>
            <a:endParaRPr lang="en-IL"/>
          </a:p>
        </p:txBody>
      </p:sp>
    </p:spTree>
    <p:extLst>
      <p:ext uri="{BB962C8B-B14F-4D97-AF65-F5344CB8AC3E}">
        <p14:creationId xmlns:p14="http://schemas.microsoft.com/office/powerpoint/2010/main" val="3818486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An expert can be a human demonstrator, a scripted controller, an expensive planner or another trained policy. The demonstrations show behavior that the learner should reproduce or achieve. Behavior cloning is the supervised-learning approach used here. Imitation learning is broader: DAgger changes data collection, IRL seeks a reward explanation, and GAIL matches visitation behavior. Demonstrations alone do not mean copying fixed trajectories; our policy reacts to its current input. An expert is a source of guidance, not proof of globally optimal or safe behavior.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https://arxiv.org/abs/1011.0686</a:t>
            </a:r>
          </a:p>
          <a:p>
            <a:r>
              <a:rPr lang="en-US">
                <a:latin typeface="Aptos" panose="020B0004020202020204" pitchFamily="34" charset="0"/>
              </a:rPr>
              <a:t>https://arxiv.org/abs/1606.03476</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9</a:t>
            </a:fld>
            <a:endParaRPr lang="en-IL"/>
          </a:p>
        </p:txBody>
      </p:sp>
    </p:spTree>
    <p:extLst>
      <p:ext uri="{BB962C8B-B14F-4D97-AF65-F5344CB8AC3E}">
        <p14:creationId xmlns:p14="http://schemas.microsoft.com/office/powerpoint/2010/main" val="3649204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First run the expert and record aligned pairs of current observation and expert action. Fit a model on those pairs and check it on held-out episodes. Deploy the learned policy independently, then test complete rollouts on fresh cases. Distinguish collection from execution visually: expert→data→training is a one-time pipeline; learner↔simulator is a closed loop. The expert is present for collection and expert comparison, but not called by the learner during its own rollout. No action tape is replayed. Behavior-cloning fitting compares predicted actions with labels, not rewards.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https://arxiv.org/abs/1011.0686</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10</a:t>
            </a:fld>
            <a:endParaRPr lang="en-IL"/>
          </a:p>
        </p:txBody>
      </p:sp>
    </p:spTree>
    <p:extLst>
      <p:ext uri="{BB962C8B-B14F-4D97-AF65-F5344CB8AC3E}">
        <p14:creationId xmlns:p14="http://schemas.microsoft.com/office/powerpoint/2010/main" val="1113044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Observation field order is [error_x,error_y,velocity_x,velocity_y], in metres and metres/second; labels are [force_x,force_y] in newtons. Show the illustrative row [0.3,−0.2,0.1,0]→[0.9,−0.8]. It matches the expert rule but is not claimed to be the first row of the collected file. Record observation before applying its action; the next observation must not be mislabeled with that preceding action. Each five-second episode contributes250 decisions at50Hz, giving25000 rows. Time-adjacent rows are correlated and do not represent25000 independent episodes.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11</a:t>
            </a:fld>
            <a:endParaRPr lang="en-IL"/>
          </a:p>
        </p:txBody>
      </p:sp>
    </p:spTree>
    <p:extLst>
      <p:ext uri="{BB962C8B-B14F-4D97-AF65-F5344CB8AC3E}">
        <p14:creationId xmlns:p14="http://schemas.microsoft.com/office/powerpoint/2010/main" val="2041548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practical explanation is labeled input/output data as in supervised learning. Choose a model, compare its predicted action with the expert label, and fit parameters to reduce action error. This demo uses affine regression with NumPy least squares and mean squared action error. There is no need for a neural network, iterative SGD or a regression derivation here. More complex observations/experts often call for richer models. Training reads stored observations/actions, not the expert gains; the recovered coefficients are estimates from labels. Deployment clips predicted forces to the same limits. The supervised training problem is ordinary regression; the complication arises in how its predictions influence future inputs.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p>
          <a:p>
            <a:r>
              <a:rPr lang="en-US">
                <a:latin typeface="Aptos" panose="020B0004020202020204" pitchFamily="34" charset="0"/>
              </a:rPr>
              <a:t>https://arxiv.org/abs/1011.0686</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12</a:t>
            </a:fld>
            <a:endParaRPr lang="en-IL"/>
          </a:p>
        </p:txBody>
      </p:sp>
    </p:spTree>
    <p:extLst>
      <p:ext uri="{BB962C8B-B14F-4D97-AF65-F5344CB8AC3E}">
        <p14:creationId xmlns:p14="http://schemas.microsoft.com/office/powerpoint/2010/main" val="1442321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Compared with a common supervised setup, where test examples are supplied externally from a similar distribution, robot actions influence the next observation. A small erroneous action can take the robot away from expert-visited states; later predictions then face unfamiliar inputs and can compound errors. Ordinary machine learning can have distribution shift too: the special issue is policy-induced state distribution in closed-loop control. Use a conceptual path sketch labeled illustration, not a demo result. The real linear reaching demo imitates well; do not suggest drift was observed here or that every imitation policy necessarily fails. Explain why rollout evaluation is needed in addition to held-out label accuracy.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https://arxiv.org/abs/1011.0686</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13</a:t>
            </a:fld>
            <a:endParaRPr lang="en-IL"/>
          </a:p>
        </p:txBody>
      </p:sp>
    </p:spTree>
    <p:extLst>
      <p:ext uri="{BB962C8B-B14F-4D97-AF65-F5344CB8AC3E}">
        <p14:creationId xmlns:p14="http://schemas.microsoft.com/office/powerpoint/2010/main" val="3753020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DAgger means Dataset Aggregation. Start with expert data and an initial learner. Collect states while executing the learner or a scheduled mixture with expert behavior; ask the expert what action it would take at those states. Aggregate these labeled states with previous demonstrations, retrain, and repeat. Feedback targets the learner-induced distribution rather than only the original expert trajectories. Expert queries are needed during additional collection, not necessarily during final deployment. This requires an available labeling expert and does not guarantee universal robustness or safety. DAgger is explained conceptually and is not implemented by the Week7 demo.</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https://arxiv.org/abs/1011.0686</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14</a:t>
            </a:fld>
            <a:endParaRPr lang="en-IL"/>
          </a:p>
        </p:txBody>
      </p:sp>
    </p:spTree>
    <p:extLst>
      <p:ext uri="{BB962C8B-B14F-4D97-AF65-F5344CB8AC3E}">
        <p14:creationId xmlns:p14="http://schemas.microsoft.com/office/powerpoint/2010/main" val="1319463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Keep this to one minute with no formulas, code or algorithm walkthrough. Expand IRL as Inverse Reinforcement Learning: infer a reward/cost under which demonstrated behavior makes sense, then obtain a policy using planning or RL. Demonstrations generally do not uniquely determine the reward; several rewards can explain the same behavior. GAIL is Generative Adversarial Imitation Learning: a discriminator distinguishes expert from learner state/action samples, and its feedback guides policy learning toward matching visitation distributions. It normally requires learner-environment interaction; it is not just per-row action regression. GAIL does not aim to recover a unique interpretable task reward. These descriptions provide orientation only. This slide must be immediately after DAgger.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https://ai.stanford.edu/~ang/papers/icml00-irl.pdf</a:t>
            </a:r>
          </a:p>
          <a:p>
            <a:r>
              <a:rPr lang="en-US">
                <a:latin typeface="Aptos" panose="020B0004020202020204" pitchFamily="34" charset="0"/>
              </a:rPr>
              <a:t>https://arxiv.org/abs/1606.03476</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15</a:t>
            </a:fld>
            <a:endParaRPr lang="en-IL"/>
          </a:p>
        </p:txBody>
      </p:sp>
    </p:spTree>
    <p:extLst>
      <p:ext uri="{BB962C8B-B14F-4D97-AF65-F5344CB8AC3E}">
        <p14:creationId xmlns:p14="http://schemas.microsoft.com/office/powerpoint/2010/main" val="2831382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Train on episodes0–79 and validate on80–99, rather than randomly mixing adjacent frames from the same episode. This avoids a misleadingly easy correlated split. Evaluate expert, learner and zero-force baseline on the same20 fresh seed42 scenarios. Action MSE is measured on held-out expert inputs; rollout success uses observations generated by the deployed controller. Different controllers see their own evolving observations even though initial conditions match. Success requires distance&lt;0.03m and speed&lt;0.05m/s at all26 control samples from4.50 through5.00seconds. These sampled simulation metrics are not physical continuous-time guarantees.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p>
          <a:p>
            <a:r>
              <a:rPr lang="en-US">
                <a:latin typeface="Aptos" panose="020B0004020202020204" pitchFamily="34" charset="0"/>
              </a:rPr>
              <a:t>https://arxiv.org/abs/1011.0686</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16</a:t>
            </a:fld>
            <a:endParaRPr lang="en-IL"/>
          </a:p>
        </p:txBody>
      </p:sp>
    </p:spTree>
    <p:extLst>
      <p:ext uri="{BB962C8B-B14F-4D97-AF65-F5344CB8AC3E}">
        <p14:creationId xmlns:p14="http://schemas.microsoft.com/office/powerpoint/2010/main" val="3612363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Editable top-view sketch: teal cylinder is the1kg body with perpendicular x/y slide joints, orange target is a marker. The body stays at fixed height; gravity is disabled and it does not contact the floor. Inputs contain position error and velocity, not camera images. Outputs are forces, not position targets. Physics runs at100Hz and the controller recomputes at50Hz, holding each command over two physics steps. Episodes last5seconds. Mention those numbers only as needed in notes; the purpose is to understand dynamics versus action selection, not simulator configuration.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17</a:t>
            </a:fld>
            <a:endParaRPr lang="en-IL"/>
          </a:p>
        </p:txBody>
      </p:sp>
    </p:spTree>
    <p:extLst>
      <p:ext uri="{BB962C8B-B14F-4D97-AF65-F5344CB8AC3E}">
        <p14:creationId xmlns:p14="http://schemas.microsoft.com/office/powerpoint/2010/main" val="917155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The controller is force=4×position_error−3×velocity, clipped independently to±10N. Position feedback accelerates toward the target, while velocity feedback opposes motion and helps settle. Velocity is essential because two states with equal error but different velocity need different braking. The expert exists in Python, not inside the MuJoCo physics engine. We already know this controller so we can make the imitation pipeline transparent; in other tasks experts may be humans or costly planners. Do not derive PD control or stability. The learner receives only the recorded pairs and independently estimates coefficients.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18</a:t>
            </a:fld>
            <a:endParaRPr lang="en-IL"/>
          </a:p>
        </p:txBody>
      </p:sp>
    </p:spTree>
    <p:extLst>
      <p:ext uri="{BB962C8B-B14F-4D97-AF65-F5344CB8AC3E}">
        <p14:creationId xmlns:p14="http://schemas.microsoft.com/office/powerpoint/2010/main" val="700178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0.5 minutes.</a:t>
            </a:r>
          </a:p>
          <a:p>
            <a:r>
              <a:rPr lang="en-US">
                <a:latin typeface="Aptos" panose="020B0004020202020204" pitchFamily="34" charset="0"/>
              </a:rPr>
              <a:t>Use the preserved comparison.png as a saved result, not a new run. The affine learner represents the expert over the sampled range, so near-zero validation action error and overlapping rollouts are expected. Existing documentation reports expert20/20, learner20/20, zero0/20; tests require learner≥19/20. Numeric residuals vary by library. Strong performance in this easy task is not a claim of robustness to unfamiliar dynamics or hard tasks. The zero-force baseline may move because initial velocity is nonzero. Do not deliberately degrade training to manufacture drift.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19</a:t>
            </a:fld>
            <a:endParaRPr lang="en-IL"/>
          </a:p>
        </p:txBody>
      </p:sp>
    </p:spTree>
    <p:extLst>
      <p:ext uri="{BB962C8B-B14F-4D97-AF65-F5344CB8AC3E}">
        <p14:creationId xmlns:p14="http://schemas.microsoft.com/office/powerpoint/2010/main" val="10073228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18 minutes.</a:t>
            </a:r>
          </a:p>
          <a:p>
            <a:r>
              <a:rPr lang="en-US">
                <a:latin typeface="Aptos" panose="020B0004020202020204" pitchFamily="34" charset="0"/>
              </a:rPr>
              <a:t>Eighteen-minute demo using the existing runbook. Four minutes: watch expert, identify body/target and force commands. Four: collect100episodes and inspect25000 pairs and one aligned row. Three: train, show held-out MSE and fitted W/b; ask where coefficients came from. Five: watch learner from the same test start and evaluate20 shared episodes against expert/zero. Two: distinguish label agreement from task success. Setup and installation are preparation, not lecture material. Viewer failure is documented on an earlier development desktop; rehearse on a working classroom OpenGL desktop and keep comparison.png as fallback. No new UI or dependency changes.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20</a:t>
            </a:fld>
            <a:endParaRPr lang="en-IL"/>
          </a:p>
        </p:txBody>
      </p:sp>
    </p:spTree>
    <p:extLst>
      <p:ext uri="{BB962C8B-B14F-4D97-AF65-F5344CB8AC3E}">
        <p14:creationId xmlns:p14="http://schemas.microsoft.com/office/powerpoint/2010/main" val="6555489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5 minutes.</a:t>
            </a:r>
          </a:p>
          <a:p>
            <a:r>
              <a:rPr lang="en-IL">
                <a:latin typeface="Aptos" panose="020B0004020202020204" pitchFamily="34" charset="0"/>
              </a:rPr>
              <a:t>Reserve five minutes. Dynamics come from MuJoCo; labels come from the expert controller; the deployed learner computes actions. Behavior cloning trains from action labels, whereas RL generally optimizes rewards through interaction. Why can action MSE mislead? The learner changes the state distribution during rollout. What does DAgger add? Expert labels at learner-visited states. IRL infers reward explanations; GAIL matches state/action visitation via discriminator feedback. Check velocity/braking and independent learner execution. HW4 uses a separate continuous-control MuJoCo environment; PPO/SAC are later topics. Do not invent extra homework requirements.</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Local: demo/task.py, expert.py, learning.py, demo.py, robot.xml, test_demo.py, README.md and comparison.png.</a:t>
            </a:r>
          </a:p>
          <a:p>
            <a:r>
              <a:rPr lang="en-IL">
                <a:latin typeface="Aptos" panose="020B0004020202020204" pitchFamily="34" charset="0"/>
              </a:rPr>
              <a:t>https://arxiv.org/abs/1011.0686</a:t>
            </a:r>
          </a:p>
          <a:p>
            <a:r>
              <a:rPr lang="en-IL">
                <a:latin typeface="Aptos" panose="020B0004020202020204" pitchFamily="34" charset="0"/>
              </a:rPr>
              <a:t>https://arxiv.org/abs/1606.03476</a:t>
            </a:r>
          </a:p>
        </p:txBody>
      </p:sp>
      <p:sp>
        <p:nvSpPr>
          <p:cNvPr id="4" name="Slide Number Placeholder 3"/>
          <p:cNvSpPr>
            <a:spLocks noGrp="1"/>
          </p:cNvSpPr>
          <p:nvPr>
            <p:ph type="sldNum" sz="quarter" idx="5"/>
          </p:nvPr>
        </p:nvSpPr>
        <p:spPr/>
        <p:txBody>
          <a:bodyPr/>
          <a:lstStyle/>
          <a:p>
            <a:fld id="{551C2384-FC6C-46F9-A4CB-6ED049FBB061}" type="slidenum">
              <a:rPr lang="en-IL" smtClean="0"/>
              <a:t>21</a:t>
            </a:fld>
            <a:endParaRPr lang="en-IL"/>
          </a:p>
        </p:txBody>
      </p:sp>
    </p:spTree>
    <p:extLst>
      <p:ext uri="{BB962C8B-B14F-4D97-AF65-F5344CB8AC3E}">
        <p14:creationId xmlns:p14="http://schemas.microsoft.com/office/powerpoint/2010/main" val="17692913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a:t>
            </a:r>
          </a:p>
          <a:p>
            <a:r>
              <a:rPr lang="en-IL">
                <a:latin typeface="Aptos" panose="020B0004020202020204" pitchFamily="34" charset="0"/>
              </a:rPr>
              <a:t>Standard C-engine stepping uses CPU physics and can exploit CPU parallelism for appropriate workloads. Accelerator backends include MJX/JAX and NVIDIA Warp-based implementations, intended for high-throughput parallel environments. Hardware, model feature support, batch size, compile costs, rendering needs and data transfer affect performance. A GPU network training loop combined with CPU physics remains a mixed pipeline. Gazebo uses GPU acceleration for rendering and sensors such as GPU lidar; that alone does not imply batched GPU physics. Do not promise that any backend accepts every model or always runs faster. Check exact-version documentation before an implementation; the demo pins mujoco3.14.0 and uses neither MJX nor Warp.</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https://mujoco.readthedocs.io/en/stable/overview.html</a:t>
            </a:r>
          </a:p>
          <a:p>
            <a:r>
              <a:rPr lang="en-IL">
                <a:latin typeface="Aptos" panose="020B0004020202020204" pitchFamily="34" charset="0"/>
              </a:rPr>
              <a:t>https://mujoco.readthedocs.io/en/stable/mjx.html</a:t>
            </a:r>
          </a:p>
          <a:p>
            <a:r>
              <a:rPr lang="en-IL">
                <a:latin typeface="Aptos" panose="020B0004020202020204" pitchFamily="34" charset="0"/>
              </a:rPr>
              <a:t>https://gazebosim.org/libs/sensors/</a:t>
            </a:r>
          </a:p>
        </p:txBody>
      </p:sp>
      <p:sp>
        <p:nvSpPr>
          <p:cNvPr id="4" name="Slide Number Placeholder 3"/>
          <p:cNvSpPr>
            <a:spLocks noGrp="1"/>
          </p:cNvSpPr>
          <p:nvPr>
            <p:ph type="sldNum" sz="quarter" idx="5"/>
          </p:nvPr>
        </p:nvSpPr>
        <p:spPr/>
        <p:txBody>
          <a:bodyPr/>
          <a:lstStyle/>
          <a:p>
            <a:fld id="{551C2384-FC6C-46F9-A4CB-6ED049FBB061}" type="slidenum">
              <a:rPr lang="en-IL" smtClean="0"/>
              <a:t>22</a:t>
            </a:fld>
            <a:endParaRPr lang="en-IL"/>
          </a:p>
        </p:txBody>
      </p:sp>
    </p:spTree>
    <p:extLst>
      <p:ext uri="{BB962C8B-B14F-4D97-AF65-F5344CB8AC3E}">
        <p14:creationId xmlns:p14="http://schemas.microsoft.com/office/powerpoint/2010/main" val="20523724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Expert force is clip(4e−3v,−10,10), applied separately for each axis. Illustrative observation [0.3,−0.2,0.1,0] yields [.9,−.8]N. Expected fitted weights W=[[4,0,−3,0],[0,4,0,−3]], bias≈[0,0]. Weight dimensions are2×4 and bias length2. The learner clips predictions to actuator limits. Least squares solves the affine prediction problem over recorded observations/actions. There is no need to derive normal equations; source uses numpy.linalg.lstsq and checks design rank5. Saturation makes the global expert clipped rather than globally affine, but over this sampled operating range the affine learner matches it closely.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23</a:t>
            </a:fld>
            <a:endParaRPr lang="en-IL"/>
          </a:p>
        </p:txBody>
      </p:sp>
    </p:spTree>
    <p:extLst>
      <p:ext uri="{BB962C8B-B14F-4D97-AF65-F5344CB8AC3E}">
        <p14:creationId xmlns:p14="http://schemas.microsoft.com/office/powerpoint/2010/main" val="38639485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Behavior cloning: stored observation/action labels. DAgger: repeated collection and expert labeling at learner-visited states, aggregated with previous data. IRL: infer reward/cost explanations and use a planning/RL stage; rewards are not uniquely identifiable from behavior alone. GAIL: adversarial feedback from expert-versus-learner state/action samples, guiding interaction-based policy training to match visitation. DAgger and GAIL both commonly need further environment interaction, but their supervision sources differ. None of these broader methods is executed in the current demo. Keep this comparison conceptual and avoid mathematical objectives or implementation instructions.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https://arxiv.org/abs/1011.0686</a:t>
            </a:r>
          </a:p>
          <a:p>
            <a:r>
              <a:rPr lang="en-US">
                <a:latin typeface="Aptos" panose="020B0004020202020204" pitchFamily="34" charset="0"/>
              </a:rPr>
              <a:t>https://ai.stanford.edu/~ang/papers/icml00-irl.pdf</a:t>
            </a:r>
          </a:p>
          <a:p>
            <a:r>
              <a:rPr lang="en-US">
                <a:latin typeface="Aptos" panose="020B0004020202020204" pitchFamily="34" charset="0"/>
              </a:rPr>
              <a:t>https://arxiv.org/abs/1606.03476</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24</a:t>
            </a:fld>
            <a:endParaRPr lang="en-IL"/>
          </a:p>
        </p:txBody>
      </p:sp>
    </p:spTree>
    <p:extLst>
      <p:ext uri="{BB962C8B-B14F-4D97-AF65-F5344CB8AC3E}">
        <p14:creationId xmlns:p14="http://schemas.microsoft.com/office/powerpoint/2010/main" val="11007826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Collection: seed7,100episodes,250 decisions each. Inputs25000×4, labels25000×2; label the pre-action observation with the applied clipped force. Training20000 rows from80 episodes; validation5000 rows from20. Fresh evaluation seed42 uses20 scenarios shared across expert, learner and zero. Success uses all26 control samples from4.50 to5.00seconds, requiring distance&lt;.03m and speed&lt;.05m/s. Predictions on held-out expert trajectories and performance on learner-generated trajectories answer different questions. GUI tests on a historical desktop had graphics limitations; runtime tests and classroom viewer rehearsal must be reported separately from slide arithmetic/source inspection.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demo/task.py, expert.py, learning.py, demo.py, robot.xml, test_demo.py, README.md and comparison.png.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51C2384-FC6C-46F9-A4CB-6ED049FBB061}" type="slidenum">
              <a:rPr lang="en-IL" smtClean="0"/>
              <a:t>25</a:t>
            </a:fld>
            <a:endParaRPr lang="en-IL"/>
          </a:p>
        </p:txBody>
      </p:sp>
    </p:spTree>
    <p:extLst>
      <p:ext uri="{BB962C8B-B14F-4D97-AF65-F5344CB8AC3E}">
        <p14:creationId xmlns:p14="http://schemas.microsoft.com/office/powerpoint/2010/main" val="472303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EFC91-814E-9EF8-F709-A56D810960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1C5FABB8-D197-2966-4AA3-BA4FEED612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B47B88B8-F9F3-ECBE-E275-ED629604F69F}"/>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5" name="Footer Placeholder 4">
            <a:extLst>
              <a:ext uri="{FF2B5EF4-FFF2-40B4-BE49-F238E27FC236}">
                <a16:creationId xmlns:a16="http://schemas.microsoft.com/office/drawing/2014/main" id="{37C8342C-6AD5-F320-22FD-EF824EA0D08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FACEAE5-7903-0807-C902-AF1A58C9D00F}"/>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720615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D023-678C-E5B5-31B9-C1FF93EAA6C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5ABC3290-18C2-6597-D4BC-0EC047601C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7A83CF1-E7E1-CF7F-50A0-026E3CD39254}"/>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5" name="Footer Placeholder 4">
            <a:extLst>
              <a:ext uri="{FF2B5EF4-FFF2-40B4-BE49-F238E27FC236}">
                <a16:creationId xmlns:a16="http://schemas.microsoft.com/office/drawing/2014/main" id="{46DDBD11-7C81-FFB6-EFD9-20A4DFD06E6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604756A-279E-1979-E9BA-79010595D780}"/>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197788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AF7BA-6798-666B-7CF6-BB6320F068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34A2E92-01BC-B15B-5310-DD356AD1D4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FA8FA3-4693-D63E-CC52-FC6223648F18}"/>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5" name="Footer Placeholder 4">
            <a:extLst>
              <a:ext uri="{FF2B5EF4-FFF2-40B4-BE49-F238E27FC236}">
                <a16:creationId xmlns:a16="http://schemas.microsoft.com/office/drawing/2014/main" id="{8912A6B7-5C52-C080-3FCE-0F6BB61BA58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46ED4D8-4FB4-610A-3B1C-AA627D0C52AB}"/>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2860951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2DC80-6374-0310-E006-A39B88A73247}"/>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25B0FAA-2FA3-7FD3-238D-46EC40C012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FB89906-454A-8DFC-BB56-BEB2CDC64D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A3A9C17-DB77-B563-E81D-883BCC04D799}"/>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6" name="Footer Placeholder 5">
            <a:extLst>
              <a:ext uri="{FF2B5EF4-FFF2-40B4-BE49-F238E27FC236}">
                <a16:creationId xmlns:a16="http://schemas.microsoft.com/office/drawing/2014/main" id="{A998B75B-766C-70C0-51EE-9853E018944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5BB0E8E-8B75-1E5B-5AA9-571A97FF3D4A}"/>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962196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BFA9A-1985-1117-7004-85C95FE1471C}"/>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6C64C13-D032-34AB-0D9D-ED10E2AF5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0BC634-ED95-9418-5E46-F44594245B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4C87E04-4298-E62E-9982-39B816789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DE62B0-C3C4-0689-A083-DA47BBAA2C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C0533C97-391F-AA74-5970-BF8FA8731792}"/>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8" name="Footer Placeholder 7">
            <a:extLst>
              <a:ext uri="{FF2B5EF4-FFF2-40B4-BE49-F238E27FC236}">
                <a16:creationId xmlns:a16="http://schemas.microsoft.com/office/drawing/2014/main" id="{8BF7292D-555D-6C29-873E-3309463487D2}"/>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C1433C6B-B26E-F19E-D29D-358C34BD244C}"/>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110068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3F7ED-9CB3-67EB-0452-9A172585F759}"/>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AE5761ED-9E22-CAB9-09D1-6D627704B95D}"/>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4" name="Footer Placeholder 3">
            <a:extLst>
              <a:ext uri="{FF2B5EF4-FFF2-40B4-BE49-F238E27FC236}">
                <a16:creationId xmlns:a16="http://schemas.microsoft.com/office/drawing/2014/main" id="{4A115D50-B436-D2C5-DE88-8D380D96152D}"/>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E34A3F7F-D1AB-B1B7-F08F-CD37C2418C8F}"/>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4045349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377292-7810-04E9-7CCA-B77ECBFFA07A}"/>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3" name="Footer Placeholder 2">
            <a:extLst>
              <a:ext uri="{FF2B5EF4-FFF2-40B4-BE49-F238E27FC236}">
                <a16:creationId xmlns:a16="http://schemas.microsoft.com/office/drawing/2014/main" id="{90AFAB1B-BAD5-E7BD-2353-428D09AEE411}"/>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BE610A5F-6474-1B8B-A4C2-2B9FE10A5942}"/>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2962628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9BC6D-0E7C-8ED5-1E49-7C31265E5B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A517F32-1708-1A70-C0E9-97FF4B4BCA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583F0A30-C176-3886-FF31-DF3224EC6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9DE264-BC9D-0988-A553-48D4BD378351}"/>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6" name="Footer Placeholder 5">
            <a:extLst>
              <a:ext uri="{FF2B5EF4-FFF2-40B4-BE49-F238E27FC236}">
                <a16:creationId xmlns:a16="http://schemas.microsoft.com/office/drawing/2014/main" id="{76DA0028-ADB5-BB37-FC31-D25DEE58C4A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36FD733-822F-09CC-FEAB-B933EE1DEDC0}"/>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3331519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36B55-4A10-6868-C486-568711795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A967FCD4-66B9-40E2-93B6-F7DAB6E09B0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2B53806-1A6A-3904-FB89-215B23477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EBBE74-73E4-4E4D-BA22-D77C5E158E04}"/>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6" name="Footer Placeholder 5">
            <a:extLst>
              <a:ext uri="{FF2B5EF4-FFF2-40B4-BE49-F238E27FC236}">
                <a16:creationId xmlns:a16="http://schemas.microsoft.com/office/drawing/2014/main" id="{1FE0C2B2-4EE5-76A7-A998-75E00E0E152F}"/>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C253D4F-B9D8-F1BD-D262-70E6C14FA9E7}"/>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3158470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9B0F6-9929-6DC0-31E6-E9C9FF637143}"/>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DD6ACF0-5DB8-9CBA-C3A9-FCB893A72E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E1C4320-DC09-2E42-A8CE-00549B8EC0A0}"/>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5" name="Footer Placeholder 4">
            <a:extLst>
              <a:ext uri="{FF2B5EF4-FFF2-40B4-BE49-F238E27FC236}">
                <a16:creationId xmlns:a16="http://schemas.microsoft.com/office/drawing/2014/main" id="{3E7A6A9B-5454-D7A0-316C-1F39CF9B718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D720342-DE6B-0EC3-AC73-AC0247E87DC2}"/>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259496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518931-AC0B-BC3E-C1C1-AAF15ABD47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A4FFE426-189B-E9C1-078C-48D7BD6C61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D69F798-E888-4ACF-5ECD-919D060A4608}"/>
              </a:ext>
            </a:extLst>
          </p:cNvPr>
          <p:cNvSpPr>
            <a:spLocks noGrp="1"/>
          </p:cNvSpPr>
          <p:nvPr>
            <p:ph type="dt" sz="half" idx="10"/>
          </p:nvPr>
        </p:nvSpPr>
        <p:spPr/>
        <p:txBody>
          <a:bodyPr/>
          <a:lstStyle/>
          <a:p>
            <a:fld id="{1A241F67-B73C-40DF-9A48-30B3B725D407}" type="datetimeFigureOut">
              <a:rPr lang="en-IL" smtClean="0"/>
              <a:t>05/10/2026</a:t>
            </a:fld>
            <a:endParaRPr lang="en-IL"/>
          </a:p>
        </p:txBody>
      </p:sp>
      <p:sp>
        <p:nvSpPr>
          <p:cNvPr id="5" name="Footer Placeholder 4">
            <a:extLst>
              <a:ext uri="{FF2B5EF4-FFF2-40B4-BE49-F238E27FC236}">
                <a16:creationId xmlns:a16="http://schemas.microsoft.com/office/drawing/2014/main" id="{B8F7BE11-3216-E917-7C68-4D916E60AF0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5C081CB-ECD9-9E4C-54C0-10E3A37A2A65}"/>
              </a:ext>
            </a:extLst>
          </p:cNvPr>
          <p:cNvSpPr>
            <a:spLocks noGrp="1"/>
          </p:cNvSpPr>
          <p:nvPr>
            <p:ph type="sldNum" sz="quarter" idx="12"/>
          </p:nvPr>
        </p:nvSpPr>
        <p:spPr/>
        <p:txBody>
          <a:bodyPr/>
          <a:lstStyle/>
          <a:p>
            <a:fld id="{22D96768-E8F5-4B5E-83CB-B2E591CA0B96}" type="slidenum">
              <a:rPr lang="en-IL" smtClean="0"/>
              <a:t>‹#›</a:t>
            </a:fld>
            <a:endParaRPr lang="en-IL"/>
          </a:p>
        </p:txBody>
      </p:sp>
    </p:spTree>
    <p:extLst>
      <p:ext uri="{BB962C8B-B14F-4D97-AF65-F5344CB8AC3E}">
        <p14:creationId xmlns:p14="http://schemas.microsoft.com/office/powerpoint/2010/main" val="389802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26234B-2DB8-B179-5671-964CCE789D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31296F0-ED22-7D01-11D4-8F1B349AE8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3A93474-A538-71A8-F786-92D44210E2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241F67-B73C-40DF-9A48-30B3B725D407}" type="datetimeFigureOut">
              <a:rPr lang="en-IL" smtClean="0"/>
              <a:t>05/10/2026</a:t>
            </a:fld>
            <a:endParaRPr lang="en-IL"/>
          </a:p>
        </p:txBody>
      </p:sp>
      <p:sp>
        <p:nvSpPr>
          <p:cNvPr id="5" name="Footer Placeholder 4">
            <a:extLst>
              <a:ext uri="{FF2B5EF4-FFF2-40B4-BE49-F238E27FC236}">
                <a16:creationId xmlns:a16="http://schemas.microsoft.com/office/drawing/2014/main" id="{EB4339B4-FCEE-5A1C-84A9-47EF740538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FF4853D2-D8D6-423F-2C68-6C566D8EC1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D96768-E8F5-4B5E-83CB-B2E591CA0B96}" type="slidenum">
              <a:rPr lang="en-IL" smtClean="0"/>
              <a:t>‹#›</a:t>
            </a:fld>
            <a:endParaRPr lang="en-IL"/>
          </a:p>
        </p:txBody>
      </p:sp>
    </p:spTree>
    <p:extLst>
      <p:ext uri="{BB962C8B-B14F-4D97-AF65-F5344CB8AC3E}">
        <p14:creationId xmlns:p14="http://schemas.microsoft.com/office/powerpoint/2010/main" val="3295866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E8469B1-9929-F4DE-2C30-F045093F6A3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4D826C1-BA90-9DD2-298E-8B0EE85132E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MuJoCo &amp; imitation learning</a:t>
            </a:r>
          </a:p>
        </p:txBody>
      </p:sp>
      <p:sp>
        <p:nvSpPr>
          <p:cNvPr id="4" name="text_3">
            <a:extLst>
              <a:ext uri="{FF2B5EF4-FFF2-40B4-BE49-F238E27FC236}">
                <a16:creationId xmlns:a16="http://schemas.microsoft.com/office/drawing/2014/main" id="{CB1E40BE-E26D-E855-1BC6-448834A0780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Simulate motion. Learn behavior from an expert.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156BC4F-9A08-5744-B7D3-FCB571EC550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D9F4A60-31DF-9CC5-2297-5D3FC995512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F75E75A-4296-4F55-C63E-C9A0A2AA9F4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D00FAE6C-2B97-A53C-CB85-A631E37BD6E0}"/>
              </a:ext>
            </a:extLst>
          </p:cNvPr>
          <p:cNvSpPr/>
          <p:nvPr/>
        </p:nvSpPr>
        <p:spPr>
          <a:xfrm>
            <a:off x="685800" y="2679700"/>
            <a:ext cx="5207000" cy="2603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168CBD90-5F3B-D42B-658C-5698D17F1560}"/>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Part 1 · MuJoCo</a:t>
            </a:r>
          </a:p>
        </p:txBody>
      </p:sp>
      <p:sp>
        <p:nvSpPr>
          <p:cNvPr id="10" name="text_9">
            <a:extLst>
              <a:ext uri="{FF2B5EF4-FFF2-40B4-BE49-F238E27FC236}">
                <a16:creationId xmlns:a16="http://schemas.microsoft.com/office/drawing/2014/main" id="{695F0305-A4E9-06F8-C9A6-789CC74D8444}"/>
              </a:ext>
            </a:extLst>
          </p:cNvPr>
          <p:cNvSpPr txBox="1"/>
          <p:nvPr/>
        </p:nvSpPr>
        <p:spPr>
          <a:xfrm>
            <a:off x="914400" y="3492499"/>
            <a:ext cx="4749800" cy="1739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Physics and experimentation
CPU and GPU roles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97EBE567-04AD-2E51-F05A-B8E56BC2EFDA}"/>
              </a:ext>
            </a:extLst>
          </p:cNvPr>
          <p:cNvSpPr/>
          <p:nvPr/>
        </p:nvSpPr>
        <p:spPr>
          <a:xfrm>
            <a:off x="6172200" y="2679700"/>
            <a:ext cx="5334000" cy="2603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C3C3FA33-EB52-9B87-7725-EA86162D69D3}"/>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Part 2 · Imitation</a:t>
            </a:r>
          </a:p>
        </p:txBody>
      </p:sp>
      <p:sp>
        <p:nvSpPr>
          <p:cNvPr id="13" name="text_12">
            <a:extLst>
              <a:ext uri="{FF2B5EF4-FFF2-40B4-BE49-F238E27FC236}">
                <a16:creationId xmlns:a16="http://schemas.microsoft.com/office/drawing/2014/main" id="{9D76B69E-B840-7100-A9E1-929A6A913324}"/>
              </a:ext>
            </a:extLst>
          </p:cNvPr>
          <p:cNvSpPr txBox="1"/>
          <p:nvPr/>
        </p:nvSpPr>
        <p:spPr>
          <a:xfrm>
            <a:off x="6400800" y="3492499"/>
            <a:ext cx="4876800" cy="1739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Expert demonstrations
Learning and drift</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B4587E7A-0BDD-E530-E653-F0A0BF838D9E}"/>
              </a:ext>
            </a:extLst>
          </p:cNvPr>
          <p:cNvSpPr txBox="1"/>
          <p:nvPr/>
        </p:nvSpPr>
        <p:spPr>
          <a:xfrm>
            <a:off x="685800" y="5702299"/>
            <a:ext cx="10820400" cy="495300"/>
          </a:xfrm>
          <a:prstGeom prst="rect">
            <a:avLst/>
          </a:prstGeom>
          <a:noFill/>
        </p:spPr>
        <p:txBody>
          <a:bodyPr vert="horz" wrap="square" lIns="0" tIns="0" rIns="0" bIns="0" rtlCol="0" anchor="t">
            <a:noAutofit/>
          </a:bodyPr>
          <a:lstStyle/>
          <a:p>
            <a:r>
              <a:rPr lang="sv-SE" sz="2700" b="1">
                <a:solidFill>
                  <a:srgbClr val="526477"/>
                </a:solidFill>
                <a:latin typeface="Aptos" panose="020B0004020202020204" pitchFamily="34" charset="0"/>
              </a:rPr>
              <a:t>22 min explanation · 18 min demo · 5 min recap</a:t>
            </a:r>
            <a:endParaRPr lang="en-IL" sz="2700" b="1">
              <a:solidFill>
                <a:srgbClr val="526477"/>
              </a:solidFill>
              <a:latin typeface="Aptos" panose="020B0004020202020204" pitchFamily="34" charset="0"/>
            </a:endParaRPr>
          </a:p>
        </p:txBody>
      </p:sp>
    </p:spTree>
    <p:extLst>
      <p:ext uri="{BB962C8B-B14F-4D97-AF65-F5344CB8AC3E}">
        <p14:creationId xmlns:p14="http://schemas.microsoft.com/office/powerpoint/2010/main" val="4181862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C8ACCD9-A64F-628A-ACEF-5EFE7E96215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A045C80-D08D-FE14-F02D-4CDA020FAB6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Part 1 · MuJoCo</a:t>
            </a:r>
          </a:p>
        </p:txBody>
      </p:sp>
      <p:sp>
        <p:nvSpPr>
          <p:cNvPr id="4" name="text_3">
            <a:extLst>
              <a:ext uri="{FF2B5EF4-FFF2-40B4-BE49-F238E27FC236}">
                <a16:creationId xmlns:a16="http://schemas.microsoft.com/office/drawing/2014/main" id="{8545801F-F150-9024-16E9-D9469031958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Why this simulator fits robot-learning experiments.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A1A225A-B50B-BC93-8E33-DBAE9F51B7A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091ADC0-2E4B-BCD6-B5BA-AD132CC9F6E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E962122-1797-36B8-C418-7C10AA77779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text_7">
            <a:extLst>
              <a:ext uri="{FF2B5EF4-FFF2-40B4-BE49-F238E27FC236}">
                <a16:creationId xmlns:a16="http://schemas.microsoft.com/office/drawing/2014/main" id="{9AFCB6F9-779B-4E94-93B5-94C2B9047883}"/>
              </a:ext>
            </a:extLst>
          </p:cNvPr>
          <p:cNvSpPr txBox="1"/>
          <p:nvPr/>
        </p:nvSpPr>
        <p:spPr>
          <a:xfrm>
            <a:off x="685800" y="2743199"/>
            <a:ext cx="10820400" cy="838200"/>
          </a:xfrm>
          <a:prstGeom prst="rect">
            <a:avLst/>
          </a:prstGeom>
          <a:noFill/>
        </p:spPr>
        <p:txBody>
          <a:bodyPr vert="horz" wrap="square" lIns="0" tIns="0" rIns="0" bIns="0" rtlCol="0" anchor="t">
            <a:noAutofit/>
          </a:bodyPr>
          <a:lstStyle/>
          <a:p>
            <a:r>
              <a:rPr lang="en-IL" sz="3400" b="1">
                <a:solidFill>
                  <a:srgbClr val="2459D3"/>
                </a:solidFill>
                <a:latin typeface="Aptos" panose="020B0004020202020204" pitchFamily="34" charset="0"/>
              </a:rPr>
              <a:t>Control inputs → physics → motion</a:t>
            </a:r>
          </a:p>
        </p:txBody>
      </p:sp>
      <p:sp>
        <p:nvSpPr>
          <p:cNvPr id="9" name="Rectangle: Rounded Corners 8">
            <a:extLst>
              <a:ext uri="{FF2B5EF4-FFF2-40B4-BE49-F238E27FC236}">
                <a16:creationId xmlns:a16="http://schemas.microsoft.com/office/drawing/2014/main" id="{3D2ED2D5-86A9-B863-7EEB-55D6388242FF}"/>
              </a:ext>
            </a:extLst>
          </p:cNvPr>
          <p:cNvSpPr/>
          <p:nvPr/>
        </p:nvSpPr>
        <p:spPr>
          <a:xfrm>
            <a:off x="685800" y="4127500"/>
            <a:ext cx="3420533"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158B0AAF-0793-7016-2D3D-5E6C4CA521EC}"/>
              </a:ext>
            </a:extLst>
          </p:cNvPr>
          <p:cNvSpPr txBox="1"/>
          <p:nvPr/>
        </p:nvSpPr>
        <p:spPr>
          <a:xfrm>
            <a:off x="787400" y="4444999"/>
            <a:ext cx="3217333"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Experiment</a:t>
            </a:r>
          </a:p>
        </p:txBody>
      </p:sp>
      <p:cxnSp>
        <p:nvCxnSpPr>
          <p:cNvPr id="11" name="Straight Connector 10">
            <a:extLst>
              <a:ext uri="{FF2B5EF4-FFF2-40B4-BE49-F238E27FC236}">
                <a16:creationId xmlns:a16="http://schemas.microsoft.com/office/drawing/2014/main" id="{868FD7B9-12EF-4B7F-E0A1-3BF731076626}"/>
              </a:ext>
            </a:extLst>
          </p:cNvPr>
          <p:cNvCxnSpPr/>
          <p:nvPr/>
        </p:nvCxnSpPr>
        <p:spPr>
          <a:xfrm>
            <a:off x="4144433" y="4660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B747E3E8-32EF-EAB8-195C-7D8D856CAF18}"/>
              </a:ext>
            </a:extLst>
          </p:cNvPr>
          <p:cNvSpPr/>
          <p:nvPr/>
        </p:nvSpPr>
        <p:spPr>
          <a:xfrm>
            <a:off x="4385733" y="4127500"/>
            <a:ext cx="3420534"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440B748A-B859-7084-8786-8F55AC4EEF42}"/>
              </a:ext>
            </a:extLst>
          </p:cNvPr>
          <p:cNvSpPr txBox="1"/>
          <p:nvPr/>
        </p:nvSpPr>
        <p:spPr>
          <a:xfrm>
            <a:off x="4487333" y="4444999"/>
            <a:ext cx="3217333"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Reset</a:t>
            </a:r>
          </a:p>
        </p:txBody>
      </p:sp>
      <p:cxnSp>
        <p:nvCxnSpPr>
          <p:cNvPr id="14" name="Straight Connector 13">
            <a:extLst>
              <a:ext uri="{FF2B5EF4-FFF2-40B4-BE49-F238E27FC236}">
                <a16:creationId xmlns:a16="http://schemas.microsoft.com/office/drawing/2014/main" id="{43FCA48B-3840-1808-229B-7F1AC730B257}"/>
              </a:ext>
            </a:extLst>
          </p:cNvPr>
          <p:cNvCxnSpPr/>
          <p:nvPr/>
        </p:nvCxnSpPr>
        <p:spPr>
          <a:xfrm>
            <a:off x="7844367" y="4660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C427A093-CDDA-6776-F39F-BD5F2A8B5B02}"/>
              </a:ext>
            </a:extLst>
          </p:cNvPr>
          <p:cNvSpPr/>
          <p:nvPr/>
        </p:nvSpPr>
        <p:spPr>
          <a:xfrm>
            <a:off x="8085667" y="4127500"/>
            <a:ext cx="3420533"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08CE6069-AE2A-6CE8-86C5-C6AD6B67FBE6}"/>
              </a:ext>
            </a:extLst>
          </p:cNvPr>
          <p:cNvSpPr txBox="1"/>
          <p:nvPr/>
        </p:nvSpPr>
        <p:spPr>
          <a:xfrm>
            <a:off x="8187267" y="4444999"/>
            <a:ext cx="3217333"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Repeat</a:t>
            </a:r>
          </a:p>
        </p:txBody>
      </p:sp>
    </p:spTree>
    <p:extLst>
      <p:ext uri="{BB962C8B-B14F-4D97-AF65-F5344CB8AC3E}">
        <p14:creationId xmlns:p14="http://schemas.microsoft.com/office/powerpoint/2010/main" val="1375225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DE11BB1-4FEA-3141-ED02-8F31500C4FA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7DA7A38-B157-0774-37F5-910A42382D2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is MuJoCo?</a:t>
            </a:r>
          </a:p>
        </p:txBody>
      </p:sp>
      <p:sp>
        <p:nvSpPr>
          <p:cNvPr id="4" name="text_3">
            <a:extLst>
              <a:ext uri="{FF2B5EF4-FFF2-40B4-BE49-F238E27FC236}">
                <a16:creationId xmlns:a16="http://schemas.microsoft.com/office/drawing/2014/main" id="{CEF264E7-6CEE-17FB-DEAE-8FF7B3CD7F7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physics simulator for articulated bodies and control.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44E5E82-CE40-29E1-E2E4-222F69E9983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AD0A22F-48F2-DCCF-7EC6-12052B1076B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69852DA-FAD2-84AD-FA2D-4C2AF8EB9A3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Rounded Corners 7">
            <a:extLst>
              <a:ext uri="{FF2B5EF4-FFF2-40B4-BE49-F238E27FC236}">
                <a16:creationId xmlns:a16="http://schemas.microsoft.com/office/drawing/2014/main" id="{45600F00-16A2-41F5-6DCD-5660AE6D8D8A}"/>
              </a:ext>
            </a:extLst>
          </p:cNvPr>
          <p:cNvSpPr/>
          <p:nvPr/>
        </p:nvSpPr>
        <p:spPr>
          <a:xfrm>
            <a:off x="685800" y="2921000"/>
            <a:ext cx="249555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C1BB89FC-FE6A-8F06-9E26-F4887ED92AE1}"/>
              </a:ext>
            </a:extLst>
          </p:cNvPr>
          <p:cNvSpPr txBox="1"/>
          <p:nvPr/>
        </p:nvSpPr>
        <p:spPr>
          <a:xfrm>
            <a:off x="787400" y="32384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Observation</a:t>
            </a:r>
          </a:p>
        </p:txBody>
      </p:sp>
      <p:cxnSp>
        <p:nvCxnSpPr>
          <p:cNvPr id="10" name="Straight Connector 9">
            <a:extLst>
              <a:ext uri="{FF2B5EF4-FFF2-40B4-BE49-F238E27FC236}">
                <a16:creationId xmlns:a16="http://schemas.microsoft.com/office/drawing/2014/main" id="{DB11EF73-5EC5-11B1-B27A-0B249F09FF66}"/>
              </a:ext>
            </a:extLst>
          </p:cNvPr>
          <p:cNvCxnSpPr/>
          <p:nvPr/>
        </p:nvCxnSpPr>
        <p:spPr>
          <a:xfrm>
            <a:off x="3219450" y="34544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7F6256A2-9369-9121-6679-459CF5695661}"/>
              </a:ext>
            </a:extLst>
          </p:cNvPr>
          <p:cNvSpPr/>
          <p:nvPr/>
        </p:nvSpPr>
        <p:spPr>
          <a:xfrm>
            <a:off x="3460750" y="2921000"/>
            <a:ext cx="2495550"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163673B-1240-C5EB-A99A-6DDA947F4754}"/>
              </a:ext>
            </a:extLst>
          </p:cNvPr>
          <p:cNvSpPr txBox="1"/>
          <p:nvPr/>
        </p:nvSpPr>
        <p:spPr>
          <a:xfrm>
            <a:off x="3562350" y="32384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Controller</a:t>
            </a:r>
          </a:p>
        </p:txBody>
      </p:sp>
      <p:cxnSp>
        <p:nvCxnSpPr>
          <p:cNvPr id="13" name="Straight Connector 12">
            <a:extLst>
              <a:ext uri="{FF2B5EF4-FFF2-40B4-BE49-F238E27FC236}">
                <a16:creationId xmlns:a16="http://schemas.microsoft.com/office/drawing/2014/main" id="{1D16AD10-1FA6-8962-63B1-FA4262FFC149}"/>
              </a:ext>
            </a:extLst>
          </p:cNvPr>
          <p:cNvCxnSpPr/>
          <p:nvPr/>
        </p:nvCxnSpPr>
        <p:spPr>
          <a:xfrm>
            <a:off x="5994400" y="34544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D93BCCAF-2152-8A3A-DF5C-932972F6C379}"/>
              </a:ext>
            </a:extLst>
          </p:cNvPr>
          <p:cNvSpPr/>
          <p:nvPr/>
        </p:nvSpPr>
        <p:spPr>
          <a:xfrm>
            <a:off x="6235700" y="2921000"/>
            <a:ext cx="249555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E26D93C7-6464-4738-502E-F57067A9872F}"/>
              </a:ext>
            </a:extLst>
          </p:cNvPr>
          <p:cNvSpPr txBox="1"/>
          <p:nvPr/>
        </p:nvSpPr>
        <p:spPr>
          <a:xfrm>
            <a:off x="6337300" y="32384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Forces</a:t>
            </a:r>
          </a:p>
        </p:txBody>
      </p:sp>
      <p:cxnSp>
        <p:nvCxnSpPr>
          <p:cNvPr id="16" name="Straight Connector 15">
            <a:extLst>
              <a:ext uri="{FF2B5EF4-FFF2-40B4-BE49-F238E27FC236}">
                <a16:creationId xmlns:a16="http://schemas.microsoft.com/office/drawing/2014/main" id="{ECBDA49E-8711-28C0-3872-0A658439B190}"/>
              </a:ext>
            </a:extLst>
          </p:cNvPr>
          <p:cNvCxnSpPr/>
          <p:nvPr/>
        </p:nvCxnSpPr>
        <p:spPr>
          <a:xfrm>
            <a:off x="8769350" y="34544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77BC48DC-D32C-91D0-D502-543792D54B1B}"/>
              </a:ext>
            </a:extLst>
          </p:cNvPr>
          <p:cNvSpPr/>
          <p:nvPr/>
        </p:nvSpPr>
        <p:spPr>
          <a:xfrm>
            <a:off x="9010650" y="2921000"/>
            <a:ext cx="2495550"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E76F0805-E4A7-5FD0-15A6-9BB5840C66F5}"/>
              </a:ext>
            </a:extLst>
          </p:cNvPr>
          <p:cNvSpPr txBox="1"/>
          <p:nvPr/>
        </p:nvSpPr>
        <p:spPr>
          <a:xfrm>
            <a:off x="9112250" y="32384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Physics</a:t>
            </a:r>
          </a:p>
        </p:txBody>
      </p:sp>
      <p:cxnSp>
        <p:nvCxnSpPr>
          <p:cNvPr id="19" name="Straight Connector 18">
            <a:extLst>
              <a:ext uri="{FF2B5EF4-FFF2-40B4-BE49-F238E27FC236}">
                <a16:creationId xmlns:a16="http://schemas.microsoft.com/office/drawing/2014/main" id="{CE8A721E-498F-2D0A-E062-ABD7BC9B59D6}"/>
              </a:ext>
            </a:extLst>
          </p:cNvPr>
          <p:cNvCxnSpPr/>
          <p:nvPr/>
        </p:nvCxnSpPr>
        <p:spPr>
          <a:xfrm>
            <a:off x="10223500" y="4191000"/>
            <a:ext cx="0" cy="7747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D6C26E3-7B22-0BEE-997C-1487A3584A26}"/>
              </a:ext>
            </a:extLst>
          </p:cNvPr>
          <p:cNvCxnSpPr/>
          <p:nvPr/>
        </p:nvCxnSpPr>
        <p:spPr>
          <a:xfrm flipH="1">
            <a:off x="1993900" y="4965700"/>
            <a:ext cx="8229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EB09FC6-E90E-EDAA-57F4-3F9F1D2B35AB}"/>
              </a:ext>
            </a:extLst>
          </p:cNvPr>
          <p:cNvCxnSpPr/>
          <p:nvPr/>
        </p:nvCxnSpPr>
        <p:spPr>
          <a:xfrm flipV="1">
            <a:off x="1993900" y="4191000"/>
            <a:ext cx="0" cy="7747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2" name="text_21">
            <a:extLst>
              <a:ext uri="{FF2B5EF4-FFF2-40B4-BE49-F238E27FC236}">
                <a16:creationId xmlns:a16="http://schemas.microsoft.com/office/drawing/2014/main" id="{7169BD2C-7B9C-1A99-1DBC-58F86E7E1DF8}"/>
              </a:ext>
            </a:extLst>
          </p:cNvPr>
          <p:cNvSpPr txBox="1"/>
          <p:nvPr/>
        </p:nvSpPr>
        <p:spPr>
          <a:xfrm>
            <a:off x="3683000" y="4571999"/>
            <a:ext cx="4826000" cy="508000"/>
          </a:xfrm>
          <a:prstGeom prst="rect">
            <a:avLst/>
          </a:prstGeom>
          <a:noFill/>
        </p:spPr>
        <p:txBody>
          <a:bodyPr vert="horz" wrap="square" lIns="0" tIns="0" rIns="0" bIns="0" rtlCol="0" anchor="t">
            <a:noAutofit/>
          </a:bodyPr>
          <a:lstStyle/>
          <a:p>
            <a:pPr algn="ctr"/>
            <a:r>
              <a:rPr lang="en-IL" sz="2700" b="1">
                <a:solidFill>
                  <a:srgbClr val="137F79"/>
                </a:solidFill>
                <a:latin typeface="Aptos" panose="020B0004020202020204" pitchFamily="34" charset="0"/>
              </a:rPr>
              <a:t>New observation; repeat.</a:t>
            </a:r>
          </a:p>
        </p:txBody>
      </p:sp>
      <p:sp>
        <p:nvSpPr>
          <p:cNvPr id="23" name="text_22">
            <a:extLst>
              <a:ext uri="{FF2B5EF4-FFF2-40B4-BE49-F238E27FC236}">
                <a16:creationId xmlns:a16="http://schemas.microsoft.com/office/drawing/2014/main" id="{6DE955E0-9B49-B308-F8ED-D9B8FF7DC74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MuJoCo computes motion. The controller chooses actions.</a:t>
            </a:r>
          </a:p>
        </p:txBody>
      </p:sp>
    </p:spTree>
    <p:extLst>
      <p:ext uri="{BB962C8B-B14F-4D97-AF65-F5344CB8AC3E}">
        <p14:creationId xmlns:p14="http://schemas.microsoft.com/office/powerpoint/2010/main" val="323714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3745CD4-D58E-7E9D-1F53-1A6E69366DB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2B947C1-2D83-4E4C-A20C-7BE9B7F1A53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simulation for RL?</a:t>
            </a:r>
          </a:p>
        </p:txBody>
      </p:sp>
      <p:sp>
        <p:nvSpPr>
          <p:cNvPr id="4" name="text_3">
            <a:extLst>
              <a:ext uri="{FF2B5EF4-FFF2-40B4-BE49-F238E27FC236}">
                <a16:creationId xmlns:a16="http://schemas.microsoft.com/office/drawing/2014/main" id="{7D571284-D5BE-099F-D579-EC865AAC386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Learning through interaction needs many trials.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2F8049C-0C65-F75C-0EDE-CFE1BCB9009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21788B0-4754-D30D-6018-C7C224EC62C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151A954-568B-985E-FD0A-5DAABFEDE1C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Rectangle: Rounded Corners 7">
            <a:extLst>
              <a:ext uri="{FF2B5EF4-FFF2-40B4-BE49-F238E27FC236}">
                <a16:creationId xmlns:a16="http://schemas.microsoft.com/office/drawing/2014/main" id="{D7FD15F1-F468-C792-531F-1109488A41C3}"/>
              </a:ext>
            </a:extLst>
          </p:cNvPr>
          <p:cNvSpPr/>
          <p:nvPr/>
        </p:nvSpPr>
        <p:spPr>
          <a:xfrm>
            <a:off x="685800" y="2603500"/>
            <a:ext cx="5334000" cy="1371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9BB4001-087B-73AB-D9E5-4CC6C3C02664}"/>
              </a:ext>
            </a:extLst>
          </p:cNvPr>
          <p:cNvSpPr txBox="1"/>
          <p:nvPr/>
        </p:nvSpPr>
        <p:spPr>
          <a:xfrm>
            <a:off x="889000" y="27558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Repeat</a:t>
            </a:r>
          </a:p>
        </p:txBody>
      </p:sp>
      <p:sp>
        <p:nvSpPr>
          <p:cNvPr id="10" name="text_9">
            <a:extLst>
              <a:ext uri="{FF2B5EF4-FFF2-40B4-BE49-F238E27FC236}">
                <a16:creationId xmlns:a16="http://schemas.microsoft.com/office/drawing/2014/main" id="{66700A5E-6D8E-3745-9C00-534CC5044E66}"/>
              </a:ext>
            </a:extLst>
          </p:cNvPr>
          <p:cNvSpPr txBox="1"/>
          <p:nvPr/>
        </p:nvSpPr>
        <p:spPr>
          <a:xfrm>
            <a:off x="889000" y="3289299"/>
            <a:ext cx="4927600" cy="596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Run many experiments.</a:t>
            </a:r>
          </a:p>
        </p:txBody>
      </p:sp>
      <p:sp>
        <p:nvSpPr>
          <p:cNvPr id="11" name="Rectangle: Rounded Corners 10">
            <a:extLst>
              <a:ext uri="{FF2B5EF4-FFF2-40B4-BE49-F238E27FC236}">
                <a16:creationId xmlns:a16="http://schemas.microsoft.com/office/drawing/2014/main" id="{E7F2ECB3-19EB-6CF9-E47D-E314A8F86F0F}"/>
              </a:ext>
            </a:extLst>
          </p:cNvPr>
          <p:cNvSpPr/>
          <p:nvPr/>
        </p:nvSpPr>
        <p:spPr>
          <a:xfrm>
            <a:off x="6172200" y="2603500"/>
            <a:ext cx="5334000" cy="1371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04E7CBB-1901-0ED8-3B9B-0191101AE4AD}"/>
              </a:ext>
            </a:extLst>
          </p:cNvPr>
          <p:cNvSpPr txBox="1"/>
          <p:nvPr/>
        </p:nvSpPr>
        <p:spPr>
          <a:xfrm>
            <a:off x="6375400" y="27558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Reset</a:t>
            </a:r>
          </a:p>
        </p:txBody>
      </p:sp>
      <p:sp>
        <p:nvSpPr>
          <p:cNvPr id="13" name="text_12">
            <a:extLst>
              <a:ext uri="{FF2B5EF4-FFF2-40B4-BE49-F238E27FC236}">
                <a16:creationId xmlns:a16="http://schemas.microsoft.com/office/drawing/2014/main" id="{5C984CD3-E351-D1B8-B297-36C9E667192D}"/>
              </a:ext>
            </a:extLst>
          </p:cNvPr>
          <p:cNvSpPr txBox="1"/>
          <p:nvPr/>
        </p:nvSpPr>
        <p:spPr>
          <a:xfrm>
            <a:off x="6375400" y="3289299"/>
            <a:ext cx="4927600" cy="596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Try new initial conditions.</a:t>
            </a:r>
          </a:p>
        </p:txBody>
      </p:sp>
      <p:sp>
        <p:nvSpPr>
          <p:cNvPr id="14" name="Rectangle: Rounded Corners 13">
            <a:extLst>
              <a:ext uri="{FF2B5EF4-FFF2-40B4-BE49-F238E27FC236}">
                <a16:creationId xmlns:a16="http://schemas.microsoft.com/office/drawing/2014/main" id="{799E1F4C-1580-6554-7FCA-12EF403DC7BB}"/>
              </a:ext>
            </a:extLst>
          </p:cNvPr>
          <p:cNvSpPr/>
          <p:nvPr/>
        </p:nvSpPr>
        <p:spPr>
          <a:xfrm>
            <a:off x="685800" y="4114800"/>
            <a:ext cx="5334000" cy="1371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0D1D0264-371C-84A6-73C3-FAC4B98E4289}"/>
              </a:ext>
            </a:extLst>
          </p:cNvPr>
          <p:cNvSpPr txBox="1"/>
          <p:nvPr/>
        </p:nvSpPr>
        <p:spPr>
          <a:xfrm>
            <a:off x="889000" y="42671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Compare</a:t>
            </a:r>
          </a:p>
        </p:txBody>
      </p:sp>
      <p:sp>
        <p:nvSpPr>
          <p:cNvPr id="16" name="text_15">
            <a:extLst>
              <a:ext uri="{FF2B5EF4-FFF2-40B4-BE49-F238E27FC236}">
                <a16:creationId xmlns:a16="http://schemas.microsoft.com/office/drawing/2014/main" id="{1F6215B5-02BC-7A74-50DB-7C90A9DDF44A}"/>
              </a:ext>
            </a:extLst>
          </p:cNvPr>
          <p:cNvSpPr txBox="1"/>
          <p:nvPr/>
        </p:nvSpPr>
        <p:spPr>
          <a:xfrm>
            <a:off x="889000" y="4800599"/>
            <a:ext cx="4927600" cy="596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Share scenarios and seeds.</a:t>
            </a:r>
          </a:p>
        </p:txBody>
      </p:sp>
      <p:sp>
        <p:nvSpPr>
          <p:cNvPr id="17" name="Rectangle: Rounded Corners 16">
            <a:extLst>
              <a:ext uri="{FF2B5EF4-FFF2-40B4-BE49-F238E27FC236}">
                <a16:creationId xmlns:a16="http://schemas.microsoft.com/office/drawing/2014/main" id="{CC1B7AA1-975C-8302-B5AA-23F5521DE85B}"/>
              </a:ext>
            </a:extLst>
          </p:cNvPr>
          <p:cNvSpPr/>
          <p:nvPr/>
        </p:nvSpPr>
        <p:spPr>
          <a:xfrm>
            <a:off x="6172200" y="4114800"/>
            <a:ext cx="5334000" cy="1371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52AE0E1F-59F8-BA7D-E676-4E5C9AFEF5EA}"/>
              </a:ext>
            </a:extLst>
          </p:cNvPr>
          <p:cNvSpPr txBox="1"/>
          <p:nvPr/>
        </p:nvSpPr>
        <p:spPr>
          <a:xfrm>
            <a:off x="6375400" y="42671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Scale</a:t>
            </a:r>
          </a:p>
        </p:txBody>
      </p:sp>
      <p:sp>
        <p:nvSpPr>
          <p:cNvPr id="19" name="text_18">
            <a:extLst>
              <a:ext uri="{FF2B5EF4-FFF2-40B4-BE49-F238E27FC236}">
                <a16:creationId xmlns:a16="http://schemas.microsoft.com/office/drawing/2014/main" id="{D0D36197-C8FB-EF31-DE47-DFC5E02AC865}"/>
              </a:ext>
            </a:extLst>
          </p:cNvPr>
          <p:cNvSpPr txBox="1"/>
          <p:nvPr/>
        </p:nvSpPr>
        <p:spPr>
          <a:xfrm>
            <a:off x="6375400" y="4800599"/>
            <a:ext cx="4927600" cy="596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Collect trials in parallel.</a:t>
            </a:r>
          </a:p>
        </p:txBody>
      </p:sp>
      <p:sp>
        <p:nvSpPr>
          <p:cNvPr id="20" name="text_19">
            <a:extLst>
              <a:ext uri="{FF2B5EF4-FFF2-40B4-BE49-F238E27FC236}">
                <a16:creationId xmlns:a16="http://schemas.microsoft.com/office/drawing/2014/main" id="{D0C89D2E-61AE-7E78-5FCB-74B8BA65DE47}"/>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Explore in simulation before committing to hardware.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879946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CA16621-E487-021E-D6CA-83B2DDA56DF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E2C0325-05BA-22D6-3D54-7902D79CED0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MuJoCo versus Gazebo</a:t>
            </a:r>
          </a:p>
        </p:txBody>
      </p:sp>
      <p:sp>
        <p:nvSpPr>
          <p:cNvPr id="4" name="text_3">
            <a:extLst>
              <a:ext uri="{FF2B5EF4-FFF2-40B4-BE49-F238E27FC236}">
                <a16:creationId xmlns:a16="http://schemas.microsoft.com/office/drawing/2014/main" id="{EC9FB75F-4B7B-B9A5-36DA-B10F228DD15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Choose the tool around the experiment.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ABDCEE5-FCDB-04D4-FF18-ED1EF8115C6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4B09CF2-B7E3-A9FE-66F2-32BD322E7DA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12D8719-2A25-A07E-E509-F9AC1026ECB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Rectangle: Rounded Corners 7">
            <a:extLst>
              <a:ext uri="{FF2B5EF4-FFF2-40B4-BE49-F238E27FC236}">
                <a16:creationId xmlns:a16="http://schemas.microsoft.com/office/drawing/2014/main" id="{B43B815B-62D9-DD9D-BAB8-19610F5C3BEB}"/>
              </a:ext>
            </a:extLst>
          </p:cNvPr>
          <p:cNvSpPr/>
          <p:nvPr/>
        </p:nvSpPr>
        <p:spPr>
          <a:xfrm>
            <a:off x="685800" y="2578100"/>
            <a:ext cx="5207000" cy="307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C7C05077-F1E9-028A-8547-DE9F759368D1}"/>
              </a:ext>
            </a:extLst>
          </p:cNvPr>
          <p:cNvSpPr txBox="1"/>
          <p:nvPr/>
        </p:nvSpPr>
        <p:spPr>
          <a:xfrm>
            <a:off x="889000" y="2730499"/>
            <a:ext cx="4800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MuJoCo</a:t>
            </a:r>
          </a:p>
        </p:txBody>
      </p:sp>
      <p:sp>
        <p:nvSpPr>
          <p:cNvPr id="10" name="text_9">
            <a:extLst>
              <a:ext uri="{FF2B5EF4-FFF2-40B4-BE49-F238E27FC236}">
                <a16:creationId xmlns:a16="http://schemas.microsoft.com/office/drawing/2014/main" id="{EC5D0A86-C1B5-DC53-2E07-AC5B55FD0267}"/>
              </a:ext>
            </a:extLst>
          </p:cNvPr>
          <p:cNvSpPr txBox="1"/>
          <p:nvPr/>
        </p:nvSpPr>
        <p:spPr>
          <a:xfrm>
            <a:off x="889000" y="3263899"/>
            <a:ext cx="4800600" cy="22987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Control + learning loops
Direct state/action access
GPU simulation backends
Tradeoff: add ROS integration.</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860358C9-5FA8-E3D0-4835-F7399B9F10A0}"/>
              </a:ext>
            </a:extLst>
          </p:cNvPr>
          <p:cNvSpPr/>
          <p:nvPr/>
        </p:nvSpPr>
        <p:spPr>
          <a:xfrm>
            <a:off x="6172200" y="2578100"/>
            <a:ext cx="5334000" cy="307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704DEF1D-5839-756A-DB58-4E0831760854}"/>
              </a:ext>
            </a:extLst>
          </p:cNvPr>
          <p:cNvSpPr txBox="1"/>
          <p:nvPr/>
        </p:nvSpPr>
        <p:spPr>
          <a:xfrm>
            <a:off x="6375400" y="27304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Gazebo</a:t>
            </a:r>
          </a:p>
        </p:txBody>
      </p:sp>
      <p:sp>
        <p:nvSpPr>
          <p:cNvPr id="13" name="text_12">
            <a:extLst>
              <a:ext uri="{FF2B5EF4-FFF2-40B4-BE49-F238E27FC236}">
                <a16:creationId xmlns:a16="http://schemas.microsoft.com/office/drawing/2014/main" id="{0C101B5C-3079-CD3E-A354-094F74D74EAA}"/>
              </a:ext>
            </a:extLst>
          </p:cNvPr>
          <p:cNvSpPr txBox="1"/>
          <p:nvPr/>
        </p:nvSpPr>
        <p:spPr>
          <a:xfrm>
            <a:off x="6375400" y="3263899"/>
            <a:ext cx="4927600" cy="22987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ROS + sensor workflows
Worlds, systems and plugins
Hardware-like integration
Tradeoff: broader system setup.</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A081E9D8-232F-2599-9409-CE299DCD55C7}"/>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Both can support learning. Their workflows emphasize different needs.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254206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3FCA65B-C8FA-CA95-9B6B-8EF8342405EC}"/>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73B312A5-51E7-7E5D-745C-02803B507CA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GPU compatibility: three different jobs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BAEDE9C7-68C8-434E-9C6F-3212A1B6B98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Drawing, learning, and physics are separate workloads.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B3CD60F-4F42-7D4C-1426-CA790391EF5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91226D6-294E-F159-D9B8-948626BC86D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D502093-C8BD-E8C4-DB83-614460426BA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Rectangle: Rounded Corners 7">
            <a:extLst>
              <a:ext uri="{FF2B5EF4-FFF2-40B4-BE49-F238E27FC236}">
                <a16:creationId xmlns:a16="http://schemas.microsoft.com/office/drawing/2014/main" id="{0F166811-DE63-448B-D562-A9A99533A31E}"/>
              </a:ext>
            </a:extLst>
          </p:cNvPr>
          <p:cNvSpPr/>
          <p:nvPr/>
        </p:nvSpPr>
        <p:spPr>
          <a:xfrm>
            <a:off x="685800" y="2679700"/>
            <a:ext cx="3454400" cy="1739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C074338-2792-24D4-74F0-4D009436A1D1}"/>
              </a:ext>
            </a:extLst>
          </p:cNvPr>
          <p:cNvSpPr txBox="1"/>
          <p:nvPr/>
        </p:nvSpPr>
        <p:spPr>
          <a:xfrm>
            <a:off x="889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Rendering</a:t>
            </a:r>
          </a:p>
        </p:txBody>
      </p:sp>
      <p:sp>
        <p:nvSpPr>
          <p:cNvPr id="10" name="text_9">
            <a:extLst>
              <a:ext uri="{FF2B5EF4-FFF2-40B4-BE49-F238E27FC236}">
                <a16:creationId xmlns:a16="http://schemas.microsoft.com/office/drawing/2014/main" id="{74FCFCF4-BF9C-0935-3096-888886CB4111}"/>
              </a:ext>
            </a:extLst>
          </p:cNvPr>
          <p:cNvSpPr txBox="1"/>
          <p:nvPr/>
        </p:nvSpPr>
        <p:spPr>
          <a:xfrm>
            <a:off x="889000" y="3365499"/>
            <a:ext cx="3048000" cy="965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Draw images.</a:t>
            </a:r>
          </a:p>
        </p:txBody>
      </p:sp>
      <p:sp>
        <p:nvSpPr>
          <p:cNvPr id="11" name="Rectangle: Rounded Corners 10">
            <a:extLst>
              <a:ext uri="{FF2B5EF4-FFF2-40B4-BE49-F238E27FC236}">
                <a16:creationId xmlns:a16="http://schemas.microsoft.com/office/drawing/2014/main" id="{EBEB6FD4-FB88-2327-9B95-25F8E8287DA9}"/>
              </a:ext>
            </a:extLst>
          </p:cNvPr>
          <p:cNvSpPr/>
          <p:nvPr/>
        </p:nvSpPr>
        <p:spPr>
          <a:xfrm>
            <a:off x="4368800" y="2679700"/>
            <a:ext cx="3454400" cy="1739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2C17BF72-A23B-F7E7-CC9A-A0C3C0DAAC3B}"/>
              </a:ext>
            </a:extLst>
          </p:cNvPr>
          <p:cNvSpPr txBox="1"/>
          <p:nvPr/>
        </p:nvSpPr>
        <p:spPr>
          <a:xfrm>
            <a:off x="4572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Policy training</a:t>
            </a:r>
          </a:p>
        </p:txBody>
      </p:sp>
      <p:sp>
        <p:nvSpPr>
          <p:cNvPr id="13" name="text_12">
            <a:extLst>
              <a:ext uri="{FF2B5EF4-FFF2-40B4-BE49-F238E27FC236}">
                <a16:creationId xmlns:a16="http://schemas.microsoft.com/office/drawing/2014/main" id="{CCC3AFBA-0A54-233D-45AB-D17EC047D538}"/>
              </a:ext>
            </a:extLst>
          </p:cNvPr>
          <p:cNvSpPr txBox="1"/>
          <p:nvPr/>
        </p:nvSpPr>
        <p:spPr>
          <a:xfrm>
            <a:off x="4572000" y="3365499"/>
            <a:ext cx="3048000" cy="965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Fit model parameters.</a:t>
            </a:r>
          </a:p>
        </p:txBody>
      </p:sp>
      <p:sp>
        <p:nvSpPr>
          <p:cNvPr id="14" name="Rectangle: Rounded Corners 13">
            <a:extLst>
              <a:ext uri="{FF2B5EF4-FFF2-40B4-BE49-F238E27FC236}">
                <a16:creationId xmlns:a16="http://schemas.microsoft.com/office/drawing/2014/main" id="{242E8611-0C3F-BA45-0320-EDF05A6CEB93}"/>
              </a:ext>
            </a:extLst>
          </p:cNvPr>
          <p:cNvSpPr/>
          <p:nvPr/>
        </p:nvSpPr>
        <p:spPr>
          <a:xfrm>
            <a:off x="8051800" y="2679700"/>
            <a:ext cx="3454400" cy="1739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D73D6C4D-1A41-5A5B-C6C3-4B1138C86620}"/>
              </a:ext>
            </a:extLst>
          </p:cNvPr>
          <p:cNvSpPr txBox="1"/>
          <p:nvPr/>
        </p:nvSpPr>
        <p:spPr>
          <a:xfrm>
            <a:off x="8255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Physics</a:t>
            </a:r>
          </a:p>
        </p:txBody>
      </p:sp>
      <p:sp>
        <p:nvSpPr>
          <p:cNvPr id="16" name="text_15">
            <a:extLst>
              <a:ext uri="{FF2B5EF4-FFF2-40B4-BE49-F238E27FC236}">
                <a16:creationId xmlns:a16="http://schemas.microsoft.com/office/drawing/2014/main" id="{06748B39-29B9-545D-309E-433BCE3BCC95}"/>
              </a:ext>
            </a:extLst>
          </p:cNvPr>
          <p:cNvSpPr txBox="1"/>
          <p:nvPr/>
        </p:nvSpPr>
        <p:spPr>
          <a:xfrm>
            <a:off x="8255000" y="3365499"/>
            <a:ext cx="3048000" cy="965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Advance robot states.</a:t>
            </a:r>
          </a:p>
        </p:txBody>
      </p:sp>
      <p:sp>
        <p:nvSpPr>
          <p:cNvPr id="17" name="text_16">
            <a:extLst>
              <a:ext uri="{FF2B5EF4-FFF2-40B4-BE49-F238E27FC236}">
                <a16:creationId xmlns:a16="http://schemas.microsoft.com/office/drawing/2014/main" id="{8B424751-BD01-5384-60CA-2ADE35F5758D}"/>
              </a:ext>
            </a:extLst>
          </p:cNvPr>
          <p:cNvSpPr txBox="1"/>
          <p:nvPr/>
        </p:nvSpPr>
        <p:spPr>
          <a:xfrm>
            <a:off x="685800" y="4800599"/>
            <a:ext cx="10820400" cy="8636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Standard MuJoCo: CPU physics. MJX / Warp: GPU simulation backends.</a:t>
            </a:r>
          </a:p>
        </p:txBody>
      </p:sp>
      <p:sp>
        <p:nvSpPr>
          <p:cNvPr id="18" name="text_17">
            <a:extLst>
              <a:ext uri="{FF2B5EF4-FFF2-40B4-BE49-F238E27FC236}">
                <a16:creationId xmlns:a16="http://schemas.microsoft.com/office/drawing/2014/main" id="{03477E28-1A2D-AAF3-261F-422D2072BA6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This demo: CPU physics + NumPy fitting. No GPU training.</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220720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2267060-7EA4-3314-557E-FA770CA66D1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86046CE-DD6E-26D4-EC4B-960DD1567A3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Part 2 · Imitation learning</a:t>
            </a:r>
          </a:p>
        </p:txBody>
      </p:sp>
      <p:sp>
        <p:nvSpPr>
          <p:cNvPr id="4" name="text_3">
            <a:extLst>
              <a:ext uri="{FF2B5EF4-FFF2-40B4-BE49-F238E27FC236}">
                <a16:creationId xmlns:a16="http://schemas.microsoft.com/office/drawing/2014/main" id="{B28E65A9-1E11-6084-3AA9-77F075C3874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Learn an observation-to-action policy from demonstrations.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C8DD151-497B-03A9-52DC-E8B0BD6FD2E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BEAAC7B-83AA-A310-9219-6E3D8D86DFB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18FA47B-9308-0545-356D-DF4A74490BC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text_7">
            <a:extLst>
              <a:ext uri="{FF2B5EF4-FFF2-40B4-BE49-F238E27FC236}">
                <a16:creationId xmlns:a16="http://schemas.microsoft.com/office/drawing/2014/main" id="{31EDA9E7-D348-74AD-4B29-1FDAE7C08B2B}"/>
              </a:ext>
            </a:extLst>
          </p:cNvPr>
          <p:cNvSpPr txBox="1"/>
          <p:nvPr/>
        </p:nvSpPr>
        <p:spPr>
          <a:xfrm>
            <a:off x="685800" y="2743199"/>
            <a:ext cx="10820400" cy="838200"/>
          </a:xfrm>
          <a:prstGeom prst="rect">
            <a:avLst/>
          </a:prstGeom>
          <a:noFill/>
        </p:spPr>
        <p:txBody>
          <a:bodyPr vert="horz" wrap="square" lIns="0" tIns="0" rIns="0" bIns="0" rtlCol="0" anchor="t">
            <a:noAutofit/>
          </a:bodyPr>
          <a:lstStyle/>
          <a:p>
            <a:r>
              <a:rPr lang="en-US" sz="3400" b="1">
                <a:solidFill>
                  <a:srgbClr val="2459D3"/>
                </a:solidFill>
                <a:latin typeface="Aptos" panose="020B0004020202020204" pitchFamily="34" charset="0"/>
              </a:rPr>
              <a:t>Expert examples → labeled data → policy</a:t>
            </a:r>
            <a:endParaRPr lang="en-IL" sz="3400" b="1">
              <a:solidFill>
                <a:srgbClr val="2459D3"/>
              </a:solidFill>
              <a:latin typeface="Aptos" panose="020B0004020202020204" pitchFamily="34" charset="0"/>
            </a:endParaRPr>
          </a:p>
        </p:txBody>
      </p:sp>
      <p:sp>
        <p:nvSpPr>
          <p:cNvPr id="9" name="Rectangle: Rounded Corners 8">
            <a:extLst>
              <a:ext uri="{FF2B5EF4-FFF2-40B4-BE49-F238E27FC236}">
                <a16:creationId xmlns:a16="http://schemas.microsoft.com/office/drawing/2014/main" id="{91D4C038-4184-4577-288C-128E3922F46D}"/>
              </a:ext>
            </a:extLst>
          </p:cNvPr>
          <p:cNvSpPr/>
          <p:nvPr/>
        </p:nvSpPr>
        <p:spPr>
          <a:xfrm>
            <a:off x="685800" y="4127500"/>
            <a:ext cx="3420533"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82A186A1-A114-0BC7-4A65-06A165423822}"/>
              </a:ext>
            </a:extLst>
          </p:cNvPr>
          <p:cNvSpPr txBox="1"/>
          <p:nvPr/>
        </p:nvSpPr>
        <p:spPr>
          <a:xfrm>
            <a:off x="787400" y="4444999"/>
            <a:ext cx="3217333"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Demonstrate</a:t>
            </a:r>
          </a:p>
        </p:txBody>
      </p:sp>
      <p:cxnSp>
        <p:nvCxnSpPr>
          <p:cNvPr id="11" name="Straight Connector 10">
            <a:extLst>
              <a:ext uri="{FF2B5EF4-FFF2-40B4-BE49-F238E27FC236}">
                <a16:creationId xmlns:a16="http://schemas.microsoft.com/office/drawing/2014/main" id="{845FFD6A-3916-E6B8-0D3F-DB1AE6C3E3E8}"/>
              </a:ext>
            </a:extLst>
          </p:cNvPr>
          <p:cNvCxnSpPr/>
          <p:nvPr/>
        </p:nvCxnSpPr>
        <p:spPr>
          <a:xfrm>
            <a:off x="4144433" y="4660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141B9143-C56D-CAAD-A787-9FF68A023AAB}"/>
              </a:ext>
            </a:extLst>
          </p:cNvPr>
          <p:cNvSpPr/>
          <p:nvPr/>
        </p:nvSpPr>
        <p:spPr>
          <a:xfrm>
            <a:off x="4385733" y="4127500"/>
            <a:ext cx="3420534"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32737BB0-50DC-0171-CDBA-19F2F18A799D}"/>
              </a:ext>
            </a:extLst>
          </p:cNvPr>
          <p:cNvSpPr txBox="1"/>
          <p:nvPr/>
        </p:nvSpPr>
        <p:spPr>
          <a:xfrm>
            <a:off x="4487333" y="4444999"/>
            <a:ext cx="3217333"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Train</a:t>
            </a:r>
          </a:p>
        </p:txBody>
      </p:sp>
      <p:cxnSp>
        <p:nvCxnSpPr>
          <p:cNvPr id="14" name="Straight Connector 13">
            <a:extLst>
              <a:ext uri="{FF2B5EF4-FFF2-40B4-BE49-F238E27FC236}">
                <a16:creationId xmlns:a16="http://schemas.microsoft.com/office/drawing/2014/main" id="{2B1073DC-1B18-3A23-DD11-F6350C7D0771}"/>
              </a:ext>
            </a:extLst>
          </p:cNvPr>
          <p:cNvCxnSpPr/>
          <p:nvPr/>
        </p:nvCxnSpPr>
        <p:spPr>
          <a:xfrm>
            <a:off x="7844367" y="4660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81AD7CE9-BE9B-6475-9B55-1E37A3BAA7D7}"/>
              </a:ext>
            </a:extLst>
          </p:cNvPr>
          <p:cNvSpPr/>
          <p:nvPr/>
        </p:nvSpPr>
        <p:spPr>
          <a:xfrm>
            <a:off x="8085667" y="4127500"/>
            <a:ext cx="3420533"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95FB55F7-484A-728F-59AC-7FFD520F0199}"/>
              </a:ext>
            </a:extLst>
          </p:cNvPr>
          <p:cNvSpPr txBox="1"/>
          <p:nvPr/>
        </p:nvSpPr>
        <p:spPr>
          <a:xfrm>
            <a:off x="8187267" y="4444999"/>
            <a:ext cx="3217333"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Evaluate</a:t>
            </a:r>
          </a:p>
        </p:txBody>
      </p:sp>
    </p:spTree>
    <p:extLst>
      <p:ext uri="{BB962C8B-B14F-4D97-AF65-F5344CB8AC3E}">
        <p14:creationId xmlns:p14="http://schemas.microsoft.com/office/powerpoint/2010/main" val="668117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99D713A-855C-E3AE-F64E-965ED6A9C15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7EFA37A9-ADB5-D4F6-A432-17FEA326997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From computing a policy to learning one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059A9A4B-3066-90D5-84EF-6EB417E821C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Keep the policy idea; change where it comes from.</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9B0FB0F-98D7-63B1-229F-A68A76A76F0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0BA8C0E-37CB-F7E2-7FCA-5C205C82625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A9EC0D0-EBA0-D2B1-6244-E037F061967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Rectangle: Rounded Corners 7">
            <a:extLst>
              <a:ext uri="{FF2B5EF4-FFF2-40B4-BE49-F238E27FC236}">
                <a16:creationId xmlns:a16="http://schemas.microsoft.com/office/drawing/2014/main" id="{B14FCB29-2171-931B-C898-9C262197BC20}"/>
              </a:ext>
            </a:extLst>
          </p:cNvPr>
          <p:cNvSpPr/>
          <p:nvPr/>
        </p:nvSpPr>
        <p:spPr>
          <a:xfrm>
            <a:off x="685800" y="2679700"/>
            <a:ext cx="5207000" cy="2768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A8E5DE29-E994-77D4-9346-F743FD508C61}"/>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Week 6</a:t>
            </a:r>
          </a:p>
        </p:txBody>
      </p:sp>
      <p:sp>
        <p:nvSpPr>
          <p:cNvPr id="10" name="text_9">
            <a:extLst>
              <a:ext uri="{FF2B5EF4-FFF2-40B4-BE49-F238E27FC236}">
                <a16:creationId xmlns:a16="http://schemas.microsoft.com/office/drawing/2014/main" id="{0BBF33D4-EC37-CF1B-13A1-27709DAE4B80}"/>
              </a:ext>
            </a:extLst>
          </p:cNvPr>
          <p:cNvSpPr txBox="1"/>
          <p:nvPr/>
        </p:nvSpPr>
        <p:spPr>
          <a:xfrm>
            <a:off x="914400" y="3492499"/>
            <a:ext cx="4749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Given a model, compute a policy using Bellman equations.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F182D760-9213-9ADF-44F7-D59B474C66D1}"/>
              </a:ext>
            </a:extLst>
          </p:cNvPr>
          <p:cNvSpPr/>
          <p:nvPr/>
        </p:nvSpPr>
        <p:spPr>
          <a:xfrm>
            <a:off x="6172200" y="2679700"/>
            <a:ext cx="53340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E8CF12AD-E9CA-C104-4F2C-01BCFB9C9403}"/>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Week 7</a:t>
            </a:r>
          </a:p>
        </p:txBody>
      </p:sp>
      <p:sp>
        <p:nvSpPr>
          <p:cNvPr id="13" name="text_12">
            <a:extLst>
              <a:ext uri="{FF2B5EF4-FFF2-40B4-BE49-F238E27FC236}">
                <a16:creationId xmlns:a16="http://schemas.microsoft.com/office/drawing/2014/main" id="{B4ADF9DC-781F-ADE0-496C-369657C48DE6}"/>
              </a:ext>
            </a:extLst>
          </p:cNvPr>
          <p:cNvSpPr txBox="1"/>
          <p:nvPr/>
        </p:nvSpPr>
        <p:spPr>
          <a:xfrm>
            <a:off x="6400800" y="3492499"/>
            <a:ext cx="4876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Given expert examples, fit an observation-to-action policy.</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A1DAD312-A0FC-01F3-E907-52F18DFF2071}"/>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 policy still answers: what action should I take now?</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226051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AA79C55-37DC-0E09-70D4-5BDB881964F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098D3DBE-3B64-3C15-F9C3-458547DFC73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is imitation learning?</a:t>
            </a:r>
          </a:p>
        </p:txBody>
      </p:sp>
      <p:sp>
        <p:nvSpPr>
          <p:cNvPr id="4" name="text_3">
            <a:extLst>
              <a:ext uri="{FF2B5EF4-FFF2-40B4-BE49-F238E27FC236}">
                <a16:creationId xmlns:a16="http://schemas.microsoft.com/office/drawing/2014/main" id="{347AD781-8F62-5A26-2962-41275F5F1D8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Use expert behavior to learn how to act.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CA98546-4C48-EC07-747E-1DED4C04146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3240DB8-D739-3A16-6002-69F2CD49EF0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0F63757-5629-8309-63C0-1919C468DCF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Rectangle: Rounded Corners 7">
            <a:extLst>
              <a:ext uri="{FF2B5EF4-FFF2-40B4-BE49-F238E27FC236}">
                <a16:creationId xmlns:a16="http://schemas.microsoft.com/office/drawing/2014/main" id="{CE53EC7F-18C0-FC2A-082E-B235AD7468E7}"/>
              </a:ext>
            </a:extLst>
          </p:cNvPr>
          <p:cNvSpPr/>
          <p:nvPr/>
        </p:nvSpPr>
        <p:spPr>
          <a:xfrm>
            <a:off x="685800" y="2679700"/>
            <a:ext cx="3454400" cy="2032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A45D411-6940-CA34-80F6-4AD7015E18C4}"/>
              </a:ext>
            </a:extLst>
          </p:cNvPr>
          <p:cNvSpPr txBox="1"/>
          <p:nvPr/>
        </p:nvSpPr>
        <p:spPr>
          <a:xfrm>
            <a:off x="889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Human</a:t>
            </a:r>
          </a:p>
        </p:txBody>
      </p:sp>
      <p:sp>
        <p:nvSpPr>
          <p:cNvPr id="10" name="text_9">
            <a:extLst>
              <a:ext uri="{FF2B5EF4-FFF2-40B4-BE49-F238E27FC236}">
                <a16:creationId xmlns:a16="http://schemas.microsoft.com/office/drawing/2014/main" id="{C28B2413-1C57-A7DE-8C2E-D0FD16C1C64E}"/>
              </a:ext>
            </a:extLst>
          </p:cNvPr>
          <p:cNvSpPr txBox="1"/>
          <p:nvPr/>
        </p:nvSpPr>
        <p:spPr>
          <a:xfrm>
            <a:off x="889000" y="3365499"/>
            <a:ext cx="3048000" cy="1257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Demonstrates actions.</a:t>
            </a:r>
          </a:p>
        </p:txBody>
      </p:sp>
      <p:sp>
        <p:nvSpPr>
          <p:cNvPr id="11" name="Rectangle: Rounded Corners 10">
            <a:extLst>
              <a:ext uri="{FF2B5EF4-FFF2-40B4-BE49-F238E27FC236}">
                <a16:creationId xmlns:a16="http://schemas.microsoft.com/office/drawing/2014/main" id="{2AF7869B-5E38-EBDF-D5EA-86A0973AE8D6}"/>
              </a:ext>
            </a:extLst>
          </p:cNvPr>
          <p:cNvSpPr/>
          <p:nvPr/>
        </p:nvSpPr>
        <p:spPr>
          <a:xfrm>
            <a:off x="4368800" y="2679700"/>
            <a:ext cx="3454400" cy="2032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1668EA43-269F-11F7-D69B-F6CD74E771DC}"/>
              </a:ext>
            </a:extLst>
          </p:cNvPr>
          <p:cNvSpPr txBox="1"/>
          <p:nvPr/>
        </p:nvSpPr>
        <p:spPr>
          <a:xfrm>
            <a:off x="4572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Controller</a:t>
            </a:r>
          </a:p>
        </p:txBody>
      </p:sp>
      <p:sp>
        <p:nvSpPr>
          <p:cNvPr id="13" name="text_12">
            <a:extLst>
              <a:ext uri="{FF2B5EF4-FFF2-40B4-BE49-F238E27FC236}">
                <a16:creationId xmlns:a16="http://schemas.microsoft.com/office/drawing/2014/main" id="{E2ECCEB3-3C1A-5219-5E7A-60581FBBE71A}"/>
              </a:ext>
            </a:extLst>
          </p:cNvPr>
          <p:cNvSpPr txBox="1"/>
          <p:nvPr/>
        </p:nvSpPr>
        <p:spPr>
          <a:xfrm>
            <a:off x="4572000" y="3365499"/>
            <a:ext cx="3048000" cy="1257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Computes feedback.</a:t>
            </a:r>
          </a:p>
        </p:txBody>
      </p:sp>
      <p:sp>
        <p:nvSpPr>
          <p:cNvPr id="14" name="Rectangle: Rounded Corners 13">
            <a:extLst>
              <a:ext uri="{FF2B5EF4-FFF2-40B4-BE49-F238E27FC236}">
                <a16:creationId xmlns:a16="http://schemas.microsoft.com/office/drawing/2014/main" id="{ECF50BC9-D811-68A2-6A33-E77C885B0E51}"/>
              </a:ext>
            </a:extLst>
          </p:cNvPr>
          <p:cNvSpPr/>
          <p:nvPr/>
        </p:nvSpPr>
        <p:spPr>
          <a:xfrm>
            <a:off x="8051800" y="2679700"/>
            <a:ext cx="3454400" cy="2032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DD1EAC8C-E585-BCE5-16AF-D064773E055F}"/>
              </a:ext>
            </a:extLst>
          </p:cNvPr>
          <p:cNvSpPr txBox="1"/>
          <p:nvPr/>
        </p:nvSpPr>
        <p:spPr>
          <a:xfrm>
            <a:off x="8255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Planner</a:t>
            </a:r>
          </a:p>
        </p:txBody>
      </p:sp>
      <p:sp>
        <p:nvSpPr>
          <p:cNvPr id="16" name="text_15">
            <a:extLst>
              <a:ext uri="{FF2B5EF4-FFF2-40B4-BE49-F238E27FC236}">
                <a16:creationId xmlns:a16="http://schemas.microsoft.com/office/drawing/2014/main" id="{DE622AE3-78B7-77DA-8452-F1B02262ECBE}"/>
              </a:ext>
            </a:extLst>
          </p:cNvPr>
          <p:cNvSpPr txBox="1"/>
          <p:nvPr/>
        </p:nvSpPr>
        <p:spPr>
          <a:xfrm>
            <a:off x="8255000" y="3365499"/>
            <a:ext cx="3048000" cy="1257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Provides decisions.</a:t>
            </a:r>
          </a:p>
        </p:txBody>
      </p:sp>
      <p:sp>
        <p:nvSpPr>
          <p:cNvPr id="17" name="text_16">
            <a:extLst>
              <a:ext uri="{FF2B5EF4-FFF2-40B4-BE49-F238E27FC236}">
                <a16:creationId xmlns:a16="http://schemas.microsoft.com/office/drawing/2014/main" id="{7ABBC302-6E7B-F644-6B01-C9DEB0E572D4}"/>
              </a:ext>
            </a:extLst>
          </p:cNvPr>
          <p:cNvSpPr txBox="1"/>
          <p:nvPr/>
        </p:nvSpPr>
        <p:spPr>
          <a:xfrm>
            <a:off x="685800" y="5118099"/>
            <a:ext cx="10820400" cy="508000"/>
          </a:xfrm>
          <a:prstGeom prst="rect">
            <a:avLst/>
          </a:prstGeom>
          <a:noFill/>
        </p:spPr>
        <p:txBody>
          <a:bodyPr vert="horz" wrap="square" lIns="0" tIns="0" rIns="0" bIns="0" rtlCol="0" anchor="t">
            <a:noAutofit/>
          </a:bodyPr>
          <a:lstStyle/>
          <a:p>
            <a:r>
              <a:rPr lang="en-US" sz="2700">
                <a:solidFill>
                  <a:srgbClr val="526477"/>
                </a:solidFill>
                <a:latin typeface="Aptos" panose="020B0004020202020204" pitchFamily="34" charset="0"/>
              </a:rPr>
              <a:t>Different experts can supply the demonstrations.</a:t>
            </a:r>
            <a:endParaRPr lang="en-IL" sz="2700">
              <a:solidFill>
                <a:srgbClr val="526477"/>
              </a:solidFill>
              <a:latin typeface="Aptos" panose="020B0004020202020204" pitchFamily="34" charset="0"/>
            </a:endParaRPr>
          </a:p>
        </p:txBody>
      </p:sp>
      <p:sp>
        <p:nvSpPr>
          <p:cNvPr id="18" name="text_17">
            <a:extLst>
              <a:ext uri="{FF2B5EF4-FFF2-40B4-BE49-F238E27FC236}">
                <a16:creationId xmlns:a16="http://schemas.microsoft.com/office/drawing/2014/main" id="{D016B834-AC5C-27A1-1C80-8F32CCBDF40D}"/>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This week: behavior cloning from observation/action labels.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80286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8441DFA-77AC-A7D4-ECB1-18372EDC76E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16893A6B-BB8A-AA68-4453-EB614C95D39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behavior-cloning workflow</a:t>
            </a:r>
          </a:p>
        </p:txBody>
      </p:sp>
      <p:sp>
        <p:nvSpPr>
          <p:cNvPr id="4" name="text_3">
            <a:extLst>
              <a:ext uri="{FF2B5EF4-FFF2-40B4-BE49-F238E27FC236}">
                <a16:creationId xmlns:a16="http://schemas.microsoft.com/office/drawing/2014/main" id="{817816F4-ED6E-9F66-42F7-200FD175BF4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Separate expert collection from independent execution.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EF894F6-2BED-CC32-5CF9-DCD15759504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77ECFDB-1E05-FEB9-318C-94B40159C2D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7D2F2D5-2850-8EC6-2EC2-07569BD067A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Rectangle: Rounded Corners 7">
            <a:extLst>
              <a:ext uri="{FF2B5EF4-FFF2-40B4-BE49-F238E27FC236}">
                <a16:creationId xmlns:a16="http://schemas.microsoft.com/office/drawing/2014/main" id="{07CD2A00-85B2-5B61-6C90-3B72AA49BE6E}"/>
              </a:ext>
            </a:extLst>
          </p:cNvPr>
          <p:cNvSpPr/>
          <p:nvPr/>
        </p:nvSpPr>
        <p:spPr>
          <a:xfrm>
            <a:off x="685800" y="2857500"/>
            <a:ext cx="194056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3E2A56A-5613-3DE8-7854-863B1D7B9824}"/>
              </a:ext>
            </a:extLst>
          </p:cNvPr>
          <p:cNvSpPr txBox="1"/>
          <p:nvPr/>
        </p:nvSpPr>
        <p:spPr>
          <a:xfrm>
            <a:off x="787400" y="3174999"/>
            <a:ext cx="173736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Collect</a:t>
            </a:r>
          </a:p>
        </p:txBody>
      </p:sp>
      <p:cxnSp>
        <p:nvCxnSpPr>
          <p:cNvPr id="10" name="Straight Connector 9">
            <a:extLst>
              <a:ext uri="{FF2B5EF4-FFF2-40B4-BE49-F238E27FC236}">
                <a16:creationId xmlns:a16="http://schemas.microsoft.com/office/drawing/2014/main" id="{EE7EDE3D-C467-6D60-43CE-68138F5F5D82}"/>
              </a:ext>
            </a:extLst>
          </p:cNvPr>
          <p:cNvCxnSpPr/>
          <p:nvPr/>
        </p:nvCxnSpPr>
        <p:spPr>
          <a:xfrm>
            <a:off x="2664460" y="3390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629B964A-EE6A-0417-4F3B-3E95833C172C}"/>
              </a:ext>
            </a:extLst>
          </p:cNvPr>
          <p:cNvSpPr/>
          <p:nvPr/>
        </p:nvSpPr>
        <p:spPr>
          <a:xfrm>
            <a:off x="2905760" y="2857500"/>
            <a:ext cx="1940560"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5DE71DAB-B53F-F668-16D4-C20E618B73F0}"/>
              </a:ext>
            </a:extLst>
          </p:cNvPr>
          <p:cNvSpPr txBox="1"/>
          <p:nvPr/>
        </p:nvSpPr>
        <p:spPr>
          <a:xfrm>
            <a:off x="3007360" y="3174999"/>
            <a:ext cx="173736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Label</a:t>
            </a:r>
          </a:p>
        </p:txBody>
      </p:sp>
      <p:cxnSp>
        <p:nvCxnSpPr>
          <p:cNvPr id="13" name="Straight Connector 12">
            <a:extLst>
              <a:ext uri="{FF2B5EF4-FFF2-40B4-BE49-F238E27FC236}">
                <a16:creationId xmlns:a16="http://schemas.microsoft.com/office/drawing/2014/main" id="{CEFDEE35-D58E-F314-9B45-E6D58AD6BCD8}"/>
              </a:ext>
            </a:extLst>
          </p:cNvPr>
          <p:cNvCxnSpPr/>
          <p:nvPr/>
        </p:nvCxnSpPr>
        <p:spPr>
          <a:xfrm>
            <a:off x="4884420" y="3390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42017F31-7A1B-B3B4-CE96-AFDF41CC177C}"/>
              </a:ext>
            </a:extLst>
          </p:cNvPr>
          <p:cNvSpPr/>
          <p:nvPr/>
        </p:nvSpPr>
        <p:spPr>
          <a:xfrm>
            <a:off x="5125720" y="2857500"/>
            <a:ext cx="194056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E438F0DF-BE47-3ABC-12FA-A79B66160740}"/>
              </a:ext>
            </a:extLst>
          </p:cNvPr>
          <p:cNvSpPr txBox="1"/>
          <p:nvPr/>
        </p:nvSpPr>
        <p:spPr>
          <a:xfrm>
            <a:off x="5227320" y="3174999"/>
            <a:ext cx="173736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Train</a:t>
            </a:r>
          </a:p>
        </p:txBody>
      </p:sp>
      <p:cxnSp>
        <p:nvCxnSpPr>
          <p:cNvPr id="16" name="Straight Connector 15">
            <a:extLst>
              <a:ext uri="{FF2B5EF4-FFF2-40B4-BE49-F238E27FC236}">
                <a16:creationId xmlns:a16="http://schemas.microsoft.com/office/drawing/2014/main" id="{E60EE3E7-92EC-FB65-28BA-D11C4696265B}"/>
              </a:ext>
            </a:extLst>
          </p:cNvPr>
          <p:cNvCxnSpPr/>
          <p:nvPr/>
        </p:nvCxnSpPr>
        <p:spPr>
          <a:xfrm>
            <a:off x="7104380" y="3390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C79D4536-AA6D-B146-2B98-4ADE93B4FD5A}"/>
              </a:ext>
            </a:extLst>
          </p:cNvPr>
          <p:cNvSpPr/>
          <p:nvPr/>
        </p:nvSpPr>
        <p:spPr>
          <a:xfrm>
            <a:off x="7345680" y="2857500"/>
            <a:ext cx="1940560"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DE05BA64-320C-811C-FBDD-78E7588F52DD}"/>
              </a:ext>
            </a:extLst>
          </p:cNvPr>
          <p:cNvSpPr txBox="1"/>
          <p:nvPr/>
        </p:nvSpPr>
        <p:spPr>
          <a:xfrm>
            <a:off x="7447280" y="3174999"/>
            <a:ext cx="173736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Deploy</a:t>
            </a:r>
          </a:p>
        </p:txBody>
      </p:sp>
      <p:cxnSp>
        <p:nvCxnSpPr>
          <p:cNvPr id="19" name="Straight Connector 18">
            <a:extLst>
              <a:ext uri="{FF2B5EF4-FFF2-40B4-BE49-F238E27FC236}">
                <a16:creationId xmlns:a16="http://schemas.microsoft.com/office/drawing/2014/main" id="{9639BA6B-A6BF-EA10-0489-4A4999C57757}"/>
              </a:ext>
            </a:extLst>
          </p:cNvPr>
          <p:cNvCxnSpPr/>
          <p:nvPr/>
        </p:nvCxnSpPr>
        <p:spPr>
          <a:xfrm>
            <a:off x="9324340" y="3390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3F5D004E-5820-D529-0478-5AE6784895D1}"/>
              </a:ext>
            </a:extLst>
          </p:cNvPr>
          <p:cNvSpPr/>
          <p:nvPr/>
        </p:nvSpPr>
        <p:spPr>
          <a:xfrm>
            <a:off x="9565640" y="2857500"/>
            <a:ext cx="194056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882CA245-F50D-82CA-ED5A-2D646BD32DBB}"/>
              </a:ext>
            </a:extLst>
          </p:cNvPr>
          <p:cNvSpPr txBox="1"/>
          <p:nvPr/>
        </p:nvSpPr>
        <p:spPr>
          <a:xfrm>
            <a:off x="9667240" y="3174999"/>
            <a:ext cx="173736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Evaluate</a:t>
            </a:r>
          </a:p>
        </p:txBody>
      </p:sp>
      <p:sp>
        <p:nvSpPr>
          <p:cNvPr id="22" name="Rectangle: Rounded Corners 21">
            <a:extLst>
              <a:ext uri="{FF2B5EF4-FFF2-40B4-BE49-F238E27FC236}">
                <a16:creationId xmlns:a16="http://schemas.microsoft.com/office/drawing/2014/main" id="{D9DCC8C1-8301-2A62-CF38-3C5636C929FB}"/>
              </a:ext>
            </a:extLst>
          </p:cNvPr>
          <p:cNvSpPr/>
          <p:nvPr/>
        </p:nvSpPr>
        <p:spPr>
          <a:xfrm>
            <a:off x="685800" y="4483100"/>
            <a:ext cx="5207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33C8C479-B3DA-CE1F-55AC-E58B8E737213}"/>
              </a:ext>
            </a:extLst>
          </p:cNvPr>
          <p:cNvSpPr txBox="1"/>
          <p:nvPr/>
        </p:nvSpPr>
        <p:spPr>
          <a:xfrm>
            <a:off x="838200" y="4571999"/>
            <a:ext cx="4902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Expert present during collection</a:t>
            </a:r>
          </a:p>
        </p:txBody>
      </p:sp>
      <p:sp>
        <p:nvSpPr>
          <p:cNvPr id="24" name="Rectangle: Rounded Corners 23">
            <a:extLst>
              <a:ext uri="{FF2B5EF4-FFF2-40B4-BE49-F238E27FC236}">
                <a16:creationId xmlns:a16="http://schemas.microsoft.com/office/drawing/2014/main" id="{580DA422-94DC-9E64-D9E8-EC589762A0CF}"/>
              </a:ext>
            </a:extLst>
          </p:cNvPr>
          <p:cNvSpPr/>
          <p:nvPr/>
        </p:nvSpPr>
        <p:spPr>
          <a:xfrm>
            <a:off x="6172200" y="4483100"/>
            <a:ext cx="53340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56F026A3-32EA-DF7B-EEA3-3E0C0CECD5D9}"/>
              </a:ext>
            </a:extLst>
          </p:cNvPr>
          <p:cNvSpPr txBox="1"/>
          <p:nvPr/>
        </p:nvSpPr>
        <p:spPr>
          <a:xfrm>
            <a:off x="6324600" y="4571999"/>
            <a:ext cx="50292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Learner independent at deployment</a:t>
            </a:r>
          </a:p>
        </p:txBody>
      </p:sp>
      <p:sp>
        <p:nvSpPr>
          <p:cNvPr id="26" name="text_25">
            <a:extLst>
              <a:ext uri="{FF2B5EF4-FFF2-40B4-BE49-F238E27FC236}">
                <a16:creationId xmlns:a16="http://schemas.microsoft.com/office/drawing/2014/main" id="{EFCA27FA-241B-69CD-D700-7A9A2C76DABC}"/>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During deployment: current observation → learned action → new observation.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888781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69296E4-DEA9-E45C-81E4-32DA7F7BE70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B7050EE-0150-7CBC-A947-407E9084DB2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Demonstrations are labeled data</a:t>
            </a:r>
          </a:p>
        </p:txBody>
      </p:sp>
      <p:sp>
        <p:nvSpPr>
          <p:cNvPr id="4" name="text_3">
            <a:extLst>
              <a:ext uri="{FF2B5EF4-FFF2-40B4-BE49-F238E27FC236}">
                <a16:creationId xmlns:a16="http://schemas.microsoft.com/office/drawing/2014/main" id="{448EA6F2-8DD5-DCFB-E375-DB3094F46D2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Inputs: what the expert sees. Labels: what it does.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17EB336-8826-6636-86B5-656C9934820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7D8A182-6008-5636-1373-275657AF638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E0FC894-53C2-742C-169E-513B7D618DB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Rectangle: Rounded Corners 7">
            <a:extLst>
              <a:ext uri="{FF2B5EF4-FFF2-40B4-BE49-F238E27FC236}">
                <a16:creationId xmlns:a16="http://schemas.microsoft.com/office/drawing/2014/main" id="{AF50FAF3-56FF-78AC-7720-F4B81AD9B1A1}"/>
              </a:ext>
            </a:extLst>
          </p:cNvPr>
          <p:cNvSpPr/>
          <p:nvPr/>
        </p:nvSpPr>
        <p:spPr>
          <a:xfrm>
            <a:off x="685800" y="2590800"/>
            <a:ext cx="10820400" cy="1155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0696EF5-8AD9-000D-27D3-087E19603938}"/>
              </a:ext>
            </a:extLst>
          </p:cNvPr>
          <p:cNvSpPr txBox="1"/>
          <p:nvPr/>
        </p:nvSpPr>
        <p:spPr>
          <a:xfrm>
            <a:off x="889000" y="2743199"/>
            <a:ext cx="10414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Observation · input</a:t>
            </a:r>
          </a:p>
        </p:txBody>
      </p:sp>
      <p:sp>
        <p:nvSpPr>
          <p:cNvPr id="10" name="text_9">
            <a:extLst>
              <a:ext uri="{FF2B5EF4-FFF2-40B4-BE49-F238E27FC236}">
                <a16:creationId xmlns:a16="http://schemas.microsoft.com/office/drawing/2014/main" id="{904BDBDD-340B-45CE-E3E7-3D5CA3F9CBCF}"/>
              </a:ext>
            </a:extLst>
          </p:cNvPr>
          <p:cNvSpPr txBox="1"/>
          <p:nvPr/>
        </p:nvSpPr>
        <p:spPr>
          <a:xfrm>
            <a:off x="889000" y="3276599"/>
            <a:ext cx="10414000" cy="381000"/>
          </a:xfrm>
          <a:prstGeom prst="rect">
            <a:avLst/>
          </a:prstGeom>
          <a:noFill/>
        </p:spPr>
        <p:txBody>
          <a:bodyPr vert="horz" wrap="square" lIns="0" tIns="0" rIns="0" bIns="0" rtlCol="0" anchor="t">
            <a:noAutofit/>
          </a:bodyPr>
          <a:lstStyle/>
          <a:p>
            <a:r>
              <a:rPr lang="es-ES" sz="2400">
                <a:solidFill>
                  <a:srgbClr val="15283B"/>
                </a:solidFill>
                <a:latin typeface="Aptos" panose="020B0004020202020204" pitchFamily="34" charset="0"/>
              </a:rPr>
              <a:t>[error_x, error_y, velocity_x, velocity_y]</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E3A08DA0-F0A0-65BA-AE94-C72C9443C0B4}"/>
              </a:ext>
            </a:extLst>
          </p:cNvPr>
          <p:cNvSpPr/>
          <p:nvPr/>
        </p:nvSpPr>
        <p:spPr>
          <a:xfrm>
            <a:off x="685800" y="3949700"/>
            <a:ext cx="10820400" cy="1155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4AE43DD8-62F3-B214-A7A4-52DF648971A9}"/>
              </a:ext>
            </a:extLst>
          </p:cNvPr>
          <p:cNvSpPr txBox="1"/>
          <p:nvPr/>
        </p:nvSpPr>
        <p:spPr>
          <a:xfrm>
            <a:off x="889000" y="4102099"/>
            <a:ext cx="10414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Expert action · label</a:t>
            </a:r>
          </a:p>
        </p:txBody>
      </p:sp>
      <p:sp>
        <p:nvSpPr>
          <p:cNvPr id="13" name="text_12">
            <a:extLst>
              <a:ext uri="{FF2B5EF4-FFF2-40B4-BE49-F238E27FC236}">
                <a16:creationId xmlns:a16="http://schemas.microsoft.com/office/drawing/2014/main" id="{667CA5D1-510D-F449-2254-339E9575190A}"/>
              </a:ext>
            </a:extLst>
          </p:cNvPr>
          <p:cNvSpPr txBox="1"/>
          <p:nvPr/>
        </p:nvSpPr>
        <p:spPr>
          <a:xfrm>
            <a:off x="889000" y="4635499"/>
            <a:ext cx="10414000" cy="381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[force_x, force_y]</a:t>
            </a:r>
          </a:p>
        </p:txBody>
      </p:sp>
      <p:sp>
        <p:nvSpPr>
          <p:cNvPr id="14" name="text_13">
            <a:extLst>
              <a:ext uri="{FF2B5EF4-FFF2-40B4-BE49-F238E27FC236}">
                <a16:creationId xmlns:a16="http://schemas.microsoft.com/office/drawing/2014/main" id="{F47E78A4-28AB-787F-0CAA-EA81150C00B1}"/>
              </a:ext>
            </a:extLst>
          </p:cNvPr>
          <p:cNvSpPr txBox="1"/>
          <p:nvPr/>
        </p:nvSpPr>
        <p:spPr>
          <a:xfrm>
            <a:off x="685800" y="5295899"/>
            <a:ext cx="10820400" cy="444500"/>
          </a:xfrm>
          <a:prstGeom prst="rect">
            <a:avLst/>
          </a:prstGeom>
          <a:noFill/>
        </p:spPr>
        <p:txBody>
          <a:bodyPr vert="horz" wrap="square" lIns="0" tIns="0" rIns="0" bIns="0" rtlCol="0" anchor="t">
            <a:noAutofit/>
          </a:bodyPr>
          <a:lstStyle/>
          <a:p>
            <a:r>
              <a:rPr lang="pt-BR" sz="2700" b="1">
                <a:solidFill>
                  <a:srgbClr val="2459D3"/>
                </a:solidFill>
                <a:latin typeface="Aptos" panose="020B0004020202020204" pitchFamily="34" charset="0"/>
              </a:rPr>
              <a:t>Example: [0.3, −0.2, 0.1, 0] → [0.9, −0.8] N</a:t>
            </a:r>
            <a:endParaRPr lang="en-IL" sz="2700" b="1">
              <a:solidFill>
                <a:srgbClr val="2459D3"/>
              </a:solidFill>
              <a:latin typeface="Aptos" panose="020B0004020202020204" pitchFamily="34" charset="0"/>
            </a:endParaRPr>
          </a:p>
        </p:txBody>
      </p:sp>
      <p:sp>
        <p:nvSpPr>
          <p:cNvPr id="15" name="text_14">
            <a:extLst>
              <a:ext uri="{FF2B5EF4-FFF2-40B4-BE49-F238E27FC236}">
                <a16:creationId xmlns:a16="http://schemas.microsoft.com/office/drawing/2014/main" id="{CE838FE6-7D9B-2B96-7FC9-00A02720EAF7}"/>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100 episodes × 250 decisions = 25,000 labeled pairs.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165186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CE0FDE5-4701-84F1-DF41-0C0E0B78BB7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9F2A57AD-17C3-18F5-176A-BB6AC76EF42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Train it like supervised learning</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9B1E6993-5AC2-10E5-F6D9-3DC6C1408C9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Predict expert actions and reduce label error.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FF7F538-CA21-605A-2663-115A2018CC8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7B11BF7-D5E0-6EAA-6B63-9C61DFDCC02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F80EF15-E567-71DD-3F05-6B7859571D1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Rectangle: Rounded Corners 7">
            <a:extLst>
              <a:ext uri="{FF2B5EF4-FFF2-40B4-BE49-F238E27FC236}">
                <a16:creationId xmlns:a16="http://schemas.microsoft.com/office/drawing/2014/main" id="{780B3A82-5B53-0A1D-0E06-113B5CB185C1}"/>
              </a:ext>
            </a:extLst>
          </p:cNvPr>
          <p:cNvSpPr/>
          <p:nvPr/>
        </p:nvSpPr>
        <p:spPr>
          <a:xfrm>
            <a:off x="685800" y="2768600"/>
            <a:ext cx="3048000" cy="1295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F914F19-8EE8-F7E8-7AE8-C687D7151691}"/>
              </a:ext>
            </a:extLst>
          </p:cNvPr>
          <p:cNvSpPr txBox="1"/>
          <p:nvPr/>
        </p:nvSpPr>
        <p:spPr>
          <a:xfrm>
            <a:off x="889000" y="2920999"/>
            <a:ext cx="2641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Observation</a:t>
            </a:r>
          </a:p>
        </p:txBody>
      </p:sp>
      <p:sp>
        <p:nvSpPr>
          <p:cNvPr id="10" name="text_9">
            <a:extLst>
              <a:ext uri="{FF2B5EF4-FFF2-40B4-BE49-F238E27FC236}">
                <a16:creationId xmlns:a16="http://schemas.microsoft.com/office/drawing/2014/main" id="{ACEE1914-81F1-B137-809E-851C123906A6}"/>
              </a:ext>
            </a:extLst>
          </p:cNvPr>
          <p:cNvSpPr txBox="1"/>
          <p:nvPr/>
        </p:nvSpPr>
        <p:spPr>
          <a:xfrm>
            <a:off x="889000" y="3454399"/>
            <a:ext cx="2641600" cy="520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Input to the model.</a:t>
            </a:r>
          </a:p>
        </p:txBody>
      </p:sp>
      <p:sp>
        <p:nvSpPr>
          <p:cNvPr id="11" name="Rectangle: Rounded Corners 10">
            <a:extLst>
              <a:ext uri="{FF2B5EF4-FFF2-40B4-BE49-F238E27FC236}">
                <a16:creationId xmlns:a16="http://schemas.microsoft.com/office/drawing/2014/main" id="{43585605-2A27-564D-4FAA-AD7C1D4860F7}"/>
              </a:ext>
            </a:extLst>
          </p:cNvPr>
          <p:cNvSpPr/>
          <p:nvPr/>
        </p:nvSpPr>
        <p:spPr>
          <a:xfrm>
            <a:off x="4318000" y="2768600"/>
            <a:ext cx="3175000" cy="1295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7E42CEF2-219C-A0C1-CA0B-4C3DB45992D6}"/>
              </a:ext>
            </a:extLst>
          </p:cNvPr>
          <p:cNvSpPr txBox="1"/>
          <p:nvPr/>
        </p:nvSpPr>
        <p:spPr>
          <a:xfrm>
            <a:off x="4521200" y="2920999"/>
            <a:ext cx="2768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Prediction</a:t>
            </a:r>
          </a:p>
        </p:txBody>
      </p:sp>
      <p:sp>
        <p:nvSpPr>
          <p:cNvPr id="13" name="text_12">
            <a:extLst>
              <a:ext uri="{FF2B5EF4-FFF2-40B4-BE49-F238E27FC236}">
                <a16:creationId xmlns:a16="http://schemas.microsoft.com/office/drawing/2014/main" id="{A4710F6D-9A22-986E-3078-FF5AE2E8FF0B}"/>
              </a:ext>
            </a:extLst>
          </p:cNvPr>
          <p:cNvSpPr txBox="1"/>
          <p:nvPr/>
        </p:nvSpPr>
        <p:spPr>
          <a:xfrm>
            <a:off x="4521200" y="3454399"/>
            <a:ext cx="2768600" cy="520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Learner action.</a:t>
            </a:r>
          </a:p>
        </p:txBody>
      </p:sp>
      <p:sp>
        <p:nvSpPr>
          <p:cNvPr id="14" name="Rectangle: Rounded Corners 13">
            <a:extLst>
              <a:ext uri="{FF2B5EF4-FFF2-40B4-BE49-F238E27FC236}">
                <a16:creationId xmlns:a16="http://schemas.microsoft.com/office/drawing/2014/main" id="{9E7BA356-E0C5-8745-C8BE-EB466638EB25}"/>
              </a:ext>
            </a:extLst>
          </p:cNvPr>
          <p:cNvSpPr/>
          <p:nvPr/>
        </p:nvSpPr>
        <p:spPr>
          <a:xfrm>
            <a:off x="4318000" y="4305300"/>
            <a:ext cx="3175000" cy="1193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3AAC5E31-419B-BDB2-78B7-24698BBA2BD0}"/>
              </a:ext>
            </a:extLst>
          </p:cNvPr>
          <p:cNvSpPr txBox="1"/>
          <p:nvPr/>
        </p:nvSpPr>
        <p:spPr>
          <a:xfrm>
            <a:off x="4521200" y="4457699"/>
            <a:ext cx="2768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Expert label</a:t>
            </a:r>
          </a:p>
        </p:txBody>
      </p:sp>
      <p:sp>
        <p:nvSpPr>
          <p:cNvPr id="16" name="text_15">
            <a:extLst>
              <a:ext uri="{FF2B5EF4-FFF2-40B4-BE49-F238E27FC236}">
                <a16:creationId xmlns:a16="http://schemas.microsoft.com/office/drawing/2014/main" id="{0A8CECEC-5CEF-B48D-8BB8-C0A0837B1849}"/>
              </a:ext>
            </a:extLst>
          </p:cNvPr>
          <p:cNvSpPr txBox="1"/>
          <p:nvPr/>
        </p:nvSpPr>
        <p:spPr>
          <a:xfrm>
            <a:off x="4521200" y="4991099"/>
            <a:ext cx="2768600" cy="419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Recorded action.</a:t>
            </a:r>
          </a:p>
        </p:txBody>
      </p:sp>
      <p:sp>
        <p:nvSpPr>
          <p:cNvPr id="17" name="Rectangle: Rounded Corners 16">
            <a:extLst>
              <a:ext uri="{FF2B5EF4-FFF2-40B4-BE49-F238E27FC236}">
                <a16:creationId xmlns:a16="http://schemas.microsoft.com/office/drawing/2014/main" id="{8292E465-1CD9-5132-DAC5-5DED5FDD4D85}"/>
              </a:ext>
            </a:extLst>
          </p:cNvPr>
          <p:cNvSpPr/>
          <p:nvPr/>
        </p:nvSpPr>
        <p:spPr>
          <a:xfrm>
            <a:off x="8280400" y="3454400"/>
            <a:ext cx="3225800" cy="1409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20FC588B-DF02-CD0A-E3B7-D1BC0C48B729}"/>
              </a:ext>
            </a:extLst>
          </p:cNvPr>
          <p:cNvSpPr txBox="1"/>
          <p:nvPr/>
        </p:nvSpPr>
        <p:spPr>
          <a:xfrm>
            <a:off x="8483600" y="3606799"/>
            <a:ext cx="28194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Compare + fit</a:t>
            </a:r>
          </a:p>
        </p:txBody>
      </p:sp>
      <p:sp>
        <p:nvSpPr>
          <p:cNvPr id="19" name="text_18">
            <a:extLst>
              <a:ext uri="{FF2B5EF4-FFF2-40B4-BE49-F238E27FC236}">
                <a16:creationId xmlns:a16="http://schemas.microsoft.com/office/drawing/2014/main" id="{45AD42D8-CB78-9064-C9B1-53B993E95BD7}"/>
              </a:ext>
            </a:extLst>
          </p:cNvPr>
          <p:cNvSpPr txBox="1"/>
          <p:nvPr/>
        </p:nvSpPr>
        <p:spPr>
          <a:xfrm>
            <a:off x="8483600" y="4140199"/>
            <a:ext cx="2819400" cy="635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Reduce action error.</a:t>
            </a:r>
          </a:p>
        </p:txBody>
      </p:sp>
      <p:cxnSp>
        <p:nvCxnSpPr>
          <p:cNvPr id="20" name="Straight Connector 19">
            <a:extLst>
              <a:ext uri="{FF2B5EF4-FFF2-40B4-BE49-F238E27FC236}">
                <a16:creationId xmlns:a16="http://schemas.microsoft.com/office/drawing/2014/main" id="{8CB5867C-933C-6CC3-4176-ECD6A2117ACC}"/>
              </a:ext>
            </a:extLst>
          </p:cNvPr>
          <p:cNvCxnSpPr/>
          <p:nvPr/>
        </p:nvCxnSpPr>
        <p:spPr>
          <a:xfrm>
            <a:off x="3784600" y="34163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0C8CCFF-643F-0719-C387-B1339B7F85BD}"/>
              </a:ext>
            </a:extLst>
          </p:cNvPr>
          <p:cNvCxnSpPr/>
          <p:nvPr/>
        </p:nvCxnSpPr>
        <p:spPr>
          <a:xfrm>
            <a:off x="7543800" y="3403600"/>
            <a:ext cx="660400" cy="4826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EF412CF-CDD8-E1B2-DDC2-514079A6E154}"/>
              </a:ext>
            </a:extLst>
          </p:cNvPr>
          <p:cNvCxnSpPr/>
          <p:nvPr/>
        </p:nvCxnSpPr>
        <p:spPr>
          <a:xfrm flipV="1">
            <a:off x="7543800" y="4368800"/>
            <a:ext cx="660400" cy="5207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3" name="text_22">
            <a:extLst>
              <a:ext uri="{FF2B5EF4-FFF2-40B4-BE49-F238E27FC236}">
                <a16:creationId xmlns:a16="http://schemas.microsoft.com/office/drawing/2014/main" id="{12D85386-6E34-D43C-D745-50932AC2FDF1}"/>
              </a:ext>
            </a:extLst>
          </p:cNvPr>
          <p:cNvSpPr txBox="1"/>
          <p:nvPr/>
        </p:nvSpPr>
        <p:spPr>
          <a:xfrm>
            <a:off x="685800" y="4444999"/>
            <a:ext cx="3200400" cy="11811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Demo: simple regression.</a:t>
            </a:r>
          </a:p>
        </p:txBody>
      </p:sp>
      <p:sp>
        <p:nvSpPr>
          <p:cNvPr id="24" name="text_23">
            <a:extLst>
              <a:ext uri="{FF2B5EF4-FFF2-40B4-BE49-F238E27FC236}">
                <a16:creationId xmlns:a16="http://schemas.microsoft.com/office/drawing/2014/main" id="{A32CF624-102B-0B55-A3E9-924AEEAABB39}"/>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No reward optimization in behavior-cloning training.</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621595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9E4765D-6842-6F56-6B5F-3764D5195E4C}"/>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62F4EDB-1131-798C-358E-2806ABA8862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When imitation drifts</a:t>
            </a:r>
          </a:p>
        </p:txBody>
      </p:sp>
      <p:sp>
        <p:nvSpPr>
          <p:cNvPr id="4" name="text_3">
            <a:extLst>
              <a:ext uri="{FF2B5EF4-FFF2-40B4-BE49-F238E27FC236}">
                <a16:creationId xmlns:a16="http://schemas.microsoft.com/office/drawing/2014/main" id="{B011348A-135B-2A5E-214B-E46F1EAFC86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Our actions change the next inputs we will see.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995D620-08FC-EE96-7021-92C3F30F439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49F0FDA-570A-67FF-9BCC-EB993F6EC51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B6DADFE-6A43-3209-3DF0-6FC375BFC3A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Rectangle: Rounded Corners 7">
            <a:extLst>
              <a:ext uri="{FF2B5EF4-FFF2-40B4-BE49-F238E27FC236}">
                <a16:creationId xmlns:a16="http://schemas.microsoft.com/office/drawing/2014/main" id="{4735507E-B9DB-1C7D-6105-B862E91D95FD}"/>
              </a:ext>
            </a:extLst>
          </p:cNvPr>
          <p:cNvSpPr/>
          <p:nvPr/>
        </p:nvSpPr>
        <p:spPr>
          <a:xfrm>
            <a:off x="685800" y="2755900"/>
            <a:ext cx="249555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783B889-9B0F-D7CC-C8D4-D3E5C92E3025}"/>
              </a:ext>
            </a:extLst>
          </p:cNvPr>
          <p:cNvSpPr txBox="1"/>
          <p:nvPr/>
        </p:nvSpPr>
        <p:spPr>
          <a:xfrm>
            <a:off x="787400" y="30733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Small error</a:t>
            </a:r>
          </a:p>
        </p:txBody>
      </p:sp>
      <p:cxnSp>
        <p:nvCxnSpPr>
          <p:cNvPr id="10" name="Straight Connector 9">
            <a:extLst>
              <a:ext uri="{FF2B5EF4-FFF2-40B4-BE49-F238E27FC236}">
                <a16:creationId xmlns:a16="http://schemas.microsoft.com/office/drawing/2014/main" id="{DE6ED93D-CA18-FC8D-5E72-D2D9A6356626}"/>
              </a:ext>
            </a:extLst>
          </p:cNvPr>
          <p:cNvCxnSpPr/>
          <p:nvPr/>
        </p:nvCxnSpPr>
        <p:spPr>
          <a:xfrm>
            <a:off x="3219450" y="32893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3A7E26DB-9A9C-0BF6-C180-A285853A923A}"/>
              </a:ext>
            </a:extLst>
          </p:cNvPr>
          <p:cNvSpPr/>
          <p:nvPr/>
        </p:nvSpPr>
        <p:spPr>
          <a:xfrm>
            <a:off x="3460750" y="2755900"/>
            <a:ext cx="2495550"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DDF2691D-1B5F-EB0D-0780-38B549E90CB4}"/>
              </a:ext>
            </a:extLst>
          </p:cNvPr>
          <p:cNvSpPr txBox="1"/>
          <p:nvPr/>
        </p:nvSpPr>
        <p:spPr>
          <a:xfrm>
            <a:off x="3562350" y="30733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Changed state</a:t>
            </a:r>
          </a:p>
        </p:txBody>
      </p:sp>
      <p:cxnSp>
        <p:nvCxnSpPr>
          <p:cNvPr id="13" name="Straight Connector 12">
            <a:extLst>
              <a:ext uri="{FF2B5EF4-FFF2-40B4-BE49-F238E27FC236}">
                <a16:creationId xmlns:a16="http://schemas.microsoft.com/office/drawing/2014/main" id="{486E82EE-E368-11B0-6812-C12A09622010}"/>
              </a:ext>
            </a:extLst>
          </p:cNvPr>
          <p:cNvCxnSpPr/>
          <p:nvPr/>
        </p:nvCxnSpPr>
        <p:spPr>
          <a:xfrm>
            <a:off x="5994400" y="32893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89CAF924-F642-85B6-237B-6F8B2FA22DA0}"/>
              </a:ext>
            </a:extLst>
          </p:cNvPr>
          <p:cNvSpPr/>
          <p:nvPr/>
        </p:nvSpPr>
        <p:spPr>
          <a:xfrm>
            <a:off x="6235700" y="2755900"/>
            <a:ext cx="249555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3D549A77-B3B6-BCF8-BDA8-DBAFB0EEE45D}"/>
              </a:ext>
            </a:extLst>
          </p:cNvPr>
          <p:cNvSpPr txBox="1"/>
          <p:nvPr/>
        </p:nvSpPr>
        <p:spPr>
          <a:xfrm>
            <a:off x="6337300" y="30733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Unfamiliar input</a:t>
            </a:r>
          </a:p>
        </p:txBody>
      </p:sp>
      <p:cxnSp>
        <p:nvCxnSpPr>
          <p:cNvPr id="16" name="Straight Connector 15">
            <a:extLst>
              <a:ext uri="{FF2B5EF4-FFF2-40B4-BE49-F238E27FC236}">
                <a16:creationId xmlns:a16="http://schemas.microsoft.com/office/drawing/2014/main" id="{DDF7D0C9-C9D4-A07E-3A3A-85567AF19390}"/>
              </a:ext>
            </a:extLst>
          </p:cNvPr>
          <p:cNvCxnSpPr/>
          <p:nvPr/>
        </p:nvCxnSpPr>
        <p:spPr>
          <a:xfrm>
            <a:off x="8769350" y="32893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5EC825D3-DC55-716A-4D88-A6D6DDB59109}"/>
              </a:ext>
            </a:extLst>
          </p:cNvPr>
          <p:cNvSpPr/>
          <p:nvPr/>
        </p:nvSpPr>
        <p:spPr>
          <a:xfrm>
            <a:off x="9010650" y="2755900"/>
            <a:ext cx="2495550"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57B94A68-24B2-E404-5ECC-4CB31F46C508}"/>
              </a:ext>
            </a:extLst>
          </p:cNvPr>
          <p:cNvSpPr txBox="1"/>
          <p:nvPr/>
        </p:nvSpPr>
        <p:spPr>
          <a:xfrm>
            <a:off x="9112250" y="30733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Further error</a:t>
            </a:r>
          </a:p>
        </p:txBody>
      </p:sp>
      <p:sp>
        <p:nvSpPr>
          <p:cNvPr id="19" name="text_18">
            <a:extLst>
              <a:ext uri="{FF2B5EF4-FFF2-40B4-BE49-F238E27FC236}">
                <a16:creationId xmlns:a16="http://schemas.microsoft.com/office/drawing/2014/main" id="{9D8978F1-BD0F-C673-6591-2FE27E092BC9}"/>
              </a:ext>
            </a:extLst>
          </p:cNvPr>
          <p:cNvSpPr txBox="1"/>
          <p:nvPr/>
        </p:nvSpPr>
        <p:spPr>
          <a:xfrm>
            <a:off x="685800" y="4216399"/>
            <a:ext cx="10820400" cy="4445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Expert-data path</a:t>
            </a:r>
          </a:p>
        </p:txBody>
      </p:sp>
      <p:cxnSp>
        <p:nvCxnSpPr>
          <p:cNvPr id="20" name="Straight Connector 19">
            <a:extLst>
              <a:ext uri="{FF2B5EF4-FFF2-40B4-BE49-F238E27FC236}">
                <a16:creationId xmlns:a16="http://schemas.microsoft.com/office/drawing/2014/main" id="{47EC62EA-FA60-CDAB-A1F7-679CD3B4CCB4}"/>
              </a:ext>
            </a:extLst>
          </p:cNvPr>
          <p:cNvCxnSpPr/>
          <p:nvPr/>
        </p:nvCxnSpPr>
        <p:spPr>
          <a:xfrm>
            <a:off x="3937000" y="4406900"/>
            <a:ext cx="73025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sp>
        <p:nvSpPr>
          <p:cNvPr id="21" name="text_20">
            <a:extLst>
              <a:ext uri="{FF2B5EF4-FFF2-40B4-BE49-F238E27FC236}">
                <a16:creationId xmlns:a16="http://schemas.microsoft.com/office/drawing/2014/main" id="{231C4BB5-30FD-9B57-3C4F-6D9F4D4B9961}"/>
              </a:ext>
            </a:extLst>
          </p:cNvPr>
          <p:cNvSpPr txBox="1"/>
          <p:nvPr/>
        </p:nvSpPr>
        <p:spPr>
          <a:xfrm>
            <a:off x="685800" y="4902199"/>
            <a:ext cx="10820400" cy="444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Learner path</a:t>
            </a:r>
          </a:p>
        </p:txBody>
      </p:sp>
      <p:cxnSp>
        <p:nvCxnSpPr>
          <p:cNvPr id="22" name="Straight Connector 21">
            <a:extLst>
              <a:ext uri="{FF2B5EF4-FFF2-40B4-BE49-F238E27FC236}">
                <a16:creationId xmlns:a16="http://schemas.microsoft.com/office/drawing/2014/main" id="{689247DF-0DD3-1458-CC5F-3FBC8B0639F8}"/>
              </a:ext>
            </a:extLst>
          </p:cNvPr>
          <p:cNvCxnSpPr/>
          <p:nvPr/>
        </p:nvCxnSpPr>
        <p:spPr>
          <a:xfrm>
            <a:off x="3937000" y="5092700"/>
            <a:ext cx="17780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7E88EF7-4FE7-F8D4-930A-8FC55ECE7D1A}"/>
              </a:ext>
            </a:extLst>
          </p:cNvPr>
          <p:cNvCxnSpPr/>
          <p:nvPr/>
        </p:nvCxnSpPr>
        <p:spPr>
          <a:xfrm>
            <a:off x="5715000" y="5092700"/>
            <a:ext cx="2286000" cy="33020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3BAD526-26B8-3E17-B2D9-7B007F890DAD}"/>
              </a:ext>
            </a:extLst>
          </p:cNvPr>
          <p:cNvCxnSpPr/>
          <p:nvPr/>
        </p:nvCxnSpPr>
        <p:spPr>
          <a:xfrm>
            <a:off x="8001000" y="5422900"/>
            <a:ext cx="3238500" cy="1016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5" name="text_24">
            <a:extLst>
              <a:ext uri="{FF2B5EF4-FFF2-40B4-BE49-F238E27FC236}">
                <a16:creationId xmlns:a16="http://schemas.microsoft.com/office/drawing/2014/main" id="{8265F7DB-CE4A-099F-AFA4-95A5C79044D2}"/>
              </a:ext>
            </a:extLst>
          </p:cNvPr>
          <p:cNvSpPr txBox="1"/>
          <p:nvPr/>
        </p:nvSpPr>
        <p:spPr>
          <a:xfrm>
            <a:off x="8699500" y="4584699"/>
            <a:ext cx="2806700" cy="812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Conceptual illustration</a:t>
            </a:r>
          </a:p>
        </p:txBody>
      </p:sp>
      <p:sp>
        <p:nvSpPr>
          <p:cNvPr id="26" name="text_25">
            <a:extLst>
              <a:ext uri="{FF2B5EF4-FFF2-40B4-BE49-F238E27FC236}">
                <a16:creationId xmlns:a16="http://schemas.microsoft.com/office/drawing/2014/main" id="{2C46847A-A1D8-76A7-BD5A-A73E5215E082}"/>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Low action error on expert data does not guarantee successful control.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575994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1E86C9C-567F-8F10-BD0E-7F150786AF5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847B1BC-4388-75E2-CA16-7C797A87F96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DAgger: learn from learner-visited states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1C22DFBD-C224-C07C-8232-6FE5B7FFCF6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Ask the expert about the states your learner actually reaches.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52516D3-C84D-FE89-2B56-5E37BE70D68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F8174D0-338E-5A1B-0BD7-1ACF3423AEF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8408725-10D9-4D3D-6C1A-0388CD56C3A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8" name="Rectangle: Rounded Corners 7">
            <a:extLst>
              <a:ext uri="{FF2B5EF4-FFF2-40B4-BE49-F238E27FC236}">
                <a16:creationId xmlns:a16="http://schemas.microsoft.com/office/drawing/2014/main" id="{94A82CD5-C900-E24A-0F91-DB5E93AD8164}"/>
              </a:ext>
            </a:extLst>
          </p:cNvPr>
          <p:cNvSpPr/>
          <p:nvPr/>
        </p:nvSpPr>
        <p:spPr>
          <a:xfrm>
            <a:off x="685800" y="2984500"/>
            <a:ext cx="249555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6C1E367B-D0FA-5B5F-E7E0-A46133C5A0F0}"/>
              </a:ext>
            </a:extLst>
          </p:cNvPr>
          <p:cNvSpPr txBox="1"/>
          <p:nvPr/>
        </p:nvSpPr>
        <p:spPr>
          <a:xfrm>
            <a:off x="787400" y="33019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Run learner</a:t>
            </a:r>
          </a:p>
        </p:txBody>
      </p:sp>
      <p:cxnSp>
        <p:nvCxnSpPr>
          <p:cNvPr id="10" name="Straight Connector 9">
            <a:extLst>
              <a:ext uri="{FF2B5EF4-FFF2-40B4-BE49-F238E27FC236}">
                <a16:creationId xmlns:a16="http://schemas.microsoft.com/office/drawing/2014/main" id="{D429A377-04B9-FBC2-15FC-4E11F9DEDCB2}"/>
              </a:ext>
            </a:extLst>
          </p:cNvPr>
          <p:cNvCxnSpPr/>
          <p:nvPr/>
        </p:nvCxnSpPr>
        <p:spPr>
          <a:xfrm>
            <a:off x="3219450" y="3517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CEBC9C1E-E8B5-63C2-099C-D5CAFE2310E4}"/>
              </a:ext>
            </a:extLst>
          </p:cNvPr>
          <p:cNvSpPr/>
          <p:nvPr/>
        </p:nvSpPr>
        <p:spPr>
          <a:xfrm>
            <a:off x="3460750" y="2984500"/>
            <a:ext cx="2495550"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33B3763-E1CF-01AD-3384-74AFD406A21A}"/>
              </a:ext>
            </a:extLst>
          </p:cNvPr>
          <p:cNvSpPr txBox="1"/>
          <p:nvPr/>
        </p:nvSpPr>
        <p:spPr>
          <a:xfrm>
            <a:off x="3562350" y="33019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Ask expert</a:t>
            </a:r>
          </a:p>
        </p:txBody>
      </p:sp>
      <p:cxnSp>
        <p:nvCxnSpPr>
          <p:cNvPr id="13" name="Straight Connector 12">
            <a:extLst>
              <a:ext uri="{FF2B5EF4-FFF2-40B4-BE49-F238E27FC236}">
                <a16:creationId xmlns:a16="http://schemas.microsoft.com/office/drawing/2014/main" id="{B70161AB-2F2A-C40A-A718-5BEBFB74ACF7}"/>
              </a:ext>
            </a:extLst>
          </p:cNvPr>
          <p:cNvCxnSpPr/>
          <p:nvPr/>
        </p:nvCxnSpPr>
        <p:spPr>
          <a:xfrm>
            <a:off x="5994400" y="3517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BAB8AE64-68BF-A5DE-82A0-ECF101089672}"/>
              </a:ext>
            </a:extLst>
          </p:cNvPr>
          <p:cNvSpPr/>
          <p:nvPr/>
        </p:nvSpPr>
        <p:spPr>
          <a:xfrm>
            <a:off x="6235700" y="2984500"/>
            <a:ext cx="249555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A56A5320-7CB0-ED06-DE0B-1D24BDBA8967}"/>
              </a:ext>
            </a:extLst>
          </p:cNvPr>
          <p:cNvSpPr txBox="1"/>
          <p:nvPr/>
        </p:nvSpPr>
        <p:spPr>
          <a:xfrm>
            <a:off x="6337300" y="33019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Aggregate</a:t>
            </a:r>
          </a:p>
        </p:txBody>
      </p:sp>
      <p:cxnSp>
        <p:nvCxnSpPr>
          <p:cNvPr id="16" name="Straight Connector 15">
            <a:extLst>
              <a:ext uri="{FF2B5EF4-FFF2-40B4-BE49-F238E27FC236}">
                <a16:creationId xmlns:a16="http://schemas.microsoft.com/office/drawing/2014/main" id="{D8BA9E5C-DD73-0AF3-384E-3B8557A88FCA}"/>
              </a:ext>
            </a:extLst>
          </p:cNvPr>
          <p:cNvCxnSpPr/>
          <p:nvPr/>
        </p:nvCxnSpPr>
        <p:spPr>
          <a:xfrm>
            <a:off x="8769350" y="35179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946FF4E8-AB0A-E53A-C53B-8474F451D0F8}"/>
              </a:ext>
            </a:extLst>
          </p:cNvPr>
          <p:cNvSpPr/>
          <p:nvPr/>
        </p:nvSpPr>
        <p:spPr>
          <a:xfrm>
            <a:off x="9010650" y="2984500"/>
            <a:ext cx="2495550" cy="107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2E11C601-4BB1-4755-C1B4-56E7A546FB9E}"/>
              </a:ext>
            </a:extLst>
          </p:cNvPr>
          <p:cNvSpPr txBox="1"/>
          <p:nvPr/>
        </p:nvSpPr>
        <p:spPr>
          <a:xfrm>
            <a:off x="9112250" y="3301999"/>
            <a:ext cx="229235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Retrain</a:t>
            </a:r>
          </a:p>
        </p:txBody>
      </p:sp>
      <p:cxnSp>
        <p:nvCxnSpPr>
          <p:cNvPr id="19" name="Straight Connector 18">
            <a:extLst>
              <a:ext uri="{FF2B5EF4-FFF2-40B4-BE49-F238E27FC236}">
                <a16:creationId xmlns:a16="http://schemas.microsoft.com/office/drawing/2014/main" id="{53911487-2215-AE29-67C8-00B32EC11667}"/>
              </a:ext>
            </a:extLst>
          </p:cNvPr>
          <p:cNvCxnSpPr/>
          <p:nvPr/>
        </p:nvCxnSpPr>
        <p:spPr>
          <a:xfrm>
            <a:off x="10223500" y="4203700"/>
            <a:ext cx="0" cy="8001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CB11EE6-6214-2B14-32B1-2910CA24B0DD}"/>
              </a:ext>
            </a:extLst>
          </p:cNvPr>
          <p:cNvCxnSpPr/>
          <p:nvPr/>
        </p:nvCxnSpPr>
        <p:spPr>
          <a:xfrm flipH="1">
            <a:off x="1993900" y="5003800"/>
            <a:ext cx="8229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977AC95-907E-7369-AB00-D4D0D64C2E14}"/>
              </a:ext>
            </a:extLst>
          </p:cNvPr>
          <p:cNvCxnSpPr/>
          <p:nvPr/>
        </p:nvCxnSpPr>
        <p:spPr>
          <a:xfrm flipV="1">
            <a:off x="1993900" y="4203700"/>
            <a:ext cx="0" cy="8001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2" name="text_21">
            <a:extLst>
              <a:ext uri="{FF2B5EF4-FFF2-40B4-BE49-F238E27FC236}">
                <a16:creationId xmlns:a16="http://schemas.microsoft.com/office/drawing/2014/main" id="{9DE95525-2E3F-ED33-C49D-5D186AD691AC}"/>
              </a:ext>
            </a:extLst>
          </p:cNvPr>
          <p:cNvSpPr txBox="1"/>
          <p:nvPr/>
        </p:nvSpPr>
        <p:spPr>
          <a:xfrm>
            <a:off x="4114800" y="4622799"/>
            <a:ext cx="3949700" cy="508000"/>
          </a:xfrm>
          <a:prstGeom prst="rect">
            <a:avLst/>
          </a:prstGeom>
          <a:noFill/>
        </p:spPr>
        <p:txBody>
          <a:bodyPr vert="horz" wrap="square" lIns="0" tIns="0" rIns="0" bIns="0" rtlCol="0" anchor="t">
            <a:noAutofit/>
          </a:bodyPr>
          <a:lstStyle/>
          <a:p>
            <a:pPr algn="ctr"/>
            <a:r>
              <a:rPr lang="en-IL" sz="2700" b="1">
                <a:solidFill>
                  <a:srgbClr val="137F79"/>
                </a:solidFill>
                <a:latin typeface="Aptos" panose="020B0004020202020204" pitchFamily="34" charset="0"/>
              </a:rPr>
              <a:t>Repeat with more data.</a:t>
            </a:r>
          </a:p>
        </p:txBody>
      </p:sp>
      <p:sp>
        <p:nvSpPr>
          <p:cNvPr id="23" name="text_22">
            <a:extLst>
              <a:ext uri="{FF2B5EF4-FFF2-40B4-BE49-F238E27FC236}">
                <a16:creationId xmlns:a16="http://schemas.microsoft.com/office/drawing/2014/main" id="{F00986DB-8D7B-C776-7656-9A3AB3744966}"/>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Aggregate the new labels with earlier data, then retrain.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122208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EA7FE62-8CCA-CD3B-85F6-D46FF7AB539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81DAFB3-EF26-08C4-0CE2-9430AA5A62F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Other approaches: IRL and GAIL</a:t>
            </a:r>
            <a:endParaRPr lang="en-IL" sz="4000" b="1">
              <a:solidFill>
                <a:srgbClr val="15283B"/>
              </a:solidFill>
              <a:latin typeface="Aptos" panose="020B0004020202020204" pitchFamily="34" charset="0"/>
            </a:endParaRPr>
          </a:p>
        </p:txBody>
      </p:sp>
      <p:cxnSp>
        <p:nvCxnSpPr>
          <p:cNvPr id="4" name="Straight Connector 3">
            <a:extLst>
              <a:ext uri="{FF2B5EF4-FFF2-40B4-BE49-F238E27FC236}">
                <a16:creationId xmlns:a16="http://schemas.microsoft.com/office/drawing/2014/main" id="{4C19DB64-F7FE-7E63-0557-44F56FE0799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5" name="text_4">
            <a:extLst>
              <a:ext uri="{FF2B5EF4-FFF2-40B4-BE49-F238E27FC236}">
                <a16:creationId xmlns:a16="http://schemas.microsoft.com/office/drawing/2014/main" id="{C423A110-F1F9-AD98-B24E-E082CBA849F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6" name="text_5">
            <a:extLst>
              <a:ext uri="{FF2B5EF4-FFF2-40B4-BE49-F238E27FC236}">
                <a16:creationId xmlns:a16="http://schemas.microsoft.com/office/drawing/2014/main" id="{EC967432-AD76-2A82-442F-30A94EB6B5D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7" name="Rectangle: Rounded Corners 6">
            <a:extLst>
              <a:ext uri="{FF2B5EF4-FFF2-40B4-BE49-F238E27FC236}">
                <a16:creationId xmlns:a16="http://schemas.microsoft.com/office/drawing/2014/main" id="{4C922871-2EBA-CCC7-54B1-A69DD31C0DC3}"/>
              </a:ext>
            </a:extLst>
          </p:cNvPr>
          <p:cNvSpPr/>
          <p:nvPr/>
        </p:nvSpPr>
        <p:spPr>
          <a:xfrm>
            <a:off x="685800" y="2679700"/>
            <a:ext cx="5207000" cy="2768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text_7">
            <a:extLst>
              <a:ext uri="{FF2B5EF4-FFF2-40B4-BE49-F238E27FC236}">
                <a16:creationId xmlns:a16="http://schemas.microsoft.com/office/drawing/2014/main" id="{15545674-B2B6-74E0-E4E7-1CC6C51ABC31}"/>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IRL</a:t>
            </a:r>
          </a:p>
        </p:txBody>
      </p:sp>
      <p:sp>
        <p:nvSpPr>
          <p:cNvPr id="9" name="text_8">
            <a:extLst>
              <a:ext uri="{FF2B5EF4-FFF2-40B4-BE49-F238E27FC236}">
                <a16:creationId xmlns:a16="http://schemas.microsoft.com/office/drawing/2014/main" id="{50078193-362F-F901-B0B4-7B734C6FA0C8}"/>
              </a:ext>
            </a:extLst>
          </p:cNvPr>
          <p:cNvSpPr txBox="1"/>
          <p:nvPr/>
        </p:nvSpPr>
        <p:spPr>
          <a:xfrm>
            <a:off x="914400" y="3492499"/>
            <a:ext cx="4749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Infer a reward that explains expert behavior; use it to learn or plan a policy.</a:t>
            </a:r>
            <a:endParaRPr lang="en-IL" sz="2400">
              <a:solidFill>
                <a:srgbClr val="15283B"/>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976C08F0-56DB-E62F-DA7F-4264D2556D30}"/>
              </a:ext>
            </a:extLst>
          </p:cNvPr>
          <p:cNvSpPr/>
          <p:nvPr/>
        </p:nvSpPr>
        <p:spPr>
          <a:xfrm>
            <a:off x="6172200" y="2679700"/>
            <a:ext cx="53340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ED82623C-44D4-7F69-7410-3F3A7100FA3E}"/>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GAIL</a:t>
            </a:r>
          </a:p>
        </p:txBody>
      </p:sp>
      <p:sp>
        <p:nvSpPr>
          <p:cNvPr id="12" name="text_11">
            <a:extLst>
              <a:ext uri="{FF2B5EF4-FFF2-40B4-BE49-F238E27FC236}">
                <a16:creationId xmlns:a16="http://schemas.microsoft.com/office/drawing/2014/main" id="{3B988DB0-9273-42A1-A7C2-3ACFBF648871}"/>
              </a:ext>
            </a:extLst>
          </p:cNvPr>
          <p:cNvSpPr txBox="1"/>
          <p:nvPr/>
        </p:nvSpPr>
        <p:spPr>
          <a:xfrm>
            <a:off x="6400800" y="3492499"/>
            <a:ext cx="4876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Train a policy to match expert state/action visitation using discriminator feedback.</a:t>
            </a:r>
            <a:endParaRPr lang="en-IL" sz="2400">
              <a:solidFill>
                <a:srgbClr val="15283B"/>
              </a:solidFill>
              <a:latin typeface="Aptos" panose="020B0004020202020204" pitchFamily="34" charset="0"/>
            </a:endParaRPr>
          </a:p>
        </p:txBody>
      </p:sp>
      <p:sp>
        <p:nvSpPr>
          <p:cNvPr id="13" name="text_12">
            <a:extLst>
              <a:ext uri="{FF2B5EF4-FFF2-40B4-BE49-F238E27FC236}">
                <a16:creationId xmlns:a16="http://schemas.microsoft.com/office/drawing/2014/main" id="{D57431FA-5C76-EB3D-BB43-556530BC1A06}"/>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Different approaches; our demo uses behavior cloning.</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17262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0F67203-59C3-1BC1-1A82-B67F6EC22C5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77DE869B-005F-EA15-27FB-BFDB188B801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Evaluate predictions and behavior</a:t>
            </a:r>
          </a:p>
        </p:txBody>
      </p:sp>
      <p:sp>
        <p:nvSpPr>
          <p:cNvPr id="4" name="text_3">
            <a:extLst>
              <a:ext uri="{FF2B5EF4-FFF2-40B4-BE49-F238E27FC236}">
                <a16:creationId xmlns:a16="http://schemas.microsoft.com/office/drawing/2014/main" id="{EB2D052F-F20F-048C-BFFC-21AFC3BFCAA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Two different questions need two different measurements.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D52FC1D-5BAE-72A9-0795-B90483E2736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FC2E792-8C20-8E4D-3FF0-96611BBCD5F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8AA3C5C-1A9E-4497-A878-5060B22FFCE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Rectangle: Rounded Corners 7">
            <a:extLst>
              <a:ext uri="{FF2B5EF4-FFF2-40B4-BE49-F238E27FC236}">
                <a16:creationId xmlns:a16="http://schemas.microsoft.com/office/drawing/2014/main" id="{C5706E28-8667-D320-5FE4-FD30F758403C}"/>
              </a:ext>
            </a:extLst>
          </p:cNvPr>
          <p:cNvSpPr/>
          <p:nvPr/>
        </p:nvSpPr>
        <p:spPr>
          <a:xfrm>
            <a:off x="685800" y="2679700"/>
            <a:ext cx="5207000" cy="2768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DAD4262-632B-B59D-7588-9EACE12E6C1A}"/>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Held-out action error</a:t>
            </a:r>
          </a:p>
        </p:txBody>
      </p:sp>
      <p:sp>
        <p:nvSpPr>
          <p:cNvPr id="10" name="text_9">
            <a:extLst>
              <a:ext uri="{FF2B5EF4-FFF2-40B4-BE49-F238E27FC236}">
                <a16:creationId xmlns:a16="http://schemas.microsoft.com/office/drawing/2014/main" id="{9CB10ACB-83CC-85C1-B0D2-69891749E210}"/>
              </a:ext>
            </a:extLst>
          </p:cNvPr>
          <p:cNvSpPr txBox="1"/>
          <p:nvPr/>
        </p:nvSpPr>
        <p:spPr>
          <a:xfrm>
            <a:off x="914400" y="3492499"/>
            <a:ext cx="4749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Do predictions match
expert labels?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1570A987-B68C-CE9C-0066-CFE5B4B026AA}"/>
              </a:ext>
            </a:extLst>
          </p:cNvPr>
          <p:cNvSpPr/>
          <p:nvPr/>
        </p:nvSpPr>
        <p:spPr>
          <a:xfrm>
            <a:off x="6172200" y="2679700"/>
            <a:ext cx="53340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5B78794-E947-46E1-5F7D-ECE509829DDB}"/>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Closed-loop success</a:t>
            </a:r>
          </a:p>
        </p:txBody>
      </p:sp>
      <p:sp>
        <p:nvSpPr>
          <p:cNvPr id="13" name="text_12">
            <a:extLst>
              <a:ext uri="{FF2B5EF4-FFF2-40B4-BE49-F238E27FC236}">
                <a16:creationId xmlns:a16="http://schemas.microsoft.com/office/drawing/2014/main" id="{6AC13FD8-9933-4E8F-5F74-5753D0FFAB5C}"/>
              </a:ext>
            </a:extLst>
          </p:cNvPr>
          <p:cNvSpPr txBox="1"/>
          <p:nvPr/>
        </p:nvSpPr>
        <p:spPr>
          <a:xfrm>
            <a:off x="6400800" y="3492499"/>
            <a:ext cx="4876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Does the learner complete the task on fresh episodes?</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D3FFE90E-8434-730F-1308-55841AD7738D}"/>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Split by whole trajectories. Compare on shared unseen cases.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905506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0984F53-7258-DA52-8E72-B89DBDD7769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C6BF278-68D5-CCA9-FE08-24CB72E5D07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Our coming demo: reach the target</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D575B4D2-9D96-2403-A1F0-8806C3AC766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two-axis moving body, not an arm or grasping task.</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128B312-E13A-D4C5-878C-F2BE9B6692E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09CAC23-EEDC-6F5C-F11D-585ED3EDFD9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49BA204-102C-AEAE-E53C-2E5F0EEEC8A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Rectangle: Rounded Corners 7">
            <a:extLst>
              <a:ext uri="{FF2B5EF4-FFF2-40B4-BE49-F238E27FC236}">
                <a16:creationId xmlns:a16="http://schemas.microsoft.com/office/drawing/2014/main" id="{00C81B12-47F4-5980-2850-27892C01BEF5}"/>
              </a:ext>
            </a:extLst>
          </p:cNvPr>
          <p:cNvSpPr/>
          <p:nvPr/>
        </p:nvSpPr>
        <p:spPr>
          <a:xfrm>
            <a:off x="685800" y="2679700"/>
            <a:ext cx="4445000" cy="29210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9" name="Straight Connector 8">
            <a:extLst>
              <a:ext uri="{FF2B5EF4-FFF2-40B4-BE49-F238E27FC236}">
                <a16:creationId xmlns:a16="http://schemas.microsoft.com/office/drawing/2014/main" id="{9BC5CDC0-9DDF-44CD-6C11-D08FE2B98476}"/>
              </a:ext>
            </a:extLst>
          </p:cNvPr>
          <p:cNvCxnSpPr/>
          <p:nvPr/>
        </p:nvCxnSpPr>
        <p:spPr>
          <a:xfrm>
            <a:off x="1193800" y="5041900"/>
            <a:ext cx="3644900" cy="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64D615-D33E-CAEB-6D70-067D8A239FE3}"/>
              </a:ext>
            </a:extLst>
          </p:cNvPr>
          <p:cNvCxnSpPr/>
          <p:nvPr/>
        </p:nvCxnSpPr>
        <p:spPr>
          <a:xfrm flipV="1">
            <a:off x="1193800" y="2933700"/>
            <a:ext cx="0" cy="210820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sp>
        <p:nvSpPr>
          <p:cNvPr id="11" name="text_10">
            <a:extLst>
              <a:ext uri="{FF2B5EF4-FFF2-40B4-BE49-F238E27FC236}">
                <a16:creationId xmlns:a16="http://schemas.microsoft.com/office/drawing/2014/main" id="{3764C595-648D-2CBD-99D3-1FD985CB1D99}"/>
              </a:ext>
            </a:extLst>
          </p:cNvPr>
          <p:cNvSpPr txBox="1"/>
          <p:nvPr/>
        </p:nvSpPr>
        <p:spPr>
          <a:xfrm>
            <a:off x="4749800" y="5130799"/>
            <a:ext cx="381000" cy="4191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x</a:t>
            </a:r>
          </a:p>
        </p:txBody>
      </p:sp>
      <p:sp>
        <p:nvSpPr>
          <p:cNvPr id="12" name="text_11">
            <a:extLst>
              <a:ext uri="{FF2B5EF4-FFF2-40B4-BE49-F238E27FC236}">
                <a16:creationId xmlns:a16="http://schemas.microsoft.com/office/drawing/2014/main" id="{33883220-F1E5-269A-72B4-05F23FDC6403}"/>
              </a:ext>
            </a:extLst>
          </p:cNvPr>
          <p:cNvSpPr txBox="1"/>
          <p:nvPr/>
        </p:nvSpPr>
        <p:spPr>
          <a:xfrm>
            <a:off x="850900" y="2819399"/>
            <a:ext cx="381000" cy="4191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y</a:t>
            </a:r>
          </a:p>
        </p:txBody>
      </p:sp>
      <p:sp>
        <p:nvSpPr>
          <p:cNvPr id="13" name="Oval 12">
            <a:extLst>
              <a:ext uri="{FF2B5EF4-FFF2-40B4-BE49-F238E27FC236}">
                <a16:creationId xmlns:a16="http://schemas.microsoft.com/office/drawing/2014/main" id="{D5DE5037-04A1-F5B0-15BF-DCB1C160E541}"/>
              </a:ext>
            </a:extLst>
          </p:cNvPr>
          <p:cNvSpPr/>
          <p:nvPr/>
        </p:nvSpPr>
        <p:spPr>
          <a:xfrm>
            <a:off x="1625600" y="4279900"/>
            <a:ext cx="533400" cy="533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Oval 13">
            <a:extLst>
              <a:ext uri="{FF2B5EF4-FFF2-40B4-BE49-F238E27FC236}">
                <a16:creationId xmlns:a16="http://schemas.microsoft.com/office/drawing/2014/main" id="{EBA72F32-FD94-208F-3B1F-446969198CD4}"/>
              </a:ext>
            </a:extLst>
          </p:cNvPr>
          <p:cNvSpPr/>
          <p:nvPr/>
        </p:nvSpPr>
        <p:spPr>
          <a:xfrm>
            <a:off x="4038600" y="3238500"/>
            <a:ext cx="406400" cy="4064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5" name="Straight Connector 14">
            <a:extLst>
              <a:ext uri="{FF2B5EF4-FFF2-40B4-BE49-F238E27FC236}">
                <a16:creationId xmlns:a16="http://schemas.microsoft.com/office/drawing/2014/main" id="{5497CAB5-156A-F4C6-5CF7-080FF25A6439}"/>
              </a:ext>
            </a:extLst>
          </p:cNvPr>
          <p:cNvCxnSpPr/>
          <p:nvPr/>
        </p:nvCxnSpPr>
        <p:spPr>
          <a:xfrm flipV="1">
            <a:off x="2197100" y="3644900"/>
            <a:ext cx="1739900" cy="774700"/>
          </a:xfrm>
          <a:prstGeom prst="line">
            <a:avLst/>
          </a:prstGeom>
          <a:ln w="27940">
            <a:solidFill>
              <a:srgbClr val="2459D3"/>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82BDDC73-5469-35E8-E171-ACB5F6D2796F}"/>
              </a:ext>
            </a:extLst>
          </p:cNvPr>
          <p:cNvSpPr txBox="1"/>
          <p:nvPr/>
        </p:nvSpPr>
        <p:spPr>
          <a:xfrm>
            <a:off x="1346200" y="4927599"/>
            <a:ext cx="1625600" cy="4191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Robot</a:t>
            </a:r>
          </a:p>
        </p:txBody>
      </p:sp>
      <p:sp>
        <p:nvSpPr>
          <p:cNvPr id="17" name="text_16">
            <a:extLst>
              <a:ext uri="{FF2B5EF4-FFF2-40B4-BE49-F238E27FC236}">
                <a16:creationId xmlns:a16="http://schemas.microsoft.com/office/drawing/2014/main" id="{809D1CBD-B303-D60F-0862-A474DF8D5C4B}"/>
              </a:ext>
            </a:extLst>
          </p:cNvPr>
          <p:cNvSpPr txBox="1"/>
          <p:nvPr/>
        </p:nvSpPr>
        <p:spPr>
          <a:xfrm>
            <a:off x="3416300" y="2946399"/>
            <a:ext cx="1676400" cy="419100"/>
          </a:xfrm>
          <a:prstGeom prst="rect">
            <a:avLst/>
          </a:prstGeom>
          <a:noFill/>
        </p:spPr>
        <p:txBody>
          <a:bodyPr vert="horz" wrap="square" lIns="0" tIns="0" rIns="0" bIns="0" rtlCol="0" anchor="t">
            <a:noAutofit/>
          </a:bodyPr>
          <a:lstStyle/>
          <a:p>
            <a:r>
              <a:rPr lang="en-IL" sz="2400" b="1">
                <a:solidFill>
                  <a:srgbClr val="AE651D"/>
                </a:solidFill>
                <a:latin typeface="Aptos" panose="020B0004020202020204" pitchFamily="34" charset="0"/>
              </a:rPr>
              <a:t>Target</a:t>
            </a:r>
          </a:p>
        </p:txBody>
      </p:sp>
      <p:sp>
        <p:nvSpPr>
          <p:cNvPr id="18" name="Rectangle: Rounded Corners 17">
            <a:extLst>
              <a:ext uri="{FF2B5EF4-FFF2-40B4-BE49-F238E27FC236}">
                <a16:creationId xmlns:a16="http://schemas.microsoft.com/office/drawing/2014/main" id="{72F4E89E-22E1-86AC-E0B2-F6AECEBC7996}"/>
              </a:ext>
            </a:extLst>
          </p:cNvPr>
          <p:cNvSpPr/>
          <p:nvPr/>
        </p:nvSpPr>
        <p:spPr>
          <a:xfrm>
            <a:off x="5765800" y="2679700"/>
            <a:ext cx="5740400" cy="1270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89CC24F5-8C25-9B01-9EAC-375F5CE32D8D}"/>
              </a:ext>
            </a:extLst>
          </p:cNvPr>
          <p:cNvSpPr txBox="1"/>
          <p:nvPr/>
        </p:nvSpPr>
        <p:spPr>
          <a:xfrm>
            <a:off x="5969000" y="2832099"/>
            <a:ext cx="5334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Observation</a:t>
            </a:r>
          </a:p>
        </p:txBody>
      </p:sp>
      <p:sp>
        <p:nvSpPr>
          <p:cNvPr id="20" name="text_19">
            <a:extLst>
              <a:ext uri="{FF2B5EF4-FFF2-40B4-BE49-F238E27FC236}">
                <a16:creationId xmlns:a16="http://schemas.microsoft.com/office/drawing/2014/main" id="{F16ACB1B-7F2F-34AF-A14A-45CF590E5923}"/>
              </a:ext>
            </a:extLst>
          </p:cNvPr>
          <p:cNvSpPr txBox="1"/>
          <p:nvPr/>
        </p:nvSpPr>
        <p:spPr>
          <a:xfrm>
            <a:off x="5969000" y="3365499"/>
            <a:ext cx="5334000" cy="495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Position error + velocity</a:t>
            </a:r>
          </a:p>
        </p:txBody>
      </p:sp>
      <p:sp>
        <p:nvSpPr>
          <p:cNvPr id="21" name="Rectangle: Rounded Corners 20">
            <a:extLst>
              <a:ext uri="{FF2B5EF4-FFF2-40B4-BE49-F238E27FC236}">
                <a16:creationId xmlns:a16="http://schemas.microsoft.com/office/drawing/2014/main" id="{6042AD25-7C6C-8FB8-F93D-60BEF1E34AC0}"/>
              </a:ext>
            </a:extLst>
          </p:cNvPr>
          <p:cNvSpPr/>
          <p:nvPr/>
        </p:nvSpPr>
        <p:spPr>
          <a:xfrm>
            <a:off x="5765800" y="4203700"/>
            <a:ext cx="5740400" cy="149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2843EDF2-AFE3-831B-D5D1-5662605EB2BC}"/>
              </a:ext>
            </a:extLst>
          </p:cNvPr>
          <p:cNvSpPr txBox="1"/>
          <p:nvPr/>
        </p:nvSpPr>
        <p:spPr>
          <a:xfrm>
            <a:off x="5969000" y="4356099"/>
            <a:ext cx="5334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Action</a:t>
            </a:r>
          </a:p>
        </p:txBody>
      </p:sp>
      <p:sp>
        <p:nvSpPr>
          <p:cNvPr id="23" name="text_22">
            <a:extLst>
              <a:ext uri="{FF2B5EF4-FFF2-40B4-BE49-F238E27FC236}">
                <a16:creationId xmlns:a16="http://schemas.microsoft.com/office/drawing/2014/main" id="{1E9A3564-68FB-645D-483A-5561F7BC7E6A}"/>
              </a:ext>
            </a:extLst>
          </p:cNvPr>
          <p:cNvSpPr txBox="1"/>
          <p:nvPr/>
        </p:nvSpPr>
        <p:spPr>
          <a:xfrm>
            <a:off x="5969000" y="4889499"/>
            <a:ext cx="5334000" cy="723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Two forces, each limited to ±10 N.</a:t>
            </a:r>
            <a:endParaRPr lang="en-IL" sz="2400">
              <a:solidFill>
                <a:srgbClr val="15283B"/>
              </a:solidFill>
              <a:latin typeface="Aptos" panose="020B0004020202020204" pitchFamily="34" charset="0"/>
            </a:endParaRPr>
          </a:p>
        </p:txBody>
      </p:sp>
      <p:sp>
        <p:nvSpPr>
          <p:cNvPr id="24" name="text_23">
            <a:extLst>
              <a:ext uri="{FF2B5EF4-FFF2-40B4-BE49-F238E27FC236}">
                <a16:creationId xmlns:a16="http://schemas.microsoft.com/office/drawing/2014/main" id="{E26345B9-4805-05C1-A179-E8E90A2FA67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Observe error + velocity. Command x/y forces.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231788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1BA8D60-FD9E-1902-AF2B-29B5D3213D3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110D6C58-D34D-D8A4-0EC3-8B8888CD198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Our expert is a feedback controller</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4D8E8E7B-8AFF-B317-A1D8-39AACB9FDE9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transparent teacher for an intentionally simple task.</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D225D4E-1AAB-B6CF-D53E-5711FCB8E69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027BD0C-6057-9A0B-322C-5EA3F6A2841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BD608DB-1013-4D69-3657-09BD7A84D12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Rectangle: Rounded Corners 7">
            <a:extLst>
              <a:ext uri="{FF2B5EF4-FFF2-40B4-BE49-F238E27FC236}">
                <a16:creationId xmlns:a16="http://schemas.microsoft.com/office/drawing/2014/main" id="{CE126D7E-B071-34C2-ED2C-611A975C2E6E}"/>
              </a:ext>
            </a:extLst>
          </p:cNvPr>
          <p:cNvSpPr/>
          <p:nvPr/>
        </p:nvSpPr>
        <p:spPr>
          <a:xfrm>
            <a:off x="685800" y="2679700"/>
            <a:ext cx="5207000" cy="2768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84FB9082-6E74-5F73-07FE-892A455BDB6B}"/>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Position feedback</a:t>
            </a:r>
          </a:p>
        </p:txBody>
      </p:sp>
      <p:sp>
        <p:nvSpPr>
          <p:cNvPr id="10" name="text_9">
            <a:extLst>
              <a:ext uri="{FF2B5EF4-FFF2-40B4-BE49-F238E27FC236}">
                <a16:creationId xmlns:a16="http://schemas.microsoft.com/office/drawing/2014/main" id="{C1885A5D-6CF5-854E-BA0B-8D20A8B4CDEF}"/>
              </a:ext>
            </a:extLst>
          </p:cNvPr>
          <p:cNvSpPr txBox="1"/>
          <p:nvPr/>
        </p:nvSpPr>
        <p:spPr>
          <a:xfrm>
            <a:off x="914400" y="3492499"/>
            <a:ext cx="4749800" cy="1905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Pull toward the target.</a:t>
            </a:r>
          </a:p>
        </p:txBody>
      </p:sp>
      <p:sp>
        <p:nvSpPr>
          <p:cNvPr id="11" name="Rectangle: Rounded Corners 10">
            <a:extLst>
              <a:ext uri="{FF2B5EF4-FFF2-40B4-BE49-F238E27FC236}">
                <a16:creationId xmlns:a16="http://schemas.microsoft.com/office/drawing/2014/main" id="{88064462-8293-9999-89F1-D64EF23F5220}"/>
              </a:ext>
            </a:extLst>
          </p:cNvPr>
          <p:cNvSpPr/>
          <p:nvPr/>
        </p:nvSpPr>
        <p:spPr>
          <a:xfrm>
            <a:off x="6172200" y="2679700"/>
            <a:ext cx="53340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76DED2E-1197-3CB7-CB82-A208739D5077}"/>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Velocity feedback</a:t>
            </a:r>
          </a:p>
        </p:txBody>
      </p:sp>
      <p:sp>
        <p:nvSpPr>
          <p:cNvPr id="13" name="text_12">
            <a:extLst>
              <a:ext uri="{FF2B5EF4-FFF2-40B4-BE49-F238E27FC236}">
                <a16:creationId xmlns:a16="http://schemas.microsoft.com/office/drawing/2014/main" id="{8CD6B80C-EEC7-9C2F-BC28-5F78E8A3B6D6}"/>
              </a:ext>
            </a:extLst>
          </p:cNvPr>
          <p:cNvSpPr txBox="1"/>
          <p:nvPr/>
        </p:nvSpPr>
        <p:spPr>
          <a:xfrm>
            <a:off x="6400800" y="3492499"/>
            <a:ext cx="4876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Brake the motion to settle.</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0DE510A9-0544-65B3-4FEF-DD07790D8A86}"/>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learner sees examples; it is not given the controller gains.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129820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A91397D-9345-99D9-A810-D255EACC18C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C405481-7606-BBC9-6FC9-4761935BCEC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should we expect?</a:t>
            </a:r>
          </a:p>
        </p:txBody>
      </p:sp>
      <p:sp>
        <p:nvSpPr>
          <p:cNvPr id="4" name="text_3">
            <a:extLst>
              <a:ext uri="{FF2B5EF4-FFF2-40B4-BE49-F238E27FC236}">
                <a16:creationId xmlns:a16="http://schemas.microsoft.com/office/drawing/2014/main" id="{2DA5C476-C761-AAA1-2D45-3CD149BEC2A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Expert and learner trajectories nearly overlap.</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58E9966-9721-6155-266E-AF67EB41F49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02614C4-4CF3-7201-055A-9DA06BB5B4B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31B23E1-17E4-FDF3-0D3F-6C9CF1BB519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pic>
        <p:nvPicPr>
          <p:cNvPr id="9" name="Picture 8">
            <a:extLst>
              <a:ext uri="{FF2B5EF4-FFF2-40B4-BE49-F238E27FC236}">
                <a16:creationId xmlns:a16="http://schemas.microsoft.com/office/drawing/2014/main" id="{A990F56C-AF9E-B76B-4598-946BDE7396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60500" y="2527300"/>
            <a:ext cx="9271000" cy="3276600"/>
          </a:xfrm>
          <a:prstGeom prst="rect">
            <a:avLst/>
          </a:prstGeom>
        </p:spPr>
      </p:pic>
      <p:sp>
        <p:nvSpPr>
          <p:cNvPr id="10" name="text_8">
            <a:extLst>
              <a:ext uri="{FF2B5EF4-FFF2-40B4-BE49-F238E27FC236}">
                <a16:creationId xmlns:a16="http://schemas.microsoft.com/office/drawing/2014/main" id="{125DC5F3-8F4B-F801-3B07-8D9F98F7E613}"/>
              </a:ext>
            </a:extLst>
          </p:cNvPr>
          <p:cNvSpPr txBox="1"/>
          <p:nvPr/>
        </p:nvSpPr>
        <p:spPr>
          <a:xfrm>
            <a:off x="685800" y="5816599"/>
            <a:ext cx="10820400" cy="4318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Saved comparison · simple task, not a robustness guarantee.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689376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4D7A651-43B0-0DBB-EA84-EFE252B8342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EFF510E0-E1AE-AF95-9C9A-7D03668CFAE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Watch → collect → learn → compare</a:t>
            </a:r>
          </a:p>
        </p:txBody>
      </p:sp>
      <p:sp>
        <p:nvSpPr>
          <p:cNvPr id="4" name="text_3">
            <a:extLst>
              <a:ext uri="{FF2B5EF4-FFF2-40B4-BE49-F238E27FC236}">
                <a16:creationId xmlns:a16="http://schemas.microsoft.com/office/drawing/2014/main" id="{15A27ACB-E64A-0F08-53D0-4B81451ADA6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First meet the expert, then let the learner act independently.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C84DE2E-8310-6C65-128C-91427E397A3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89E42BE-2675-3B5B-9917-2D2586F8A48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4A020DF-8A3D-4D66-FD8F-AB908580655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Rectangle: Rounded Corners 7">
            <a:extLst>
              <a:ext uri="{FF2B5EF4-FFF2-40B4-BE49-F238E27FC236}">
                <a16:creationId xmlns:a16="http://schemas.microsoft.com/office/drawing/2014/main" id="{F31E17BE-788E-1DE6-C54B-FA45C89277F1}"/>
              </a:ext>
            </a:extLst>
          </p:cNvPr>
          <p:cNvSpPr/>
          <p:nvPr/>
        </p:nvSpPr>
        <p:spPr>
          <a:xfrm>
            <a:off x="685800" y="2679700"/>
            <a:ext cx="4445000" cy="29210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9" name="Straight Connector 8">
            <a:extLst>
              <a:ext uri="{FF2B5EF4-FFF2-40B4-BE49-F238E27FC236}">
                <a16:creationId xmlns:a16="http://schemas.microsoft.com/office/drawing/2014/main" id="{CF3ED892-5E82-0222-5D7D-820F7D99C69C}"/>
              </a:ext>
            </a:extLst>
          </p:cNvPr>
          <p:cNvCxnSpPr/>
          <p:nvPr/>
        </p:nvCxnSpPr>
        <p:spPr>
          <a:xfrm>
            <a:off x="1193800" y="5041900"/>
            <a:ext cx="3644900" cy="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76E03D5-056A-F522-06A2-AA46C9172C1B}"/>
              </a:ext>
            </a:extLst>
          </p:cNvPr>
          <p:cNvCxnSpPr/>
          <p:nvPr/>
        </p:nvCxnSpPr>
        <p:spPr>
          <a:xfrm flipV="1">
            <a:off x="1193800" y="2933700"/>
            <a:ext cx="0" cy="210820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sp>
        <p:nvSpPr>
          <p:cNvPr id="11" name="text_10">
            <a:extLst>
              <a:ext uri="{FF2B5EF4-FFF2-40B4-BE49-F238E27FC236}">
                <a16:creationId xmlns:a16="http://schemas.microsoft.com/office/drawing/2014/main" id="{6A127257-3A4B-AD30-EDAF-113A055F1058}"/>
              </a:ext>
            </a:extLst>
          </p:cNvPr>
          <p:cNvSpPr txBox="1"/>
          <p:nvPr/>
        </p:nvSpPr>
        <p:spPr>
          <a:xfrm>
            <a:off x="4749800" y="5130799"/>
            <a:ext cx="381000" cy="4191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x</a:t>
            </a:r>
          </a:p>
        </p:txBody>
      </p:sp>
      <p:sp>
        <p:nvSpPr>
          <p:cNvPr id="12" name="text_11">
            <a:extLst>
              <a:ext uri="{FF2B5EF4-FFF2-40B4-BE49-F238E27FC236}">
                <a16:creationId xmlns:a16="http://schemas.microsoft.com/office/drawing/2014/main" id="{073D7978-3E34-C0DE-0F56-8804D97F1EA4}"/>
              </a:ext>
            </a:extLst>
          </p:cNvPr>
          <p:cNvSpPr txBox="1"/>
          <p:nvPr/>
        </p:nvSpPr>
        <p:spPr>
          <a:xfrm>
            <a:off x="850900" y="2819399"/>
            <a:ext cx="381000" cy="4191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y</a:t>
            </a:r>
          </a:p>
        </p:txBody>
      </p:sp>
      <p:sp>
        <p:nvSpPr>
          <p:cNvPr id="13" name="Oval 12">
            <a:extLst>
              <a:ext uri="{FF2B5EF4-FFF2-40B4-BE49-F238E27FC236}">
                <a16:creationId xmlns:a16="http://schemas.microsoft.com/office/drawing/2014/main" id="{FDD09A1B-8267-DA6D-5599-D8AB2CACF33E}"/>
              </a:ext>
            </a:extLst>
          </p:cNvPr>
          <p:cNvSpPr/>
          <p:nvPr/>
        </p:nvSpPr>
        <p:spPr>
          <a:xfrm>
            <a:off x="1625600" y="4279900"/>
            <a:ext cx="533400" cy="533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Oval 13">
            <a:extLst>
              <a:ext uri="{FF2B5EF4-FFF2-40B4-BE49-F238E27FC236}">
                <a16:creationId xmlns:a16="http://schemas.microsoft.com/office/drawing/2014/main" id="{FF15BAF1-18A2-F1FF-B9C5-BCF802CDB50C}"/>
              </a:ext>
            </a:extLst>
          </p:cNvPr>
          <p:cNvSpPr/>
          <p:nvPr/>
        </p:nvSpPr>
        <p:spPr>
          <a:xfrm>
            <a:off x="4038600" y="3238500"/>
            <a:ext cx="406400" cy="4064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5" name="Straight Connector 14">
            <a:extLst>
              <a:ext uri="{FF2B5EF4-FFF2-40B4-BE49-F238E27FC236}">
                <a16:creationId xmlns:a16="http://schemas.microsoft.com/office/drawing/2014/main" id="{4B4D96E7-7D6C-9BBA-18BC-8F7840CAD422}"/>
              </a:ext>
            </a:extLst>
          </p:cNvPr>
          <p:cNvCxnSpPr/>
          <p:nvPr/>
        </p:nvCxnSpPr>
        <p:spPr>
          <a:xfrm flipV="1">
            <a:off x="2197100" y="3644900"/>
            <a:ext cx="1739900" cy="774700"/>
          </a:xfrm>
          <a:prstGeom prst="line">
            <a:avLst/>
          </a:prstGeom>
          <a:ln w="27940">
            <a:solidFill>
              <a:srgbClr val="2459D3"/>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5596FC50-77E2-DAC2-F660-3050EE730F88}"/>
              </a:ext>
            </a:extLst>
          </p:cNvPr>
          <p:cNvSpPr txBox="1"/>
          <p:nvPr/>
        </p:nvSpPr>
        <p:spPr>
          <a:xfrm>
            <a:off x="1346200" y="4927599"/>
            <a:ext cx="1625600" cy="4191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Robot</a:t>
            </a:r>
          </a:p>
        </p:txBody>
      </p:sp>
      <p:sp>
        <p:nvSpPr>
          <p:cNvPr id="17" name="text_16">
            <a:extLst>
              <a:ext uri="{FF2B5EF4-FFF2-40B4-BE49-F238E27FC236}">
                <a16:creationId xmlns:a16="http://schemas.microsoft.com/office/drawing/2014/main" id="{CD737E3A-84D8-0D53-A16B-60104912112C}"/>
              </a:ext>
            </a:extLst>
          </p:cNvPr>
          <p:cNvSpPr txBox="1"/>
          <p:nvPr/>
        </p:nvSpPr>
        <p:spPr>
          <a:xfrm>
            <a:off x="3416300" y="2946399"/>
            <a:ext cx="1676400" cy="419100"/>
          </a:xfrm>
          <a:prstGeom prst="rect">
            <a:avLst/>
          </a:prstGeom>
          <a:noFill/>
        </p:spPr>
        <p:txBody>
          <a:bodyPr vert="horz" wrap="square" lIns="0" tIns="0" rIns="0" bIns="0" rtlCol="0" anchor="t">
            <a:noAutofit/>
          </a:bodyPr>
          <a:lstStyle/>
          <a:p>
            <a:r>
              <a:rPr lang="en-IL" sz="2400" b="1">
                <a:solidFill>
                  <a:srgbClr val="AE651D"/>
                </a:solidFill>
                <a:latin typeface="Aptos" panose="020B0004020202020204" pitchFamily="34" charset="0"/>
              </a:rPr>
              <a:t>Target</a:t>
            </a:r>
          </a:p>
        </p:txBody>
      </p:sp>
      <p:sp>
        <p:nvSpPr>
          <p:cNvPr id="18" name="text_17">
            <a:extLst>
              <a:ext uri="{FF2B5EF4-FFF2-40B4-BE49-F238E27FC236}">
                <a16:creationId xmlns:a16="http://schemas.microsoft.com/office/drawing/2014/main" id="{CEBC493E-AAC8-DF8F-1E5C-6002F65582C0}"/>
              </a:ext>
            </a:extLst>
          </p:cNvPr>
          <p:cNvSpPr txBox="1"/>
          <p:nvPr/>
        </p:nvSpPr>
        <p:spPr>
          <a:xfrm>
            <a:off x="5765800" y="2768599"/>
            <a:ext cx="5740400" cy="812800"/>
          </a:xfrm>
          <a:prstGeom prst="rect">
            <a:avLst/>
          </a:prstGeom>
          <a:noFill/>
        </p:spPr>
        <p:txBody>
          <a:bodyPr vert="horz" wrap="square" lIns="0" tIns="0" rIns="0" bIns="0" rtlCol="0" anchor="t">
            <a:noAutofit/>
          </a:bodyPr>
          <a:lstStyle/>
          <a:p>
            <a:r>
              <a:rPr lang="en-IL" sz="3000" b="1">
                <a:solidFill>
                  <a:srgbClr val="2459D3"/>
                </a:solidFill>
                <a:latin typeface="Aptos" panose="020B0004020202020204" pitchFamily="34" charset="0"/>
              </a:rPr>
              <a:t>Watch the expert.</a:t>
            </a:r>
          </a:p>
        </p:txBody>
      </p:sp>
      <p:sp>
        <p:nvSpPr>
          <p:cNvPr id="19" name="text_18">
            <a:extLst>
              <a:ext uri="{FF2B5EF4-FFF2-40B4-BE49-F238E27FC236}">
                <a16:creationId xmlns:a16="http://schemas.microsoft.com/office/drawing/2014/main" id="{13E09D82-F810-514F-A096-72FF7EC2B6A2}"/>
              </a:ext>
            </a:extLst>
          </p:cNvPr>
          <p:cNvSpPr txBox="1"/>
          <p:nvPr/>
        </p:nvSpPr>
        <p:spPr>
          <a:xfrm>
            <a:off x="5765800" y="3733799"/>
            <a:ext cx="5740400" cy="812800"/>
          </a:xfrm>
          <a:prstGeom prst="rect">
            <a:avLst/>
          </a:prstGeom>
          <a:noFill/>
        </p:spPr>
        <p:txBody>
          <a:bodyPr vert="horz" wrap="square" lIns="0" tIns="0" rIns="0" bIns="0" rtlCol="0" anchor="t">
            <a:noAutofit/>
          </a:bodyPr>
          <a:lstStyle/>
          <a:p>
            <a:r>
              <a:rPr lang="en-IL" sz="3000" b="1">
                <a:solidFill>
                  <a:srgbClr val="137F79"/>
                </a:solidFill>
                <a:latin typeface="Aptos" panose="020B0004020202020204" pitchFamily="34" charset="0"/>
              </a:rPr>
              <a:t>Collect and fit labels.</a:t>
            </a:r>
          </a:p>
        </p:txBody>
      </p:sp>
      <p:sp>
        <p:nvSpPr>
          <p:cNvPr id="20" name="text_19">
            <a:extLst>
              <a:ext uri="{FF2B5EF4-FFF2-40B4-BE49-F238E27FC236}">
                <a16:creationId xmlns:a16="http://schemas.microsoft.com/office/drawing/2014/main" id="{A04BEE05-D7CD-824A-F250-E519B466EB9F}"/>
              </a:ext>
            </a:extLst>
          </p:cNvPr>
          <p:cNvSpPr txBox="1"/>
          <p:nvPr/>
        </p:nvSpPr>
        <p:spPr>
          <a:xfrm>
            <a:off x="5765800" y="4698999"/>
            <a:ext cx="5740400" cy="863600"/>
          </a:xfrm>
          <a:prstGeom prst="rect">
            <a:avLst/>
          </a:prstGeom>
          <a:noFill/>
        </p:spPr>
        <p:txBody>
          <a:bodyPr vert="horz" wrap="square" lIns="0" tIns="0" rIns="0" bIns="0" rtlCol="0" anchor="t">
            <a:noAutofit/>
          </a:bodyPr>
          <a:lstStyle/>
          <a:p>
            <a:r>
              <a:rPr lang="en-IL" sz="3000" b="1">
                <a:solidFill>
                  <a:srgbClr val="2459D3"/>
                </a:solidFill>
                <a:latin typeface="Aptos" panose="020B0004020202020204" pitchFamily="34" charset="0"/>
              </a:rPr>
              <a:t>Watch the independent learner.</a:t>
            </a:r>
          </a:p>
        </p:txBody>
      </p:sp>
      <p:sp>
        <p:nvSpPr>
          <p:cNvPr id="21" name="text_20">
            <a:extLst>
              <a:ext uri="{FF2B5EF4-FFF2-40B4-BE49-F238E27FC236}">
                <a16:creationId xmlns:a16="http://schemas.microsoft.com/office/drawing/2014/main" id="{728330C4-9C79-7661-F143-96AEE34FB510}"/>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fr-FR" sz="2400" b="1">
                <a:solidFill>
                  <a:srgbClr val="526477"/>
                </a:solidFill>
                <a:latin typeface="Aptos" panose="020B0004020202020204" pitchFamily="34" charset="0"/>
              </a:rPr>
              <a:t>4 min expert · 4 collect · 3 train · 5 compare · 2 metrics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060567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1745E73-38FC-2F0C-DD18-5C7398BC27C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07 / MUJOCO &amp; IMITATION LEARNING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45541E4-7B82-CBE5-1A6A-68D5E226558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Questions, recap &amp; HW4</a:t>
            </a:r>
          </a:p>
        </p:txBody>
      </p:sp>
      <p:sp>
        <p:nvSpPr>
          <p:cNvPr id="4" name="text_3">
            <a:extLst>
              <a:ext uri="{FF2B5EF4-FFF2-40B4-BE49-F238E27FC236}">
                <a16:creationId xmlns:a16="http://schemas.microsoft.com/office/drawing/2014/main" id="{8213AC58-EF29-504C-CA5D-6DD0EBE4632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Who provides dynamics, labels, and actions?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F3A161A-E618-7497-74FD-A28553CC99A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C2B91E1-341B-EAE6-8C90-A803C9BFE4D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6FF2A75-373D-167A-D0BB-88C65B47F56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sp>
        <p:nvSpPr>
          <p:cNvPr id="8" name="Rectangle: Rounded Corners 7">
            <a:extLst>
              <a:ext uri="{FF2B5EF4-FFF2-40B4-BE49-F238E27FC236}">
                <a16:creationId xmlns:a16="http://schemas.microsoft.com/office/drawing/2014/main" id="{39CC8DAC-4EA4-5D13-34C0-16AC8D00D186}"/>
              </a:ext>
            </a:extLst>
          </p:cNvPr>
          <p:cNvSpPr/>
          <p:nvPr/>
        </p:nvSpPr>
        <p:spPr>
          <a:xfrm>
            <a:off x="685800" y="2679700"/>
            <a:ext cx="3454400" cy="2603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89D1900-1AF4-379A-DAA9-C42A3F9D2D64}"/>
              </a:ext>
            </a:extLst>
          </p:cNvPr>
          <p:cNvSpPr txBox="1"/>
          <p:nvPr/>
        </p:nvSpPr>
        <p:spPr>
          <a:xfrm>
            <a:off x="889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Simulation</a:t>
            </a:r>
          </a:p>
        </p:txBody>
      </p:sp>
      <p:sp>
        <p:nvSpPr>
          <p:cNvPr id="10" name="text_9">
            <a:extLst>
              <a:ext uri="{FF2B5EF4-FFF2-40B4-BE49-F238E27FC236}">
                <a16:creationId xmlns:a16="http://schemas.microsoft.com/office/drawing/2014/main" id="{A3FD3DFB-AD71-8AC3-3B2D-63DB7E9908B5}"/>
              </a:ext>
            </a:extLst>
          </p:cNvPr>
          <p:cNvSpPr txBox="1"/>
          <p:nvPr/>
        </p:nvSpPr>
        <p:spPr>
          <a:xfrm>
            <a:off x="889000" y="33654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Why use MuJoCo for learning experiments?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E7A6E380-2B86-ECA3-7419-2A45C14428DA}"/>
              </a:ext>
            </a:extLst>
          </p:cNvPr>
          <p:cNvSpPr/>
          <p:nvPr/>
        </p:nvSpPr>
        <p:spPr>
          <a:xfrm>
            <a:off x="4368800" y="2679700"/>
            <a:ext cx="3454400" cy="2603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4ABD3009-71AC-8FD7-99BF-7FF58A4EC7B3}"/>
              </a:ext>
            </a:extLst>
          </p:cNvPr>
          <p:cNvSpPr txBox="1"/>
          <p:nvPr/>
        </p:nvSpPr>
        <p:spPr>
          <a:xfrm>
            <a:off x="4572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Imitation</a:t>
            </a:r>
          </a:p>
        </p:txBody>
      </p:sp>
      <p:sp>
        <p:nvSpPr>
          <p:cNvPr id="13" name="text_12">
            <a:extLst>
              <a:ext uri="{FF2B5EF4-FFF2-40B4-BE49-F238E27FC236}">
                <a16:creationId xmlns:a16="http://schemas.microsoft.com/office/drawing/2014/main" id="{6905CC31-FECE-25A0-FD98-61E593387238}"/>
              </a:ext>
            </a:extLst>
          </p:cNvPr>
          <p:cNvSpPr txBox="1"/>
          <p:nvPr/>
        </p:nvSpPr>
        <p:spPr>
          <a:xfrm>
            <a:off x="4572000" y="33654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How do expert actions become labels?</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48DDFDD5-C09E-C89A-C539-137B47884EEF}"/>
              </a:ext>
            </a:extLst>
          </p:cNvPr>
          <p:cNvSpPr/>
          <p:nvPr/>
        </p:nvSpPr>
        <p:spPr>
          <a:xfrm>
            <a:off x="8051800" y="2679700"/>
            <a:ext cx="3454400" cy="2603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4E7CFB68-5125-C8D8-EA01-1F3BCD085836}"/>
              </a:ext>
            </a:extLst>
          </p:cNvPr>
          <p:cNvSpPr txBox="1"/>
          <p:nvPr/>
        </p:nvSpPr>
        <p:spPr>
          <a:xfrm>
            <a:off x="8255000" y="2832099"/>
            <a:ext cx="3048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Drift</a:t>
            </a:r>
          </a:p>
        </p:txBody>
      </p:sp>
      <p:sp>
        <p:nvSpPr>
          <p:cNvPr id="16" name="text_15">
            <a:extLst>
              <a:ext uri="{FF2B5EF4-FFF2-40B4-BE49-F238E27FC236}">
                <a16:creationId xmlns:a16="http://schemas.microsoft.com/office/drawing/2014/main" id="{9F51FA33-9AB8-0F95-8BAB-B8A8161F49A2}"/>
              </a:ext>
            </a:extLst>
          </p:cNvPr>
          <p:cNvSpPr txBox="1"/>
          <p:nvPr/>
        </p:nvSpPr>
        <p:spPr>
          <a:xfrm>
            <a:off x="8255000" y="3365499"/>
            <a:ext cx="3048000" cy="182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Why test complete rollouts?</a:t>
            </a:r>
          </a:p>
        </p:txBody>
      </p:sp>
      <p:sp>
        <p:nvSpPr>
          <p:cNvPr id="17" name="text_16">
            <a:extLst>
              <a:ext uri="{FF2B5EF4-FFF2-40B4-BE49-F238E27FC236}">
                <a16:creationId xmlns:a16="http://schemas.microsoft.com/office/drawing/2014/main" id="{E33DB599-6C7D-AC4E-2A88-06F383BA92D3}"/>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MuJoCo simulates. Expert labels. Learner acts.</a:t>
            </a:r>
          </a:p>
        </p:txBody>
      </p:sp>
    </p:spTree>
    <p:extLst>
      <p:ext uri="{BB962C8B-B14F-4D97-AF65-F5344CB8AC3E}">
        <p14:creationId xmlns:p14="http://schemas.microsoft.com/office/powerpoint/2010/main" val="4270114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0FFD3F3-5F2F-F9CD-5EC2-254B159B67F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2CF840BE-1747-F098-B269-3E59F654B6A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CPU and GPU: choose the workload</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808D3F2-1C96-3178-FCDE-F88D85D6EA8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Optional details, without setup instructions.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D068FDD-672C-D7FD-8342-F4A1C69160E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0275C02-6EBA-8B6B-C753-EC3E153FB95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F6A1F34-823E-FA57-00D9-71079A1E750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sp>
        <p:nvSpPr>
          <p:cNvPr id="8" name="Rectangle: Rounded Corners 7">
            <a:extLst>
              <a:ext uri="{FF2B5EF4-FFF2-40B4-BE49-F238E27FC236}">
                <a16:creationId xmlns:a16="http://schemas.microsoft.com/office/drawing/2014/main" id="{DA5860DD-8DC7-F8F4-00CF-881C5D4984EA}"/>
              </a:ext>
            </a:extLst>
          </p:cNvPr>
          <p:cNvSpPr/>
          <p:nvPr/>
        </p:nvSpPr>
        <p:spPr>
          <a:xfrm>
            <a:off x="685800" y="2679700"/>
            <a:ext cx="5207000" cy="270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5183A9C-EB8E-2ABB-0262-36715ADB4B4B}"/>
              </a:ext>
            </a:extLst>
          </p:cNvPr>
          <p:cNvSpPr txBox="1"/>
          <p:nvPr/>
        </p:nvSpPr>
        <p:spPr>
          <a:xfrm>
            <a:off x="889000" y="2832099"/>
            <a:ext cx="4800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Standard MuJoCo</a:t>
            </a:r>
          </a:p>
        </p:txBody>
      </p:sp>
      <p:sp>
        <p:nvSpPr>
          <p:cNvPr id="10" name="text_9">
            <a:extLst>
              <a:ext uri="{FF2B5EF4-FFF2-40B4-BE49-F238E27FC236}">
                <a16:creationId xmlns:a16="http://schemas.microsoft.com/office/drawing/2014/main" id="{498D0485-6FF8-BC64-072E-4BE4F89DFA66}"/>
              </a:ext>
            </a:extLst>
          </p:cNvPr>
          <p:cNvSpPr txBox="1"/>
          <p:nvPr/>
        </p:nvSpPr>
        <p:spPr>
          <a:xfrm>
            <a:off x="889000" y="3365499"/>
            <a:ext cx="4800600" cy="1930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CPU physics stepping
OpenGL visualization
Fits this small demo</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AEB88CF0-EF42-E193-F49E-97F4E6B02DB8}"/>
              </a:ext>
            </a:extLst>
          </p:cNvPr>
          <p:cNvSpPr/>
          <p:nvPr/>
        </p:nvSpPr>
        <p:spPr>
          <a:xfrm>
            <a:off x="6172200" y="2679700"/>
            <a:ext cx="5334000" cy="270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374B1216-487B-8E5B-70BB-4C6B2849F477}"/>
              </a:ext>
            </a:extLst>
          </p:cNvPr>
          <p:cNvSpPr txBox="1"/>
          <p:nvPr/>
        </p:nvSpPr>
        <p:spPr>
          <a:xfrm>
            <a:off x="6375400" y="28320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Accelerator backends</a:t>
            </a:r>
          </a:p>
        </p:txBody>
      </p:sp>
      <p:sp>
        <p:nvSpPr>
          <p:cNvPr id="13" name="text_12">
            <a:extLst>
              <a:ext uri="{FF2B5EF4-FFF2-40B4-BE49-F238E27FC236}">
                <a16:creationId xmlns:a16="http://schemas.microsoft.com/office/drawing/2014/main" id="{3AEA9340-425A-95BC-543A-AA54CC0365E3}"/>
              </a:ext>
            </a:extLst>
          </p:cNvPr>
          <p:cNvSpPr txBox="1"/>
          <p:nvPr/>
        </p:nvSpPr>
        <p:spPr>
          <a:xfrm>
            <a:off x="6375400" y="3365499"/>
            <a:ext cx="4927600" cy="1930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MJX / MuJoCo Warp
Many parallel environments
Check workload and support</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0977332B-5E92-2B2C-1BFA-E2C281EC44C2}"/>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Rendering ≠ policy training ≠ physics stepping.</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096638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7385761-C1E4-6191-A7E6-BE971617E91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ADE59FBD-A6EB-8077-54F9-327B977AB93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Controller and learned weights</a:t>
            </a:r>
          </a:p>
        </p:txBody>
      </p:sp>
      <p:sp>
        <p:nvSpPr>
          <p:cNvPr id="4" name="text_3">
            <a:extLst>
              <a:ext uri="{FF2B5EF4-FFF2-40B4-BE49-F238E27FC236}">
                <a16:creationId xmlns:a16="http://schemas.microsoft.com/office/drawing/2014/main" id="{45FCF1DF-EB38-CCCF-F32B-7D4FB314815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Supplemental detail for the demo, not a regression derivation.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02665DC-9D27-A1D1-AAA9-7B0BAF5E10E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428323E-2408-D98E-2D82-0D82E45416B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200BB22-098A-11FD-D91B-C92510192CD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23</a:t>
            </a:r>
          </a:p>
        </p:txBody>
      </p:sp>
      <p:sp>
        <p:nvSpPr>
          <p:cNvPr id="8" name="text_7">
            <a:extLst>
              <a:ext uri="{FF2B5EF4-FFF2-40B4-BE49-F238E27FC236}">
                <a16:creationId xmlns:a16="http://schemas.microsoft.com/office/drawing/2014/main" id="{155BD9FB-97E9-7A02-39F0-46EF2ADA4C1E}"/>
              </a:ext>
            </a:extLst>
          </p:cNvPr>
          <p:cNvSpPr txBox="1"/>
          <p:nvPr/>
        </p:nvSpPr>
        <p:spPr>
          <a:xfrm>
            <a:off x="685800" y="2654299"/>
            <a:ext cx="10820400" cy="673100"/>
          </a:xfrm>
          <a:prstGeom prst="rect">
            <a:avLst/>
          </a:prstGeom>
          <a:noFill/>
        </p:spPr>
        <p:txBody>
          <a:bodyPr vert="horz" wrap="square" lIns="0" tIns="0" rIns="0" bIns="0" rtlCol="0" anchor="t">
            <a:noAutofit/>
          </a:bodyPr>
          <a:lstStyle/>
          <a:p>
            <a:r>
              <a:rPr lang="en-US" sz="3100">
                <a:solidFill>
                  <a:srgbClr val="2459D3"/>
                </a:solidFill>
                <a:latin typeface="Cambria Math" panose="02040503050406030204" pitchFamily="18" charset="0"/>
              </a:rPr>
              <a:t>Force = clip(4 × error − 3 × velocity, −10, 10)</a:t>
            </a:r>
            <a:endParaRPr lang="en-IL" sz="3100">
              <a:solidFill>
                <a:srgbClr val="2459D3"/>
              </a:solidFill>
              <a:latin typeface="Cambria Math" panose="02040503050406030204" pitchFamily="18" charset="0"/>
            </a:endParaRPr>
          </a:p>
        </p:txBody>
      </p:sp>
      <p:cxnSp>
        <p:nvCxnSpPr>
          <p:cNvPr id="9" name="Straight Connector 8">
            <a:extLst>
              <a:ext uri="{FF2B5EF4-FFF2-40B4-BE49-F238E27FC236}">
                <a16:creationId xmlns:a16="http://schemas.microsoft.com/office/drawing/2014/main" id="{53FCEC40-1959-9690-FD17-C0E6D6BE245B}"/>
              </a:ext>
            </a:extLst>
          </p:cNvPr>
          <p:cNvCxnSpPr/>
          <p:nvPr/>
        </p:nvCxnSpPr>
        <p:spPr>
          <a:xfrm>
            <a:off x="1257300" y="3733800"/>
            <a:ext cx="0" cy="15113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AAD6696-210D-9C96-11A2-55CB0B016621}"/>
              </a:ext>
            </a:extLst>
          </p:cNvPr>
          <p:cNvCxnSpPr/>
          <p:nvPr/>
        </p:nvCxnSpPr>
        <p:spPr>
          <a:xfrm>
            <a:off x="1257300" y="37338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BC1BE04-40C6-258B-0181-9A3EC695B4D6}"/>
              </a:ext>
            </a:extLst>
          </p:cNvPr>
          <p:cNvCxnSpPr/>
          <p:nvPr/>
        </p:nvCxnSpPr>
        <p:spPr>
          <a:xfrm>
            <a:off x="1257300" y="52451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D36DCA3-9EF2-721E-B782-323481A79ABC}"/>
              </a:ext>
            </a:extLst>
          </p:cNvPr>
          <p:cNvCxnSpPr/>
          <p:nvPr/>
        </p:nvCxnSpPr>
        <p:spPr>
          <a:xfrm>
            <a:off x="7607300" y="3733800"/>
            <a:ext cx="0" cy="15113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A17E184-B900-CEB3-3C61-B570CDEEDF99}"/>
              </a:ext>
            </a:extLst>
          </p:cNvPr>
          <p:cNvCxnSpPr/>
          <p:nvPr/>
        </p:nvCxnSpPr>
        <p:spPr>
          <a:xfrm flipH="1">
            <a:off x="7505700" y="37338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7CEB5C4-5CCE-1570-CF77-F2756E931E93}"/>
              </a:ext>
            </a:extLst>
          </p:cNvPr>
          <p:cNvCxnSpPr/>
          <p:nvPr/>
        </p:nvCxnSpPr>
        <p:spPr>
          <a:xfrm flipH="1">
            <a:off x="7505700" y="52451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C6AA3942-2A7F-32A9-423E-06A388E4655F}"/>
              </a:ext>
            </a:extLst>
          </p:cNvPr>
          <p:cNvSpPr txBox="1"/>
          <p:nvPr/>
        </p:nvSpPr>
        <p:spPr>
          <a:xfrm>
            <a:off x="1397000" y="3784599"/>
            <a:ext cx="1517650" cy="704850"/>
          </a:xfrm>
          <a:prstGeom prst="rect">
            <a:avLst/>
          </a:prstGeom>
          <a:noFill/>
        </p:spPr>
        <p:txBody>
          <a:bodyPr vert="horz" wrap="square" lIns="0" tIns="0" rIns="0" bIns="0" rtlCol="0" anchor="t">
            <a:noAutofit/>
          </a:bodyPr>
          <a:lstStyle/>
          <a:p>
            <a:pPr algn="ctr"/>
            <a:r>
              <a:rPr lang="en-IL" sz="3400">
                <a:solidFill>
                  <a:srgbClr val="15283B"/>
                </a:solidFill>
                <a:latin typeface="Cambria Math" panose="02040503050406030204" pitchFamily="18" charset="0"/>
              </a:rPr>
              <a:t>4</a:t>
            </a:r>
          </a:p>
        </p:txBody>
      </p:sp>
      <p:sp>
        <p:nvSpPr>
          <p:cNvPr id="16" name="text_15">
            <a:extLst>
              <a:ext uri="{FF2B5EF4-FFF2-40B4-BE49-F238E27FC236}">
                <a16:creationId xmlns:a16="http://schemas.microsoft.com/office/drawing/2014/main" id="{143D3057-BFDB-5D61-6467-F5881D3EFDDC}"/>
              </a:ext>
            </a:extLst>
          </p:cNvPr>
          <p:cNvSpPr txBox="1"/>
          <p:nvPr/>
        </p:nvSpPr>
        <p:spPr>
          <a:xfrm>
            <a:off x="2914650" y="3784599"/>
            <a:ext cx="1517650" cy="704850"/>
          </a:xfrm>
          <a:prstGeom prst="rect">
            <a:avLst/>
          </a:prstGeom>
          <a:noFill/>
        </p:spPr>
        <p:txBody>
          <a:bodyPr vert="horz" wrap="square" lIns="0" tIns="0" rIns="0" bIns="0" rtlCol="0" anchor="t">
            <a:noAutofit/>
          </a:bodyPr>
          <a:lstStyle/>
          <a:p>
            <a:pPr algn="ctr"/>
            <a:r>
              <a:rPr lang="en-IL" sz="3400">
                <a:solidFill>
                  <a:srgbClr val="15283B"/>
                </a:solidFill>
                <a:latin typeface="Cambria Math" panose="02040503050406030204" pitchFamily="18" charset="0"/>
              </a:rPr>
              <a:t>0</a:t>
            </a:r>
          </a:p>
        </p:txBody>
      </p:sp>
      <p:sp>
        <p:nvSpPr>
          <p:cNvPr id="17" name="text_16">
            <a:extLst>
              <a:ext uri="{FF2B5EF4-FFF2-40B4-BE49-F238E27FC236}">
                <a16:creationId xmlns:a16="http://schemas.microsoft.com/office/drawing/2014/main" id="{737254FB-2596-4FCD-7182-62CD7CC0F3B4}"/>
              </a:ext>
            </a:extLst>
          </p:cNvPr>
          <p:cNvSpPr txBox="1"/>
          <p:nvPr/>
        </p:nvSpPr>
        <p:spPr>
          <a:xfrm>
            <a:off x="4432300" y="3784599"/>
            <a:ext cx="1517650" cy="704850"/>
          </a:xfrm>
          <a:prstGeom prst="rect">
            <a:avLst/>
          </a:prstGeom>
          <a:noFill/>
        </p:spPr>
        <p:txBody>
          <a:bodyPr vert="horz" wrap="square" lIns="0" tIns="0" rIns="0" bIns="0" rtlCol="0" anchor="t">
            <a:noAutofit/>
          </a:bodyPr>
          <a:lstStyle/>
          <a:p>
            <a:pPr algn="ctr"/>
            <a:r>
              <a:rPr lang="en-IL" sz="3400">
                <a:solidFill>
                  <a:srgbClr val="15283B"/>
                </a:solidFill>
                <a:latin typeface="Cambria Math" panose="02040503050406030204" pitchFamily="18" charset="0"/>
              </a:rPr>
              <a:t>−3</a:t>
            </a:r>
          </a:p>
        </p:txBody>
      </p:sp>
      <p:sp>
        <p:nvSpPr>
          <p:cNvPr id="18" name="text_17">
            <a:extLst>
              <a:ext uri="{FF2B5EF4-FFF2-40B4-BE49-F238E27FC236}">
                <a16:creationId xmlns:a16="http://schemas.microsoft.com/office/drawing/2014/main" id="{F4C273CC-52CF-3E96-D513-0522C966C97B}"/>
              </a:ext>
            </a:extLst>
          </p:cNvPr>
          <p:cNvSpPr txBox="1"/>
          <p:nvPr/>
        </p:nvSpPr>
        <p:spPr>
          <a:xfrm>
            <a:off x="5949950" y="3784599"/>
            <a:ext cx="1517650" cy="704850"/>
          </a:xfrm>
          <a:prstGeom prst="rect">
            <a:avLst/>
          </a:prstGeom>
          <a:noFill/>
        </p:spPr>
        <p:txBody>
          <a:bodyPr vert="horz" wrap="square" lIns="0" tIns="0" rIns="0" bIns="0" rtlCol="0" anchor="t">
            <a:noAutofit/>
          </a:bodyPr>
          <a:lstStyle/>
          <a:p>
            <a:pPr algn="ctr"/>
            <a:r>
              <a:rPr lang="en-IL" sz="3400">
                <a:solidFill>
                  <a:srgbClr val="15283B"/>
                </a:solidFill>
                <a:latin typeface="Cambria Math" panose="02040503050406030204" pitchFamily="18" charset="0"/>
              </a:rPr>
              <a:t>0</a:t>
            </a:r>
          </a:p>
        </p:txBody>
      </p:sp>
      <p:sp>
        <p:nvSpPr>
          <p:cNvPr id="19" name="text_18">
            <a:extLst>
              <a:ext uri="{FF2B5EF4-FFF2-40B4-BE49-F238E27FC236}">
                <a16:creationId xmlns:a16="http://schemas.microsoft.com/office/drawing/2014/main" id="{4ED73D8B-5BAF-0CD4-0FD7-C95F1B44BBE6}"/>
              </a:ext>
            </a:extLst>
          </p:cNvPr>
          <p:cNvSpPr txBox="1"/>
          <p:nvPr/>
        </p:nvSpPr>
        <p:spPr>
          <a:xfrm>
            <a:off x="1397000" y="4540249"/>
            <a:ext cx="1517650" cy="704850"/>
          </a:xfrm>
          <a:prstGeom prst="rect">
            <a:avLst/>
          </a:prstGeom>
          <a:noFill/>
        </p:spPr>
        <p:txBody>
          <a:bodyPr vert="horz" wrap="square" lIns="0" tIns="0" rIns="0" bIns="0" rtlCol="0" anchor="t">
            <a:noAutofit/>
          </a:bodyPr>
          <a:lstStyle/>
          <a:p>
            <a:pPr algn="ctr"/>
            <a:r>
              <a:rPr lang="en-IL" sz="3400">
                <a:solidFill>
                  <a:srgbClr val="15283B"/>
                </a:solidFill>
                <a:latin typeface="Cambria Math" panose="02040503050406030204" pitchFamily="18" charset="0"/>
              </a:rPr>
              <a:t>0</a:t>
            </a:r>
          </a:p>
        </p:txBody>
      </p:sp>
      <p:sp>
        <p:nvSpPr>
          <p:cNvPr id="20" name="text_19">
            <a:extLst>
              <a:ext uri="{FF2B5EF4-FFF2-40B4-BE49-F238E27FC236}">
                <a16:creationId xmlns:a16="http://schemas.microsoft.com/office/drawing/2014/main" id="{A41D8263-2A93-77CC-7283-B4987087BC04}"/>
              </a:ext>
            </a:extLst>
          </p:cNvPr>
          <p:cNvSpPr txBox="1"/>
          <p:nvPr/>
        </p:nvSpPr>
        <p:spPr>
          <a:xfrm>
            <a:off x="2914650" y="4540249"/>
            <a:ext cx="1517650" cy="704850"/>
          </a:xfrm>
          <a:prstGeom prst="rect">
            <a:avLst/>
          </a:prstGeom>
          <a:noFill/>
        </p:spPr>
        <p:txBody>
          <a:bodyPr vert="horz" wrap="square" lIns="0" tIns="0" rIns="0" bIns="0" rtlCol="0" anchor="t">
            <a:noAutofit/>
          </a:bodyPr>
          <a:lstStyle/>
          <a:p>
            <a:pPr algn="ctr"/>
            <a:r>
              <a:rPr lang="en-IL" sz="3400">
                <a:solidFill>
                  <a:srgbClr val="15283B"/>
                </a:solidFill>
                <a:latin typeface="Cambria Math" panose="02040503050406030204" pitchFamily="18" charset="0"/>
              </a:rPr>
              <a:t>4</a:t>
            </a:r>
          </a:p>
        </p:txBody>
      </p:sp>
      <p:sp>
        <p:nvSpPr>
          <p:cNvPr id="21" name="text_20">
            <a:extLst>
              <a:ext uri="{FF2B5EF4-FFF2-40B4-BE49-F238E27FC236}">
                <a16:creationId xmlns:a16="http://schemas.microsoft.com/office/drawing/2014/main" id="{1B95BD90-DB20-6E0B-894B-395559F801D9}"/>
              </a:ext>
            </a:extLst>
          </p:cNvPr>
          <p:cNvSpPr txBox="1"/>
          <p:nvPr/>
        </p:nvSpPr>
        <p:spPr>
          <a:xfrm>
            <a:off x="4432300" y="4540249"/>
            <a:ext cx="1517650" cy="704850"/>
          </a:xfrm>
          <a:prstGeom prst="rect">
            <a:avLst/>
          </a:prstGeom>
          <a:noFill/>
        </p:spPr>
        <p:txBody>
          <a:bodyPr vert="horz" wrap="square" lIns="0" tIns="0" rIns="0" bIns="0" rtlCol="0" anchor="t">
            <a:noAutofit/>
          </a:bodyPr>
          <a:lstStyle/>
          <a:p>
            <a:pPr algn="ctr"/>
            <a:r>
              <a:rPr lang="en-IL" sz="3400">
                <a:solidFill>
                  <a:srgbClr val="15283B"/>
                </a:solidFill>
                <a:latin typeface="Cambria Math" panose="02040503050406030204" pitchFamily="18" charset="0"/>
              </a:rPr>
              <a:t>0</a:t>
            </a:r>
          </a:p>
        </p:txBody>
      </p:sp>
      <p:sp>
        <p:nvSpPr>
          <p:cNvPr id="22" name="text_21">
            <a:extLst>
              <a:ext uri="{FF2B5EF4-FFF2-40B4-BE49-F238E27FC236}">
                <a16:creationId xmlns:a16="http://schemas.microsoft.com/office/drawing/2014/main" id="{1A4D1C0C-6200-9AFB-A622-81C24AA3663D}"/>
              </a:ext>
            </a:extLst>
          </p:cNvPr>
          <p:cNvSpPr txBox="1"/>
          <p:nvPr/>
        </p:nvSpPr>
        <p:spPr>
          <a:xfrm>
            <a:off x="5949950" y="4540249"/>
            <a:ext cx="1517650" cy="704850"/>
          </a:xfrm>
          <a:prstGeom prst="rect">
            <a:avLst/>
          </a:prstGeom>
          <a:noFill/>
        </p:spPr>
        <p:txBody>
          <a:bodyPr vert="horz" wrap="square" lIns="0" tIns="0" rIns="0" bIns="0" rtlCol="0" anchor="t">
            <a:noAutofit/>
          </a:bodyPr>
          <a:lstStyle/>
          <a:p>
            <a:pPr algn="ctr"/>
            <a:r>
              <a:rPr lang="en-IL" sz="3400">
                <a:solidFill>
                  <a:srgbClr val="15283B"/>
                </a:solidFill>
                <a:latin typeface="Cambria Math" panose="02040503050406030204" pitchFamily="18" charset="0"/>
              </a:rPr>
              <a:t>−3</a:t>
            </a:r>
          </a:p>
        </p:txBody>
      </p:sp>
      <p:sp>
        <p:nvSpPr>
          <p:cNvPr id="23" name="text_22">
            <a:extLst>
              <a:ext uri="{FF2B5EF4-FFF2-40B4-BE49-F238E27FC236}">
                <a16:creationId xmlns:a16="http://schemas.microsoft.com/office/drawing/2014/main" id="{BA30D6DE-CCFC-9A5D-90CD-CEDC552CDE7C}"/>
              </a:ext>
            </a:extLst>
          </p:cNvPr>
          <p:cNvSpPr txBox="1"/>
          <p:nvPr/>
        </p:nvSpPr>
        <p:spPr>
          <a:xfrm>
            <a:off x="8216900" y="3936999"/>
            <a:ext cx="3289300" cy="1193800"/>
          </a:xfrm>
          <a:prstGeom prst="rect">
            <a:avLst/>
          </a:prstGeom>
          <a:noFill/>
        </p:spPr>
        <p:txBody>
          <a:bodyPr vert="horz" wrap="square" lIns="0" tIns="0" rIns="0" bIns="0" rtlCol="0" anchor="t">
            <a:noAutofit/>
          </a:bodyPr>
          <a:lstStyle/>
          <a:p>
            <a:r>
              <a:rPr lang="pl-PL" sz="2900" b="1">
                <a:solidFill>
                  <a:srgbClr val="137F79"/>
                </a:solidFill>
                <a:latin typeface="Aptos" panose="020B0004020202020204" pitchFamily="34" charset="0"/>
              </a:rPr>
              <a:t>W: 2 × 4
b ≈ [0, 0]</a:t>
            </a:r>
            <a:endParaRPr lang="en-IL" sz="2900" b="1">
              <a:solidFill>
                <a:srgbClr val="137F79"/>
              </a:solidFill>
              <a:latin typeface="Aptos" panose="020B0004020202020204" pitchFamily="34" charset="0"/>
            </a:endParaRPr>
          </a:p>
        </p:txBody>
      </p:sp>
      <p:sp>
        <p:nvSpPr>
          <p:cNvPr id="24" name="text_23">
            <a:extLst>
              <a:ext uri="{FF2B5EF4-FFF2-40B4-BE49-F238E27FC236}">
                <a16:creationId xmlns:a16="http://schemas.microsoft.com/office/drawing/2014/main" id="{4F6F59BE-1BE7-D1CD-86FA-847B576FA3E9}"/>
              </a:ext>
            </a:extLst>
          </p:cNvPr>
          <p:cNvSpPr txBox="1"/>
          <p:nvPr/>
        </p:nvSpPr>
        <p:spPr>
          <a:xfrm>
            <a:off x="685800" y="5295899"/>
            <a:ext cx="10820400" cy="431800"/>
          </a:xfrm>
          <a:prstGeom prst="rect">
            <a:avLst/>
          </a:prstGeom>
          <a:noFill/>
        </p:spPr>
        <p:txBody>
          <a:bodyPr vert="horz" wrap="square" lIns="0" tIns="0" rIns="0" bIns="0" rtlCol="0" anchor="t">
            <a:noAutofit/>
          </a:bodyPr>
          <a:lstStyle/>
          <a:p>
            <a:r>
              <a:rPr lang="pt-BR" sz="2700">
                <a:solidFill>
                  <a:srgbClr val="15283B"/>
                </a:solidFill>
                <a:latin typeface="Aptos" panose="020B0004020202020204" pitchFamily="34" charset="0"/>
              </a:rPr>
              <a:t>Example: [0.3, −0.2, 0.1, 0] → [0.9, −0.8] N</a:t>
            </a:r>
            <a:endParaRPr lang="en-IL" sz="2700">
              <a:solidFill>
                <a:srgbClr val="15283B"/>
              </a:solidFill>
              <a:latin typeface="Aptos" panose="020B0004020202020204" pitchFamily="34" charset="0"/>
            </a:endParaRPr>
          </a:p>
        </p:txBody>
      </p:sp>
      <p:sp>
        <p:nvSpPr>
          <p:cNvPr id="25" name="text_24">
            <a:extLst>
              <a:ext uri="{FF2B5EF4-FFF2-40B4-BE49-F238E27FC236}">
                <a16:creationId xmlns:a16="http://schemas.microsoft.com/office/drawing/2014/main" id="{8F8B403C-C246-4D06-8619-150BF63EA77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Coefficients are estimated from labels, not copied into the learner.</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7212606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C4C915A-6238-3962-FA55-23810E4B633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2FB4771A-9867-6073-FD01-CD15573DAA5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Four approaches, different feedback</a:t>
            </a:r>
          </a:p>
        </p:txBody>
      </p:sp>
      <p:sp>
        <p:nvSpPr>
          <p:cNvPr id="4" name="text_3">
            <a:extLst>
              <a:ext uri="{FF2B5EF4-FFF2-40B4-BE49-F238E27FC236}">
                <a16:creationId xmlns:a16="http://schemas.microsoft.com/office/drawing/2014/main" id="{F63FAFDA-9ED0-51FF-3868-A57A25F156E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Optional comparison of the learning signal.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17765FE-F9FA-B49F-ACAE-3F98BBCDB51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B2302D4-A9E6-86D7-4035-4CD8420721D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5310F28-DD19-C81C-874A-0B9D0DB2380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24</a:t>
            </a:r>
          </a:p>
        </p:txBody>
      </p:sp>
      <p:sp>
        <p:nvSpPr>
          <p:cNvPr id="8" name="Rectangle: Rounded Corners 7">
            <a:extLst>
              <a:ext uri="{FF2B5EF4-FFF2-40B4-BE49-F238E27FC236}">
                <a16:creationId xmlns:a16="http://schemas.microsoft.com/office/drawing/2014/main" id="{31DBAF2E-0F1E-EE56-0CB6-159F62F666A6}"/>
              </a:ext>
            </a:extLst>
          </p:cNvPr>
          <p:cNvSpPr/>
          <p:nvPr/>
        </p:nvSpPr>
        <p:spPr>
          <a:xfrm>
            <a:off x="685800" y="2603500"/>
            <a:ext cx="5207000" cy="1422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5E1E4C81-188B-1529-9DF2-0CC14DAE4983}"/>
              </a:ext>
            </a:extLst>
          </p:cNvPr>
          <p:cNvSpPr txBox="1"/>
          <p:nvPr/>
        </p:nvSpPr>
        <p:spPr>
          <a:xfrm>
            <a:off x="889000" y="2755899"/>
            <a:ext cx="4800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Behavior cloning</a:t>
            </a:r>
          </a:p>
        </p:txBody>
      </p:sp>
      <p:sp>
        <p:nvSpPr>
          <p:cNvPr id="10" name="text_9">
            <a:extLst>
              <a:ext uri="{FF2B5EF4-FFF2-40B4-BE49-F238E27FC236}">
                <a16:creationId xmlns:a16="http://schemas.microsoft.com/office/drawing/2014/main" id="{C1CB7F3E-D783-2901-071C-8FA75F00BE10}"/>
              </a:ext>
            </a:extLst>
          </p:cNvPr>
          <p:cNvSpPr txBox="1"/>
          <p:nvPr/>
        </p:nvSpPr>
        <p:spPr>
          <a:xfrm>
            <a:off x="889000" y="3289299"/>
            <a:ext cx="4800600" cy="647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Expert action labels.</a:t>
            </a:r>
          </a:p>
        </p:txBody>
      </p:sp>
      <p:sp>
        <p:nvSpPr>
          <p:cNvPr id="11" name="Rectangle: Rounded Corners 10">
            <a:extLst>
              <a:ext uri="{FF2B5EF4-FFF2-40B4-BE49-F238E27FC236}">
                <a16:creationId xmlns:a16="http://schemas.microsoft.com/office/drawing/2014/main" id="{321FB381-9975-9071-9388-2D60BCFEA929}"/>
              </a:ext>
            </a:extLst>
          </p:cNvPr>
          <p:cNvSpPr/>
          <p:nvPr/>
        </p:nvSpPr>
        <p:spPr>
          <a:xfrm>
            <a:off x="6172200" y="2603500"/>
            <a:ext cx="5334000" cy="1422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22063BAA-F18F-C3FD-3967-8619A64C7EA1}"/>
              </a:ext>
            </a:extLst>
          </p:cNvPr>
          <p:cNvSpPr txBox="1"/>
          <p:nvPr/>
        </p:nvSpPr>
        <p:spPr>
          <a:xfrm>
            <a:off x="6375400" y="27558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DAgger</a:t>
            </a:r>
          </a:p>
        </p:txBody>
      </p:sp>
      <p:sp>
        <p:nvSpPr>
          <p:cNvPr id="13" name="text_12">
            <a:extLst>
              <a:ext uri="{FF2B5EF4-FFF2-40B4-BE49-F238E27FC236}">
                <a16:creationId xmlns:a16="http://schemas.microsoft.com/office/drawing/2014/main" id="{261F81E5-FEAD-549F-ED77-8521E9C4C8DD}"/>
              </a:ext>
            </a:extLst>
          </p:cNvPr>
          <p:cNvSpPr txBox="1"/>
          <p:nvPr/>
        </p:nvSpPr>
        <p:spPr>
          <a:xfrm>
            <a:off x="6375400" y="3289299"/>
            <a:ext cx="4927600" cy="647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Labels at learner-visited states.</a:t>
            </a:r>
          </a:p>
        </p:txBody>
      </p:sp>
      <p:sp>
        <p:nvSpPr>
          <p:cNvPr id="14" name="Rectangle: Rounded Corners 13">
            <a:extLst>
              <a:ext uri="{FF2B5EF4-FFF2-40B4-BE49-F238E27FC236}">
                <a16:creationId xmlns:a16="http://schemas.microsoft.com/office/drawing/2014/main" id="{4798884E-A329-BAA4-5DCA-1896ABCF1E56}"/>
              </a:ext>
            </a:extLst>
          </p:cNvPr>
          <p:cNvSpPr/>
          <p:nvPr/>
        </p:nvSpPr>
        <p:spPr>
          <a:xfrm>
            <a:off x="685800" y="4203700"/>
            <a:ext cx="5207000" cy="1422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1E49598A-0EE1-8FC5-7BDD-439D04E39022}"/>
              </a:ext>
            </a:extLst>
          </p:cNvPr>
          <p:cNvSpPr txBox="1"/>
          <p:nvPr/>
        </p:nvSpPr>
        <p:spPr>
          <a:xfrm>
            <a:off x="889000" y="4356099"/>
            <a:ext cx="4800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IRL</a:t>
            </a:r>
          </a:p>
        </p:txBody>
      </p:sp>
      <p:sp>
        <p:nvSpPr>
          <p:cNvPr id="16" name="text_15">
            <a:extLst>
              <a:ext uri="{FF2B5EF4-FFF2-40B4-BE49-F238E27FC236}">
                <a16:creationId xmlns:a16="http://schemas.microsoft.com/office/drawing/2014/main" id="{23A65712-598E-EAB1-98A1-7B11E2F3C3E2}"/>
              </a:ext>
            </a:extLst>
          </p:cNvPr>
          <p:cNvSpPr txBox="1"/>
          <p:nvPr/>
        </p:nvSpPr>
        <p:spPr>
          <a:xfrm>
            <a:off x="889000" y="4889499"/>
            <a:ext cx="4800600" cy="647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Infer reward explanations.</a:t>
            </a:r>
          </a:p>
        </p:txBody>
      </p:sp>
      <p:sp>
        <p:nvSpPr>
          <p:cNvPr id="17" name="Rectangle: Rounded Corners 16">
            <a:extLst>
              <a:ext uri="{FF2B5EF4-FFF2-40B4-BE49-F238E27FC236}">
                <a16:creationId xmlns:a16="http://schemas.microsoft.com/office/drawing/2014/main" id="{22A381FA-9A27-D62E-B1EB-803FF069B8A9}"/>
              </a:ext>
            </a:extLst>
          </p:cNvPr>
          <p:cNvSpPr/>
          <p:nvPr/>
        </p:nvSpPr>
        <p:spPr>
          <a:xfrm>
            <a:off x="6172200" y="4203700"/>
            <a:ext cx="5334000" cy="1422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F8D57F35-500F-2940-9CF8-3757C84EFDB2}"/>
              </a:ext>
            </a:extLst>
          </p:cNvPr>
          <p:cNvSpPr txBox="1"/>
          <p:nvPr/>
        </p:nvSpPr>
        <p:spPr>
          <a:xfrm>
            <a:off x="6375400" y="43560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GAIL</a:t>
            </a:r>
          </a:p>
        </p:txBody>
      </p:sp>
      <p:sp>
        <p:nvSpPr>
          <p:cNvPr id="19" name="text_18">
            <a:extLst>
              <a:ext uri="{FF2B5EF4-FFF2-40B4-BE49-F238E27FC236}">
                <a16:creationId xmlns:a16="http://schemas.microsoft.com/office/drawing/2014/main" id="{DC2DDC2A-0CEE-0CCD-AB32-2617F8DFDCDF}"/>
              </a:ext>
            </a:extLst>
          </p:cNvPr>
          <p:cNvSpPr txBox="1"/>
          <p:nvPr/>
        </p:nvSpPr>
        <p:spPr>
          <a:xfrm>
            <a:off x="6375400" y="4889499"/>
            <a:ext cx="4927600" cy="647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Discriminator feedback.</a:t>
            </a:r>
          </a:p>
        </p:txBody>
      </p:sp>
    </p:spTree>
    <p:extLst>
      <p:ext uri="{BB962C8B-B14F-4D97-AF65-F5344CB8AC3E}">
        <p14:creationId xmlns:p14="http://schemas.microsoft.com/office/powerpoint/2010/main" val="544914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9285D81-3DEB-D936-0785-7D5F30E6986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8161847C-AC04-865E-89B8-2DAF0F30B88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Data and evaluation checklist</a:t>
            </a:r>
          </a:p>
        </p:txBody>
      </p:sp>
      <p:sp>
        <p:nvSpPr>
          <p:cNvPr id="4" name="text_3">
            <a:extLst>
              <a:ext uri="{FF2B5EF4-FFF2-40B4-BE49-F238E27FC236}">
                <a16:creationId xmlns:a16="http://schemas.microsoft.com/office/drawing/2014/main" id="{22EEDECA-8DF7-223F-0971-3B6928FE55E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Avoid mistaking prediction accuracy for control performance.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00D2A1F-E88E-E8F9-99A8-6C02E510A9A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E21B03F-9BA9-19D9-CFE2-F9CC2D8852B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Simulation &amp; robot learning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701EAE4-7ECF-867D-4297-B9262536FA9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25</a:t>
            </a:r>
          </a:p>
        </p:txBody>
      </p:sp>
      <p:sp>
        <p:nvSpPr>
          <p:cNvPr id="8" name="Rectangle: Rounded Corners 7">
            <a:extLst>
              <a:ext uri="{FF2B5EF4-FFF2-40B4-BE49-F238E27FC236}">
                <a16:creationId xmlns:a16="http://schemas.microsoft.com/office/drawing/2014/main" id="{E51747CC-D978-02F5-30C2-68FBB861D648}"/>
              </a:ext>
            </a:extLst>
          </p:cNvPr>
          <p:cNvSpPr/>
          <p:nvPr/>
        </p:nvSpPr>
        <p:spPr>
          <a:xfrm>
            <a:off x="685800" y="2679700"/>
            <a:ext cx="5207000" cy="270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70E3FB3-9B82-1257-DD7D-3E2CBBCBCCA4}"/>
              </a:ext>
            </a:extLst>
          </p:cNvPr>
          <p:cNvSpPr txBox="1"/>
          <p:nvPr/>
        </p:nvSpPr>
        <p:spPr>
          <a:xfrm>
            <a:off x="889000" y="2832099"/>
            <a:ext cx="4800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Dataset</a:t>
            </a:r>
          </a:p>
        </p:txBody>
      </p:sp>
      <p:sp>
        <p:nvSpPr>
          <p:cNvPr id="10" name="text_9">
            <a:extLst>
              <a:ext uri="{FF2B5EF4-FFF2-40B4-BE49-F238E27FC236}">
                <a16:creationId xmlns:a16="http://schemas.microsoft.com/office/drawing/2014/main" id="{DE9BFA2E-9E2D-5C18-7206-B8BCA8486EE9}"/>
              </a:ext>
            </a:extLst>
          </p:cNvPr>
          <p:cNvSpPr txBox="1"/>
          <p:nvPr/>
        </p:nvSpPr>
        <p:spPr>
          <a:xfrm>
            <a:off x="889000" y="3365499"/>
            <a:ext cx="4800600" cy="1930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100 episodes / 25,000 rows
80 train / 20 validation
Record before the action</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EDCE0EBE-D477-4B2F-F152-359C2E115D4B}"/>
              </a:ext>
            </a:extLst>
          </p:cNvPr>
          <p:cNvSpPr/>
          <p:nvPr/>
        </p:nvSpPr>
        <p:spPr>
          <a:xfrm>
            <a:off x="6172200" y="2679700"/>
            <a:ext cx="5334000" cy="270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4A50FE50-A845-F276-F090-2DD74C9A149B}"/>
              </a:ext>
            </a:extLst>
          </p:cNvPr>
          <p:cNvSpPr txBox="1"/>
          <p:nvPr/>
        </p:nvSpPr>
        <p:spPr>
          <a:xfrm>
            <a:off x="6375400" y="2832099"/>
            <a:ext cx="49276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Fresh rollouts</a:t>
            </a:r>
          </a:p>
        </p:txBody>
      </p:sp>
      <p:sp>
        <p:nvSpPr>
          <p:cNvPr id="13" name="text_12">
            <a:extLst>
              <a:ext uri="{FF2B5EF4-FFF2-40B4-BE49-F238E27FC236}">
                <a16:creationId xmlns:a16="http://schemas.microsoft.com/office/drawing/2014/main" id="{71F7CBF7-F592-2910-0046-FF4DF26C878F}"/>
              </a:ext>
            </a:extLst>
          </p:cNvPr>
          <p:cNvSpPr txBox="1"/>
          <p:nvPr/>
        </p:nvSpPr>
        <p:spPr>
          <a:xfrm>
            <a:off x="6375400" y="3365499"/>
            <a:ext cx="4927600" cy="1930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20 shared test cases
Distance &lt; 0.03 m
Speed &lt; 0.05 m/s
Throughout final 0.5 s</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900FA70D-A3F9-DEC0-696A-E181D7613A5D}"/>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Simulation success is sampled, task-specific, and model-dependent.</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385025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5455</Words>
  <Application>Microsoft Office PowerPoint</Application>
  <PresentationFormat>Custom</PresentationFormat>
  <Paragraphs>458</Paragraphs>
  <Slides>25</Slides>
  <Notes>25</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2026-10-05T07:32:46Z</dcterms:created>
  <dcterms:modified xsi:type="dcterms:W3CDTF">2026-10-05T07:32:46Z</dcterms:modified>
</cp:coreProperties>
</file>