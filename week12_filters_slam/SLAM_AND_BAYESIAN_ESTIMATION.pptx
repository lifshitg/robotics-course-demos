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893F9-E898-47C0-AB56-B3240B7D9154}" type="datetimeFigureOut">
              <a:rPr lang="en-IL" smtClean="0"/>
              <a:t>05/10/2026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2256F0-59B7-4367-83FF-BDDCABA3CA11}" type="slidenum">
              <a:rPr lang="en-IL" smtClean="0"/>
              <a:t>‹#›</a:t>
            </a:fld>
            <a:endParaRPr lang="en-IL"/>
          </a:p>
        </p:txBody>
      </p:sp>
    </p:spTree>
    <p:extLst>
      <p:ext uri="{BB962C8B-B14F-4D97-AF65-F5344CB8AC3E}">
        <p14:creationId xmlns:p14="http://schemas.microsoft.com/office/powerpoint/2010/main" val="3892134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Students know coordinate transforms and Week10 beliefs. Explain the same physical scene first with a known map, then with unknown landmark positions. Both modes use range only. The simulator knows truth; the estimator never receives it. Heading is fixed in the demo. Thirty minutes of explanation, twelve minutes of visualization integrated at five points, and three minutes recap. The preserved teaching notes describe the older localization lesson; this plan and updated demo README define the revised session.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a:t>
            </a:fld>
            <a:endParaRPr lang="en-IL"/>
          </a:p>
        </p:txBody>
      </p:sp>
    </p:spTree>
    <p:extLst>
      <p:ext uri="{BB962C8B-B14F-4D97-AF65-F5344CB8AC3E}">
        <p14:creationId xmlns:p14="http://schemas.microsoft.com/office/powerpoint/2010/main" val="2698179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SLAM means simultaneous localization and mapping. A robot needs a map to interpret measurements, but needs its pose to place those measurements in the map. Examples include exploring a warehouse, inspecting an unfamiliar building, and autonomous navigation. SLAM estimates geometry and uncertainty; it is not motion planning, obstacle avoidance, or semantic scene understanding by itself. Start with this question before introducing particles so the main subject remains SLAM.</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a:t>
            </a:fld>
            <a:endParaRPr lang="en-IL"/>
          </a:p>
        </p:txBody>
      </p:sp>
    </p:spTree>
    <p:extLst>
      <p:ext uri="{BB962C8B-B14F-4D97-AF65-F5344CB8AC3E}">
        <p14:creationId xmlns:p14="http://schemas.microsoft.com/office/powerpoint/2010/main" val="3885433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Localization: given a map, infer robot state. Mapping: given robot poses, infer the map. SLAM: estimate both from controls and sensor evidence. The new selector changes whether map positions are known, not whether landmarks physically move. A static unknown map is standard SLAM. Both modes retain the same robot motion and range sensor. The teaching example supplies landmark identities and fixed heading; real SLAM can require association and orientation estimation.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a:t>
            </a:fld>
            <a:endParaRPr lang="en-IL"/>
          </a:p>
        </p:txBody>
      </p:sp>
    </p:spTree>
    <p:extLst>
      <p:ext uri="{BB962C8B-B14F-4D97-AF65-F5344CB8AC3E}">
        <p14:creationId xmlns:p14="http://schemas.microsoft.com/office/powerpoint/2010/main" val="580028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Define t as time, j as landmark index, i later as particle index. General planar pose x_t has position and heading. Each m_j is a two-dimensional static landmark position. Commands u_t produce uncertain motion; observations z_t provide noisy evidence. Correspondence c_t identifies the observed landmark. The existing demo instead estimates p_t=(x,y), holds heading fixed, and observes all three identified landmarks each cycle. Uppercase random quantities can be distinguished from concrete numerical samples; p(·) denotes a probability density, not the position vector p_t.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4</a:t>
            </a:fld>
            <a:endParaRPr lang="en-IL"/>
          </a:p>
        </p:txBody>
      </p:sp>
    </p:spTree>
    <p:extLst>
      <p:ext uri="{BB962C8B-B14F-4D97-AF65-F5344CB8AC3E}">
        <p14:creationId xmlns:p14="http://schemas.microsoft.com/office/powerpoint/2010/main" val="133370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Read every term: trajectory x_0 through x_t and map m conditioned on accumulated controls, observations, and associations. Full SLAM retains a trajectory posterior; online SLAM estimates the current pose and map after marginalizing past poses. They differ in representation and what can be revised. The demo stores current robot particles and maps conditional on their sampled histories, without retaining a global trajectory optimizer. Its known-map mode conditions on supplied m instead. Fix a reference frame through an initial pose prior; relative observations alone do not reveal a unique absolute world origin.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5</a:t>
            </a:fld>
            <a:endParaRPr lang="en-IL"/>
          </a:p>
        </p:txBody>
      </p:sp>
    </p:spTree>
    <p:extLst>
      <p:ext uri="{BB962C8B-B14F-4D97-AF65-F5344CB8AC3E}">
        <p14:creationId xmlns:p14="http://schemas.microsoft.com/office/powerpoint/2010/main" val="652359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Explain the cycle: move and predict, collect observations, associate them with landmarks, update the joint estimate, then continue. New landmarks need initialization; repeated landmarks refine existing estimates. A recognized revisit supplies a constraint between observations and previously estimated structure. Different algorithms store and process these constraints differently. Known IDs remove association search in the demo. Static landmark coordinates do not move during prediction; their estimated probabilities change when evidence arrives.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6</a:t>
            </a:fld>
            <a:endParaRPr lang="en-IL"/>
          </a:p>
        </p:txBody>
      </p:sp>
    </p:spTree>
    <p:extLst>
      <p:ext uri="{BB962C8B-B14F-4D97-AF65-F5344CB8AC3E}">
        <p14:creationId xmlns:p14="http://schemas.microsoft.com/office/powerpoint/2010/main" val="2600052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These equations first describe known-map localization. The integral averages motion outcomes over every possible previous state x-prime. Prediction uses controls and the motion model, not the new measurement. Correction multiplies the predicted density by observation likelihood and normalizes with eta. The normalizer is the integral of numerator density over states. For SLAM the belief includes map variables too. Measurements affect robot and map jointly. This is estimation, unlike a POMDP planner choosing an action to optimize reward. State definitions and measurement timing must remain consistent.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7</a:t>
            </a:fld>
            <a:endParaRPr lang="en-IL"/>
          </a:p>
        </p:txBody>
      </p:sp>
    </p:spTree>
    <p:extLst>
      <p:ext uri="{BB962C8B-B14F-4D97-AF65-F5344CB8AC3E}">
        <p14:creationId xmlns:p14="http://schemas.microsoft.com/office/powerpoint/2010/main" val="976231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Exact model: 500 particles with Gaussian initial mean (2,2) and standard deviation .6 m per axis. Identified landmarks have true positions (0,0),(6,0),(0,6), known only in localization. Commands are eight .25 m translations along each of +x,+y,-x,-y. Motion standard deviation is .08 m per axis; range sigma is .15 or .60 m. The orange star is teaching-only truth; red X is weighted position estimate. Separate random streams drive true motion, sensor noise, and estimation. Gaussian ranges are an idealization and are not clipped. Display borders are not walls.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8</a:t>
            </a:fld>
            <a:endParaRPr lang="en-IL"/>
          </a:p>
        </p:txBody>
      </p:sp>
    </p:spTree>
    <p:extLst>
      <p:ext uri="{BB962C8B-B14F-4D97-AF65-F5344CB8AC3E}">
        <p14:creationId xmlns:p14="http://schemas.microsoft.com/office/powerpoint/2010/main" val="1555656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One minute. Start in Localization: known map and .15 m noise. Identify black known landmark squares, orange truth star, red estimate, and weighted particles. Ask which is hidden from the estimator: the simulator truth star. A particle is a hypothetical position, not another robot. Show truth can be turned off without changing estimation. Keep the map selector in localization until the later unknown-map segment. If the window cannot open, use the included initial localization figure.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9</a:t>
            </a:fld>
            <a:endParaRPr lang="en-IL"/>
          </a:p>
        </p:txBody>
      </p:sp>
    </p:spTree>
    <p:extLst>
      <p:ext uri="{BB962C8B-B14F-4D97-AF65-F5344CB8AC3E}">
        <p14:creationId xmlns:p14="http://schemas.microsoft.com/office/powerpoint/2010/main" val="3851893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Each particle is a possible state. Delta denotes point mass at that hypothesis, not a tiny physical robot or a continuous Gaussian. Weights sum to one. The weighted mean summarizes the belief but can lie between two modes where little probability exists. A cloud can represent nonlinear or multimodal uncertainty, but finite sampling can miss a true region. Initial distributions and noise assumptions matter. The demo is roughly initialized tracking, not global localization or kidnapped-robot recovery.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10</a:t>
            </a:fld>
            <a:endParaRPr lang="en-IL"/>
          </a:p>
        </p:txBody>
      </p:sp>
    </p:spTree>
    <p:extLst>
      <p:ext uri="{BB962C8B-B14F-4D97-AF65-F5344CB8AC3E}">
        <p14:creationId xmlns:p14="http://schemas.microsoft.com/office/powerpoint/2010/main" val="1327301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command is a .25 m axis-aligned translation in the next direction. Each hypothesis gets independent Gaussian motion noise. Simulator truth also moves noisily, using a separate stream. No sensor evidence has been consumed in Prediction. In SLAM the landmark grids remain fixed during this step because landmarks are static. Motion uncertainty broadens the predictive distribution in expectation; one finite realization need not visibly broaden. Do not promise the true square path closes perfectly.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11</a:t>
            </a:fld>
            <a:endParaRPr lang="en-IL"/>
          </a:p>
        </p:txBody>
      </p:sp>
    </p:spTree>
    <p:extLst>
      <p:ext uri="{BB962C8B-B14F-4D97-AF65-F5344CB8AC3E}">
        <p14:creationId xmlns:p14="http://schemas.microsoft.com/office/powerpoint/2010/main" val="29701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Two minutes. Ask where the cloud will move and whether all dots should move identically. Press Next stage once. Compare with the prior and point out noisy displacement. The range panel says no new observation yet. The truth trajectory is only explanatory. Ask whether static map coordinates should also move: no. Use the saved prediction figure if needed.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12</a:t>
            </a:fld>
            <a:endParaRPr lang="en-IL"/>
          </a:p>
        </p:txBody>
      </p:sp>
    </p:spTree>
    <p:extLst>
      <p:ext uri="{BB962C8B-B14F-4D97-AF65-F5344CB8AC3E}">
        <p14:creationId xmlns:p14="http://schemas.microsoft.com/office/powerpoint/2010/main" val="23703215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Range is Euclidean distance, not bearing. At p=(2,2), the three predicted ranges are sqrt8≈2.8284 and sqrt20≈4.4721 twice. Independent Gaussian range errors justify multiplying three likelihoods, or summing their log likelihoods. The squared residual is divided by sensor variance through the standardized residual. Larger sigma makes the same discrepancy less surprising. These are continuous probability densities, not probabilities of exact readings. Shared Gaussian normalization constants cancel when normalizing robot weights in localization.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13</a:t>
            </a:fld>
            <a:endParaRPr lang="en-IL"/>
          </a:p>
        </p:txBody>
      </p:sp>
    </p:spTree>
    <p:extLst>
      <p:ext uri="{BB962C8B-B14F-4D97-AF65-F5344CB8AC3E}">
        <p14:creationId xmlns:p14="http://schemas.microsoft.com/office/powerpoint/2010/main" val="7630282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prior weight matters: evidence multiplies the previous belief, rather than discarding it. These equations use the demo bootstrap proposal, sampled from the motion model. More general importance-sampling proposals require a proposal correction. During correction robot coordinates remain unchanged. The weighted estimate may nevertheless move because its averaging weights changed. The demo computes log weights, subtracts the maximum, exponentiates and normalizes to avoid numerical underflow. Invalid likelihoods raise an error, not a fabricated uniform posterior.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14</a:t>
            </a:fld>
            <a:endParaRPr lang="en-IL"/>
          </a:p>
        </p:txBody>
      </p:sp>
    </p:spTree>
    <p:extLst>
      <p:ext uri="{BB962C8B-B14F-4D97-AF65-F5344CB8AC3E}">
        <p14:creationId xmlns:p14="http://schemas.microsoft.com/office/powerpoint/2010/main" val="251303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Work before showing the answer. Multiply each likelihood by prior 1/3: .2,.1,1/30. The normalizer is 1/3. Division yields .6,.3,.1. Likelihoods need not sum to one across hypotheses; these chosen numbers happen to do so. Expected copies out of ten are 6,3,1. For general random resampling those are expectations, not fixed counts; the systematic method happens to give exactly these counts for this particular integer-count example. This table is a teaching calculation, not a trace from the 500-particle model.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15</a:t>
            </a:fld>
            <a:endParaRPr lang="en-IL"/>
          </a:p>
        </p:txBody>
      </p:sp>
    </p:spTree>
    <p:extLst>
      <p:ext uri="{BB962C8B-B14F-4D97-AF65-F5344CB8AC3E}">
        <p14:creationId xmlns:p14="http://schemas.microsoft.com/office/powerpoint/2010/main" val="3536343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Two minutes. Ask students what should change. Press once and compare particle locations with the prediction state: positions did not move. Sizes/colors and red weighted estimate change. Read the three ranges and connect disagreement to likelihood. Ground truth is not used. The saved weighting image provides fallback. Keep one extra click for resampling, rather than allowing playback to skip the discussion.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16</a:t>
            </a:fld>
            <a:endParaRPr lang="en-IL"/>
          </a:p>
        </p:txBody>
      </p:sp>
    </p:spTree>
    <p:extLst>
      <p:ext uri="{BB962C8B-B14F-4D97-AF65-F5344CB8AC3E}">
        <p14:creationId xmlns:p14="http://schemas.microsoft.com/office/powerpoint/2010/main" val="469229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 systematic algorithm takes one random offset and equally spaced thresholds on the cumulative weight distribution. It is not N independent random draws, although each ancestor has the correct expected copy count. Duplicates are allowed and can overlap. Selection frequency encodes the previous weights, so new particles receive equal weights. Resampling adds no evidence and does not guarantee improved accuracy; it can lose diversity. The demo resamples every measurement. Effective-sample-size adaptive schedules exist, but are not implemented.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p>
          <a:p>
            <a:r>
              <a:rPr lang="en-US">
                <a:latin typeface="Aptos" panose="020B0004020202020204" pitchFamily="34" charset="0"/>
              </a:rPr>
              <a:t>https://www.cs.cmu.edu/~thrun/papers/montemerlo.fastslam-tr.pdf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17</a:t>
            </a:fld>
            <a:endParaRPr lang="en-IL"/>
          </a:p>
        </p:txBody>
      </p:sp>
    </p:spTree>
    <p:extLst>
      <p:ext uri="{BB962C8B-B14F-4D97-AF65-F5344CB8AC3E}">
        <p14:creationId xmlns:p14="http://schemas.microsoft.com/office/powerpoint/2010/main" val="1404789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Two minutes. Ask whether another measurement is taken: no. Press once and show equal weights and overlapping copies. The estimate may shift due to finite resampling. If needed, play a few cycles then pause; do not consume the later SLAM comparison time. Reset retains selected noise and mode. Discuss what would go wrong if a SLAM particle kept a map from a different ancestor.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p>
          <a:p>
            <a:r>
              <a:rPr lang="en-US">
                <a:latin typeface="Aptos" panose="020B0004020202020204" pitchFamily="34" charset="0"/>
              </a:rPr>
              <a:t>https://www.cs.cmu.edu/~thrun/papers/montemerlo.fastslam-tr.pdf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18</a:t>
            </a:fld>
            <a:endParaRPr lang="en-IL"/>
          </a:p>
        </p:txBody>
      </p:sp>
    </p:spTree>
    <p:extLst>
      <p:ext uri="{BB962C8B-B14F-4D97-AF65-F5344CB8AC3E}">
        <p14:creationId xmlns:p14="http://schemas.microsoft.com/office/powerpoint/2010/main" val="22535916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Noisier observations usually constrain belief less sharply, but individual outcomes vary and entropy is not guaranteed to fall at every update. Gaussian models can be wrong. Finite samples may miss correct hypotheses, and repeated resampling can eliminate useful paths. Means can lie between modes. Grid bounds and resolution affect the SLAM approximation. The same initial robot prior anchors the map imperfectly; no absolute truth recovery guarantee follows. The preset switch pauses and resets, so comparison is not a sudden noise change during the same trajectory.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19</a:t>
            </a:fld>
            <a:endParaRPr lang="en-IL"/>
          </a:p>
        </p:txBody>
      </p:sp>
    </p:spTree>
    <p:extLst>
      <p:ext uri="{BB962C8B-B14F-4D97-AF65-F5344CB8AC3E}">
        <p14:creationId xmlns:p14="http://schemas.microsoft.com/office/powerpoint/2010/main" val="4202245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Localization interprets the observation against supplied m_j. In SLAM both terms are uncertain and must be inferred jointly. All landmarks remain static. Unknown map does not mean physically unstable objects. The SLAM estimator receives identified ranges, a generic bounded map prior, and a robot prior; no true coordinates. Both modes use exactly the same simulated range-only sensor and seeded physical motion. Mapping uncertainty is maintained per robot hypothesis, preserving coupling through a mixture of conditional maps.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20</a:t>
            </a:fld>
            <a:endParaRPr lang="en-IL"/>
          </a:p>
        </p:txBody>
      </p:sp>
    </p:spTree>
    <p:extLst>
      <p:ext uri="{BB962C8B-B14F-4D97-AF65-F5344CB8AC3E}">
        <p14:creationId xmlns:p14="http://schemas.microsoft.com/office/powerpoint/2010/main" val="25430921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Define R as rotation from the robot frame to world and t as world position of the robot origin. A local point observation (1,0), robot translation (2,2), and heading90 degrees yields landmark (2,3). Using heading0 incorrectly yields (3,2). This local point requires direction information; it is a conceptual alternative sensor example, NOT a measurement provided by the range-only demo. The demo instead constrains distance circles. Pose errors affect map placement, and map errors affect pose estimation. Relative sensing also leaves global reference-frame freedoms without an anchor.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21</a:t>
            </a:fld>
            <a:endParaRPr lang="en-IL"/>
          </a:p>
        </p:txBody>
      </p:sp>
    </p:spTree>
    <p:extLst>
      <p:ext uri="{BB962C8B-B14F-4D97-AF65-F5344CB8AC3E}">
        <p14:creationId xmlns:p14="http://schemas.microsoft.com/office/powerpoint/2010/main" val="40186602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Explain existing landmark match, new landmark initialization, and ambiguous or incorrect correspondence. The demo assumes exactly three landmarks with known IDs L1,L2,L3, so it avoids matching and discovery. This is a modeling simplification, not a solved real-world association problem. A mistaken association can create a false strong constraint and damage an estimate or loop closure. Matching may use geometry and appearance, uncertainty gates and consistency checks. Keep implementation detail in notes rather than turning this into a separate association lecture.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22</a:t>
            </a:fld>
            <a:endParaRPr lang="en-IL"/>
          </a:p>
        </p:txBody>
      </p:sp>
    </p:spTree>
    <p:extLst>
      <p:ext uri="{BB962C8B-B14F-4D97-AF65-F5344CB8AC3E}">
        <p14:creationId xmlns:p14="http://schemas.microsoft.com/office/powerpoint/2010/main" val="2414156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Conditional on one known robot hypothesis, a noisy distance produces an annular probability band around it. It does not uniquely initialize a point or narrow Gaussian. Two circles may intersect at two possibilities; collinear viewpoints can retain a reflection ambiguity. A third noncollinear viewpoint can distinguish them under suitable geometry. If robot position is uncertain, integrating its hypotheses adds further uncertainty. The demo uses full grid distributions to retain these modes. The shown coordinate mean can lie in the center of a ring where probability is low. Do not introduce bearings into the implemented sensor.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23</a:t>
            </a:fld>
            <a:endParaRPr lang="en-IL"/>
          </a:p>
        </p:txBody>
      </p:sp>
    </p:spTree>
    <p:extLst>
      <p:ext uri="{BB962C8B-B14F-4D97-AF65-F5344CB8AC3E}">
        <p14:creationId xmlns:p14="http://schemas.microsoft.com/office/powerpoint/2010/main" val="8410529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5 minutes.</a:t>
            </a:r>
          </a:p>
          <a:p>
            <a:r>
              <a:rPr lang="en-US">
                <a:latin typeface="Aptos" panose="020B0004020202020204" pitchFamily="34" charset="0"/>
              </a:rPr>
              <a:t>Five minutes. Pause, select SLAM: unknown map; this resets while preserving noise and seed. Show initial uniform landmark grids and known IDs. Advance prediction then weighting: select L1,L2,L3 detail heatmaps and point out annular or ambiguous distributions. Resample: selected robot hypotheses bring their maps. Use prepared post-resampling snapshots at motions8,16,32 to show longer-term constraints without waiting for full playback. Show truth off and explain the mean marker is not a unique solution. Briefly switch sigma to .60m, noting the reset and generally less informative measurements. The grid is a bounded prior over landmark coordinates, not occupancy cells or walls. Repeated landmark IDs are observed; no explicit place-recognition/trajectory optimizer exists.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24</a:t>
            </a:fld>
            <a:endParaRPr lang="en-IL"/>
          </a:p>
        </p:txBody>
      </p:sp>
    </p:spTree>
    <p:extLst>
      <p:ext uri="{BB962C8B-B14F-4D97-AF65-F5344CB8AC3E}">
        <p14:creationId xmlns:p14="http://schemas.microsoft.com/office/powerpoint/2010/main" val="35249381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Odometry errors accumulate and distort trajectories/maps. A valid revisit constraint can improve consistency by relating current observations to earlier structure. Merely returning near the start is not loop closure. The filter demo repeatedly reobserves supplied landmark IDs, refining joint estimates; it has no separate loop-closure detector, global trajectory optimizer, or past-pose correction display. Explain graph-based loop constraints conceptually with an editable original diagram. No guarantee that a false match helps, or that all map errors vanish. Static maps, sensible noise models, and correct association are assumptions.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p>
          <a:p>
            <a:r>
              <a:rPr lang="en-US">
                <a:latin typeface="Aptos" panose="020B0004020202020204" pitchFamily="34" charset="0"/>
              </a:rPr>
              <a:t>https://www.roboticsbook.org/S64_driving_perception.html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25</a:t>
            </a:fld>
            <a:endParaRPr lang="en-IL"/>
          </a:p>
        </p:txBody>
      </p:sp>
    </p:spTree>
    <p:extLst>
      <p:ext uri="{BB962C8B-B14F-4D97-AF65-F5344CB8AC3E}">
        <p14:creationId xmlns:p14="http://schemas.microsoft.com/office/powerpoint/2010/main" val="10610891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Here c denotes a cell, distinct from association c_t. Logit(p)=log(p/(1-p)); .5 prior gives zero log odds. An inverse sensor model contributes free-space evidence before a hit and occupied evidence near a hit; untouched cells remain unknown. A toy occupied probability .7 adds log(7/3)≈.8473; two consistent updates with .5 prior produce probability49/58≈.8448. Conditional cell independence and supplied poses are mapping approximations. Handling uncertain trajectories jointly is SLAM. The demo landmark probability grids are NOT occupancy grids: each represents one landmark location and sums to one across locations. Occupancy cells each have their own Bernoulli probability.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https://www.cs.cmu.edu/~thrun/papers/thrun.iros01-occmap.pdf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26</a:t>
            </a:fld>
            <a:endParaRPr lang="en-IL"/>
          </a:p>
        </p:txBody>
      </p:sp>
    </p:spTree>
    <p:extLst>
      <p:ext uri="{BB962C8B-B14F-4D97-AF65-F5344CB8AC3E}">
        <p14:creationId xmlns:p14="http://schemas.microsoft.com/office/powerpoint/2010/main" val="23808615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Read i as robot/path hypothesis, j as landmark ID, and g as candidate grid coordinate. Integrate the likelihood against the OLD map to score robot hypotheses. Then update each conditional map with that reading. Weight robot particles by the product of evidences for conditionally independent landmarks. Resampling copies whole hypotheses. Each landmark prior is uniform on an81x81 grid spanning -2 through8m at .125m spacing. This is a finite-grid Rao-Blackwellized method inspired by the FastSLAM decomposition, not the original landmark-EKF algorithm. Original FastSLAM combines particles with landmark Kalman filters; particles and Kalman methods are not mutually exclusive.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https://www.cs.cmu.edu/~thrun/papers/montemerlo.fastslam-tr.pdf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27</a:t>
            </a:fld>
            <a:endParaRPr lang="en-IL"/>
          </a:p>
        </p:txBody>
      </p:sp>
    </p:spTree>
    <p:extLst>
      <p:ext uri="{BB962C8B-B14F-4D97-AF65-F5344CB8AC3E}">
        <p14:creationId xmlns:p14="http://schemas.microsoft.com/office/powerpoint/2010/main" val="38747168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Particle methods can retain multiple modes but require adequate hypotheses and computation. KF is exact for linear Gaussian models with Gaussian initial belief. Nonlinear SLAM commonly uses EKF or UKF approximations; a single Gaussian can struggle with severe ambiguity. Graph-based methods optimize constraints and are not simply another filter. No method is universally best. Pose/map representation, association, sparsity, computation, and noise assumptions all matter. Our range-only ring distributions motivate the grid maps; a narrow Gaussian at first range would invent information.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p>
          <a:p>
            <a:r>
              <a:rPr lang="en-US">
                <a:latin typeface="Aptos" panose="020B0004020202020204" pitchFamily="34" charset="0"/>
              </a:rPr>
              <a:t>https://www.cs.cmu.edu/~thrun/papers/montemerlo.fastslam-tr.pdf</a:t>
            </a:r>
          </a:p>
          <a:p>
            <a:r>
              <a:rPr lang="en-US">
                <a:latin typeface="Aptos" panose="020B0004020202020204" pitchFamily="34" charset="0"/>
              </a:rPr>
              <a:t>https://www.roboticsbook.org/S64_driving_perception.html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28</a:t>
            </a:fld>
            <a:endParaRPr lang="en-IL"/>
          </a:p>
        </p:txBody>
      </p:sp>
    </p:spTree>
    <p:extLst>
      <p:ext uri="{BB962C8B-B14F-4D97-AF65-F5344CB8AC3E}">
        <p14:creationId xmlns:p14="http://schemas.microsoft.com/office/powerpoint/2010/main" val="8952531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Define mu mean, Sigma covariance, F dynamics matrix, B command mapping, H measurement matrix, Q process covariance and C_z sensor covariance. Use C_z rather than R to avoid collision with rotation notation. Innovation e is measured minus predicted evidence; S is its covariance; K balances model uncertainty and measurement uncertainty. For scalar prior mean2 variance.36, command.25, Q=.0064, position observation2.4 with C_z=.0225: predicted2.25 variance.3664, gain.9421445, posterior mean2.3913217 and variance.0211983. This is a separate direct-position-sensor example, NOT the demo ranges. In code solve linear systems rather than explicitly invert S. More complete covariance equations appear in backup.</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29</a:t>
            </a:fld>
            <a:endParaRPr lang="en-IL"/>
          </a:p>
        </p:txBody>
      </p:sp>
    </p:spTree>
    <p:extLst>
      <p:ext uri="{BB962C8B-B14F-4D97-AF65-F5344CB8AC3E}">
        <p14:creationId xmlns:p14="http://schemas.microsoft.com/office/powerpoint/2010/main" val="30316932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Joint state dimension is3+2J for planar pose and J landmarks. Static map portions of f leave landmarks unchanged, with zero map process noise. F and H are Jacobians of nonlinear f and h at the current prediction. Reuse S=H Sigma-bar H-transpose+C_z and K equations. Range h_j=sqrt((m_jx-x)^2+(m_jy-y)^2) is nonlinear. For nonzero range rho, its derivatives with respect to x,y are negative normalized displacement and with respect to landmark coordinates positive normalized displacement; derivative with respect to heading is zero for pure range. EKF approximates, rather than exactly representing ring ambiguity. Range-only landmark initialization needs suitable multi-view estimation, not an arbitrary point on the first circle.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30</a:t>
            </a:fld>
            <a:endParaRPr lang="en-IL"/>
          </a:p>
        </p:txBody>
      </p:sp>
    </p:spTree>
    <p:extLst>
      <p:ext uri="{BB962C8B-B14F-4D97-AF65-F5344CB8AC3E}">
        <p14:creationId xmlns:p14="http://schemas.microsoft.com/office/powerpoint/2010/main" val="1296790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Robot-map covariance Sigma_xm captures shared uncertainty; landmark-landmark blocks reflect common robot errors. Because Kalman gain uses the full joint covariance, observing one feature can update other correlated state components. Dropping cross blocks changes the inference and may produce overconfidence. A frame anchor does not remove all uncertainty. UKF propagates sigma points through nonlinear functions and also maintains a joint Gaussian representation; it does not automatically resolve severe multimodality. In the demo dependencies are represented through the mixture of maps conditional on sampled robot histories.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31</a:t>
            </a:fld>
            <a:endParaRPr lang="en-IL"/>
          </a:p>
        </p:txBody>
      </p:sp>
    </p:spTree>
    <p:extLst>
      <p:ext uri="{BB962C8B-B14F-4D97-AF65-F5344CB8AC3E}">
        <p14:creationId xmlns:p14="http://schemas.microsoft.com/office/powerpoint/2010/main" val="5155187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Have students narrate controls, prediction, observations, association, joint correction, and uncertainty representation. Ask what differs between selectors: known versus estimated landmark coordinates, not moving landmarks. Ask why robot resampling must carry the map and why one range cannot uniquely locate a feature. Conclude with selection of representation: particles/grids preserve ambiguity, EKF/UKF approximate Gaussian uncertainty, graph methods optimize constraints. SLAM is an estimation foundation used by planning but does not itself choose collision-free motions. Avoid universal accuracy or robustness claims.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32</a:t>
            </a:fld>
            <a:endParaRPr lang="en-IL"/>
          </a:p>
        </p:txBody>
      </p:sp>
    </p:spTree>
    <p:extLst>
      <p:ext uri="{BB962C8B-B14F-4D97-AF65-F5344CB8AC3E}">
        <p14:creationId xmlns:p14="http://schemas.microsoft.com/office/powerpoint/2010/main" val="14263977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3 minutes.</a:t>
            </a:r>
          </a:p>
          <a:p>
            <a:r>
              <a:rPr lang="en-US">
                <a:latin typeface="Aptos" panose="020B0004020202020204" pitchFamily="34" charset="0"/>
              </a:rPr>
              <a:t>Three minutes. Check localization versus SLAM, known/static versus moving landmarks, motion versus observation updates, likelihood versus normalized weight, resampling without new evidence, ring ambiguity, carrying maps during resampling, and EKF/UKF alternatives. Distinguish landmark-location probability grids from occupancy maps. Connect to HW6 motion/measurement updates and occupancy mapping without inventing assignment interfaces or solutions. A correct answer should identify robot-map coupling and the limits of fixed-heading, known-ID range-only simulation. The initial pose prior anchors the frame imperfectly; absolute accuracy is not guaranteed.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33</a:t>
            </a:fld>
            <a:endParaRPr lang="en-IL"/>
          </a:p>
        </p:txBody>
      </p:sp>
    </p:spTree>
    <p:extLst>
      <p:ext uri="{BB962C8B-B14F-4D97-AF65-F5344CB8AC3E}">
        <p14:creationId xmlns:p14="http://schemas.microsoft.com/office/powerpoint/2010/main" val="41210125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The posterior factorization assumes Markov motion, static landmarks, known associations, conditionally independent observations, and independent landmark priors given the trajectory. Terms involving data are understood over available observations at each step. Conditional independence is not unconditional independence: mixing uncertain trajectories couples map variables. Without an initial pose/frame anchor, jointly translated configurations remain equivalent under relative ranging; additional rotational ambiguities depend on motion/frame information. Demo commands are given in fixed world axes and heading is held fixed, while initial position has a Gaussian prior. No absolute truth coordinates enter the SLAM estimator.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p>
          <a:p>
            <a:r>
              <a:rPr lang="en-US">
                <a:latin typeface="Aptos" panose="020B0004020202020204" pitchFamily="34" charset="0"/>
              </a:rPr>
              <a:t>https://www.cs.cmu.edu/~thrun/papers/montemerlo.fastslam-tr.pdf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34</a:t>
            </a:fld>
            <a:endParaRPr lang="en-IL"/>
          </a:p>
        </p:txBody>
      </p:sp>
    </p:spTree>
    <p:extLst>
      <p:ext uri="{BB962C8B-B14F-4D97-AF65-F5344CB8AC3E}">
        <p14:creationId xmlns:p14="http://schemas.microsoft.com/office/powerpoint/2010/main" val="30649989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Independent Gaussian densities share constants in localization. Log-space normalization subtracts maximum then exponentiates; this is numerical stabilization rather than a new filter. For systematic resampling take k=0..N-1, cumulative weights, and the first cumulative value beyond each u_k. Expected copies are Nw_i though sample counts are correlated. Effective sample size is a useful degeneracy diagnostic; this demo does not use an adaptive threshold. In SLAM copy each ancestor position and all its conditional maps, with independent mutable storage for descendants. All-zero or invalid mass is an error; numerical underflow and impossible evidence must not be hidden with a uniform fallback.</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https://www.cs.cmu.edu/~thrun/papers/fox.aaai99.pdf</a:t>
            </a:r>
          </a:p>
          <a:p>
            <a:r>
              <a:rPr lang="en-US">
                <a:latin typeface="Aptos" panose="020B0004020202020204" pitchFamily="34" charset="0"/>
              </a:rPr>
              <a:t>https://www.cs.cmu.edu/~thrun/papers/montemerlo.fastslam-tr.pdf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35</a:t>
            </a:fld>
            <a:endParaRPr lang="en-IL"/>
          </a:p>
        </p:txBody>
      </p:sp>
    </p:spTree>
    <p:extLst>
      <p:ext uri="{BB962C8B-B14F-4D97-AF65-F5344CB8AC3E}">
        <p14:creationId xmlns:p14="http://schemas.microsoft.com/office/powerpoint/2010/main" val="3332280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This finite-grid update exactly normalizes each conditional discrete landmark distribution, apart from floating point. Robot inference remains a finite particle approximation and map coordinates are quantized. Evidence must integrate against the OLD map: using the newly conditioned map would reuse the same observation incorrectly. Gaussian density constants are included in recorded evidence; shared constants cancel across particle weights. After all measurements, normalize robot weights. Resample the complete particle/map pair. Conditional maps use float64; 500x3x6561 entries require about75.1MiB for persistent probabilities, with additional temporary/copy memory. Chunk32 particle batches limit likelihood temporaries. Uniform bounded grid priors imply boundary and resolution assumptions. First-range rings can be clipped by the prior; full marginal heatmaps expose this.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https://www.cs.cmu.edu/~thrun/papers/montemerlo.fastslam-tr.pdf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36</a:t>
            </a:fld>
            <a:endParaRPr lang="en-IL"/>
          </a:p>
        </p:txBody>
      </p:sp>
    </p:spTree>
    <p:extLst>
      <p:ext uri="{BB962C8B-B14F-4D97-AF65-F5344CB8AC3E}">
        <p14:creationId xmlns:p14="http://schemas.microsoft.com/office/powerpoint/2010/main" val="21683000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Joseph covariance form shown above is numerically robust; in exact arithmetic with the computed gain it agrees with (I-KH)Sigma-bar. At zero range the derivative is undefined. State and measurement dimensions must agree; full3+2J covariance includes all cross blocks. For scalar direct position example predicted variance.3664, gain.9421445102, posterior mean2.3913216765, variance.0211982515. Check Joseph and simplified forms numerically. This worked example is not the range-only demo. Range-only EKF initialization requires multiple observations or richer representations. UKF avoids explicit Jacobians but still approximates distributions with mean/covariance.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https://www-personal.acfr.usyd.edu.au/tbailey/papers/slamtute1.pdf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37</a:t>
            </a:fld>
            <a:endParaRPr lang="en-IL"/>
          </a:p>
        </p:txBody>
      </p:sp>
    </p:spTree>
    <p:extLst>
      <p:ext uri="{BB962C8B-B14F-4D97-AF65-F5344CB8AC3E}">
        <p14:creationId xmlns:p14="http://schemas.microsoft.com/office/powerpoint/2010/main" val="36673047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A landmark grid is a normalized distribution over one landmark location. Occupancy cells each carry a Bernoulli occupied/free variable; they are not normalized across the map. A graph objective sums weighted constraint residuals, with Omega information matrices. Pose anchors, robust losses, data association and sparsity are important; no graph optimizer is implemented here. For .5 occupancy prior and p_hit=.7, one update .7 and two updates49/58≈.8448276, subject to the inverse-model conditional assumptions. FastSLAM originally pairs trajectory particles with conditional landmark Kalman filters; our grid maps use the same decomposition idea without claiming identical implementation. Close with estimation versus planning and no universal best solver.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https://www.cs.cmu.edu/~thrun/papers/thrun.iros01-occmap.pdf</a:t>
            </a:r>
          </a:p>
          <a:p>
            <a:r>
              <a:rPr lang="en-US">
                <a:latin typeface="Aptos" panose="020B0004020202020204" pitchFamily="34" charset="0"/>
              </a:rPr>
              <a:t>https://www.roboticsbook.org/S64_driving_perception.html</a:t>
            </a:r>
          </a:p>
          <a:p>
            <a:r>
              <a:rPr lang="en-US">
                <a:latin typeface="Aptos" panose="020B0004020202020204" pitchFamily="34" charset="0"/>
              </a:rPr>
              <a:t>https://www.cs.cmu.edu/~thrun/papers/montemerlo.fastslam-tr.pdf</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752256F0-59B7-4367-83FF-BDDCABA3CA11}" type="slidenum">
              <a:rPr lang="en-IL" smtClean="0"/>
              <a:t>38</a:t>
            </a:fld>
            <a:endParaRPr lang="en-IL"/>
          </a:p>
        </p:txBody>
      </p:sp>
    </p:spTree>
    <p:extLst>
      <p:ext uri="{BB962C8B-B14F-4D97-AF65-F5344CB8AC3E}">
        <p14:creationId xmlns:p14="http://schemas.microsoft.com/office/powerpoint/2010/main" val="2598677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B3B40-06A8-B192-CE05-F89769F11F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B7F555A8-1189-C89F-6983-DF353D5BF4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326E5E42-43EB-BBC6-415F-E732FB6F3817}"/>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5" name="Footer Placeholder 4">
            <a:extLst>
              <a:ext uri="{FF2B5EF4-FFF2-40B4-BE49-F238E27FC236}">
                <a16:creationId xmlns:a16="http://schemas.microsoft.com/office/drawing/2014/main" id="{9A40A65C-E571-CFE5-5792-70770A9D464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0AE8C33-C39B-35A2-1979-8D202F58F849}"/>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3965844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8FAE4-150B-DA16-3E3C-5B363E17CE4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DB490579-366B-5A11-A27D-C7F9D10D32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D18631D-3DF0-1B9B-095C-C19570D5C80D}"/>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5" name="Footer Placeholder 4">
            <a:extLst>
              <a:ext uri="{FF2B5EF4-FFF2-40B4-BE49-F238E27FC236}">
                <a16:creationId xmlns:a16="http://schemas.microsoft.com/office/drawing/2014/main" id="{9D28139B-5F58-4FFA-7E64-A1AB19378FA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74893DE-AFF2-1A7A-6F0B-F5125DDB2374}"/>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128764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201EF-DCB6-F7CD-6F34-43F4815C8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85332C52-D4CF-FA66-5A1F-2C178EE5EA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3D1BAD-BFEB-A35E-6AFE-A324A84AAD97}"/>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5" name="Footer Placeholder 4">
            <a:extLst>
              <a:ext uri="{FF2B5EF4-FFF2-40B4-BE49-F238E27FC236}">
                <a16:creationId xmlns:a16="http://schemas.microsoft.com/office/drawing/2014/main" id="{22579C0F-FAD4-5D65-771B-14CD77CC1C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A983D48-EBC8-271E-214D-A7E043327EBE}"/>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3464312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4FEE9-2034-FC37-EA6F-67D1E1B0852D}"/>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8A7560E9-EB6A-6D13-F685-D03BAE01BC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D047805A-B278-13AD-41F1-67C90FF4E0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AC9A0DC6-C4E5-97A0-B5EB-1DE973D4AE87}"/>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6" name="Footer Placeholder 5">
            <a:extLst>
              <a:ext uri="{FF2B5EF4-FFF2-40B4-BE49-F238E27FC236}">
                <a16:creationId xmlns:a16="http://schemas.microsoft.com/office/drawing/2014/main" id="{C23D1495-85A3-50E8-59A0-82D77B5ABD13}"/>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F341945E-6C6B-3E54-78A0-FB5CA4F180BB}"/>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1267846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BAAA5-7DB3-87B6-C230-8D9C812FC429}"/>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85253B32-9A28-21B3-9B33-EBAD7F9BD4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63C012-CD27-F997-DEC7-2FB6F32C94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1265180E-AC40-B147-CCAF-FDF0DA446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F43844-BD1C-09B6-DCE5-13D13EDC8B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1E70CF1E-236C-CB91-FD7E-8BD308FB43FA}"/>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8" name="Footer Placeholder 7">
            <a:extLst>
              <a:ext uri="{FF2B5EF4-FFF2-40B4-BE49-F238E27FC236}">
                <a16:creationId xmlns:a16="http://schemas.microsoft.com/office/drawing/2014/main" id="{777A770B-C9BF-25EA-E470-82BA43B954F3}"/>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F83369DE-6968-AB3A-050F-8330DB81E50F}"/>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736222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8F36-1820-6609-8CFF-45A51F004ECA}"/>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97036C8D-EF32-8112-8087-427238B7F1C6}"/>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4" name="Footer Placeholder 3">
            <a:extLst>
              <a:ext uri="{FF2B5EF4-FFF2-40B4-BE49-F238E27FC236}">
                <a16:creationId xmlns:a16="http://schemas.microsoft.com/office/drawing/2014/main" id="{E4659D9F-3EA8-7634-9A25-703207AD2241}"/>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B4541555-D12C-576C-89C9-ED58D114FBBA}"/>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3526336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D2671C-4A28-D915-3C23-6F3433909AA3}"/>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3" name="Footer Placeholder 2">
            <a:extLst>
              <a:ext uri="{FF2B5EF4-FFF2-40B4-BE49-F238E27FC236}">
                <a16:creationId xmlns:a16="http://schemas.microsoft.com/office/drawing/2014/main" id="{846FBEDF-C663-0C91-7681-06C392E9A9D6}"/>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59BF505B-848B-593D-7370-26B9D43EEA11}"/>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933834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AC7D5-1400-A54A-329D-68314B130E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095D407-A1DF-93F5-4257-C42889CAB1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859467BE-BFB2-6F9D-8D1F-40C3BE6994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F4EBF6-B198-0204-B7AC-8364D745B9D2}"/>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6" name="Footer Placeholder 5">
            <a:extLst>
              <a:ext uri="{FF2B5EF4-FFF2-40B4-BE49-F238E27FC236}">
                <a16:creationId xmlns:a16="http://schemas.microsoft.com/office/drawing/2014/main" id="{A466DD4D-AB55-24CD-3C6D-DF367C8CE5A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6FF144AC-D509-5169-5ACA-32EDF536386F}"/>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3492366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C1E31-C7F5-DBAD-D262-4417354D09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F72FEEB0-742A-4D31-579D-0396C13C8FC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E4349761-527F-D298-A3AD-52E49DEBB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6D54E5-D39A-A70E-B640-C31569ACCBFF}"/>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6" name="Footer Placeholder 5">
            <a:extLst>
              <a:ext uri="{FF2B5EF4-FFF2-40B4-BE49-F238E27FC236}">
                <a16:creationId xmlns:a16="http://schemas.microsoft.com/office/drawing/2014/main" id="{8209BDD0-3DCD-39E2-3BAC-C7E58999A469}"/>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91807FD-CB2A-D442-C0CC-5BC01D6A60AC}"/>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2251955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ECFCA-F5C7-B4A6-3D3F-E0B1BFBBD86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F3CC701-19A5-704F-B3A8-71E45194A4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3E6810BF-AE53-DA6F-AC2F-86C11FD649FB}"/>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5" name="Footer Placeholder 4">
            <a:extLst>
              <a:ext uri="{FF2B5EF4-FFF2-40B4-BE49-F238E27FC236}">
                <a16:creationId xmlns:a16="http://schemas.microsoft.com/office/drawing/2014/main" id="{13E1BC4F-2FFB-5DC2-E70B-F0F42793A73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6A83AE1-F0DF-3F75-4537-02A7AC76BF73}"/>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3585163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F5403E-4467-9514-784C-3E84116B0B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82E1671-7B34-5AB4-020F-444B92CA94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CF2975B-A0CC-3022-DC01-C4D48D360757}"/>
              </a:ext>
            </a:extLst>
          </p:cNvPr>
          <p:cNvSpPr>
            <a:spLocks noGrp="1"/>
          </p:cNvSpPr>
          <p:nvPr>
            <p:ph type="dt" sz="half" idx="10"/>
          </p:nvPr>
        </p:nvSpPr>
        <p:spPr/>
        <p:txBody>
          <a:bodyPr/>
          <a:lstStyle/>
          <a:p>
            <a:fld id="{82C386AB-AB09-45BE-8926-B65673DE0DF4}" type="datetimeFigureOut">
              <a:rPr lang="en-IL" smtClean="0"/>
              <a:t>05/10/2026</a:t>
            </a:fld>
            <a:endParaRPr lang="en-IL"/>
          </a:p>
        </p:txBody>
      </p:sp>
      <p:sp>
        <p:nvSpPr>
          <p:cNvPr id="5" name="Footer Placeholder 4">
            <a:extLst>
              <a:ext uri="{FF2B5EF4-FFF2-40B4-BE49-F238E27FC236}">
                <a16:creationId xmlns:a16="http://schemas.microsoft.com/office/drawing/2014/main" id="{9725ED96-A1E0-6F57-B064-80D339AF739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F7A0B7B-A12B-C6B0-4D16-4D9C0FD7956A}"/>
              </a:ext>
            </a:extLst>
          </p:cNvPr>
          <p:cNvSpPr>
            <a:spLocks noGrp="1"/>
          </p:cNvSpPr>
          <p:nvPr>
            <p:ph type="sldNum" sz="quarter" idx="12"/>
          </p:nvPr>
        </p:nvSpPr>
        <p:spPr/>
        <p:txBody>
          <a:bodyPr/>
          <a:lstStyle/>
          <a:p>
            <a:fld id="{E7C47E6C-0DCB-4D44-8CBD-714F26D5EF02}" type="slidenum">
              <a:rPr lang="en-IL" smtClean="0"/>
              <a:t>‹#›</a:t>
            </a:fld>
            <a:endParaRPr lang="en-IL"/>
          </a:p>
        </p:txBody>
      </p:sp>
    </p:spTree>
    <p:extLst>
      <p:ext uri="{BB962C8B-B14F-4D97-AF65-F5344CB8AC3E}">
        <p14:creationId xmlns:p14="http://schemas.microsoft.com/office/powerpoint/2010/main" val="3870398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E99276-2051-9411-B98E-70869E59C3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B47215C7-2B2B-7FEE-E55C-D9038A5D7F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8A2F421-DC53-7399-CB83-5AA02E3A6C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C386AB-AB09-45BE-8926-B65673DE0DF4}" type="datetimeFigureOut">
              <a:rPr lang="en-IL" smtClean="0"/>
              <a:t>05/10/2026</a:t>
            </a:fld>
            <a:endParaRPr lang="en-IL"/>
          </a:p>
        </p:txBody>
      </p:sp>
      <p:sp>
        <p:nvSpPr>
          <p:cNvPr id="5" name="Footer Placeholder 4">
            <a:extLst>
              <a:ext uri="{FF2B5EF4-FFF2-40B4-BE49-F238E27FC236}">
                <a16:creationId xmlns:a16="http://schemas.microsoft.com/office/drawing/2014/main" id="{F6DDCC09-491F-8032-3F19-87738F1D63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74B95217-98A3-1426-35D7-6A53AAF134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C47E6C-0DCB-4D44-8CBD-714F26D5EF02}" type="slidenum">
              <a:rPr lang="en-IL" smtClean="0"/>
              <a:t>‹#›</a:t>
            </a:fld>
            <a:endParaRPr lang="en-IL"/>
          </a:p>
        </p:txBody>
      </p:sp>
    </p:spTree>
    <p:extLst>
      <p:ext uri="{BB962C8B-B14F-4D97-AF65-F5344CB8AC3E}">
        <p14:creationId xmlns:p14="http://schemas.microsoft.com/office/powerpoint/2010/main" val="386572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A5DDF6F-E181-AC77-6C82-4C3EF02767F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72763EB-1123-31C1-1409-C7AB2615A4C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SLAM &amp; Bayesian estimation</a:t>
            </a:r>
          </a:p>
        </p:txBody>
      </p:sp>
      <p:sp>
        <p:nvSpPr>
          <p:cNvPr id="4" name="text_3">
            <a:extLst>
              <a:ext uri="{FF2B5EF4-FFF2-40B4-BE49-F238E27FC236}">
                <a16:creationId xmlns:a16="http://schemas.microsoft.com/office/drawing/2014/main" id="{99C613EB-4D7C-B576-34DF-41DF9A2EEA2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Week 12 · Where am I, and what surrounds me?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3D6951F-DE9F-0A28-FD34-B8D84534F56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A7F77E9-8222-0F11-55FA-EE987D330D1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4FB8B17-6A9E-306D-3494-6DDACDA42FC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97F147DA-E2F9-7A78-8A2E-1D9A68BAAE57}"/>
              </a:ext>
            </a:extLst>
          </p:cNvPr>
          <p:cNvSpPr/>
          <p:nvPr/>
        </p:nvSpPr>
        <p:spPr>
          <a:xfrm>
            <a:off x="685800" y="2844800"/>
            <a:ext cx="5207000" cy="2413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AD1C1AFB-6D0F-3266-130F-7E6A49BE994F}"/>
              </a:ext>
            </a:extLst>
          </p:cNvPr>
          <p:cNvSpPr txBox="1"/>
          <p:nvPr/>
        </p:nvSpPr>
        <p:spPr>
          <a:xfrm>
            <a:off x="914400" y="30352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Estimate the robot</a:t>
            </a:r>
          </a:p>
        </p:txBody>
      </p:sp>
      <p:sp>
        <p:nvSpPr>
          <p:cNvPr id="10" name="text_9">
            <a:extLst>
              <a:ext uri="{FF2B5EF4-FFF2-40B4-BE49-F238E27FC236}">
                <a16:creationId xmlns:a16="http://schemas.microsoft.com/office/drawing/2014/main" id="{9FD47B90-406E-0ACE-16F3-F1A0A3BDCC64}"/>
              </a:ext>
            </a:extLst>
          </p:cNvPr>
          <p:cNvSpPr txBox="1"/>
          <p:nvPr/>
        </p:nvSpPr>
        <p:spPr>
          <a:xfrm>
            <a:off x="914400" y="3657599"/>
            <a:ext cx="4749800" cy="1549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Bayesian beliefs
Particles and Gaussian filters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997A88BC-C568-CA31-6029-21C15272DCB4}"/>
              </a:ext>
            </a:extLst>
          </p:cNvPr>
          <p:cNvSpPr/>
          <p:nvPr/>
        </p:nvSpPr>
        <p:spPr>
          <a:xfrm>
            <a:off x="6172200" y="2844800"/>
            <a:ext cx="5334000" cy="2413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62DB40F4-DAA5-DB9F-9B30-09D8F36F59CF}"/>
              </a:ext>
            </a:extLst>
          </p:cNvPr>
          <p:cNvSpPr txBox="1"/>
          <p:nvPr/>
        </p:nvSpPr>
        <p:spPr>
          <a:xfrm>
            <a:off x="6400800" y="30352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Estimate the map</a:t>
            </a:r>
          </a:p>
        </p:txBody>
      </p:sp>
      <p:sp>
        <p:nvSpPr>
          <p:cNvPr id="13" name="text_12">
            <a:extLst>
              <a:ext uri="{FF2B5EF4-FFF2-40B4-BE49-F238E27FC236}">
                <a16:creationId xmlns:a16="http://schemas.microsoft.com/office/drawing/2014/main" id="{423E28F2-B76A-FAAA-31AF-8AA8E19E1394}"/>
              </a:ext>
            </a:extLst>
          </p:cNvPr>
          <p:cNvSpPr txBox="1"/>
          <p:nvPr/>
        </p:nvSpPr>
        <p:spPr>
          <a:xfrm>
            <a:off x="6400800" y="3657599"/>
            <a:ext cx="4876800" cy="1549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Range-only landmarks
Joint uncertainty</a:t>
            </a:r>
          </a:p>
        </p:txBody>
      </p:sp>
      <p:sp>
        <p:nvSpPr>
          <p:cNvPr id="14" name="text_13">
            <a:extLst>
              <a:ext uri="{FF2B5EF4-FFF2-40B4-BE49-F238E27FC236}">
                <a16:creationId xmlns:a16="http://schemas.microsoft.com/office/drawing/2014/main" id="{BD181738-F6F5-A647-351F-6D5290CCC56D}"/>
              </a:ext>
            </a:extLst>
          </p:cNvPr>
          <p:cNvSpPr txBox="1"/>
          <p:nvPr/>
        </p:nvSpPr>
        <p:spPr>
          <a:xfrm>
            <a:off x="685800" y="5626099"/>
            <a:ext cx="10820400" cy="4826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30 min mathematics · 12 min integrated demo · 3 min recap</a:t>
            </a:r>
          </a:p>
        </p:txBody>
      </p:sp>
    </p:spTree>
    <p:extLst>
      <p:ext uri="{BB962C8B-B14F-4D97-AF65-F5344CB8AC3E}">
        <p14:creationId xmlns:p14="http://schemas.microsoft.com/office/powerpoint/2010/main" val="300190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2F73912-D67D-523C-B7DB-EB0296F12AA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6B493E32-2D66-EBB9-5C0B-FBCE2751BBE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SLAM?</a:t>
            </a:r>
          </a:p>
        </p:txBody>
      </p:sp>
      <p:sp>
        <p:nvSpPr>
          <p:cNvPr id="4" name="text_3">
            <a:extLst>
              <a:ext uri="{FF2B5EF4-FFF2-40B4-BE49-F238E27FC236}">
                <a16:creationId xmlns:a16="http://schemas.microsoft.com/office/drawing/2014/main" id="{96F927A7-9269-CFFC-4671-5FE35A13B2A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An unfamiliar environment gives us two unknowns.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D7D1A7D-032D-7D8B-93DB-B01940C303A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75699A1-2D26-0C41-A5F4-EF15D55F26E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D549CB3-C444-C5EE-A4C2-45C66499CA1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Rectangle: Rounded Corners 7">
            <a:extLst>
              <a:ext uri="{FF2B5EF4-FFF2-40B4-BE49-F238E27FC236}">
                <a16:creationId xmlns:a16="http://schemas.microsoft.com/office/drawing/2014/main" id="{EE0590F2-82D1-8C93-887D-F3260D593683}"/>
              </a:ext>
            </a:extLst>
          </p:cNvPr>
          <p:cNvSpPr/>
          <p:nvPr/>
        </p:nvSpPr>
        <p:spPr>
          <a:xfrm>
            <a:off x="685800" y="2933700"/>
            <a:ext cx="4445000" cy="2019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7D04101-3029-2CE9-60D1-97F098ED48BE}"/>
              </a:ext>
            </a:extLst>
          </p:cNvPr>
          <p:cNvSpPr txBox="1"/>
          <p:nvPr/>
        </p:nvSpPr>
        <p:spPr>
          <a:xfrm>
            <a:off x="914400" y="3124199"/>
            <a:ext cx="3987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Robot pose</a:t>
            </a:r>
          </a:p>
        </p:txBody>
      </p:sp>
      <p:sp>
        <p:nvSpPr>
          <p:cNvPr id="10" name="text_9">
            <a:extLst>
              <a:ext uri="{FF2B5EF4-FFF2-40B4-BE49-F238E27FC236}">
                <a16:creationId xmlns:a16="http://schemas.microsoft.com/office/drawing/2014/main" id="{721653A2-C174-65B9-C2FB-F704A1CF089F}"/>
              </a:ext>
            </a:extLst>
          </p:cNvPr>
          <p:cNvSpPr txBox="1"/>
          <p:nvPr/>
        </p:nvSpPr>
        <p:spPr>
          <a:xfrm>
            <a:off x="914400" y="3746499"/>
            <a:ext cx="3987800" cy="1155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Where was the sensor?</a:t>
            </a:r>
          </a:p>
        </p:txBody>
      </p:sp>
      <p:sp>
        <p:nvSpPr>
          <p:cNvPr id="11" name="Rectangle: Rounded Corners 10">
            <a:extLst>
              <a:ext uri="{FF2B5EF4-FFF2-40B4-BE49-F238E27FC236}">
                <a16:creationId xmlns:a16="http://schemas.microsoft.com/office/drawing/2014/main" id="{56F3B8CE-8535-3DE2-99F9-8F8317C2042C}"/>
              </a:ext>
            </a:extLst>
          </p:cNvPr>
          <p:cNvSpPr/>
          <p:nvPr/>
        </p:nvSpPr>
        <p:spPr>
          <a:xfrm>
            <a:off x="7061200" y="2933700"/>
            <a:ext cx="4445000" cy="2019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CED61927-F7AB-8A58-C9AB-359C78DEEC1F}"/>
              </a:ext>
            </a:extLst>
          </p:cNvPr>
          <p:cNvSpPr txBox="1"/>
          <p:nvPr/>
        </p:nvSpPr>
        <p:spPr>
          <a:xfrm>
            <a:off x="7289800" y="3124199"/>
            <a:ext cx="3987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Landmark map</a:t>
            </a:r>
          </a:p>
        </p:txBody>
      </p:sp>
      <p:sp>
        <p:nvSpPr>
          <p:cNvPr id="13" name="text_12">
            <a:extLst>
              <a:ext uri="{FF2B5EF4-FFF2-40B4-BE49-F238E27FC236}">
                <a16:creationId xmlns:a16="http://schemas.microsoft.com/office/drawing/2014/main" id="{DA716663-8BF4-E0BC-29DB-6130FD7B3221}"/>
              </a:ext>
            </a:extLst>
          </p:cNvPr>
          <p:cNvSpPr txBox="1"/>
          <p:nvPr/>
        </p:nvSpPr>
        <p:spPr>
          <a:xfrm>
            <a:off x="7289800" y="3746499"/>
            <a:ext cx="3987800" cy="1155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What generated the reading?</a:t>
            </a:r>
          </a:p>
        </p:txBody>
      </p:sp>
      <p:cxnSp>
        <p:nvCxnSpPr>
          <p:cNvPr id="14" name="Straight Connector 13">
            <a:extLst>
              <a:ext uri="{FF2B5EF4-FFF2-40B4-BE49-F238E27FC236}">
                <a16:creationId xmlns:a16="http://schemas.microsoft.com/office/drawing/2014/main" id="{6278E37D-3462-C904-5695-7E842F6806D4}"/>
              </a:ext>
            </a:extLst>
          </p:cNvPr>
          <p:cNvCxnSpPr/>
          <p:nvPr/>
        </p:nvCxnSpPr>
        <p:spPr>
          <a:xfrm>
            <a:off x="5194300" y="3429000"/>
            <a:ext cx="17907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E9A4856-41DB-9C99-BC3D-413E2F6C7AD0}"/>
              </a:ext>
            </a:extLst>
          </p:cNvPr>
          <p:cNvCxnSpPr/>
          <p:nvPr/>
        </p:nvCxnSpPr>
        <p:spPr>
          <a:xfrm flipH="1">
            <a:off x="5194300" y="4445000"/>
            <a:ext cx="17907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B93C51C6-F257-58EC-24CF-44A853D87DF4}"/>
              </a:ext>
            </a:extLst>
          </p:cNvPr>
          <p:cNvSpPr txBox="1"/>
          <p:nvPr/>
        </p:nvSpPr>
        <p:spPr>
          <a:xfrm>
            <a:off x="5308600" y="2666999"/>
            <a:ext cx="173990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Place data</a:t>
            </a:r>
          </a:p>
        </p:txBody>
      </p:sp>
      <p:sp>
        <p:nvSpPr>
          <p:cNvPr id="17" name="text_16">
            <a:extLst>
              <a:ext uri="{FF2B5EF4-FFF2-40B4-BE49-F238E27FC236}">
                <a16:creationId xmlns:a16="http://schemas.microsoft.com/office/drawing/2014/main" id="{1A7A14DA-5E9C-6419-DD1F-29C6E915D175}"/>
              </a:ext>
            </a:extLst>
          </p:cNvPr>
          <p:cNvSpPr txBox="1"/>
          <p:nvPr/>
        </p:nvSpPr>
        <p:spPr>
          <a:xfrm>
            <a:off x="5232400" y="4673599"/>
            <a:ext cx="1739900" cy="7493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Match data</a:t>
            </a:r>
          </a:p>
        </p:txBody>
      </p:sp>
      <p:sp>
        <p:nvSpPr>
          <p:cNvPr id="18" name="text_17">
            <a:extLst>
              <a:ext uri="{FF2B5EF4-FFF2-40B4-BE49-F238E27FC236}">
                <a16:creationId xmlns:a16="http://schemas.microsoft.com/office/drawing/2014/main" id="{786096B2-1B87-2809-16D3-D4FD479337FA}"/>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Estimate the robot and its surroundings together.</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296065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29A4F66-CC99-3CF0-B6EA-69223AB30D6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952D2AD0-D00E-A401-B16B-7B9939BD3FB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Localization, mapping, SLAM</a:t>
            </a:r>
          </a:p>
        </p:txBody>
      </p:sp>
      <p:sp>
        <p:nvSpPr>
          <p:cNvPr id="4" name="text_3">
            <a:extLst>
              <a:ext uri="{FF2B5EF4-FFF2-40B4-BE49-F238E27FC236}">
                <a16:creationId xmlns:a16="http://schemas.microsoft.com/office/drawing/2014/main" id="{1659E7DE-A19A-733A-BEA5-7BDEE62E332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distinction is what is given and what is estimated.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0AB1BAE-0100-D181-B64D-266DBBEB457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D228258-366E-B9A5-EC52-FDFD4F4B8B8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6D23391-9237-7092-F7CE-0840F0B8A40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ectangle: Rounded Corners 7">
            <a:extLst>
              <a:ext uri="{FF2B5EF4-FFF2-40B4-BE49-F238E27FC236}">
                <a16:creationId xmlns:a16="http://schemas.microsoft.com/office/drawing/2014/main" id="{17F68C25-8146-0130-6BFC-F4CFABDDACC4}"/>
              </a:ext>
            </a:extLst>
          </p:cNvPr>
          <p:cNvSpPr/>
          <p:nvPr/>
        </p:nvSpPr>
        <p:spPr>
          <a:xfrm>
            <a:off x="685800" y="2755900"/>
            <a:ext cx="3454400" cy="2717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E73BC14D-A9CD-E3C6-2F8D-28A06F60B4AB}"/>
              </a:ext>
            </a:extLst>
          </p:cNvPr>
          <p:cNvSpPr txBox="1"/>
          <p:nvPr/>
        </p:nvSpPr>
        <p:spPr>
          <a:xfrm>
            <a:off x="914400" y="29463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Localization</a:t>
            </a:r>
          </a:p>
        </p:txBody>
      </p:sp>
      <p:sp>
        <p:nvSpPr>
          <p:cNvPr id="10" name="text_9">
            <a:extLst>
              <a:ext uri="{FF2B5EF4-FFF2-40B4-BE49-F238E27FC236}">
                <a16:creationId xmlns:a16="http://schemas.microsoft.com/office/drawing/2014/main" id="{6D165DE9-0420-7C48-10AF-7B8C615751EA}"/>
              </a:ext>
            </a:extLst>
          </p:cNvPr>
          <p:cNvSpPr txBox="1"/>
          <p:nvPr/>
        </p:nvSpPr>
        <p:spPr>
          <a:xfrm>
            <a:off x="914400" y="3568699"/>
            <a:ext cx="2997200" cy="1854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Given: map
Estimate: robot</a:t>
            </a:r>
          </a:p>
        </p:txBody>
      </p:sp>
      <p:sp>
        <p:nvSpPr>
          <p:cNvPr id="11" name="Rectangle: Rounded Corners 10">
            <a:extLst>
              <a:ext uri="{FF2B5EF4-FFF2-40B4-BE49-F238E27FC236}">
                <a16:creationId xmlns:a16="http://schemas.microsoft.com/office/drawing/2014/main" id="{C1620451-E12E-3781-0BF1-A99DAFD8DBE9}"/>
              </a:ext>
            </a:extLst>
          </p:cNvPr>
          <p:cNvSpPr/>
          <p:nvPr/>
        </p:nvSpPr>
        <p:spPr>
          <a:xfrm>
            <a:off x="4368800" y="2755900"/>
            <a:ext cx="3454400" cy="2717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52F58C23-7572-9A08-86E6-35903C8A7B18}"/>
              </a:ext>
            </a:extLst>
          </p:cNvPr>
          <p:cNvSpPr txBox="1"/>
          <p:nvPr/>
        </p:nvSpPr>
        <p:spPr>
          <a:xfrm>
            <a:off x="4597400" y="2946399"/>
            <a:ext cx="299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Mapping</a:t>
            </a:r>
          </a:p>
        </p:txBody>
      </p:sp>
      <p:sp>
        <p:nvSpPr>
          <p:cNvPr id="13" name="text_12">
            <a:extLst>
              <a:ext uri="{FF2B5EF4-FFF2-40B4-BE49-F238E27FC236}">
                <a16:creationId xmlns:a16="http://schemas.microsoft.com/office/drawing/2014/main" id="{004C0949-CC7A-7F37-C225-9413728792DE}"/>
              </a:ext>
            </a:extLst>
          </p:cNvPr>
          <p:cNvSpPr txBox="1"/>
          <p:nvPr/>
        </p:nvSpPr>
        <p:spPr>
          <a:xfrm>
            <a:off x="4597400" y="3568699"/>
            <a:ext cx="2997200" cy="1854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Given: poses
Estimate: map</a:t>
            </a:r>
          </a:p>
        </p:txBody>
      </p:sp>
      <p:sp>
        <p:nvSpPr>
          <p:cNvPr id="14" name="Rectangle: Rounded Corners 13">
            <a:extLst>
              <a:ext uri="{FF2B5EF4-FFF2-40B4-BE49-F238E27FC236}">
                <a16:creationId xmlns:a16="http://schemas.microsoft.com/office/drawing/2014/main" id="{797B4AB6-8F20-FC3A-BAE8-C2925B27B658}"/>
              </a:ext>
            </a:extLst>
          </p:cNvPr>
          <p:cNvSpPr/>
          <p:nvPr/>
        </p:nvSpPr>
        <p:spPr>
          <a:xfrm>
            <a:off x="8051800" y="2755900"/>
            <a:ext cx="3454400" cy="2717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86BB46FA-66C1-62B4-70B8-FF51ECC7FCEB}"/>
              </a:ext>
            </a:extLst>
          </p:cNvPr>
          <p:cNvSpPr txBox="1"/>
          <p:nvPr/>
        </p:nvSpPr>
        <p:spPr>
          <a:xfrm>
            <a:off x="8280400" y="29463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SLAM</a:t>
            </a:r>
          </a:p>
        </p:txBody>
      </p:sp>
      <p:sp>
        <p:nvSpPr>
          <p:cNvPr id="16" name="text_15">
            <a:extLst>
              <a:ext uri="{FF2B5EF4-FFF2-40B4-BE49-F238E27FC236}">
                <a16:creationId xmlns:a16="http://schemas.microsoft.com/office/drawing/2014/main" id="{1E1D6001-E837-C1F7-676C-0588FE1EEDE2}"/>
              </a:ext>
            </a:extLst>
          </p:cNvPr>
          <p:cNvSpPr txBox="1"/>
          <p:nvPr/>
        </p:nvSpPr>
        <p:spPr>
          <a:xfrm>
            <a:off x="8280400" y="3568699"/>
            <a:ext cx="2997200" cy="18542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Estimate both
Keep their coupling</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4AB053E1-BE06-D3D5-E795-51E3CB1DFABC}"/>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Fixed landmarks can still have unknown positions.</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813429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A267670-C34F-58C8-C706-FCCA1ABC02A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61C0A240-5C7D-A039-9E90-7E7BE97482C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Define the symbols</a:t>
            </a:r>
          </a:p>
        </p:txBody>
      </p:sp>
      <p:sp>
        <p:nvSpPr>
          <p:cNvPr id="4" name="text_3">
            <a:extLst>
              <a:ext uri="{FF2B5EF4-FFF2-40B4-BE49-F238E27FC236}">
                <a16:creationId xmlns:a16="http://schemas.microsoft.com/office/drawing/2014/main" id="{C42CE04B-B719-61E3-2654-C90AA1BF932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pose is more than a position; a map contains many landmarks.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FD8BCB2-0B0D-B70C-CB29-DC3B4A363B0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E94ABED-7008-6B8B-2B57-1192A1EA1E9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5CBB84E-5786-E8D6-6EB7-509CC7E9C1F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sp>
        <p:nvSpPr>
          <p:cNvPr id="8" name="text_7">
            <a:extLst>
              <a:ext uri="{FF2B5EF4-FFF2-40B4-BE49-F238E27FC236}">
                <a16:creationId xmlns:a16="http://schemas.microsoft.com/office/drawing/2014/main" id="{31AB3D66-B8B9-FE86-4AF2-11D70FAFF6F0}"/>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s-ES" sz="3200">
                <a:solidFill>
                  <a:srgbClr val="2459D3"/>
                </a:solidFill>
                <a:latin typeface="Cambria Math" panose="02040503050406030204" pitchFamily="18" charset="0"/>
              </a:rPr>
              <a:t>x</a:t>
            </a:r>
            <a:r>
              <a:rPr lang="es-ES" sz="2304" baseline="-22000">
                <a:solidFill>
                  <a:srgbClr val="2459D3"/>
                </a:solidFill>
                <a:latin typeface="Cambria Math" panose="02040503050406030204" pitchFamily="18" charset="0"/>
              </a:rPr>
              <a:t>t</a:t>
            </a:r>
            <a:r>
              <a:rPr lang="es-ES" sz="3200">
                <a:solidFill>
                  <a:srgbClr val="2459D3"/>
                </a:solidFill>
                <a:latin typeface="Cambria Math" panose="02040503050406030204" pitchFamily="18" charset="0"/>
              </a:rPr>
              <a:t> = (x, y, θ);     m = {m</a:t>
            </a:r>
            <a:r>
              <a:rPr lang="es-ES" sz="2304" baseline="-22000">
                <a:solidFill>
                  <a:srgbClr val="2459D3"/>
                </a:solidFill>
                <a:latin typeface="Cambria Math" panose="02040503050406030204" pitchFamily="18" charset="0"/>
              </a:rPr>
              <a:t>1</a:t>
            </a:r>
            <a:r>
              <a:rPr lang="es-ES" sz="3200">
                <a:solidFill>
                  <a:srgbClr val="2459D3"/>
                </a:solidFill>
                <a:latin typeface="Cambria Math" panose="02040503050406030204" pitchFamily="18" charset="0"/>
              </a:rPr>
              <a:t>, …, m</a:t>
            </a:r>
            <a:r>
              <a:rPr lang="es-ES" sz="2304" baseline="-22000">
                <a:solidFill>
                  <a:srgbClr val="2459D3"/>
                </a:solidFill>
                <a:latin typeface="Cambria Math" panose="02040503050406030204" pitchFamily="18" charset="0"/>
              </a:rPr>
              <a:t>J</a:t>
            </a:r>
            <a:r>
              <a:rPr lang="es-ES" sz="3200">
                <a:solidFill>
                  <a:srgbClr val="2459D3"/>
                </a:solidFill>
                <a:latin typeface="Cambria Math" panose="02040503050406030204" pitchFamily="18" charset="0"/>
              </a:rPr>
              <a:t>}</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EF446E99-991D-A82A-25DD-BD9DDFE2D1F3}"/>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u</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command;  z</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observation;  c</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landmark ID</a:t>
            </a:r>
          </a:p>
        </p:txBody>
      </p:sp>
      <p:sp>
        <p:nvSpPr>
          <p:cNvPr id="10" name="Rectangle: Rounded Corners 9">
            <a:extLst>
              <a:ext uri="{FF2B5EF4-FFF2-40B4-BE49-F238E27FC236}">
                <a16:creationId xmlns:a16="http://schemas.microsoft.com/office/drawing/2014/main" id="{2DDAED2A-3BD7-AEED-9E64-53FE4CA4C8FD}"/>
              </a:ext>
            </a:extLst>
          </p:cNvPr>
          <p:cNvSpPr/>
          <p:nvPr/>
        </p:nvSpPr>
        <p:spPr>
          <a:xfrm>
            <a:off x="685800" y="4965700"/>
            <a:ext cx="52070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4802AC49-1D95-9B4D-3A7E-F4F3A752DE0D}"/>
              </a:ext>
            </a:extLst>
          </p:cNvPr>
          <p:cNvSpPr txBox="1"/>
          <p:nvPr/>
        </p:nvSpPr>
        <p:spPr>
          <a:xfrm>
            <a:off x="838200" y="5054599"/>
            <a:ext cx="49022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t: time · j: landmark</a:t>
            </a:r>
          </a:p>
        </p:txBody>
      </p:sp>
      <p:sp>
        <p:nvSpPr>
          <p:cNvPr id="12" name="Rectangle: Rounded Corners 11">
            <a:extLst>
              <a:ext uri="{FF2B5EF4-FFF2-40B4-BE49-F238E27FC236}">
                <a16:creationId xmlns:a16="http://schemas.microsoft.com/office/drawing/2014/main" id="{36399D6B-9337-EE31-F106-2A1C1BBFBD5B}"/>
              </a:ext>
            </a:extLst>
          </p:cNvPr>
          <p:cNvSpPr/>
          <p:nvPr/>
        </p:nvSpPr>
        <p:spPr>
          <a:xfrm>
            <a:off x="6172200" y="4965700"/>
            <a:ext cx="53340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5BACD1EB-FE83-78AB-2657-1FFC25109B0D}"/>
              </a:ext>
            </a:extLst>
          </p:cNvPr>
          <p:cNvSpPr txBox="1"/>
          <p:nvPr/>
        </p:nvSpPr>
        <p:spPr>
          <a:xfrm>
            <a:off x="6324600" y="5054599"/>
            <a:ext cx="50292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i: particle · m: map</a:t>
            </a:r>
          </a:p>
        </p:txBody>
      </p:sp>
      <p:sp>
        <p:nvSpPr>
          <p:cNvPr id="14" name="text_13">
            <a:extLst>
              <a:ext uri="{FF2B5EF4-FFF2-40B4-BE49-F238E27FC236}">
                <a16:creationId xmlns:a16="http://schemas.microsoft.com/office/drawing/2014/main" id="{34486804-465C-4108-D060-81598BC56168}"/>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Demo state: p_t = (x,y); heading is fixed.</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672443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DF3190D-168B-C4E1-922A-5E6F42A53A0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56B7CB98-00B1-560D-CF54-B1D0CE61813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does SLAM estimate?</a:t>
            </a:r>
          </a:p>
        </p:txBody>
      </p:sp>
      <p:sp>
        <p:nvSpPr>
          <p:cNvPr id="4" name="text_3">
            <a:extLst>
              <a:ext uri="{FF2B5EF4-FFF2-40B4-BE49-F238E27FC236}">
                <a16:creationId xmlns:a16="http://schemas.microsoft.com/office/drawing/2014/main" id="{B7F043D5-863E-49A7-20C6-5F5F7A8FB03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joint belief, rather than two independent guesses.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79A3618-40B4-BB5D-9289-D7EB4A3B392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BDC3935-0F7A-6144-30FE-59C313E6F23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F0AA391-DEDA-DD52-A142-232850297EA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text_7">
            <a:extLst>
              <a:ext uri="{FF2B5EF4-FFF2-40B4-BE49-F238E27FC236}">
                <a16:creationId xmlns:a16="http://schemas.microsoft.com/office/drawing/2014/main" id="{F1AE9536-FABA-FAE5-BE8C-DE75C2FF42D8}"/>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p(x</a:t>
            </a:r>
            <a:r>
              <a:rPr lang="en-IL" sz="2304" baseline="-22000">
                <a:solidFill>
                  <a:srgbClr val="2459D3"/>
                </a:solidFill>
                <a:latin typeface="Cambria Math" panose="02040503050406030204" pitchFamily="18" charset="0"/>
              </a:rPr>
              <a:t>0:t</a:t>
            </a:r>
            <a:r>
              <a:rPr lang="en-IL" sz="3200">
                <a:solidFill>
                  <a:srgbClr val="2459D3"/>
                </a:solidFill>
                <a:latin typeface="Cambria Math" panose="02040503050406030204" pitchFamily="18" charset="0"/>
              </a:rPr>
              <a:t>, m | u</a:t>
            </a:r>
            <a:r>
              <a:rPr lang="en-IL" sz="2304" baseline="-22000">
                <a:solidFill>
                  <a:srgbClr val="2459D3"/>
                </a:solidFill>
                <a:latin typeface="Cambria Math" panose="02040503050406030204" pitchFamily="18" charset="0"/>
              </a:rPr>
              <a:t>1:t</a:t>
            </a:r>
            <a:r>
              <a:rPr lang="en-IL" sz="3200">
                <a:solidFill>
                  <a:srgbClr val="2459D3"/>
                </a:solidFill>
                <a:latin typeface="Cambria Math" panose="02040503050406030204" pitchFamily="18" charset="0"/>
              </a:rPr>
              <a:t>, z</a:t>
            </a:r>
            <a:r>
              <a:rPr lang="en-IL" sz="2304" baseline="-22000">
                <a:solidFill>
                  <a:srgbClr val="2459D3"/>
                </a:solidFill>
                <a:latin typeface="Cambria Math" panose="02040503050406030204" pitchFamily="18" charset="0"/>
              </a:rPr>
              <a:t>1:t</a:t>
            </a:r>
            <a:r>
              <a:rPr lang="en-IL" sz="3200">
                <a:solidFill>
                  <a:srgbClr val="2459D3"/>
                </a:solidFill>
                <a:latin typeface="Cambria Math" panose="02040503050406030204" pitchFamily="18" charset="0"/>
              </a:rPr>
              <a:t>, c</a:t>
            </a:r>
            <a:r>
              <a:rPr lang="en-IL" sz="2304" baseline="-22000">
                <a:solidFill>
                  <a:srgbClr val="2459D3"/>
                </a:solidFill>
                <a:latin typeface="Cambria Math" panose="02040503050406030204" pitchFamily="18" charset="0"/>
              </a:rPr>
              <a:t>1:t</a:t>
            </a:r>
            <a:r>
              <a:rPr lang="en-IL" sz="3200">
                <a:solidFill>
                  <a:srgbClr val="2459D3"/>
                </a:solidFill>
                <a:latin typeface="Cambria Math" panose="02040503050406030204" pitchFamily="18" charset="0"/>
              </a:rPr>
              <a:t>)</a:t>
            </a:r>
          </a:p>
        </p:txBody>
      </p:sp>
      <p:sp>
        <p:nvSpPr>
          <p:cNvPr id="9" name="text_8">
            <a:extLst>
              <a:ext uri="{FF2B5EF4-FFF2-40B4-BE49-F238E27FC236}">
                <a16:creationId xmlns:a16="http://schemas.microsoft.com/office/drawing/2014/main" id="{4273D134-93A9-2A46-7DBB-F3329538EF33}"/>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Online: p(x</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m | u</a:t>
            </a:r>
            <a:r>
              <a:rPr lang="en-IL" sz="2304" baseline="-22000">
                <a:solidFill>
                  <a:srgbClr val="15283B"/>
                </a:solidFill>
                <a:latin typeface="Cambria Math" panose="02040503050406030204" pitchFamily="18" charset="0"/>
              </a:rPr>
              <a:t>1:t</a:t>
            </a:r>
            <a:r>
              <a:rPr lang="en-IL" sz="3200">
                <a:solidFill>
                  <a:srgbClr val="15283B"/>
                </a:solidFill>
                <a:latin typeface="Cambria Math" panose="02040503050406030204" pitchFamily="18" charset="0"/>
              </a:rPr>
              <a:t>, z</a:t>
            </a:r>
            <a:r>
              <a:rPr lang="en-IL" sz="2304" baseline="-22000">
                <a:solidFill>
                  <a:srgbClr val="15283B"/>
                </a:solidFill>
                <a:latin typeface="Cambria Math" panose="02040503050406030204" pitchFamily="18" charset="0"/>
              </a:rPr>
              <a:t>1:t</a:t>
            </a:r>
            <a:r>
              <a:rPr lang="en-IL" sz="3200">
                <a:solidFill>
                  <a:srgbClr val="15283B"/>
                </a:solidFill>
                <a:latin typeface="Cambria Math" panose="02040503050406030204" pitchFamily="18" charset="0"/>
              </a:rPr>
              <a:t>, c</a:t>
            </a:r>
            <a:r>
              <a:rPr lang="en-IL" sz="2304" baseline="-22000">
                <a:solidFill>
                  <a:srgbClr val="15283B"/>
                </a:solidFill>
                <a:latin typeface="Cambria Math" panose="02040503050406030204" pitchFamily="18" charset="0"/>
              </a:rPr>
              <a:t>1:t</a:t>
            </a:r>
            <a:r>
              <a:rPr lang="en-IL" sz="3200">
                <a:solidFill>
                  <a:srgbClr val="15283B"/>
                </a:solidFill>
                <a:latin typeface="Cambria Math" panose="02040503050406030204" pitchFamily="18" charset="0"/>
              </a:rPr>
              <a:t>)</a:t>
            </a:r>
          </a:p>
        </p:txBody>
      </p:sp>
      <p:sp>
        <p:nvSpPr>
          <p:cNvPr id="10" name="text_9">
            <a:extLst>
              <a:ext uri="{FF2B5EF4-FFF2-40B4-BE49-F238E27FC236}">
                <a16:creationId xmlns:a16="http://schemas.microsoft.com/office/drawing/2014/main" id="{554E04DF-5584-0906-602A-D29B414B832B}"/>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Robot and map uncertainty are correlated.</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083205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5B9BC28-F5F0-D539-DA22-00C5AEF4CA0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C0FC9C26-1BFE-DB50-A9A8-6611C989479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SLAM process</a:t>
            </a:r>
          </a:p>
        </p:txBody>
      </p:sp>
      <p:sp>
        <p:nvSpPr>
          <p:cNvPr id="4" name="text_3">
            <a:extLst>
              <a:ext uri="{FF2B5EF4-FFF2-40B4-BE49-F238E27FC236}">
                <a16:creationId xmlns:a16="http://schemas.microsoft.com/office/drawing/2014/main" id="{B8BDEFDE-98A4-F6A2-8AD7-AB6E86B37D2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Use motion and observations repeatedly, maintaining uncertainty.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2BB9527-8EFF-6E5D-7F06-6653D2B3AD0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8BBB4FC-F828-A8B4-F171-7AF033B4290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1057D65-8BA6-2C90-E504-83539DC01D4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Rectangle: Rounded Corners 7">
            <a:extLst>
              <a:ext uri="{FF2B5EF4-FFF2-40B4-BE49-F238E27FC236}">
                <a16:creationId xmlns:a16="http://schemas.microsoft.com/office/drawing/2014/main" id="{3177A302-6924-36D5-F619-BF4206D2EAD9}"/>
              </a:ext>
            </a:extLst>
          </p:cNvPr>
          <p:cNvSpPr/>
          <p:nvPr/>
        </p:nvSpPr>
        <p:spPr>
          <a:xfrm>
            <a:off x="685800" y="2971800"/>
            <a:ext cx="24384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B95D559-D68A-EF33-C50F-1579C67B63BE}"/>
              </a:ext>
            </a:extLst>
          </p:cNvPr>
          <p:cNvSpPr txBox="1"/>
          <p:nvPr/>
        </p:nvSpPr>
        <p:spPr>
          <a:xfrm>
            <a:off x="838200" y="3060699"/>
            <a:ext cx="21336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Predict</a:t>
            </a:r>
          </a:p>
        </p:txBody>
      </p:sp>
      <p:cxnSp>
        <p:nvCxnSpPr>
          <p:cNvPr id="10" name="Straight Connector 9">
            <a:extLst>
              <a:ext uri="{FF2B5EF4-FFF2-40B4-BE49-F238E27FC236}">
                <a16:creationId xmlns:a16="http://schemas.microsoft.com/office/drawing/2014/main" id="{1F442593-D918-DAB2-3F4A-4E96BD096584}"/>
              </a:ext>
            </a:extLst>
          </p:cNvPr>
          <p:cNvCxnSpPr/>
          <p:nvPr/>
        </p:nvCxnSpPr>
        <p:spPr>
          <a:xfrm>
            <a:off x="3162300" y="3238500"/>
            <a:ext cx="254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F090856D-3F97-56DA-5C59-8357540762DC}"/>
              </a:ext>
            </a:extLst>
          </p:cNvPr>
          <p:cNvSpPr/>
          <p:nvPr/>
        </p:nvSpPr>
        <p:spPr>
          <a:xfrm>
            <a:off x="3467100" y="2971800"/>
            <a:ext cx="24384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C2569783-3714-E6E4-2A1D-687DFE835576}"/>
              </a:ext>
            </a:extLst>
          </p:cNvPr>
          <p:cNvSpPr txBox="1"/>
          <p:nvPr/>
        </p:nvSpPr>
        <p:spPr>
          <a:xfrm>
            <a:off x="3619500" y="3060699"/>
            <a:ext cx="21336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Observe</a:t>
            </a:r>
          </a:p>
        </p:txBody>
      </p:sp>
      <p:cxnSp>
        <p:nvCxnSpPr>
          <p:cNvPr id="13" name="Straight Connector 12">
            <a:extLst>
              <a:ext uri="{FF2B5EF4-FFF2-40B4-BE49-F238E27FC236}">
                <a16:creationId xmlns:a16="http://schemas.microsoft.com/office/drawing/2014/main" id="{395B4F3E-BB20-B101-08B8-EE27413DDF25}"/>
              </a:ext>
            </a:extLst>
          </p:cNvPr>
          <p:cNvCxnSpPr/>
          <p:nvPr/>
        </p:nvCxnSpPr>
        <p:spPr>
          <a:xfrm>
            <a:off x="5943600" y="3238500"/>
            <a:ext cx="254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1A515915-6B05-F743-6442-881911874CD5}"/>
              </a:ext>
            </a:extLst>
          </p:cNvPr>
          <p:cNvSpPr/>
          <p:nvPr/>
        </p:nvSpPr>
        <p:spPr>
          <a:xfrm>
            <a:off x="6248400" y="2971800"/>
            <a:ext cx="24384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3B7808F0-399A-2A57-9B9C-CE6E4ECEB269}"/>
              </a:ext>
            </a:extLst>
          </p:cNvPr>
          <p:cNvSpPr txBox="1"/>
          <p:nvPr/>
        </p:nvSpPr>
        <p:spPr>
          <a:xfrm>
            <a:off x="6400800" y="3060699"/>
            <a:ext cx="21336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Associate</a:t>
            </a:r>
          </a:p>
        </p:txBody>
      </p:sp>
      <p:cxnSp>
        <p:nvCxnSpPr>
          <p:cNvPr id="16" name="Straight Connector 15">
            <a:extLst>
              <a:ext uri="{FF2B5EF4-FFF2-40B4-BE49-F238E27FC236}">
                <a16:creationId xmlns:a16="http://schemas.microsoft.com/office/drawing/2014/main" id="{3E48714C-1BD2-026B-B27D-8AB6B7AC8EDF}"/>
              </a:ext>
            </a:extLst>
          </p:cNvPr>
          <p:cNvCxnSpPr/>
          <p:nvPr/>
        </p:nvCxnSpPr>
        <p:spPr>
          <a:xfrm>
            <a:off x="8724900" y="3238500"/>
            <a:ext cx="254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216C7DBB-21D2-38E9-5AC5-39A47DA3C8F3}"/>
              </a:ext>
            </a:extLst>
          </p:cNvPr>
          <p:cNvSpPr/>
          <p:nvPr/>
        </p:nvSpPr>
        <p:spPr>
          <a:xfrm>
            <a:off x="9029700" y="2971800"/>
            <a:ext cx="24384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DB998087-09E8-0FD9-7724-F1792F825C1B}"/>
              </a:ext>
            </a:extLst>
          </p:cNvPr>
          <p:cNvSpPr txBox="1"/>
          <p:nvPr/>
        </p:nvSpPr>
        <p:spPr>
          <a:xfrm>
            <a:off x="9182100" y="3060699"/>
            <a:ext cx="21336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Update</a:t>
            </a:r>
          </a:p>
        </p:txBody>
      </p:sp>
      <p:sp>
        <p:nvSpPr>
          <p:cNvPr id="19" name="Rectangle: Rounded Corners 18">
            <a:extLst>
              <a:ext uri="{FF2B5EF4-FFF2-40B4-BE49-F238E27FC236}">
                <a16:creationId xmlns:a16="http://schemas.microsoft.com/office/drawing/2014/main" id="{2AE707ED-E049-F15A-ADD9-A7BCC76DC188}"/>
              </a:ext>
            </a:extLst>
          </p:cNvPr>
          <p:cNvSpPr/>
          <p:nvPr/>
        </p:nvSpPr>
        <p:spPr>
          <a:xfrm>
            <a:off x="2032000" y="4254500"/>
            <a:ext cx="8128000" cy="1282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E30A5C58-CECC-BD17-5BF9-877480F288D7}"/>
              </a:ext>
            </a:extLst>
          </p:cNvPr>
          <p:cNvSpPr txBox="1"/>
          <p:nvPr/>
        </p:nvSpPr>
        <p:spPr>
          <a:xfrm>
            <a:off x="2260600" y="4444999"/>
            <a:ext cx="7670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Joint estimate</a:t>
            </a:r>
          </a:p>
        </p:txBody>
      </p:sp>
      <p:sp>
        <p:nvSpPr>
          <p:cNvPr id="21" name="text_20">
            <a:extLst>
              <a:ext uri="{FF2B5EF4-FFF2-40B4-BE49-F238E27FC236}">
                <a16:creationId xmlns:a16="http://schemas.microsoft.com/office/drawing/2014/main" id="{44AB90F8-3073-2452-D5C0-17161B195A98}"/>
              </a:ext>
            </a:extLst>
          </p:cNvPr>
          <p:cNvSpPr txBox="1"/>
          <p:nvPr/>
        </p:nvSpPr>
        <p:spPr>
          <a:xfrm>
            <a:off x="2260600" y="5067299"/>
            <a:ext cx="7670800" cy="419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Robot belief + landmark map + uncertainty</a:t>
            </a:r>
            <a:endParaRPr lang="en-IL" sz="2400">
              <a:solidFill>
                <a:srgbClr val="15283B"/>
              </a:solidFill>
              <a:latin typeface="Aptos" panose="020B0004020202020204" pitchFamily="34" charset="0"/>
            </a:endParaRPr>
          </a:p>
        </p:txBody>
      </p:sp>
      <p:sp>
        <p:nvSpPr>
          <p:cNvPr id="22" name="text_21">
            <a:extLst>
              <a:ext uri="{FF2B5EF4-FFF2-40B4-BE49-F238E27FC236}">
                <a16:creationId xmlns:a16="http://schemas.microsoft.com/office/drawing/2014/main" id="{97CBE33B-AF2D-D847-BC47-C3B6C76A2832}"/>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Move → predict → observe → associate → update.</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844610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540288D-4BFC-EA33-B1D3-DA51717B337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13D32CAC-3C02-9666-530E-474252A9DB6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Bayesian prediction &amp; correction</a:t>
            </a:r>
          </a:p>
        </p:txBody>
      </p:sp>
      <p:sp>
        <p:nvSpPr>
          <p:cNvPr id="4" name="text_3">
            <a:extLst>
              <a:ext uri="{FF2B5EF4-FFF2-40B4-BE49-F238E27FC236}">
                <a16:creationId xmlns:a16="http://schemas.microsoft.com/office/drawing/2014/main" id="{7B942AE3-F7CF-7DB3-1FF7-00CF3866454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Week 10 beliefs, now over continuous robot states.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0BB4274-83E6-DC83-BE2A-F676A6D455A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1A2B9CD-924F-26E4-A26A-CD5F4F33DE5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B2A2AB5-B941-C6DB-42CA-6044CDAF945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text_7">
            <a:extLst>
              <a:ext uri="{FF2B5EF4-FFF2-40B4-BE49-F238E27FC236}">
                <a16:creationId xmlns:a16="http://schemas.microsoft.com/office/drawing/2014/main" id="{D97394B0-27C1-7D03-9D1E-51FD3710D5EB}"/>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b̄</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(x) = ∫ p(x | x′,u</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b</a:t>
            </a:r>
            <a:r>
              <a:rPr lang="en-IL" sz="2304" baseline="-22000">
                <a:solidFill>
                  <a:srgbClr val="2459D3"/>
                </a:solidFill>
                <a:latin typeface="Cambria Math" panose="02040503050406030204" pitchFamily="18" charset="0"/>
              </a:rPr>
              <a:t>t−1</a:t>
            </a:r>
            <a:r>
              <a:rPr lang="en-IL" sz="3200">
                <a:solidFill>
                  <a:srgbClr val="2459D3"/>
                </a:solidFill>
                <a:latin typeface="Cambria Math" panose="02040503050406030204" pitchFamily="18" charset="0"/>
              </a:rPr>
              <a:t>(x′) dx′</a:t>
            </a:r>
          </a:p>
        </p:txBody>
      </p:sp>
      <p:sp>
        <p:nvSpPr>
          <p:cNvPr id="9" name="text_8">
            <a:extLst>
              <a:ext uri="{FF2B5EF4-FFF2-40B4-BE49-F238E27FC236}">
                <a16:creationId xmlns:a16="http://schemas.microsoft.com/office/drawing/2014/main" id="{6DF077EC-3986-552A-37B1-AADE40438D7B}"/>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b</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(x) = </a:t>
            </a:r>
            <a:r>
              <a:rPr lang="el-GR" sz="3200">
                <a:solidFill>
                  <a:srgbClr val="15283B"/>
                </a:solidFill>
                <a:latin typeface="Cambria Math" panose="02040503050406030204" pitchFamily="18" charset="0"/>
              </a:rPr>
              <a:t>η </a:t>
            </a:r>
            <a:r>
              <a:rPr lang="en-IL" sz="3200">
                <a:solidFill>
                  <a:srgbClr val="15283B"/>
                </a:solidFill>
                <a:latin typeface="Cambria Math" panose="02040503050406030204" pitchFamily="18" charset="0"/>
              </a:rPr>
              <a:t>p(z</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 x,m) b̄</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(x)</a:t>
            </a:r>
          </a:p>
        </p:txBody>
      </p:sp>
      <p:sp>
        <p:nvSpPr>
          <p:cNvPr id="10" name="text_9">
            <a:extLst>
              <a:ext uri="{FF2B5EF4-FFF2-40B4-BE49-F238E27FC236}">
                <a16:creationId xmlns:a16="http://schemas.microsoft.com/office/drawing/2014/main" id="{2E713CE5-C8A7-DC3C-78ED-9F0B710073B0}"/>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Prediction spreads possibilities; evidence changes plausibility.</a:t>
            </a:r>
          </a:p>
        </p:txBody>
      </p:sp>
    </p:spTree>
    <p:extLst>
      <p:ext uri="{BB962C8B-B14F-4D97-AF65-F5344CB8AC3E}">
        <p14:creationId xmlns:p14="http://schemas.microsoft.com/office/powerpoint/2010/main" val="554775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1F23EC7-742D-3046-B5A6-EB7094B3BF1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81274780-420C-2E35-7DA6-E30CC866B65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Our range-only visualization</a:t>
            </a:r>
          </a:p>
        </p:txBody>
      </p:sp>
      <p:sp>
        <p:nvSpPr>
          <p:cNvPr id="4" name="text_3">
            <a:extLst>
              <a:ext uri="{FF2B5EF4-FFF2-40B4-BE49-F238E27FC236}">
                <a16:creationId xmlns:a16="http://schemas.microsoft.com/office/drawing/2014/main" id="{89E20617-8B0B-DE3C-82AF-C0B088C0ECA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Same scene and sensor; different knowledge about the map.</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8242CEB-EF97-2923-A90E-2225785F8C7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81CD36E-0E3F-F58A-0B50-EAA3CA91895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AC9944D-9D5C-E94F-FABC-F901530F66E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cxnSp>
        <p:nvCxnSpPr>
          <p:cNvPr id="8" name="Straight Connector 7">
            <a:extLst>
              <a:ext uri="{FF2B5EF4-FFF2-40B4-BE49-F238E27FC236}">
                <a16:creationId xmlns:a16="http://schemas.microsoft.com/office/drawing/2014/main" id="{EC3A201F-0478-E299-3EFE-CDB3D05D0E97}"/>
              </a:ext>
            </a:extLst>
          </p:cNvPr>
          <p:cNvCxnSpPr/>
          <p:nvPr/>
        </p:nvCxnSpPr>
        <p:spPr>
          <a:xfrm>
            <a:off x="1016000" y="5257800"/>
            <a:ext cx="4445000" cy="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AFCA7F6-971B-B514-8538-88384B5CE93D}"/>
              </a:ext>
            </a:extLst>
          </p:cNvPr>
          <p:cNvCxnSpPr/>
          <p:nvPr/>
        </p:nvCxnSpPr>
        <p:spPr>
          <a:xfrm flipV="1">
            <a:off x="1016000" y="2667000"/>
            <a:ext cx="0" cy="259080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sp>
        <p:nvSpPr>
          <p:cNvPr id="10" name="text_9">
            <a:extLst>
              <a:ext uri="{FF2B5EF4-FFF2-40B4-BE49-F238E27FC236}">
                <a16:creationId xmlns:a16="http://schemas.microsoft.com/office/drawing/2014/main" id="{A52A5353-6CF5-1375-ECC1-D32B24EACA6B}"/>
              </a:ext>
            </a:extLst>
          </p:cNvPr>
          <p:cNvSpPr txBox="1"/>
          <p:nvPr/>
        </p:nvSpPr>
        <p:spPr>
          <a:xfrm>
            <a:off x="5334000" y="5308599"/>
            <a:ext cx="635000" cy="39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x</a:t>
            </a:r>
          </a:p>
        </p:txBody>
      </p:sp>
      <p:sp>
        <p:nvSpPr>
          <p:cNvPr id="11" name="text_10">
            <a:extLst>
              <a:ext uri="{FF2B5EF4-FFF2-40B4-BE49-F238E27FC236}">
                <a16:creationId xmlns:a16="http://schemas.microsoft.com/office/drawing/2014/main" id="{2D3FE031-4B5F-FEC6-FC71-0E8FBA046B6A}"/>
              </a:ext>
            </a:extLst>
          </p:cNvPr>
          <p:cNvSpPr txBox="1"/>
          <p:nvPr/>
        </p:nvSpPr>
        <p:spPr>
          <a:xfrm>
            <a:off x="711200" y="2514599"/>
            <a:ext cx="508000" cy="381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y</a:t>
            </a:r>
          </a:p>
        </p:txBody>
      </p:sp>
      <p:sp>
        <p:nvSpPr>
          <p:cNvPr id="12" name="Rectangle: Rounded Corners 11">
            <a:extLst>
              <a:ext uri="{FF2B5EF4-FFF2-40B4-BE49-F238E27FC236}">
                <a16:creationId xmlns:a16="http://schemas.microsoft.com/office/drawing/2014/main" id="{C389E34B-F904-66EE-E2E3-327830A7DFFD}"/>
              </a:ext>
            </a:extLst>
          </p:cNvPr>
          <p:cNvSpPr/>
          <p:nvPr/>
        </p:nvSpPr>
        <p:spPr>
          <a:xfrm>
            <a:off x="1143000" y="5130800"/>
            <a:ext cx="190500" cy="190500"/>
          </a:xfrm>
          <a:prstGeom prst="roundRect">
            <a:avLst>
              <a:gd name="adj" fmla="val 9000"/>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F95AFA39-1BC4-D43E-64F9-E68212AAE1AD}"/>
              </a:ext>
            </a:extLst>
          </p:cNvPr>
          <p:cNvSpPr txBox="1"/>
          <p:nvPr/>
        </p:nvSpPr>
        <p:spPr>
          <a:xfrm>
            <a:off x="1409700" y="5054599"/>
            <a:ext cx="6985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L1</a:t>
            </a:r>
          </a:p>
        </p:txBody>
      </p:sp>
      <p:sp>
        <p:nvSpPr>
          <p:cNvPr id="14" name="Rectangle: Rounded Corners 13">
            <a:extLst>
              <a:ext uri="{FF2B5EF4-FFF2-40B4-BE49-F238E27FC236}">
                <a16:creationId xmlns:a16="http://schemas.microsoft.com/office/drawing/2014/main" id="{9351ED3C-05DB-49C5-6F61-C3D646061BBC}"/>
              </a:ext>
            </a:extLst>
          </p:cNvPr>
          <p:cNvSpPr/>
          <p:nvPr/>
        </p:nvSpPr>
        <p:spPr>
          <a:xfrm>
            <a:off x="5207000" y="5130800"/>
            <a:ext cx="190500" cy="190500"/>
          </a:xfrm>
          <a:prstGeom prst="roundRect">
            <a:avLst>
              <a:gd name="adj" fmla="val 9000"/>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F36107AF-DCB6-658B-09CD-8F225D5DF546}"/>
              </a:ext>
            </a:extLst>
          </p:cNvPr>
          <p:cNvSpPr txBox="1"/>
          <p:nvPr/>
        </p:nvSpPr>
        <p:spPr>
          <a:xfrm>
            <a:off x="5473700" y="5054599"/>
            <a:ext cx="6985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L2</a:t>
            </a:r>
          </a:p>
        </p:txBody>
      </p:sp>
      <p:sp>
        <p:nvSpPr>
          <p:cNvPr id="16" name="Rectangle: Rounded Corners 15">
            <a:extLst>
              <a:ext uri="{FF2B5EF4-FFF2-40B4-BE49-F238E27FC236}">
                <a16:creationId xmlns:a16="http://schemas.microsoft.com/office/drawing/2014/main" id="{1F78F74F-F009-FADE-D8A2-050BF8A94F75}"/>
              </a:ext>
            </a:extLst>
          </p:cNvPr>
          <p:cNvSpPr/>
          <p:nvPr/>
        </p:nvSpPr>
        <p:spPr>
          <a:xfrm>
            <a:off x="1143000" y="2794000"/>
            <a:ext cx="190500" cy="190500"/>
          </a:xfrm>
          <a:prstGeom prst="roundRect">
            <a:avLst>
              <a:gd name="adj" fmla="val 9000"/>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4F53D727-1361-9667-B990-72018363CF97}"/>
              </a:ext>
            </a:extLst>
          </p:cNvPr>
          <p:cNvSpPr txBox="1"/>
          <p:nvPr/>
        </p:nvSpPr>
        <p:spPr>
          <a:xfrm>
            <a:off x="1409700" y="2717799"/>
            <a:ext cx="698500" cy="4445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L3</a:t>
            </a:r>
          </a:p>
        </p:txBody>
      </p:sp>
      <p:sp>
        <p:nvSpPr>
          <p:cNvPr id="18" name="Oval 17">
            <a:extLst>
              <a:ext uri="{FF2B5EF4-FFF2-40B4-BE49-F238E27FC236}">
                <a16:creationId xmlns:a16="http://schemas.microsoft.com/office/drawing/2014/main" id="{1BF53383-ED4B-CDE7-A67D-7658544D0B7B}"/>
              </a:ext>
            </a:extLst>
          </p:cNvPr>
          <p:cNvSpPr/>
          <p:nvPr/>
        </p:nvSpPr>
        <p:spPr>
          <a:xfrm>
            <a:off x="2286000" y="3810000"/>
            <a:ext cx="1473200" cy="1066800"/>
          </a:xfrm>
          <a:prstGeom prst="ellipse">
            <a:avLst/>
          </a:prstGeom>
          <a:solidFill>
            <a:srgbClr val="2459D3">
              <a:alpha val="20000"/>
            </a:srgbClr>
          </a:solidFill>
          <a:ln w="27940">
            <a:solidFill>
              <a:srgbClr val="2459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Oval 18">
            <a:extLst>
              <a:ext uri="{FF2B5EF4-FFF2-40B4-BE49-F238E27FC236}">
                <a16:creationId xmlns:a16="http://schemas.microsoft.com/office/drawing/2014/main" id="{B247F28D-FF84-6585-5FE5-D950F9FDE17A}"/>
              </a:ext>
            </a:extLst>
          </p:cNvPr>
          <p:cNvSpPr/>
          <p:nvPr/>
        </p:nvSpPr>
        <p:spPr>
          <a:xfrm>
            <a:off x="2857500" y="4279900"/>
            <a:ext cx="228600" cy="228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Rectangle: Rounded Corners 19">
            <a:extLst>
              <a:ext uri="{FF2B5EF4-FFF2-40B4-BE49-F238E27FC236}">
                <a16:creationId xmlns:a16="http://schemas.microsoft.com/office/drawing/2014/main" id="{8FC2D8D0-6506-A9E1-05CF-E1F46A649F59}"/>
              </a:ext>
            </a:extLst>
          </p:cNvPr>
          <p:cNvSpPr/>
          <p:nvPr/>
        </p:nvSpPr>
        <p:spPr>
          <a:xfrm>
            <a:off x="6477000" y="2717800"/>
            <a:ext cx="5029200" cy="2794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034AB335-32EB-6E3B-891B-8B264025C71D}"/>
              </a:ext>
            </a:extLst>
          </p:cNvPr>
          <p:cNvSpPr txBox="1"/>
          <p:nvPr/>
        </p:nvSpPr>
        <p:spPr>
          <a:xfrm>
            <a:off x="6705600" y="2908299"/>
            <a:ext cx="45720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Model</a:t>
            </a:r>
          </a:p>
        </p:txBody>
      </p:sp>
      <p:sp>
        <p:nvSpPr>
          <p:cNvPr id="22" name="text_21">
            <a:extLst>
              <a:ext uri="{FF2B5EF4-FFF2-40B4-BE49-F238E27FC236}">
                <a16:creationId xmlns:a16="http://schemas.microsoft.com/office/drawing/2014/main" id="{AA2F7096-88A3-A377-CD03-DEA45707E810}"/>
              </a:ext>
            </a:extLst>
          </p:cNvPr>
          <p:cNvSpPr txBox="1"/>
          <p:nvPr/>
        </p:nvSpPr>
        <p:spPr>
          <a:xfrm>
            <a:off x="6705600" y="3530599"/>
            <a:ext cx="4572000" cy="1930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500 robot particles
Three identified ranges
Fixed heading
Two noise presets</a:t>
            </a:r>
            <a:endParaRPr lang="en-IL" sz="2400">
              <a:solidFill>
                <a:srgbClr val="15283B"/>
              </a:solidFill>
              <a:latin typeface="Aptos" panose="020B0004020202020204" pitchFamily="34" charset="0"/>
            </a:endParaRPr>
          </a:p>
        </p:txBody>
      </p:sp>
      <p:sp>
        <p:nvSpPr>
          <p:cNvPr id="23" name="text_22">
            <a:extLst>
              <a:ext uri="{FF2B5EF4-FFF2-40B4-BE49-F238E27FC236}">
                <a16:creationId xmlns:a16="http://schemas.microsoft.com/office/drawing/2014/main" id="{0EB0956D-F2C1-E750-6C78-B1A5981F7CD9}"/>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Localization knows coordinates; SLAM knows only IDs.</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1483821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A1CABE5-7E87-273A-F35B-158FF8E1B64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50D10FE-E8EF-2ED4-0D9A-E5D4EE2EBC8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Live: inspect the initial belief</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1821E638-4BD3-6E76-92FF-F1074C54CE7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Localization mode · What would the real robot know?</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94332ED-90B8-0AA8-2434-E85459EABDF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5637C28-93FA-1047-480E-4521AA3B712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A4D72B9-E95A-2A2B-0285-BF013DB5B95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pic>
        <p:nvPicPr>
          <p:cNvPr id="9" name="Picture 8">
            <a:extLst>
              <a:ext uri="{FF2B5EF4-FFF2-40B4-BE49-F238E27FC236}">
                <a16:creationId xmlns:a16="http://schemas.microsoft.com/office/drawing/2014/main" id="{9FC8B377-5FF7-A518-794A-E90448A9E96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565400"/>
            <a:ext cx="5225143" cy="3048000"/>
          </a:xfrm>
          <a:prstGeom prst="rect">
            <a:avLst/>
          </a:prstGeom>
        </p:spPr>
      </p:pic>
      <p:sp>
        <p:nvSpPr>
          <p:cNvPr id="10" name="Rectangle: Rounded Corners 9">
            <a:extLst>
              <a:ext uri="{FF2B5EF4-FFF2-40B4-BE49-F238E27FC236}">
                <a16:creationId xmlns:a16="http://schemas.microsoft.com/office/drawing/2014/main" id="{6A9E4FF8-2047-EF36-F7B4-2C155100C604}"/>
              </a:ext>
            </a:extLst>
          </p:cNvPr>
          <p:cNvSpPr/>
          <p:nvPr/>
        </p:nvSpPr>
        <p:spPr>
          <a:xfrm>
            <a:off x="7962900" y="2641600"/>
            <a:ext cx="3543300" cy="276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9">
            <a:extLst>
              <a:ext uri="{FF2B5EF4-FFF2-40B4-BE49-F238E27FC236}">
                <a16:creationId xmlns:a16="http://schemas.microsoft.com/office/drawing/2014/main" id="{BB2EE597-40CD-9207-701A-F137AF299069}"/>
              </a:ext>
            </a:extLst>
          </p:cNvPr>
          <p:cNvSpPr txBox="1"/>
          <p:nvPr/>
        </p:nvSpPr>
        <p:spPr>
          <a:xfrm>
            <a:off x="8191500" y="2832099"/>
            <a:ext cx="30861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Predict → reveal</a:t>
            </a:r>
          </a:p>
        </p:txBody>
      </p:sp>
      <p:sp>
        <p:nvSpPr>
          <p:cNvPr id="12" name="text_10">
            <a:extLst>
              <a:ext uri="{FF2B5EF4-FFF2-40B4-BE49-F238E27FC236}">
                <a16:creationId xmlns:a16="http://schemas.microsoft.com/office/drawing/2014/main" id="{485AA7E6-6ABF-5F21-9847-084551F54CF7}"/>
              </a:ext>
            </a:extLst>
          </p:cNvPr>
          <p:cNvSpPr txBox="1"/>
          <p:nvPr/>
        </p:nvSpPr>
        <p:spPr>
          <a:xfrm>
            <a:off x="8191500" y="3454399"/>
            <a:ext cx="3086100" cy="1905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Which information
is known?</a:t>
            </a:r>
          </a:p>
        </p:txBody>
      </p:sp>
      <p:sp>
        <p:nvSpPr>
          <p:cNvPr id="13" name="text_11">
            <a:extLst>
              <a:ext uri="{FF2B5EF4-FFF2-40B4-BE49-F238E27FC236}">
                <a16:creationId xmlns:a16="http://schemas.microsoft.com/office/drawing/2014/main" id="{60C31903-BC55-9A3B-9DF2-3C0DF0433EAF}"/>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Known landmarks + uncertain robot position.</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652270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1D061AC-7763-B294-C1B0-3F8E83A92D9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638ACF93-3F7A-6A65-67F4-092F9844F69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A belief made of particles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915280DE-EB68-6283-0F38-508E3BF7CAD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weighted set of hypotheses approximates a distribution.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913663D-CB37-774F-7D0D-5FD072EA984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06367A8-6EC9-0039-47AB-78C2BD8672B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F67DC09-D3CD-A110-5F79-AFD0EE98C5A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Oval 7">
            <a:extLst>
              <a:ext uri="{FF2B5EF4-FFF2-40B4-BE49-F238E27FC236}">
                <a16:creationId xmlns:a16="http://schemas.microsoft.com/office/drawing/2014/main" id="{44808E80-941C-FE47-5404-36BB860D345E}"/>
              </a:ext>
            </a:extLst>
          </p:cNvPr>
          <p:cNvSpPr/>
          <p:nvPr/>
        </p:nvSpPr>
        <p:spPr>
          <a:xfrm>
            <a:off x="1346200" y="2959100"/>
            <a:ext cx="101600" cy="101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Oval 8">
            <a:extLst>
              <a:ext uri="{FF2B5EF4-FFF2-40B4-BE49-F238E27FC236}">
                <a16:creationId xmlns:a16="http://schemas.microsoft.com/office/drawing/2014/main" id="{7FCBAB4B-245C-9A34-CC9B-5E4DAD0F7359}"/>
              </a:ext>
            </a:extLst>
          </p:cNvPr>
          <p:cNvSpPr/>
          <p:nvPr/>
        </p:nvSpPr>
        <p:spPr>
          <a:xfrm>
            <a:off x="1765300" y="2946400"/>
            <a:ext cx="127000" cy="1270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BBC483B1-925F-8FF8-8B10-4F9C0C622BC6}"/>
              </a:ext>
            </a:extLst>
          </p:cNvPr>
          <p:cNvSpPr/>
          <p:nvPr/>
        </p:nvSpPr>
        <p:spPr>
          <a:xfrm>
            <a:off x="2184400" y="2933700"/>
            <a:ext cx="152400" cy="152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Oval 10">
            <a:extLst>
              <a:ext uri="{FF2B5EF4-FFF2-40B4-BE49-F238E27FC236}">
                <a16:creationId xmlns:a16="http://schemas.microsoft.com/office/drawing/2014/main" id="{0F899FCD-80F1-8246-A947-C83FB21A6F9C}"/>
              </a:ext>
            </a:extLst>
          </p:cNvPr>
          <p:cNvSpPr/>
          <p:nvPr/>
        </p:nvSpPr>
        <p:spPr>
          <a:xfrm>
            <a:off x="2336800" y="2921000"/>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Oval 11">
            <a:extLst>
              <a:ext uri="{FF2B5EF4-FFF2-40B4-BE49-F238E27FC236}">
                <a16:creationId xmlns:a16="http://schemas.microsoft.com/office/drawing/2014/main" id="{54114F0D-FD6A-F22B-26D2-B79E12720504}"/>
              </a:ext>
            </a:extLst>
          </p:cNvPr>
          <p:cNvSpPr/>
          <p:nvPr/>
        </p:nvSpPr>
        <p:spPr>
          <a:xfrm>
            <a:off x="2755900" y="2908300"/>
            <a:ext cx="203200" cy="203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Oval 12">
            <a:extLst>
              <a:ext uri="{FF2B5EF4-FFF2-40B4-BE49-F238E27FC236}">
                <a16:creationId xmlns:a16="http://schemas.microsoft.com/office/drawing/2014/main" id="{CC8E1D67-8E04-66C0-CDE5-FC079DC8A0FC}"/>
              </a:ext>
            </a:extLst>
          </p:cNvPr>
          <p:cNvSpPr/>
          <p:nvPr/>
        </p:nvSpPr>
        <p:spPr>
          <a:xfrm>
            <a:off x="1524000" y="3263900"/>
            <a:ext cx="101600" cy="101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Oval 13">
            <a:extLst>
              <a:ext uri="{FF2B5EF4-FFF2-40B4-BE49-F238E27FC236}">
                <a16:creationId xmlns:a16="http://schemas.microsoft.com/office/drawing/2014/main" id="{C0E1D6E5-E89D-324C-C8F9-5E30C18940A4}"/>
              </a:ext>
            </a:extLst>
          </p:cNvPr>
          <p:cNvSpPr/>
          <p:nvPr/>
        </p:nvSpPr>
        <p:spPr>
          <a:xfrm>
            <a:off x="1676400" y="3251200"/>
            <a:ext cx="127000" cy="1270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Oval 14">
            <a:extLst>
              <a:ext uri="{FF2B5EF4-FFF2-40B4-BE49-F238E27FC236}">
                <a16:creationId xmlns:a16="http://schemas.microsoft.com/office/drawing/2014/main" id="{1751A104-F1D1-A60F-4DF7-C67BB28ECED4}"/>
              </a:ext>
            </a:extLst>
          </p:cNvPr>
          <p:cNvSpPr/>
          <p:nvPr/>
        </p:nvSpPr>
        <p:spPr>
          <a:xfrm>
            <a:off x="2095500" y="3238500"/>
            <a:ext cx="152400" cy="152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Oval 15">
            <a:extLst>
              <a:ext uri="{FF2B5EF4-FFF2-40B4-BE49-F238E27FC236}">
                <a16:creationId xmlns:a16="http://schemas.microsoft.com/office/drawing/2014/main" id="{F2CA1F0C-EBD5-7C17-86E1-1510E03F460E}"/>
              </a:ext>
            </a:extLst>
          </p:cNvPr>
          <p:cNvSpPr/>
          <p:nvPr/>
        </p:nvSpPr>
        <p:spPr>
          <a:xfrm>
            <a:off x="2514600" y="3225800"/>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Oval 16">
            <a:extLst>
              <a:ext uri="{FF2B5EF4-FFF2-40B4-BE49-F238E27FC236}">
                <a16:creationId xmlns:a16="http://schemas.microsoft.com/office/drawing/2014/main" id="{82CCB7D8-A0D0-7E58-C767-27F96D97BA1C}"/>
              </a:ext>
            </a:extLst>
          </p:cNvPr>
          <p:cNvSpPr/>
          <p:nvPr/>
        </p:nvSpPr>
        <p:spPr>
          <a:xfrm>
            <a:off x="2667000" y="3213100"/>
            <a:ext cx="203200" cy="203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Oval 17">
            <a:extLst>
              <a:ext uri="{FF2B5EF4-FFF2-40B4-BE49-F238E27FC236}">
                <a16:creationId xmlns:a16="http://schemas.microsoft.com/office/drawing/2014/main" id="{D124F0E7-8446-F040-147D-8D187C03DAD8}"/>
              </a:ext>
            </a:extLst>
          </p:cNvPr>
          <p:cNvSpPr/>
          <p:nvPr/>
        </p:nvSpPr>
        <p:spPr>
          <a:xfrm>
            <a:off x="1435100" y="3568700"/>
            <a:ext cx="101600" cy="101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Oval 18">
            <a:extLst>
              <a:ext uri="{FF2B5EF4-FFF2-40B4-BE49-F238E27FC236}">
                <a16:creationId xmlns:a16="http://schemas.microsoft.com/office/drawing/2014/main" id="{0B98ECFA-7E28-D675-05DB-E6C3086E8DE2}"/>
              </a:ext>
            </a:extLst>
          </p:cNvPr>
          <p:cNvSpPr/>
          <p:nvPr/>
        </p:nvSpPr>
        <p:spPr>
          <a:xfrm>
            <a:off x="1854200" y="3556000"/>
            <a:ext cx="127000" cy="1270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Oval 19">
            <a:extLst>
              <a:ext uri="{FF2B5EF4-FFF2-40B4-BE49-F238E27FC236}">
                <a16:creationId xmlns:a16="http://schemas.microsoft.com/office/drawing/2014/main" id="{6E7DB6BC-BFFE-9FCB-76EF-9D3917ED953F}"/>
              </a:ext>
            </a:extLst>
          </p:cNvPr>
          <p:cNvSpPr/>
          <p:nvPr/>
        </p:nvSpPr>
        <p:spPr>
          <a:xfrm>
            <a:off x="2006600" y="3543300"/>
            <a:ext cx="152400" cy="152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Oval 20">
            <a:extLst>
              <a:ext uri="{FF2B5EF4-FFF2-40B4-BE49-F238E27FC236}">
                <a16:creationId xmlns:a16="http://schemas.microsoft.com/office/drawing/2014/main" id="{77D13F04-A5F1-3F54-6781-29461C10E0A7}"/>
              </a:ext>
            </a:extLst>
          </p:cNvPr>
          <p:cNvSpPr/>
          <p:nvPr/>
        </p:nvSpPr>
        <p:spPr>
          <a:xfrm>
            <a:off x="2425700" y="3530600"/>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Oval 21">
            <a:extLst>
              <a:ext uri="{FF2B5EF4-FFF2-40B4-BE49-F238E27FC236}">
                <a16:creationId xmlns:a16="http://schemas.microsoft.com/office/drawing/2014/main" id="{7F47079F-40A0-08AA-FA1B-5480E2EB824A}"/>
              </a:ext>
            </a:extLst>
          </p:cNvPr>
          <p:cNvSpPr/>
          <p:nvPr/>
        </p:nvSpPr>
        <p:spPr>
          <a:xfrm>
            <a:off x="2844800" y="3517900"/>
            <a:ext cx="203200" cy="203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Oval 22">
            <a:extLst>
              <a:ext uri="{FF2B5EF4-FFF2-40B4-BE49-F238E27FC236}">
                <a16:creationId xmlns:a16="http://schemas.microsoft.com/office/drawing/2014/main" id="{2E9EF6A0-8394-C3A1-4167-E1B1E630EC10}"/>
              </a:ext>
            </a:extLst>
          </p:cNvPr>
          <p:cNvSpPr/>
          <p:nvPr/>
        </p:nvSpPr>
        <p:spPr>
          <a:xfrm>
            <a:off x="1346200" y="3873500"/>
            <a:ext cx="101600" cy="101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4" name="Oval 23">
            <a:extLst>
              <a:ext uri="{FF2B5EF4-FFF2-40B4-BE49-F238E27FC236}">
                <a16:creationId xmlns:a16="http://schemas.microsoft.com/office/drawing/2014/main" id="{EE0B6CE0-AB56-B5FB-BE79-D92FE304AAD3}"/>
              </a:ext>
            </a:extLst>
          </p:cNvPr>
          <p:cNvSpPr/>
          <p:nvPr/>
        </p:nvSpPr>
        <p:spPr>
          <a:xfrm>
            <a:off x="1765300" y="3860800"/>
            <a:ext cx="127000" cy="1270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Oval 24">
            <a:extLst>
              <a:ext uri="{FF2B5EF4-FFF2-40B4-BE49-F238E27FC236}">
                <a16:creationId xmlns:a16="http://schemas.microsoft.com/office/drawing/2014/main" id="{0249CEFF-5721-064B-B97A-72F4E74DBC99}"/>
              </a:ext>
            </a:extLst>
          </p:cNvPr>
          <p:cNvSpPr/>
          <p:nvPr/>
        </p:nvSpPr>
        <p:spPr>
          <a:xfrm>
            <a:off x="2184400" y="3848100"/>
            <a:ext cx="152400" cy="152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Oval 25">
            <a:extLst>
              <a:ext uri="{FF2B5EF4-FFF2-40B4-BE49-F238E27FC236}">
                <a16:creationId xmlns:a16="http://schemas.microsoft.com/office/drawing/2014/main" id="{30CDBBBC-276B-C049-3BB1-8D5A2766985D}"/>
              </a:ext>
            </a:extLst>
          </p:cNvPr>
          <p:cNvSpPr/>
          <p:nvPr/>
        </p:nvSpPr>
        <p:spPr>
          <a:xfrm>
            <a:off x="2336800" y="3835400"/>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Oval 26">
            <a:extLst>
              <a:ext uri="{FF2B5EF4-FFF2-40B4-BE49-F238E27FC236}">
                <a16:creationId xmlns:a16="http://schemas.microsoft.com/office/drawing/2014/main" id="{97BB145C-5FC2-E60E-02A8-331DF7798980}"/>
              </a:ext>
            </a:extLst>
          </p:cNvPr>
          <p:cNvSpPr/>
          <p:nvPr/>
        </p:nvSpPr>
        <p:spPr>
          <a:xfrm>
            <a:off x="2755900" y="3822700"/>
            <a:ext cx="203200" cy="203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8" name="Oval 27">
            <a:extLst>
              <a:ext uri="{FF2B5EF4-FFF2-40B4-BE49-F238E27FC236}">
                <a16:creationId xmlns:a16="http://schemas.microsoft.com/office/drawing/2014/main" id="{9282ABA8-94A0-B341-7823-0A1608B03CE8}"/>
              </a:ext>
            </a:extLst>
          </p:cNvPr>
          <p:cNvSpPr/>
          <p:nvPr/>
        </p:nvSpPr>
        <p:spPr>
          <a:xfrm>
            <a:off x="1524000" y="4178300"/>
            <a:ext cx="101600" cy="101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Oval 28">
            <a:extLst>
              <a:ext uri="{FF2B5EF4-FFF2-40B4-BE49-F238E27FC236}">
                <a16:creationId xmlns:a16="http://schemas.microsoft.com/office/drawing/2014/main" id="{F0EF168B-7A9F-C1BE-F006-5ABFB3313736}"/>
              </a:ext>
            </a:extLst>
          </p:cNvPr>
          <p:cNvSpPr/>
          <p:nvPr/>
        </p:nvSpPr>
        <p:spPr>
          <a:xfrm>
            <a:off x="1676400" y="4165600"/>
            <a:ext cx="127000" cy="1270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Oval 29">
            <a:extLst>
              <a:ext uri="{FF2B5EF4-FFF2-40B4-BE49-F238E27FC236}">
                <a16:creationId xmlns:a16="http://schemas.microsoft.com/office/drawing/2014/main" id="{31EF70A7-BD03-25B9-69CA-861B839E8C76}"/>
              </a:ext>
            </a:extLst>
          </p:cNvPr>
          <p:cNvSpPr/>
          <p:nvPr/>
        </p:nvSpPr>
        <p:spPr>
          <a:xfrm>
            <a:off x="2095500" y="4152900"/>
            <a:ext cx="152400" cy="1524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Oval 30">
            <a:extLst>
              <a:ext uri="{FF2B5EF4-FFF2-40B4-BE49-F238E27FC236}">
                <a16:creationId xmlns:a16="http://schemas.microsoft.com/office/drawing/2014/main" id="{46D3D487-BC2A-9D64-88A5-C737E495E699}"/>
              </a:ext>
            </a:extLst>
          </p:cNvPr>
          <p:cNvSpPr/>
          <p:nvPr/>
        </p:nvSpPr>
        <p:spPr>
          <a:xfrm>
            <a:off x="2514600" y="4140200"/>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Oval 31">
            <a:extLst>
              <a:ext uri="{FF2B5EF4-FFF2-40B4-BE49-F238E27FC236}">
                <a16:creationId xmlns:a16="http://schemas.microsoft.com/office/drawing/2014/main" id="{C53ED89A-D3F1-5C3D-7E51-166A1E956AB7}"/>
              </a:ext>
            </a:extLst>
          </p:cNvPr>
          <p:cNvSpPr/>
          <p:nvPr/>
        </p:nvSpPr>
        <p:spPr>
          <a:xfrm>
            <a:off x="2667000" y="4127500"/>
            <a:ext cx="203200" cy="203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text_32">
            <a:extLst>
              <a:ext uri="{FF2B5EF4-FFF2-40B4-BE49-F238E27FC236}">
                <a16:creationId xmlns:a16="http://schemas.microsoft.com/office/drawing/2014/main" id="{3CF165A8-A4AF-645E-1EA5-53F2FEB718F6}"/>
              </a:ext>
            </a:extLst>
          </p:cNvPr>
          <p:cNvSpPr txBox="1"/>
          <p:nvPr/>
        </p:nvSpPr>
        <p:spPr>
          <a:xfrm>
            <a:off x="4635500" y="2793999"/>
            <a:ext cx="6870700" cy="1219200"/>
          </a:xfrm>
          <a:prstGeom prst="rect">
            <a:avLst/>
          </a:prstGeom>
          <a:noFill/>
        </p:spPr>
        <p:txBody>
          <a:bodyPr vert="horz" wrap="square" lIns="0" tIns="0" rIns="0" bIns="0" rtlCol="0" anchor="t">
            <a:noAutofit/>
          </a:bodyPr>
          <a:lstStyle/>
          <a:p>
            <a:r>
              <a:rPr lang="en-IL" sz="2800">
                <a:solidFill>
                  <a:srgbClr val="2459D3"/>
                </a:solidFill>
                <a:latin typeface="Cambria Math" panose="02040503050406030204" pitchFamily="18" charset="0"/>
              </a:rPr>
              <a:t>b</a:t>
            </a:r>
            <a:r>
              <a:rPr lang="en-IL" sz="2016" baseline="-22000">
                <a:solidFill>
                  <a:srgbClr val="2459D3"/>
                </a:solidFill>
                <a:latin typeface="Cambria Math" panose="02040503050406030204" pitchFamily="18" charset="0"/>
              </a:rPr>
              <a:t>t</a:t>
            </a:r>
            <a:r>
              <a:rPr lang="en-IL" sz="2800">
                <a:solidFill>
                  <a:srgbClr val="2459D3"/>
                </a:solidFill>
                <a:latin typeface="Cambria Math" panose="02040503050406030204" pitchFamily="18" charset="0"/>
              </a:rPr>
              <a:t>(x) ≈ ∑</a:t>
            </a:r>
            <a:r>
              <a:rPr lang="en-IL" sz="2016" baseline="-22000">
                <a:solidFill>
                  <a:srgbClr val="2459D3"/>
                </a:solidFill>
                <a:latin typeface="Cambria Math" panose="02040503050406030204" pitchFamily="18" charset="0"/>
              </a:rPr>
              <a:t>i</a:t>
            </a:r>
            <a:r>
              <a:rPr lang="en-IL" sz="2800">
                <a:solidFill>
                  <a:srgbClr val="2459D3"/>
                </a:solidFill>
                <a:latin typeface="Cambria Math" panose="02040503050406030204" pitchFamily="18" charset="0"/>
              </a:rPr>
              <a:t> w</a:t>
            </a:r>
            <a:r>
              <a:rPr lang="en-IL" sz="2016" baseline="-22000">
                <a:solidFill>
                  <a:srgbClr val="2459D3"/>
                </a:solidFill>
                <a:latin typeface="Cambria Math" panose="02040503050406030204" pitchFamily="18" charset="0"/>
              </a:rPr>
              <a:t>t</a:t>
            </a:r>
            <a:r>
              <a:rPr lang="en-IL" sz="2016" baseline="32000">
                <a:solidFill>
                  <a:srgbClr val="2459D3"/>
                </a:solidFill>
                <a:latin typeface="Cambria Math" panose="02040503050406030204" pitchFamily="18" charset="0"/>
              </a:rPr>
              <a:t>(i)</a:t>
            </a:r>
            <a:r>
              <a:rPr lang="en-IL" sz="2800">
                <a:solidFill>
                  <a:srgbClr val="2459D3"/>
                </a:solidFill>
                <a:latin typeface="Cambria Math" panose="02040503050406030204" pitchFamily="18" charset="0"/>
              </a:rPr>
              <a:t> </a:t>
            </a:r>
            <a:r>
              <a:rPr lang="el-GR" sz="2800">
                <a:solidFill>
                  <a:srgbClr val="2459D3"/>
                </a:solidFill>
                <a:latin typeface="Cambria Math" panose="02040503050406030204" pitchFamily="18" charset="0"/>
              </a:rPr>
              <a:t>δ(</a:t>
            </a:r>
            <a:r>
              <a:rPr lang="en-IL" sz="2800">
                <a:solidFill>
                  <a:srgbClr val="2459D3"/>
                </a:solidFill>
                <a:latin typeface="Cambria Math" panose="02040503050406030204" pitchFamily="18" charset="0"/>
              </a:rPr>
              <a:t>x − x</a:t>
            </a:r>
            <a:r>
              <a:rPr lang="en-IL" sz="2016" baseline="-22000">
                <a:solidFill>
                  <a:srgbClr val="2459D3"/>
                </a:solidFill>
                <a:latin typeface="Cambria Math" panose="02040503050406030204" pitchFamily="18" charset="0"/>
              </a:rPr>
              <a:t>t</a:t>
            </a:r>
            <a:r>
              <a:rPr lang="en-IL" sz="2016" baseline="32000">
                <a:solidFill>
                  <a:srgbClr val="2459D3"/>
                </a:solidFill>
                <a:latin typeface="Cambria Math" panose="02040503050406030204" pitchFamily="18" charset="0"/>
              </a:rPr>
              <a:t>(i)</a:t>
            </a:r>
            <a:r>
              <a:rPr lang="en-IL" sz="2800">
                <a:solidFill>
                  <a:srgbClr val="2459D3"/>
                </a:solidFill>
                <a:latin typeface="Cambria Math" panose="02040503050406030204" pitchFamily="18" charset="0"/>
              </a:rPr>
              <a:t>)</a:t>
            </a:r>
          </a:p>
        </p:txBody>
      </p:sp>
      <p:sp>
        <p:nvSpPr>
          <p:cNvPr id="34" name="text_33">
            <a:extLst>
              <a:ext uri="{FF2B5EF4-FFF2-40B4-BE49-F238E27FC236}">
                <a16:creationId xmlns:a16="http://schemas.microsoft.com/office/drawing/2014/main" id="{CA2335B8-1BDE-CD68-E26D-99CE59A530D6}"/>
              </a:ext>
            </a:extLst>
          </p:cNvPr>
          <p:cNvSpPr txBox="1"/>
          <p:nvPr/>
        </p:nvSpPr>
        <p:spPr>
          <a:xfrm>
            <a:off x="4635500" y="4292599"/>
            <a:ext cx="6870700" cy="1219200"/>
          </a:xfrm>
          <a:prstGeom prst="rect">
            <a:avLst/>
          </a:prstGeom>
          <a:noFill/>
        </p:spPr>
        <p:txBody>
          <a:bodyPr vert="horz" wrap="square" lIns="0" tIns="0" rIns="0" bIns="0" rtlCol="0" anchor="t">
            <a:noAutofit/>
          </a:bodyPr>
          <a:lstStyle/>
          <a:p>
            <a:r>
              <a:rPr lang="en-IL" sz="2800">
                <a:solidFill>
                  <a:srgbClr val="15283B"/>
                </a:solidFill>
                <a:latin typeface="Cambria Math" panose="02040503050406030204" pitchFamily="18" charset="0"/>
              </a:rPr>
              <a:t>∑</a:t>
            </a:r>
            <a:r>
              <a:rPr lang="en-IL" sz="2016" baseline="-22000">
                <a:solidFill>
                  <a:srgbClr val="15283B"/>
                </a:solidFill>
                <a:latin typeface="Cambria Math" panose="02040503050406030204" pitchFamily="18" charset="0"/>
              </a:rPr>
              <a:t>i</a:t>
            </a:r>
            <a:r>
              <a:rPr lang="en-IL" sz="2800">
                <a:solidFill>
                  <a:srgbClr val="15283B"/>
                </a:solidFill>
                <a:latin typeface="Cambria Math" panose="02040503050406030204" pitchFamily="18" charset="0"/>
              </a:rPr>
              <a:t> w</a:t>
            </a:r>
            <a:r>
              <a:rPr lang="en-IL" sz="2016" baseline="-22000">
                <a:solidFill>
                  <a:srgbClr val="15283B"/>
                </a:solidFill>
                <a:latin typeface="Cambria Math" panose="02040503050406030204" pitchFamily="18" charset="0"/>
              </a:rPr>
              <a:t>t</a:t>
            </a:r>
            <a:r>
              <a:rPr lang="en-IL" sz="2016" baseline="32000">
                <a:solidFill>
                  <a:srgbClr val="15283B"/>
                </a:solidFill>
                <a:latin typeface="Cambria Math" panose="02040503050406030204" pitchFamily="18" charset="0"/>
              </a:rPr>
              <a:t>(i)</a:t>
            </a:r>
            <a:r>
              <a:rPr lang="en-IL" sz="2800">
                <a:solidFill>
                  <a:srgbClr val="15283B"/>
                </a:solidFill>
                <a:latin typeface="Cambria Math" panose="02040503050406030204" pitchFamily="18" charset="0"/>
              </a:rPr>
              <a:t> = 1;     p̂</a:t>
            </a:r>
            <a:r>
              <a:rPr lang="en-IL" sz="2016" baseline="-22000">
                <a:solidFill>
                  <a:srgbClr val="15283B"/>
                </a:solidFill>
                <a:latin typeface="Cambria Math" panose="02040503050406030204" pitchFamily="18" charset="0"/>
              </a:rPr>
              <a:t>t</a:t>
            </a:r>
            <a:r>
              <a:rPr lang="en-IL" sz="2800">
                <a:solidFill>
                  <a:srgbClr val="15283B"/>
                </a:solidFill>
                <a:latin typeface="Cambria Math" panose="02040503050406030204" pitchFamily="18" charset="0"/>
              </a:rPr>
              <a:t> = ∑</a:t>
            </a:r>
            <a:r>
              <a:rPr lang="en-IL" sz="2016" baseline="-22000">
                <a:solidFill>
                  <a:srgbClr val="15283B"/>
                </a:solidFill>
                <a:latin typeface="Cambria Math" panose="02040503050406030204" pitchFamily="18" charset="0"/>
              </a:rPr>
              <a:t>i</a:t>
            </a:r>
            <a:r>
              <a:rPr lang="en-IL" sz="2800">
                <a:solidFill>
                  <a:srgbClr val="15283B"/>
                </a:solidFill>
                <a:latin typeface="Cambria Math" panose="02040503050406030204" pitchFamily="18" charset="0"/>
              </a:rPr>
              <a:t> w</a:t>
            </a:r>
            <a:r>
              <a:rPr lang="en-IL" sz="2016" baseline="-22000">
                <a:solidFill>
                  <a:srgbClr val="15283B"/>
                </a:solidFill>
                <a:latin typeface="Cambria Math" panose="02040503050406030204" pitchFamily="18" charset="0"/>
              </a:rPr>
              <a:t>t</a:t>
            </a:r>
            <a:r>
              <a:rPr lang="en-IL" sz="2016" baseline="32000">
                <a:solidFill>
                  <a:srgbClr val="15283B"/>
                </a:solidFill>
                <a:latin typeface="Cambria Math" panose="02040503050406030204" pitchFamily="18" charset="0"/>
              </a:rPr>
              <a:t>(i)</a:t>
            </a:r>
            <a:r>
              <a:rPr lang="en-IL" sz="2800">
                <a:solidFill>
                  <a:srgbClr val="15283B"/>
                </a:solidFill>
                <a:latin typeface="Cambria Math" panose="02040503050406030204" pitchFamily="18" charset="0"/>
              </a:rPr>
              <a:t>p</a:t>
            </a:r>
            <a:r>
              <a:rPr lang="en-IL" sz="2016" baseline="-22000">
                <a:solidFill>
                  <a:srgbClr val="15283B"/>
                </a:solidFill>
                <a:latin typeface="Cambria Math" panose="02040503050406030204" pitchFamily="18" charset="0"/>
              </a:rPr>
              <a:t>t</a:t>
            </a:r>
            <a:r>
              <a:rPr lang="en-IL" sz="2016" baseline="32000">
                <a:solidFill>
                  <a:srgbClr val="15283B"/>
                </a:solidFill>
                <a:latin typeface="Cambria Math" panose="02040503050406030204" pitchFamily="18" charset="0"/>
              </a:rPr>
              <a:t>(i)</a:t>
            </a:r>
          </a:p>
        </p:txBody>
      </p:sp>
      <p:sp>
        <p:nvSpPr>
          <p:cNvPr id="35" name="text_34">
            <a:extLst>
              <a:ext uri="{FF2B5EF4-FFF2-40B4-BE49-F238E27FC236}">
                <a16:creationId xmlns:a16="http://schemas.microsoft.com/office/drawing/2014/main" id="{13C84816-1597-88D1-B3FA-218D9BCF0324}"/>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A mean is a summary, not the whole belief.</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003819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49BF354-31F6-1E6D-8A0B-DA2208E64CC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04557F9E-CEAE-8635-3234-5D85D170A50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Predict with the motion model</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0C5B8B2A-45CA-4F30-1F77-42663CA0877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Move every robot hypothesis with its own sampled uncertainty.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9AD87531-4D63-A99F-9A62-873F0C0EDE6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A86623B-9DFD-0352-2600-AFC0BD4486C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EF7F022-575E-7B3C-0512-E7B7DF2244C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text_7">
            <a:extLst>
              <a:ext uri="{FF2B5EF4-FFF2-40B4-BE49-F238E27FC236}">
                <a16:creationId xmlns:a16="http://schemas.microsoft.com/office/drawing/2014/main" id="{FC2BD514-92F2-636C-C012-9DE589272419}"/>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nn-NO" sz="3200">
                <a:solidFill>
                  <a:srgbClr val="2459D3"/>
                </a:solidFill>
                <a:latin typeface="Cambria Math" panose="02040503050406030204" pitchFamily="18" charset="0"/>
              </a:rPr>
              <a:t>p</a:t>
            </a:r>
            <a:r>
              <a:rPr lang="nn-NO" sz="2304" baseline="-22000">
                <a:solidFill>
                  <a:srgbClr val="2459D3"/>
                </a:solidFill>
                <a:latin typeface="Cambria Math" panose="02040503050406030204" pitchFamily="18" charset="0"/>
              </a:rPr>
              <a:t>t</a:t>
            </a:r>
            <a:r>
              <a:rPr lang="nn-NO" sz="2304" baseline="32000">
                <a:solidFill>
                  <a:srgbClr val="2459D3"/>
                </a:solidFill>
                <a:latin typeface="Cambria Math" panose="02040503050406030204" pitchFamily="18" charset="0"/>
              </a:rPr>
              <a:t>(i)</a:t>
            </a:r>
            <a:r>
              <a:rPr lang="nn-NO" sz="3200">
                <a:solidFill>
                  <a:srgbClr val="2459D3"/>
                </a:solidFill>
                <a:latin typeface="Cambria Math" panose="02040503050406030204" pitchFamily="18" charset="0"/>
              </a:rPr>
              <a:t> = p</a:t>
            </a:r>
            <a:r>
              <a:rPr lang="nn-NO" sz="2304" baseline="-22000">
                <a:solidFill>
                  <a:srgbClr val="2459D3"/>
                </a:solidFill>
                <a:latin typeface="Cambria Math" panose="02040503050406030204" pitchFamily="18" charset="0"/>
              </a:rPr>
              <a:t>t−1</a:t>
            </a:r>
            <a:r>
              <a:rPr lang="nn-NO" sz="2304" baseline="32000">
                <a:solidFill>
                  <a:srgbClr val="2459D3"/>
                </a:solidFill>
                <a:latin typeface="Cambria Math" panose="02040503050406030204" pitchFamily="18" charset="0"/>
              </a:rPr>
              <a:t>(i)</a:t>
            </a:r>
            <a:r>
              <a:rPr lang="nn-NO" sz="3200">
                <a:solidFill>
                  <a:srgbClr val="2459D3"/>
                </a:solidFill>
                <a:latin typeface="Cambria Math" panose="02040503050406030204" pitchFamily="18" charset="0"/>
              </a:rPr>
              <a:t> + u</a:t>
            </a:r>
            <a:r>
              <a:rPr lang="nn-NO" sz="2304" baseline="-22000">
                <a:solidFill>
                  <a:srgbClr val="2459D3"/>
                </a:solidFill>
                <a:latin typeface="Cambria Math" panose="02040503050406030204" pitchFamily="18" charset="0"/>
              </a:rPr>
              <a:t>t</a:t>
            </a:r>
            <a:r>
              <a:rPr lang="nn-NO" sz="3200">
                <a:solidFill>
                  <a:srgbClr val="2459D3"/>
                </a:solidFill>
                <a:latin typeface="Cambria Math" panose="02040503050406030204" pitchFamily="18" charset="0"/>
              </a:rPr>
              <a:t> + ε</a:t>
            </a:r>
            <a:r>
              <a:rPr lang="nn-NO" sz="2304" baseline="-22000">
                <a:solidFill>
                  <a:srgbClr val="2459D3"/>
                </a:solidFill>
                <a:latin typeface="Cambria Math" panose="02040503050406030204" pitchFamily="18" charset="0"/>
              </a:rPr>
              <a:t>t</a:t>
            </a:r>
            <a:r>
              <a:rPr lang="nn-NO" sz="2304" baseline="32000">
                <a:solidFill>
                  <a:srgbClr val="2459D3"/>
                </a:solidFill>
                <a:latin typeface="Cambria Math" panose="02040503050406030204" pitchFamily="18" charset="0"/>
              </a:rPr>
              <a:t>(i)</a:t>
            </a:r>
            <a:endParaRPr lang="en-IL" sz="2304" baseline="320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55E24470-3087-B2BF-0670-43C404E8EA7A}"/>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el-GR" sz="3200">
                <a:solidFill>
                  <a:srgbClr val="15283B"/>
                </a:solidFill>
                <a:latin typeface="Cambria Math" panose="02040503050406030204" pitchFamily="18" charset="0"/>
              </a:rPr>
              <a:t>ε</a:t>
            </a:r>
            <a:r>
              <a:rPr lang="en-IL" sz="2304" baseline="-22000">
                <a:solidFill>
                  <a:srgbClr val="15283B"/>
                </a:solidFill>
                <a:latin typeface="Cambria Math" panose="02040503050406030204" pitchFamily="18" charset="0"/>
              </a:rPr>
              <a:t>t</a:t>
            </a:r>
            <a:r>
              <a:rPr lang="en-IL" sz="2304" baseline="32000">
                <a:solidFill>
                  <a:srgbClr val="15283B"/>
                </a:solidFill>
                <a:latin typeface="Cambria Math" panose="02040503050406030204" pitchFamily="18" charset="0"/>
              </a:rPr>
              <a:t>(i)</a:t>
            </a:r>
            <a:r>
              <a:rPr lang="en-IL" sz="3200">
                <a:solidFill>
                  <a:srgbClr val="15283B"/>
                </a:solidFill>
                <a:latin typeface="Cambria Math" panose="02040503050406030204" pitchFamily="18" charset="0"/>
              </a:rPr>
              <a:t> ∼ N(0, 0.08² I)</a:t>
            </a:r>
          </a:p>
        </p:txBody>
      </p:sp>
      <p:sp>
        <p:nvSpPr>
          <p:cNvPr id="10" name="text_9">
            <a:extLst>
              <a:ext uri="{FF2B5EF4-FFF2-40B4-BE49-F238E27FC236}">
                <a16:creationId xmlns:a16="http://schemas.microsoft.com/office/drawing/2014/main" id="{96AC8A2C-5F5D-2AD8-9BC8-C72C47686922}"/>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No new measurement is used yet.</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1255339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0A635AC-3C19-05CF-F7E5-9F9719A6B1D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16D843A9-D40E-D332-E2C1-E9136E9D623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Live: predict before pressing</a:t>
            </a:r>
          </a:p>
        </p:txBody>
      </p:sp>
      <p:sp>
        <p:nvSpPr>
          <p:cNvPr id="4" name="text_3">
            <a:extLst>
              <a:ext uri="{FF2B5EF4-FFF2-40B4-BE49-F238E27FC236}">
                <a16:creationId xmlns:a16="http://schemas.microsoft.com/office/drawing/2014/main" id="{10027229-F74F-9210-459B-5C03D58404C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Next stage → Prediction</a:t>
            </a:r>
          </a:p>
        </p:txBody>
      </p:sp>
      <p:cxnSp>
        <p:nvCxnSpPr>
          <p:cNvPr id="5" name="Straight Connector 4">
            <a:extLst>
              <a:ext uri="{FF2B5EF4-FFF2-40B4-BE49-F238E27FC236}">
                <a16:creationId xmlns:a16="http://schemas.microsoft.com/office/drawing/2014/main" id="{1105104D-16B3-5505-EC8D-B5C608D4CB3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1978218-C1A0-0329-B77A-4EDCF4D75A2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AFB02F5-16DD-D5C9-6B6A-20E55F8A19F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pic>
        <p:nvPicPr>
          <p:cNvPr id="9" name="Picture 8">
            <a:extLst>
              <a:ext uri="{FF2B5EF4-FFF2-40B4-BE49-F238E27FC236}">
                <a16:creationId xmlns:a16="http://schemas.microsoft.com/office/drawing/2014/main" id="{61BA8298-98F6-0B7C-AE7A-EE4871643DD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565400"/>
            <a:ext cx="5225143" cy="3048000"/>
          </a:xfrm>
          <a:prstGeom prst="rect">
            <a:avLst/>
          </a:prstGeom>
        </p:spPr>
      </p:pic>
      <p:sp>
        <p:nvSpPr>
          <p:cNvPr id="10" name="Rectangle: Rounded Corners 9">
            <a:extLst>
              <a:ext uri="{FF2B5EF4-FFF2-40B4-BE49-F238E27FC236}">
                <a16:creationId xmlns:a16="http://schemas.microsoft.com/office/drawing/2014/main" id="{F745505C-453A-46CD-8345-6A96E1713090}"/>
              </a:ext>
            </a:extLst>
          </p:cNvPr>
          <p:cNvSpPr/>
          <p:nvPr/>
        </p:nvSpPr>
        <p:spPr>
          <a:xfrm>
            <a:off x="7962900" y="2641600"/>
            <a:ext cx="3543300" cy="276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9">
            <a:extLst>
              <a:ext uri="{FF2B5EF4-FFF2-40B4-BE49-F238E27FC236}">
                <a16:creationId xmlns:a16="http://schemas.microsoft.com/office/drawing/2014/main" id="{2CB8675C-AD0F-6A14-27EE-229995A411B5}"/>
              </a:ext>
            </a:extLst>
          </p:cNvPr>
          <p:cNvSpPr txBox="1"/>
          <p:nvPr/>
        </p:nvSpPr>
        <p:spPr>
          <a:xfrm>
            <a:off x="8191500" y="2832099"/>
            <a:ext cx="30861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Predict → reveal</a:t>
            </a:r>
          </a:p>
        </p:txBody>
      </p:sp>
      <p:sp>
        <p:nvSpPr>
          <p:cNvPr id="12" name="text_10">
            <a:extLst>
              <a:ext uri="{FF2B5EF4-FFF2-40B4-BE49-F238E27FC236}">
                <a16:creationId xmlns:a16="http://schemas.microsoft.com/office/drawing/2014/main" id="{1FEEA46A-7E79-8EEF-AE40-E20C95FBDACB}"/>
              </a:ext>
            </a:extLst>
          </p:cNvPr>
          <p:cNvSpPr txBox="1"/>
          <p:nvPr/>
        </p:nvSpPr>
        <p:spPr>
          <a:xfrm>
            <a:off x="8191500" y="3454399"/>
            <a:ext cx="30861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What moves?
What stays fixed?</a:t>
            </a:r>
            <a:endParaRPr lang="en-IL" sz="2400">
              <a:solidFill>
                <a:srgbClr val="15283B"/>
              </a:solidFill>
              <a:latin typeface="Aptos" panose="020B0004020202020204" pitchFamily="34" charset="0"/>
            </a:endParaRPr>
          </a:p>
        </p:txBody>
      </p:sp>
      <p:sp>
        <p:nvSpPr>
          <p:cNvPr id="13" name="text_11">
            <a:extLst>
              <a:ext uri="{FF2B5EF4-FFF2-40B4-BE49-F238E27FC236}">
                <a16:creationId xmlns:a16="http://schemas.microsoft.com/office/drawing/2014/main" id="{5B4EE0AC-D5F6-B5F8-1F7E-E8C6E37428D7}"/>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What moves? What information is still missing?</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4033791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6536D26-F611-852C-4AD2-D71C3D6BF74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924522E0-4343-A04B-1333-FE1035E34CC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Predict ranges; score agreement</a:t>
            </a:r>
          </a:p>
        </p:txBody>
      </p:sp>
      <p:sp>
        <p:nvSpPr>
          <p:cNvPr id="4" name="text_3">
            <a:extLst>
              <a:ext uri="{FF2B5EF4-FFF2-40B4-BE49-F238E27FC236}">
                <a16:creationId xmlns:a16="http://schemas.microsoft.com/office/drawing/2014/main" id="{6CB05433-739C-3C28-34EF-020001CBA44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Likelihood rewards hypotheses that explain the measurement.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61CE419-E78A-19A9-119E-74DE9BBB268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CCDA867-DB65-18D2-F114-7650D09F967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A8D14EB-C774-E6A1-18C3-C912D27EB28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text_7">
            <a:extLst>
              <a:ext uri="{FF2B5EF4-FFF2-40B4-BE49-F238E27FC236}">
                <a16:creationId xmlns:a16="http://schemas.microsoft.com/office/drawing/2014/main" id="{C7B182B0-457F-B476-2A3A-9185499C8DAB}"/>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h</a:t>
            </a:r>
            <a:r>
              <a:rPr lang="en-IL" sz="2304" baseline="-22000">
                <a:solidFill>
                  <a:srgbClr val="2459D3"/>
                </a:solidFill>
                <a:latin typeface="Cambria Math" panose="02040503050406030204" pitchFamily="18" charset="0"/>
              </a:rPr>
              <a:t>j</a:t>
            </a:r>
            <a:r>
              <a:rPr lang="en-IL" sz="3200">
                <a:solidFill>
                  <a:srgbClr val="2459D3"/>
                </a:solidFill>
                <a:latin typeface="Cambria Math" panose="02040503050406030204" pitchFamily="18" charset="0"/>
              </a:rPr>
              <a:t>(p) = ‖m</a:t>
            </a:r>
            <a:r>
              <a:rPr lang="en-IL" sz="2304" baseline="-22000">
                <a:solidFill>
                  <a:srgbClr val="2459D3"/>
                </a:solidFill>
                <a:latin typeface="Cambria Math" panose="02040503050406030204" pitchFamily="18" charset="0"/>
              </a:rPr>
              <a:t>j</a:t>
            </a:r>
            <a:r>
              <a:rPr lang="en-IL" sz="3200">
                <a:solidFill>
                  <a:srgbClr val="2459D3"/>
                </a:solidFill>
                <a:latin typeface="Cambria Math" panose="02040503050406030204" pitchFamily="18" charset="0"/>
              </a:rPr>
              <a:t> − p‖₂;    z</a:t>
            </a:r>
            <a:r>
              <a:rPr lang="en-IL" sz="2304" baseline="-22000">
                <a:solidFill>
                  <a:srgbClr val="2459D3"/>
                </a:solidFill>
                <a:latin typeface="Cambria Math" panose="02040503050406030204" pitchFamily="18" charset="0"/>
              </a:rPr>
              <a:t>t,j</a:t>
            </a:r>
            <a:r>
              <a:rPr lang="en-IL" sz="3200">
                <a:solidFill>
                  <a:srgbClr val="2459D3"/>
                </a:solidFill>
                <a:latin typeface="Cambria Math" panose="02040503050406030204" pitchFamily="18" charset="0"/>
              </a:rPr>
              <a:t> = h</a:t>
            </a:r>
            <a:r>
              <a:rPr lang="en-IL" sz="2304" baseline="-22000">
                <a:solidFill>
                  <a:srgbClr val="2459D3"/>
                </a:solidFill>
                <a:latin typeface="Cambria Math" panose="02040503050406030204" pitchFamily="18" charset="0"/>
              </a:rPr>
              <a:t>j</a:t>
            </a:r>
            <a:r>
              <a:rPr lang="en-IL" sz="3200">
                <a:solidFill>
                  <a:srgbClr val="2459D3"/>
                </a:solidFill>
                <a:latin typeface="Cambria Math" panose="02040503050406030204" pitchFamily="18" charset="0"/>
              </a:rPr>
              <a:t>(p</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a:t>
            </a:r>
            <a:r>
              <a:rPr lang="el-GR" sz="3200">
                <a:solidFill>
                  <a:srgbClr val="2459D3"/>
                </a:solidFill>
                <a:latin typeface="Cambria Math" panose="02040503050406030204" pitchFamily="18" charset="0"/>
              </a:rPr>
              <a:t>ν</a:t>
            </a:r>
            <a:r>
              <a:rPr lang="en-IL" sz="2304" baseline="-22000">
                <a:solidFill>
                  <a:srgbClr val="2459D3"/>
                </a:solidFill>
                <a:latin typeface="Cambria Math" panose="02040503050406030204" pitchFamily="18" charset="0"/>
              </a:rPr>
              <a:t>t,j</a:t>
            </a:r>
          </a:p>
        </p:txBody>
      </p:sp>
      <p:sp>
        <p:nvSpPr>
          <p:cNvPr id="9" name="text_8">
            <a:extLst>
              <a:ext uri="{FF2B5EF4-FFF2-40B4-BE49-F238E27FC236}">
                <a16:creationId xmlns:a16="http://schemas.microsoft.com/office/drawing/2014/main" id="{053A9CA4-EC99-5C40-5515-622B0F8C86E1}"/>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ν</a:t>
            </a:r>
            <a:r>
              <a:rPr lang="pt-BR" sz="2304" baseline="-22000">
                <a:solidFill>
                  <a:srgbClr val="15283B"/>
                </a:solidFill>
                <a:latin typeface="Cambria Math" panose="02040503050406030204" pitchFamily="18" charset="0"/>
              </a:rPr>
              <a:t>t,j</a:t>
            </a:r>
            <a:r>
              <a:rPr lang="pt-BR" sz="3200">
                <a:solidFill>
                  <a:srgbClr val="15283B"/>
                </a:solidFill>
                <a:latin typeface="Cambria Math" panose="02040503050406030204" pitchFamily="18" charset="0"/>
              </a:rPr>
              <a:t> ∼ N(0, σ</a:t>
            </a:r>
            <a:r>
              <a:rPr lang="pt-BR" sz="2304" baseline="-22000">
                <a:solidFill>
                  <a:srgbClr val="15283B"/>
                </a:solidFill>
                <a:latin typeface="Cambria Math" panose="02040503050406030204" pitchFamily="18" charset="0"/>
              </a:rPr>
              <a:t>z</a:t>
            </a:r>
            <a:r>
              <a:rPr lang="pt-BR" sz="3200">
                <a:solidFill>
                  <a:srgbClr val="15283B"/>
                </a:solidFill>
                <a:latin typeface="Cambria Math" panose="02040503050406030204" pitchFamily="18" charset="0"/>
              </a:rPr>
              <a:t>²)</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041CBB77-905C-190F-B057-AB0F6D11A57B}"/>
              </a:ext>
            </a:extLst>
          </p:cNvPr>
          <p:cNvSpPr txBox="1"/>
          <p:nvPr/>
        </p:nvSpPr>
        <p:spPr>
          <a:xfrm>
            <a:off x="685800" y="4508499"/>
            <a:ext cx="10820400" cy="7493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L</a:t>
            </a:r>
            <a:r>
              <a:rPr lang="en-IL" sz="2304" baseline="-22000">
                <a:solidFill>
                  <a:srgbClr val="15283B"/>
                </a:solidFill>
                <a:latin typeface="Cambria Math" panose="02040503050406030204" pitchFamily="18" charset="0"/>
              </a:rPr>
              <a:t>i</a:t>
            </a:r>
            <a:r>
              <a:rPr lang="en-IL" sz="3200">
                <a:solidFill>
                  <a:srgbClr val="15283B"/>
                </a:solidFill>
                <a:latin typeface="Cambria Math" panose="02040503050406030204" pitchFamily="18" charset="0"/>
              </a:rPr>
              <a:t> ∝ exp[−½ ∑</a:t>
            </a:r>
            <a:r>
              <a:rPr lang="en-IL" sz="2304" baseline="-22000">
                <a:solidFill>
                  <a:srgbClr val="15283B"/>
                </a:solidFill>
                <a:latin typeface="Cambria Math" panose="02040503050406030204" pitchFamily="18" charset="0"/>
              </a:rPr>
              <a:t>j</a:t>
            </a:r>
            <a:r>
              <a:rPr lang="en-IL" sz="3200">
                <a:solidFill>
                  <a:srgbClr val="15283B"/>
                </a:solidFill>
                <a:latin typeface="Cambria Math" panose="02040503050406030204" pitchFamily="18" charset="0"/>
              </a:rPr>
              <a:t> ((z</a:t>
            </a:r>
            <a:r>
              <a:rPr lang="en-IL" sz="2304" baseline="-22000">
                <a:solidFill>
                  <a:srgbClr val="15283B"/>
                </a:solidFill>
                <a:latin typeface="Cambria Math" panose="02040503050406030204" pitchFamily="18" charset="0"/>
              </a:rPr>
              <a:t>t,j</a:t>
            </a:r>
            <a:r>
              <a:rPr lang="en-IL" sz="3200">
                <a:solidFill>
                  <a:srgbClr val="15283B"/>
                </a:solidFill>
                <a:latin typeface="Cambria Math" panose="02040503050406030204" pitchFamily="18" charset="0"/>
              </a:rPr>
              <a:t> − h</a:t>
            </a:r>
            <a:r>
              <a:rPr lang="en-IL" sz="2304" baseline="-22000">
                <a:solidFill>
                  <a:srgbClr val="15283B"/>
                </a:solidFill>
                <a:latin typeface="Cambria Math" panose="02040503050406030204" pitchFamily="18" charset="0"/>
              </a:rPr>
              <a:t>j</a:t>
            </a:r>
            <a:r>
              <a:rPr lang="en-IL" sz="3200">
                <a:solidFill>
                  <a:srgbClr val="15283B"/>
                </a:solidFill>
                <a:latin typeface="Cambria Math" panose="02040503050406030204" pitchFamily="18" charset="0"/>
              </a:rPr>
              <a:t>(p</a:t>
            </a:r>
            <a:r>
              <a:rPr lang="en-IL" sz="2304" baseline="-22000">
                <a:solidFill>
                  <a:srgbClr val="15283B"/>
                </a:solidFill>
                <a:latin typeface="Cambria Math" panose="02040503050406030204" pitchFamily="18" charset="0"/>
              </a:rPr>
              <a:t>t</a:t>
            </a:r>
            <a:r>
              <a:rPr lang="en-IL" sz="2304" baseline="32000">
                <a:solidFill>
                  <a:srgbClr val="15283B"/>
                </a:solidFill>
                <a:latin typeface="Cambria Math" panose="02040503050406030204" pitchFamily="18" charset="0"/>
              </a:rPr>
              <a:t>(i)</a:t>
            </a:r>
            <a:r>
              <a:rPr lang="en-IL" sz="3200">
                <a:solidFill>
                  <a:srgbClr val="15283B"/>
                </a:solidFill>
                <a:latin typeface="Cambria Math" panose="02040503050406030204" pitchFamily="18" charset="0"/>
              </a:rPr>
              <a:t>))/</a:t>
            </a:r>
            <a:r>
              <a:rPr lang="el-GR" sz="3200">
                <a:solidFill>
                  <a:srgbClr val="15283B"/>
                </a:solidFill>
                <a:latin typeface="Cambria Math" panose="02040503050406030204" pitchFamily="18" charset="0"/>
              </a:rPr>
              <a:t>σ</a:t>
            </a:r>
            <a:r>
              <a:rPr lang="en-IL" sz="2304" baseline="-22000">
                <a:solidFill>
                  <a:srgbClr val="15283B"/>
                </a:solidFill>
                <a:latin typeface="Cambria Math" panose="02040503050406030204" pitchFamily="18" charset="0"/>
              </a:rPr>
              <a:t>z</a:t>
            </a:r>
            <a:r>
              <a:rPr lang="en-IL" sz="3200">
                <a:solidFill>
                  <a:srgbClr val="15283B"/>
                </a:solidFill>
                <a:latin typeface="Cambria Math" panose="02040503050406030204" pitchFamily="18" charset="0"/>
              </a:rPr>
              <a:t>)²]</a:t>
            </a:r>
          </a:p>
        </p:txBody>
      </p:sp>
      <p:sp>
        <p:nvSpPr>
          <p:cNvPr id="11" name="text_10">
            <a:extLst>
              <a:ext uri="{FF2B5EF4-FFF2-40B4-BE49-F238E27FC236}">
                <a16:creationId xmlns:a16="http://schemas.microsoft.com/office/drawing/2014/main" id="{1C61D7BF-65DD-DFA0-1B11-A608237DDEDF}"/>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l-GR" sz="2400">
                <a:solidFill>
                  <a:srgbClr val="526477"/>
                </a:solidFill>
                <a:latin typeface="Aptos" panose="020B0004020202020204" pitchFamily="34" charset="0"/>
              </a:rPr>
              <a:t>σ_</a:t>
            </a:r>
            <a:r>
              <a:rPr lang="en-IL" sz="2400">
                <a:solidFill>
                  <a:srgbClr val="526477"/>
                </a:solidFill>
                <a:latin typeface="Aptos" panose="020B0004020202020204" pitchFamily="34" charset="0"/>
              </a:rPr>
              <a:t>z = 0.15 m or 0.60 m.</a:t>
            </a:r>
          </a:p>
        </p:txBody>
      </p:sp>
    </p:spTree>
    <p:extLst>
      <p:ext uri="{BB962C8B-B14F-4D97-AF65-F5344CB8AC3E}">
        <p14:creationId xmlns:p14="http://schemas.microsoft.com/office/powerpoint/2010/main" val="1273317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E0A3567-895B-06CE-4677-E291C2DC4CC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560DCEE-CF02-C558-3484-BE138EE4510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Weight, then normalize</a:t>
            </a:r>
          </a:p>
        </p:txBody>
      </p:sp>
      <p:sp>
        <p:nvSpPr>
          <p:cNvPr id="4" name="text_3">
            <a:extLst>
              <a:ext uri="{FF2B5EF4-FFF2-40B4-BE49-F238E27FC236}">
                <a16:creationId xmlns:a16="http://schemas.microsoft.com/office/drawing/2014/main" id="{36CA9944-8E7E-4C14-8F5B-ABC343580A7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Keep particle positions; change their relative plausibility.</a:t>
            </a:r>
          </a:p>
        </p:txBody>
      </p:sp>
      <p:cxnSp>
        <p:nvCxnSpPr>
          <p:cNvPr id="5" name="Straight Connector 4">
            <a:extLst>
              <a:ext uri="{FF2B5EF4-FFF2-40B4-BE49-F238E27FC236}">
                <a16:creationId xmlns:a16="http://schemas.microsoft.com/office/drawing/2014/main" id="{15C41A05-3947-1F01-1F7B-DA269E6F118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AE1FF3C-75E9-A5B5-111C-5BB785BDC92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0282D33-FEC4-AD6B-A33D-0587DFB29BD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sp>
        <p:nvSpPr>
          <p:cNvPr id="8" name="text_7">
            <a:extLst>
              <a:ext uri="{FF2B5EF4-FFF2-40B4-BE49-F238E27FC236}">
                <a16:creationId xmlns:a16="http://schemas.microsoft.com/office/drawing/2014/main" id="{53CF20FA-DDFB-6B7D-EC13-228AD98C2C46}"/>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it-IT" sz="3200">
                <a:solidFill>
                  <a:srgbClr val="2459D3"/>
                </a:solidFill>
                <a:latin typeface="Cambria Math" panose="02040503050406030204" pitchFamily="18" charset="0"/>
              </a:rPr>
              <a:t>w̃</a:t>
            </a:r>
            <a:r>
              <a:rPr lang="it-IT" sz="2304" baseline="-22000">
                <a:solidFill>
                  <a:srgbClr val="2459D3"/>
                </a:solidFill>
                <a:latin typeface="Cambria Math" panose="02040503050406030204" pitchFamily="18" charset="0"/>
              </a:rPr>
              <a:t>i</a:t>
            </a:r>
            <a:r>
              <a:rPr lang="it-IT" sz="3200">
                <a:solidFill>
                  <a:srgbClr val="2459D3"/>
                </a:solidFill>
                <a:latin typeface="Cambria Math" panose="02040503050406030204" pitchFamily="18" charset="0"/>
              </a:rPr>
              <a:t> = w</a:t>
            </a:r>
            <a:r>
              <a:rPr lang="it-IT" sz="2304" baseline="-22000">
                <a:solidFill>
                  <a:srgbClr val="2459D3"/>
                </a:solidFill>
                <a:latin typeface="Cambria Math" panose="02040503050406030204" pitchFamily="18" charset="0"/>
              </a:rPr>
              <a:t>t−1</a:t>
            </a:r>
            <a:r>
              <a:rPr lang="it-IT" sz="2304" baseline="32000">
                <a:solidFill>
                  <a:srgbClr val="2459D3"/>
                </a:solidFill>
                <a:latin typeface="Cambria Math" panose="02040503050406030204" pitchFamily="18" charset="0"/>
              </a:rPr>
              <a:t>(i)</a:t>
            </a:r>
            <a:r>
              <a:rPr lang="it-IT" sz="3200">
                <a:solidFill>
                  <a:srgbClr val="2459D3"/>
                </a:solidFill>
                <a:latin typeface="Cambria Math" panose="02040503050406030204" pitchFamily="18" charset="0"/>
              </a:rPr>
              <a:t> L</a:t>
            </a:r>
            <a:r>
              <a:rPr lang="it-IT" sz="2304" baseline="-22000">
                <a:solidFill>
                  <a:srgbClr val="2459D3"/>
                </a:solidFill>
                <a:latin typeface="Cambria Math" panose="02040503050406030204" pitchFamily="18" charset="0"/>
              </a:rPr>
              <a:t>i</a:t>
            </a:r>
            <a:endParaRPr lang="en-IL" sz="2304" baseline="-220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11BAB976-719A-4322-DC37-2ED169AF049B}"/>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pl-PL" sz="3200">
                <a:solidFill>
                  <a:srgbClr val="15283B"/>
                </a:solidFill>
                <a:latin typeface="Cambria Math" panose="02040503050406030204" pitchFamily="18" charset="0"/>
              </a:rPr>
              <a:t>w</a:t>
            </a:r>
            <a:r>
              <a:rPr lang="pl-PL" sz="2304" baseline="-22000">
                <a:solidFill>
                  <a:srgbClr val="15283B"/>
                </a:solidFill>
                <a:latin typeface="Cambria Math" panose="02040503050406030204" pitchFamily="18" charset="0"/>
              </a:rPr>
              <a:t>t</a:t>
            </a:r>
            <a:r>
              <a:rPr lang="pl-PL" sz="2304" baseline="32000">
                <a:solidFill>
                  <a:srgbClr val="15283B"/>
                </a:solidFill>
                <a:latin typeface="Cambria Math" panose="02040503050406030204" pitchFamily="18" charset="0"/>
              </a:rPr>
              <a:t>(i)</a:t>
            </a:r>
            <a:r>
              <a:rPr lang="pl-PL" sz="3200">
                <a:solidFill>
                  <a:srgbClr val="15283B"/>
                </a:solidFill>
                <a:latin typeface="Cambria Math" panose="02040503050406030204" pitchFamily="18" charset="0"/>
              </a:rPr>
              <a:t> = w̃</a:t>
            </a:r>
            <a:r>
              <a:rPr lang="pl-PL" sz="2304" baseline="-22000">
                <a:solidFill>
                  <a:srgbClr val="15283B"/>
                </a:solidFill>
                <a:latin typeface="Cambria Math" panose="02040503050406030204" pitchFamily="18" charset="0"/>
              </a:rPr>
              <a:t>i</a:t>
            </a:r>
            <a:r>
              <a:rPr lang="pl-PL" sz="3200">
                <a:solidFill>
                  <a:srgbClr val="15283B"/>
                </a:solidFill>
                <a:latin typeface="Cambria Math" panose="02040503050406030204" pitchFamily="18" charset="0"/>
              </a:rPr>
              <a:t> / ∑</a:t>
            </a:r>
            <a:r>
              <a:rPr lang="pl-PL" sz="2304" baseline="-22000">
                <a:solidFill>
                  <a:srgbClr val="15283B"/>
                </a:solidFill>
                <a:latin typeface="Cambria Math" panose="02040503050406030204" pitchFamily="18" charset="0"/>
              </a:rPr>
              <a:t>k</a:t>
            </a:r>
            <a:r>
              <a:rPr lang="pl-PL" sz="3200">
                <a:solidFill>
                  <a:srgbClr val="15283B"/>
                </a:solidFill>
                <a:latin typeface="Cambria Math" panose="02040503050406030204" pitchFamily="18" charset="0"/>
              </a:rPr>
              <a:t> w̃</a:t>
            </a:r>
            <a:r>
              <a:rPr lang="pl-PL" sz="2304" baseline="-22000">
                <a:solidFill>
                  <a:srgbClr val="15283B"/>
                </a:solidFill>
                <a:latin typeface="Cambria Math" panose="02040503050406030204" pitchFamily="18" charset="0"/>
              </a:rPr>
              <a:t>k</a:t>
            </a:r>
            <a:endParaRPr lang="en-IL" sz="2304" baseline="-220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C149D264-30D4-F202-D585-FBF099FFA890}"/>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The estimate can move while the dots stay fixed.</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97577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9B0415F-EE2C-CD56-B87D-90D3C9165DA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7922387-D131-D0FE-E64E-763BFDA5DB2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Calculate three posterior weights</a:t>
            </a:r>
          </a:p>
        </p:txBody>
      </p:sp>
      <p:sp>
        <p:nvSpPr>
          <p:cNvPr id="4" name="text_3">
            <a:extLst>
              <a:ext uri="{FF2B5EF4-FFF2-40B4-BE49-F238E27FC236}">
                <a16:creationId xmlns:a16="http://schemas.microsoft.com/office/drawing/2014/main" id="{7E42E892-29E4-7361-C4CD-EAA1D554E74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Equal priors · likelihoods 0.6, 0.3, 0.1</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F21CEB4-2654-6B2D-CE13-70C02A8E682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F110BC4-02BD-99AE-103F-47DA5A4806F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152A100-2617-674C-5ABE-98A562F793D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Rectangle: Rounded Corners 7">
            <a:extLst>
              <a:ext uri="{FF2B5EF4-FFF2-40B4-BE49-F238E27FC236}">
                <a16:creationId xmlns:a16="http://schemas.microsoft.com/office/drawing/2014/main" id="{2EF0D9A2-0260-CC02-0DBE-D55DFDEBC5D9}"/>
              </a:ext>
            </a:extLst>
          </p:cNvPr>
          <p:cNvSpPr/>
          <p:nvPr/>
        </p:nvSpPr>
        <p:spPr>
          <a:xfrm>
            <a:off x="685800" y="2679700"/>
            <a:ext cx="1739900" cy="622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89958F9-4738-1166-5102-EB5E96761260}"/>
              </a:ext>
            </a:extLst>
          </p:cNvPr>
          <p:cNvSpPr txBox="1"/>
          <p:nvPr/>
        </p:nvSpPr>
        <p:spPr>
          <a:xfrm>
            <a:off x="800100" y="2781299"/>
            <a:ext cx="1549400" cy="5080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Particle</a:t>
            </a:r>
          </a:p>
        </p:txBody>
      </p:sp>
      <p:sp>
        <p:nvSpPr>
          <p:cNvPr id="10" name="Rectangle: Rounded Corners 9">
            <a:extLst>
              <a:ext uri="{FF2B5EF4-FFF2-40B4-BE49-F238E27FC236}">
                <a16:creationId xmlns:a16="http://schemas.microsoft.com/office/drawing/2014/main" id="{A80744A1-0F2A-F76A-496C-D45624AE9C7C}"/>
              </a:ext>
            </a:extLst>
          </p:cNvPr>
          <p:cNvSpPr/>
          <p:nvPr/>
        </p:nvSpPr>
        <p:spPr>
          <a:xfrm>
            <a:off x="685800" y="3340100"/>
            <a:ext cx="17399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3B3A6426-14C2-D099-BE6B-A16DC441B9AB}"/>
              </a:ext>
            </a:extLst>
          </p:cNvPr>
          <p:cNvSpPr txBox="1"/>
          <p:nvPr/>
        </p:nvSpPr>
        <p:spPr>
          <a:xfrm>
            <a:off x="800100" y="3441699"/>
            <a:ext cx="15494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a:t>
            </a:r>
          </a:p>
        </p:txBody>
      </p:sp>
      <p:sp>
        <p:nvSpPr>
          <p:cNvPr id="12" name="Rectangle: Rounded Corners 11">
            <a:extLst>
              <a:ext uri="{FF2B5EF4-FFF2-40B4-BE49-F238E27FC236}">
                <a16:creationId xmlns:a16="http://schemas.microsoft.com/office/drawing/2014/main" id="{D97837CB-800D-02AA-5E0B-E9D85223B4F5}"/>
              </a:ext>
            </a:extLst>
          </p:cNvPr>
          <p:cNvSpPr/>
          <p:nvPr/>
        </p:nvSpPr>
        <p:spPr>
          <a:xfrm>
            <a:off x="685800" y="4000500"/>
            <a:ext cx="17399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369B8358-6B6A-9E69-76C7-EA211CB6545B}"/>
              </a:ext>
            </a:extLst>
          </p:cNvPr>
          <p:cNvSpPr txBox="1"/>
          <p:nvPr/>
        </p:nvSpPr>
        <p:spPr>
          <a:xfrm>
            <a:off x="800100" y="4102099"/>
            <a:ext cx="15494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B</a:t>
            </a:r>
          </a:p>
        </p:txBody>
      </p:sp>
      <p:sp>
        <p:nvSpPr>
          <p:cNvPr id="14" name="Rectangle: Rounded Corners 13">
            <a:extLst>
              <a:ext uri="{FF2B5EF4-FFF2-40B4-BE49-F238E27FC236}">
                <a16:creationId xmlns:a16="http://schemas.microsoft.com/office/drawing/2014/main" id="{28BF4BB8-E4D9-095A-4C0B-0375AAEA2AA7}"/>
              </a:ext>
            </a:extLst>
          </p:cNvPr>
          <p:cNvSpPr/>
          <p:nvPr/>
        </p:nvSpPr>
        <p:spPr>
          <a:xfrm>
            <a:off x="685800" y="4660900"/>
            <a:ext cx="17399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1B04A963-9D67-DB9A-39CE-B8BAD53770BB}"/>
              </a:ext>
            </a:extLst>
          </p:cNvPr>
          <p:cNvSpPr txBox="1"/>
          <p:nvPr/>
        </p:nvSpPr>
        <p:spPr>
          <a:xfrm>
            <a:off x="800100" y="4762499"/>
            <a:ext cx="15494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a:t>
            </a:r>
          </a:p>
        </p:txBody>
      </p:sp>
      <p:sp>
        <p:nvSpPr>
          <p:cNvPr id="16" name="Rectangle: Rounded Corners 15">
            <a:extLst>
              <a:ext uri="{FF2B5EF4-FFF2-40B4-BE49-F238E27FC236}">
                <a16:creationId xmlns:a16="http://schemas.microsoft.com/office/drawing/2014/main" id="{BC792D1A-EECA-1BF2-79EB-4BF84C7D2C42}"/>
              </a:ext>
            </a:extLst>
          </p:cNvPr>
          <p:cNvSpPr/>
          <p:nvPr/>
        </p:nvSpPr>
        <p:spPr>
          <a:xfrm>
            <a:off x="2463800" y="2679700"/>
            <a:ext cx="3771900" cy="622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_16">
            <a:extLst>
              <a:ext uri="{FF2B5EF4-FFF2-40B4-BE49-F238E27FC236}">
                <a16:creationId xmlns:a16="http://schemas.microsoft.com/office/drawing/2014/main" id="{2531E7F3-400A-30F1-0430-1358A2063177}"/>
              </a:ext>
            </a:extLst>
          </p:cNvPr>
          <p:cNvSpPr txBox="1"/>
          <p:nvPr/>
        </p:nvSpPr>
        <p:spPr>
          <a:xfrm>
            <a:off x="2578100" y="2781299"/>
            <a:ext cx="3581400" cy="5080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Prior × likelihood</a:t>
            </a:r>
          </a:p>
        </p:txBody>
      </p:sp>
      <p:sp>
        <p:nvSpPr>
          <p:cNvPr id="18" name="Rectangle: Rounded Corners 17">
            <a:extLst>
              <a:ext uri="{FF2B5EF4-FFF2-40B4-BE49-F238E27FC236}">
                <a16:creationId xmlns:a16="http://schemas.microsoft.com/office/drawing/2014/main" id="{2AEB1CB8-15BF-1020-A17A-1791C4901D03}"/>
              </a:ext>
            </a:extLst>
          </p:cNvPr>
          <p:cNvSpPr/>
          <p:nvPr/>
        </p:nvSpPr>
        <p:spPr>
          <a:xfrm>
            <a:off x="2463800" y="3340100"/>
            <a:ext cx="37719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2078F753-57A6-6188-19E2-9921E18B0B7B}"/>
              </a:ext>
            </a:extLst>
          </p:cNvPr>
          <p:cNvSpPr txBox="1"/>
          <p:nvPr/>
        </p:nvSpPr>
        <p:spPr>
          <a:xfrm>
            <a:off x="2578100" y="3441699"/>
            <a:ext cx="35814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(1/3) × 0.6 = 0.2</a:t>
            </a:r>
          </a:p>
        </p:txBody>
      </p:sp>
      <p:sp>
        <p:nvSpPr>
          <p:cNvPr id="20" name="Rectangle: Rounded Corners 19">
            <a:extLst>
              <a:ext uri="{FF2B5EF4-FFF2-40B4-BE49-F238E27FC236}">
                <a16:creationId xmlns:a16="http://schemas.microsoft.com/office/drawing/2014/main" id="{632CF5C5-F4BD-2FB3-1165-6A66D0D786E0}"/>
              </a:ext>
            </a:extLst>
          </p:cNvPr>
          <p:cNvSpPr/>
          <p:nvPr/>
        </p:nvSpPr>
        <p:spPr>
          <a:xfrm>
            <a:off x="2463800" y="4000500"/>
            <a:ext cx="37719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775C3C73-6C43-C359-3297-E2AE9BC921B0}"/>
              </a:ext>
            </a:extLst>
          </p:cNvPr>
          <p:cNvSpPr txBox="1"/>
          <p:nvPr/>
        </p:nvSpPr>
        <p:spPr>
          <a:xfrm>
            <a:off x="2578100" y="4102099"/>
            <a:ext cx="35814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(1/3) × 0.3 = 0.1</a:t>
            </a:r>
          </a:p>
        </p:txBody>
      </p:sp>
      <p:sp>
        <p:nvSpPr>
          <p:cNvPr id="22" name="Rectangle: Rounded Corners 21">
            <a:extLst>
              <a:ext uri="{FF2B5EF4-FFF2-40B4-BE49-F238E27FC236}">
                <a16:creationId xmlns:a16="http://schemas.microsoft.com/office/drawing/2014/main" id="{C94E73D4-9750-0A79-1CA2-F229D11CCBDB}"/>
              </a:ext>
            </a:extLst>
          </p:cNvPr>
          <p:cNvSpPr/>
          <p:nvPr/>
        </p:nvSpPr>
        <p:spPr>
          <a:xfrm>
            <a:off x="2463800" y="4660900"/>
            <a:ext cx="37719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_22">
            <a:extLst>
              <a:ext uri="{FF2B5EF4-FFF2-40B4-BE49-F238E27FC236}">
                <a16:creationId xmlns:a16="http://schemas.microsoft.com/office/drawing/2014/main" id="{6F416B59-A34B-AF81-A1BE-7256C5CB9757}"/>
              </a:ext>
            </a:extLst>
          </p:cNvPr>
          <p:cNvSpPr txBox="1"/>
          <p:nvPr/>
        </p:nvSpPr>
        <p:spPr>
          <a:xfrm>
            <a:off x="2578100" y="4762499"/>
            <a:ext cx="35814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(1/3) × 0.1 = 1/30</a:t>
            </a:r>
          </a:p>
        </p:txBody>
      </p:sp>
      <p:sp>
        <p:nvSpPr>
          <p:cNvPr id="24" name="Rectangle: Rounded Corners 23">
            <a:extLst>
              <a:ext uri="{FF2B5EF4-FFF2-40B4-BE49-F238E27FC236}">
                <a16:creationId xmlns:a16="http://schemas.microsoft.com/office/drawing/2014/main" id="{E5CA6B46-2838-C3B9-341D-09FF0379AFFA}"/>
              </a:ext>
            </a:extLst>
          </p:cNvPr>
          <p:cNvSpPr/>
          <p:nvPr/>
        </p:nvSpPr>
        <p:spPr>
          <a:xfrm>
            <a:off x="6273800" y="2679700"/>
            <a:ext cx="2311400" cy="622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5" name="text_24">
            <a:extLst>
              <a:ext uri="{FF2B5EF4-FFF2-40B4-BE49-F238E27FC236}">
                <a16:creationId xmlns:a16="http://schemas.microsoft.com/office/drawing/2014/main" id="{871198C1-96D0-2E31-4490-9AD5E04B3EF2}"/>
              </a:ext>
            </a:extLst>
          </p:cNvPr>
          <p:cNvSpPr txBox="1"/>
          <p:nvPr/>
        </p:nvSpPr>
        <p:spPr>
          <a:xfrm>
            <a:off x="6388100" y="2781299"/>
            <a:ext cx="2120900" cy="5080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Posterior</a:t>
            </a:r>
          </a:p>
        </p:txBody>
      </p:sp>
      <p:sp>
        <p:nvSpPr>
          <p:cNvPr id="26" name="Rectangle: Rounded Corners 25">
            <a:extLst>
              <a:ext uri="{FF2B5EF4-FFF2-40B4-BE49-F238E27FC236}">
                <a16:creationId xmlns:a16="http://schemas.microsoft.com/office/drawing/2014/main" id="{4BCA727E-01A1-2127-56EE-1B18B7C0ACC1}"/>
              </a:ext>
            </a:extLst>
          </p:cNvPr>
          <p:cNvSpPr/>
          <p:nvPr/>
        </p:nvSpPr>
        <p:spPr>
          <a:xfrm>
            <a:off x="6273800" y="3340100"/>
            <a:ext cx="23114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_26">
            <a:extLst>
              <a:ext uri="{FF2B5EF4-FFF2-40B4-BE49-F238E27FC236}">
                <a16:creationId xmlns:a16="http://schemas.microsoft.com/office/drawing/2014/main" id="{B20D3509-8ACD-9A30-8A5C-D5A35C755FE7}"/>
              </a:ext>
            </a:extLst>
          </p:cNvPr>
          <p:cNvSpPr txBox="1"/>
          <p:nvPr/>
        </p:nvSpPr>
        <p:spPr>
          <a:xfrm>
            <a:off x="6388100" y="3441699"/>
            <a:ext cx="21209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0.6</a:t>
            </a:r>
          </a:p>
        </p:txBody>
      </p:sp>
      <p:sp>
        <p:nvSpPr>
          <p:cNvPr id="28" name="Rectangle: Rounded Corners 27">
            <a:extLst>
              <a:ext uri="{FF2B5EF4-FFF2-40B4-BE49-F238E27FC236}">
                <a16:creationId xmlns:a16="http://schemas.microsoft.com/office/drawing/2014/main" id="{343DCF0B-CCFE-0E75-2A83-0BD3CEA8FC84}"/>
              </a:ext>
            </a:extLst>
          </p:cNvPr>
          <p:cNvSpPr/>
          <p:nvPr/>
        </p:nvSpPr>
        <p:spPr>
          <a:xfrm>
            <a:off x="6273800" y="4000500"/>
            <a:ext cx="23114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9" name="text_28">
            <a:extLst>
              <a:ext uri="{FF2B5EF4-FFF2-40B4-BE49-F238E27FC236}">
                <a16:creationId xmlns:a16="http://schemas.microsoft.com/office/drawing/2014/main" id="{DDF1C9F9-377F-1EAC-2D74-6C3ACD5D135F}"/>
              </a:ext>
            </a:extLst>
          </p:cNvPr>
          <p:cNvSpPr txBox="1"/>
          <p:nvPr/>
        </p:nvSpPr>
        <p:spPr>
          <a:xfrm>
            <a:off x="6388100" y="4102099"/>
            <a:ext cx="21209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0.3</a:t>
            </a:r>
          </a:p>
        </p:txBody>
      </p:sp>
      <p:sp>
        <p:nvSpPr>
          <p:cNvPr id="30" name="Rectangle: Rounded Corners 29">
            <a:extLst>
              <a:ext uri="{FF2B5EF4-FFF2-40B4-BE49-F238E27FC236}">
                <a16:creationId xmlns:a16="http://schemas.microsoft.com/office/drawing/2014/main" id="{AA683E26-85BA-0573-8136-B7F418CDCB75}"/>
              </a:ext>
            </a:extLst>
          </p:cNvPr>
          <p:cNvSpPr/>
          <p:nvPr/>
        </p:nvSpPr>
        <p:spPr>
          <a:xfrm>
            <a:off x="6273800" y="4660900"/>
            <a:ext cx="23114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text_30">
            <a:extLst>
              <a:ext uri="{FF2B5EF4-FFF2-40B4-BE49-F238E27FC236}">
                <a16:creationId xmlns:a16="http://schemas.microsoft.com/office/drawing/2014/main" id="{BA1936D9-B0ED-819E-DB0B-CB74F606EA0C}"/>
              </a:ext>
            </a:extLst>
          </p:cNvPr>
          <p:cNvSpPr txBox="1"/>
          <p:nvPr/>
        </p:nvSpPr>
        <p:spPr>
          <a:xfrm>
            <a:off x="6388100" y="4762499"/>
            <a:ext cx="21209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0.1</a:t>
            </a:r>
          </a:p>
        </p:txBody>
      </p:sp>
      <p:sp>
        <p:nvSpPr>
          <p:cNvPr id="32" name="Rectangle: Rounded Corners 31">
            <a:extLst>
              <a:ext uri="{FF2B5EF4-FFF2-40B4-BE49-F238E27FC236}">
                <a16:creationId xmlns:a16="http://schemas.microsoft.com/office/drawing/2014/main" id="{88140233-DBC6-CDC2-B5C1-252A815C593B}"/>
              </a:ext>
            </a:extLst>
          </p:cNvPr>
          <p:cNvSpPr/>
          <p:nvPr/>
        </p:nvSpPr>
        <p:spPr>
          <a:xfrm>
            <a:off x="8623300" y="2679700"/>
            <a:ext cx="2844800" cy="622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text_32">
            <a:extLst>
              <a:ext uri="{FF2B5EF4-FFF2-40B4-BE49-F238E27FC236}">
                <a16:creationId xmlns:a16="http://schemas.microsoft.com/office/drawing/2014/main" id="{FF16AB82-DA89-F699-4A16-ED845F614100}"/>
              </a:ext>
            </a:extLst>
          </p:cNvPr>
          <p:cNvSpPr txBox="1"/>
          <p:nvPr/>
        </p:nvSpPr>
        <p:spPr>
          <a:xfrm>
            <a:off x="8737600" y="2781299"/>
            <a:ext cx="2654300" cy="508000"/>
          </a:xfrm>
          <a:prstGeom prst="rect">
            <a:avLst/>
          </a:prstGeom>
          <a:noFill/>
        </p:spPr>
        <p:txBody>
          <a:bodyPr vert="horz" wrap="square" lIns="0" tIns="0" rIns="0" bIns="0" rtlCol="0" anchor="t">
            <a:noAutofit/>
          </a:bodyPr>
          <a:lstStyle/>
          <a:p>
            <a:r>
              <a:rPr lang="en-IL" sz="2400" b="1">
                <a:solidFill>
                  <a:srgbClr val="15283B"/>
                </a:solidFill>
                <a:latin typeface="Aptos" panose="020B0004020202020204" pitchFamily="34" charset="0"/>
              </a:rPr>
              <a:t>Copies / 10</a:t>
            </a:r>
          </a:p>
        </p:txBody>
      </p:sp>
      <p:sp>
        <p:nvSpPr>
          <p:cNvPr id="34" name="Rectangle: Rounded Corners 33">
            <a:extLst>
              <a:ext uri="{FF2B5EF4-FFF2-40B4-BE49-F238E27FC236}">
                <a16:creationId xmlns:a16="http://schemas.microsoft.com/office/drawing/2014/main" id="{08AF165E-33BE-84E8-C638-73204A1FCDEB}"/>
              </a:ext>
            </a:extLst>
          </p:cNvPr>
          <p:cNvSpPr/>
          <p:nvPr/>
        </p:nvSpPr>
        <p:spPr>
          <a:xfrm>
            <a:off x="8623300" y="3340100"/>
            <a:ext cx="28448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5" name="text_34">
            <a:extLst>
              <a:ext uri="{FF2B5EF4-FFF2-40B4-BE49-F238E27FC236}">
                <a16:creationId xmlns:a16="http://schemas.microsoft.com/office/drawing/2014/main" id="{DE0C66D3-F884-C7E0-0940-D1F8AA18AB33}"/>
              </a:ext>
            </a:extLst>
          </p:cNvPr>
          <p:cNvSpPr txBox="1"/>
          <p:nvPr/>
        </p:nvSpPr>
        <p:spPr>
          <a:xfrm>
            <a:off x="8737600" y="3441699"/>
            <a:ext cx="26543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6</a:t>
            </a:r>
          </a:p>
        </p:txBody>
      </p:sp>
      <p:sp>
        <p:nvSpPr>
          <p:cNvPr id="36" name="Rectangle: Rounded Corners 35">
            <a:extLst>
              <a:ext uri="{FF2B5EF4-FFF2-40B4-BE49-F238E27FC236}">
                <a16:creationId xmlns:a16="http://schemas.microsoft.com/office/drawing/2014/main" id="{0B53CE81-9E77-31A2-9B3E-048BBC0674EA}"/>
              </a:ext>
            </a:extLst>
          </p:cNvPr>
          <p:cNvSpPr/>
          <p:nvPr/>
        </p:nvSpPr>
        <p:spPr>
          <a:xfrm>
            <a:off x="8623300" y="4000500"/>
            <a:ext cx="28448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7" name="text_36">
            <a:extLst>
              <a:ext uri="{FF2B5EF4-FFF2-40B4-BE49-F238E27FC236}">
                <a16:creationId xmlns:a16="http://schemas.microsoft.com/office/drawing/2014/main" id="{9CEB8D04-7004-951E-8410-F8C04EA8594C}"/>
              </a:ext>
            </a:extLst>
          </p:cNvPr>
          <p:cNvSpPr txBox="1"/>
          <p:nvPr/>
        </p:nvSpPr>
        <p:spPr>
          <a:xfrm>
            <a:off x="8737600" y="4102099"/>
            <a:ext cx="26543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3</a:t>
            </a:r>
          </a:p>
        </p:txBody>
      </p:sp>
      <p:sp>
        <p:nvSpPr>
          <p:cNvPr id="38" name="Rectangle: Rounded Corners 37">
            <a:extLst>
              <a:ext uri="{FF2B5EF4-FFF2-40B4-BE49-F238E27FC236}">
                <a16:creationId xmlns:a16="http://schemas.microsoft.com/office/drawing/2014/main" id="{1F5649BF-5051-B03A-6F7F-8F4E8915F660}"/>
              </a:ext>
            </a:extLst>
          </p:cNvPr>
          <p:cNvSpPr/>
          <p:nvPr/>
        </p:nvSpPr>
        <p:spPr>
          <a:xfrm>
            <a:off x="8623300" y="4660900"/>
            <a:ext cx="2844800" cy="622300"/>
          </a:xfrm>
          <a:prstGeom prst="roundRect">
            <a:avLst>
              <a:gd name="adj" fmla="val 9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_38">
            <a:extLst>
              <a:ext uri="{FF2B5EF4-FFF2-40B4-BE49-F238E27FC236}">
                <a16:creationId xmlns:a16="http://schemas.microsoft.com/office/drawing/2014/main" id="{AD557416-FE8B-998F-0ED5-C1BBD792CDB4}"/>
              </a:ext>
            </a:extLst>
          </p:cNvPr>
          <p:cNvSpPr txBox="1"/>
          <p:nvPr/>
        </p:nvSpPr>
        <p:spPr>
          <a:xfrm>
            <a:off x="8737600" y="4762499"/>
            <a:ext cx="2654300" cy="508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a:t>
            </a:r>
          </a:p>
        </p:txBody>
      </p:sp>
      <p:sp>
        <p:nvSpPr>
          <p:cNvPr id="40" name="text_39">
            <a:extLst>
              <a:ext uri="{FF2B5EF4-FFF2-40B4-BE49-F238E27FC236}">
                <a16:creationId xmlns:a16="http://schemas.microsoft.com/office/drawing/2014/main" id="{BC430ED9-DB22-32A7-E31B-DB343E99EA44}"/>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Normalizer = 1/3; posterior weights sum to 1.</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1077778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F121339-8D08-E7A4-37A6-B19D490784F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5F0DADC5-EE49-47AE-0640-916D7697C39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Live: reveal weighting</a:t>
            </a:r>
          </a:p>
        </p:txBody>
      </p:sp>
      <p:sp>
        <p:nvSpPr>
          <p:cNvPr id="4" name="text_3">
            <a:extLst>
              <a:ext uri="{FF2B5EF4-FFF2-40B4-BE49-F238E27FC236}">
                <a16:creationId xmlns:a16="http://schemas.microsoft.com/office/drawing/2014/main" id="{982EB967-C0CE-90ED-DE93-C038F8C95BD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Next stage → Weighting</a:t>
            </a:r>
          </a:p>
        </p:txBody>
      </p:sp>
      <p:cxnSp>
        <p:nvCxnSpPr>
          <p:cNvPr id="5" name="Straight Connector 4">
            <a:extLst>
              <a:ext uri="{FF2B5EF4-FFF2-40B4-BE49-F238E27FC236}">
                <a16:creationId xmlns:a16="http://schemas.microsoft.com/office/drawing/2014/main" id="{3A6B7232-158D-3F40-4D1C-DEBBC42A257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CC1CBAF3-4895-D93D-4FC5-D5C20CF3BFD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B8C99E9-BB1B-400C-B37A-87090C74FF5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pic>
        <p:nvPicPr>
          <p:cNvPr id="9" name="Picture 8">
            <a:extLst>
              <a:ext uri="{FF2B5EF4-FFF2-40B4-BE49-F238E27FC236}">
                <a16:creationId xmlns:a16="http://schemas.microsoft.com/office/drawing/2014/main" id="{811205E1-B795-4466-7CC2-B1B12FEE396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565400"/>
            <a:ext cx="5225143" cy="3048000"/>
          </a:xfrm>
          <a:prstGeom prst="rect">
            <a:avLst/>
          </a:prstGeom>
        </p:spPr>
      </p:pic>
      <p:sp>
        <p:nvSpPr>
          <p:cNvPr id="10" name="Rectangle: Rounded Corners 9">
            <a:extLst>
              <a:ext uri="{FF2B5EF4-FFF2-40B4-BE49-F238E27FC236}">
                <a16:creationId xmlns:a16="http://schemas.microsoft.com/office/drawing/2014/main" id="{393550F2-1EF2-0ACC-CDBF-4D32DD0E9C45}"/>
              </a:ext>
            </a:extLst>
          </p:cNvPr>
          <p:cNvSpPr/>
          <p:nvPr/>
        </p:nvSpPr>
        <p:spPr>
          <a:xfrm>
            <a:off x="7962900" y="2641600"/>
            <a:ext cx="3543300" cy="276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9">
            <a:extLst>
              <a:ext uri="{FF2B5EF4-FFF2-40B4-BE49-F238E27FC236}">
                <a16:creationId xmlns:a16="http://schemas.microsoft.com/office/drawing/2014/main" id="{755083DC-C3C8-1E7E-73BE-39EAAC34AFEF}"/>
              </a:ext>
            </a:extLst>
          </p:cNvPr>
          <p:cNvSpPr txBox="1"/>
          <p:nvPr/>
        </p:nvSpPr>
        <p:spPr>
          <a:xfrm>
            <a:off x="8191500" y="2832099"/>
            <a:ext cx="30861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Predict → reveal</a:t>
            </a:r>
          </a:p>
        </p:txBody>
      </p:sp>
      <p:sp>
        <p:nvSpPr>
          <p:cNvPr id="12" name="text_10">
            <a:extLst>
              <a:ext uri="{FF2B5EF4-FFF2-40B4-BE49-F238E27FC236}">
                <a16:creationId xmlns:a16="http://schemas.microsoft.com/office/drawing/2014/main" id="{A3F24390-B31A-04D0-FCB8-91ADF6A89502}"/>
              </a:ext>
            </a:extLst>
          </p:cNvPr>
          <p:cNvSpPr txBox="1"/>
          <p:nvPr/>
        </p:nvSpPr>
        <p:spPr>
          <a:xfrm>
            <a:off x="8191500" y="3454399"/>
            <a:ext cx="30861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Dots or weights?
Why does the mean move?</a:t>
            </a:r>
            <a:endParaRPr lang="en-IL" sz="2400">
              <a:solidFill>
                <a:srgbClr val="15283B"/>
              </a:solidFill>
              <a:latin typeface="Aptos" panose="020B0004020202020204" pitchFamily="34" charset="0"/>
            </a:endParaRPr>
          </a:p>
        </p:txBody>
      </p:sp>
      <p:sp>
        <p:nvSpPr>
          <p:cNvPr id="13" name="text_11">
            <a:extLst>
              <a:ext uri="{FF2B5EF4-FFF2-40B4-BE49-F238E27FC236}">
                <a16:creationId xmlns:a16="http://schemas.microsoft.com/office/drawing/2014/main" id="{808C1864-6BE9-6FAF-AD67-C76CE7D74E44}"/>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Why does the red estimate move?</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780170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BDC634B-BB7B-A295-C4F3-EFA601A1C76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6F5C335-24A2-EDEA-8BBF-458566A76B0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Resample plausible hypotheses</a:t>
            </a:r>
          </a:p>
        </p:txBody>
      </p:sp>
      <p:sp>
        <p:nvSpPr>
          <p:cNvPr id="4" name="text_3">
            <a:extLst>
              <a:ext uri="{FF2B5EF4-FFF2-40B4-BE49-F238E27FC236}">
                <a16:creationId xmlns:a16="http://schemas.microsoft.com/office/drawing/2014/main" id="{CFE4C87B-DC83-9A5C-AC6F-F978A71900E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Copy by probability; reset weights after selection.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246B99A-3F4C-96F3-4D1A-8C5781A21A8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0149BB8-F9BF-44FA-411D-2B02BE8AAE9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C7FCC82-4963-7297-EDE2-4AAFF447CA9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8" name="Oval 7">
            <a:extLst>
              <a:ext uri="{FF2B5EF4-FFF2-40B4-BE49-F238E27FC236}">
                <a16:creationId xmlns:a16="http://schemas.microsoft.com/office/drawing/2014/main" id="{E787E63D-B053-A7BD-748F-7A5BC128947A}"/>
              </a:ext>
            </a:extLst>
          </p:cNvPr>
          <p:cNvSpPr/>
          <p:nvPr/>
        </p:nvSpPr>
        <p:spPr>
          <a:xfrm>
            <a:off x="927100" y="3568700"/>
            <a:ext cx="355600" cy="355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Oval 8">
            <a:extLst>
              <a:ext uri="{FF2B5EF4-FFF2-40B4-BE49-F238E27FC236}">
                <a16:creationId xmlns:a16="http://schemas.microsoft.com/office/drawing/2014/main" id="{A1B56FE5-ADEF-DABD-7AE4-5619015FBEB3}"/>
              </a:ext>
            </a:extLst>
          </p:cNvPr>
          <p:cNvSpPr/>
          <p:nvPr/>
        </p:nvSpPr>
        <p:spPr>
          <a:xfrm>
            <a:off x="1917700" y="3568700"/>
            <a:ext cx="355600" cy="355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C5CC4E09-59A2-5F2F-6BE1-1757B496912C}"/>
              </a:ext>
            </a:extLst>
          </p:cNvPr>
          <p:cNvSpPr/>
          <p:nvPr/>
        </p:nvSpPr>
        <p:spPr>
          <a:xfrm>
            <a:off x="2908300" y="3568700"/>
            <a:ext cx="355600" cy="355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Oval 10">
            <a:extLst>
              <a:ext uri="{FF2B5EF4-FFF2-40B4-BE49-F238E27FC236}">
                <a16:creationId xmlns:a16="http://schemas.microsoft.com/office/drawing/2014/main" id="{196B1E09-3E34-4304-5A0A-F5A027E3A80B}"/>
              </a:ext>
            </a:extLst>
          </p:cNvPr>
          <p:cNvSpPr/>
          <p:nvPr/>
        </p:nvSpPr>
        <p:spPr>
          <a:xfrm>
            <a:off x="3898900" y="3568700"/>
            <a:ext cx="355600" cy="355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Oval 11">
            <a:extLst>
              <a:ext uri="{FF2B5EF4-FFF2-40B4-BE49-F238E27FC236}">
                <a16:creationId xmlns:a16="http://schemas.microsoft.com/office/drawing/2014/main" id="{34487C90-0BFD-D2CE-CCC5-823254146EAE}"/>
              </a:ext>
            </a:extLst>
          </p:cNvPr>
          <p:cNvSpPr/>
          <p:nvPr/>
        </p:nvSpPr>
        <p:spPr>
          <a:xfrm>
            <a:off x="4889500" y="3568700"/>
            <a:ext cx="355600" cy="355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Oval 12">
            <a:extLst>
              <a:ext uri="{FF2B5EF4-FFF2-40B4-BE49-F238E27FC236}">
                <a16:creationId xmlns:a16="http://schemas.microsoft.com/office/drawing/2014/main" id="{6E21079B-4321-E6C4-41FF-503C0E6042F0}"/>
              </a:ext>
            </a:extLst>
          </p:cNvPr>
          <p:cNvSpPr/>
          <p:nvPr/>
        </p:nvSpPr>
        <p:spPr>
          <a:xfrm>
            <a:off x="5880100" y="3568700"/>
            <a:ext cx="355600" cy="3556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Oval 13">
            <a:extLst>
              <a:ext uri="{FF2B5EF4-FFF2-40B4-BE49-F238E27FC236}">
                <a16:creationId xmlns:a16="http://schemas.microsoft.com/office/drawing/2014/main" id="{7E97C6C7-0D5E-889F-B47F-3413E5B959CC}"/>
              </a:ext>
            </a:extLst>
          </p:cNvPr>
          <p:cNvSpPr/>
          <p:nvPr/>
        </p:nvSpPr>
        <p:spPr>
          <a:xfrm>
            <a:off x="6870700" y="3568700"/>
            <a:ext cx="355600" cy="355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Oval 14">
            <a:extLst>
              <a:ext uri="{FF2B5EF4-FFF2-40B4-BE49-F238E27FC236}">
                <a16:creationId xmlns:a16="http://schemas.microsoft.com/office/drawing/2014/main" id="{83D958C5-84AF-3609-CA17-6F4522E2B6B5}"/>
              </a:ext>
            </a:extLst>
          </p:cNvPr>
          <p:cNvSpPr/>
          <p:nvPr/>
        </p:nvSpPr>
        <p:spPr>
          <a:xfrm>
            <a:off x="7861300" y="3568700"/>
            <a:ext cx="355600" cy="355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Oval 15">
            <a:extLst>
              <a:ext uri="{FF2B5EF4-FFF2-40B4-BE49-F238E27FC236}">
                <a16:creationId xmlns:a16="http://schemas.microsoft.com/office/drawing/2014/main" id="{37D170CD-906B-8624-2A27-D8E1F73542B8}"/>
              </a:ext>
            </a:extLst>
          </p:cNvPr>
          <p:cNvSpPr/>
          <p:nvPr/>
        </p:nvSpPr>
        <p:spPr>
          <a:xfrm>
            <a:off x="8851900" y="3568700"/>
            <a:ext cx="355600" cy="3556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Oval 16">
            <a:extLst>
              <a:ext uri="{FF2B5EF4-FFF2-40B4-BE49-F238E27FC236}">
                <a16:creationId xmlns:a16="http://schemas.microsoft.com/office/drawing/2014/main" id="{99A8F9AF-7CE7-BE3A-848A-E77317F2CDA1}"/>
              </a:ext>
            </a:extLst>
          </p:cNvPr>
          <p:cNvSpPr/>
          <p:nvPr/>
        </p:nvSpPr>
        <p:spPr>
          <a:xfrm>
            <a:off x="9842500" y="3568700"/>
            <a:ext cx="355600" cy="3556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52D33609-424C-2D3B-0921-986D661B570C}"/>
              </a:ext>
            </a:extLst>
          </p:cNvPr>
          <p:cNvSpPr txBox="1"/>
          <p:nvPr/>
        </p:nvSpPr>
        <p:spPr>
          <a:xfrm>
            <a:off x="685800" y="2806699"/>
            <a:ext cx="10820400" cy="508000"/>
          </a:xfrm>
          <a:prstGeom prst="rect">
            <a:avLst/>
          </a:prstGeom>
          <a:noFill/>
        </p:spPr>
        <p:txBody>
          <a:bodyPr vert="horz" wrap="square" lIns="0" tIns="0" rIns="0" bIns="0" rtlCol="0" anchor="t">
            <a:noAutofit/>
          </a:bodyPr>
          <a:lstStyle/>
          <a:p>
            <a:r>
              <a:rPr lang="en-US" sz="2800" b="1">
                <a:solidFill>
                  <a:srgbClr val="2459D3"/>
                </a:solidFill>
                <a:latin typeface="Aptos" panose="020B0004020202020204" pitchFamily="34" charset="0"/>
              </a:rPr>
              <a:t>Expected copies: 6 blue · 3 teal · 1 amber</a:t>
            </a:r>
            <a:endParaRPr lang="en-IL" sz="2800" b="1">
              <a:solidFill>
                <a:srgbClr val="2459D3"/>
              </a:solidFill>
              <a:latin typeface="Aptos" panose="020B0004020202020204" pitchFamily="34" charset="0"/>
            </a:endParaRPr>
          </a:p>
        </p:txBody>
      </p:sp>
      <p:sp>
        <p:nvSpPr>
          <p:cNvPr id="19" name="text_18">
            <a:extLst>
              <a:ext uri="{FF2B5EF4-FFF2-40B4-BE49-F238E27FC236}">
                <a16:creationId xmlns:a16="http://schemas.microsoft.com/office/drawing/2014/main" id="{1D461394-A616-00EB-A310-3667EB41510E}"/>
              </a:ext>
            </a:extLst>
          </p:cNvPr>
          <p:cNvSpPr txBox="1"/>
          <p:nvPr/>
        </p:nvSpPr>
        <p:spPr>
          <a:xfrm>
            <a:off x="685800" y="4648199"/>
            <a:ext cx="10820400" cy="7620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P(select i) = w</a:t>
            </a:r>
            <a:r>
              <a:rPr lang="en-US" sz="2304" baseline="-22000">
                <a:solidFill>
                  <a:srgbClr val="15283B"/>
                </a:solidFill>
                <a:latin typeface="Cambria Math" panose="02040503050406030204" pitchFamily="18" charset="0"/>
              </a:rPr>
              <a:t>i</a:t>
            </a:r>
            <a:r>
              <a:rPr lang="en-US" sz="3200">
                <a:solidFill>
                  <a:srgbClr val="15283B"/>
                </a:solidFill>
                <a:latin typeface="Cambria Math" panose="02040503050406030204" pitchFamily="18" charset="0"/>
              </a:rPr>
              <a:t>;    new weights = 1/N</a:t>
            </a:r>
            <a:endParaRPr lang="en-IL" sz="3200">
              <a:solidFill>
                <a:srgbClr val="15283B"/>
              </a:solidFill>
              <a:latin typeface="Cambria Math" panose="02040503050406030204" pitchFamily="18" charset="0"/>
            </a:endParaRPr>
          </a:p>
        </p:txBody>
      </p:sp>
      <p:sp>
        <p:nvSpPr>
          <p:cNvPr id="20" name="text_19">
            <a:extLst>
              <a:ext uri="{FF2B5EF4-FFF2-40B4-BE49-F238E27FC236}">
                <a16:creationId xmlns:a16="http://schemas.microsoft.com/office/drawing/2014/main" id="{06CA6D2A-F968-DE51-7E42-4ACD2C552BE1}"/>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SLAM must copy the robot AND its conditional map.</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966562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BE5DD2B-0B0F-8093-C31C-F4CA4281DE21}"/>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6C664EBF-1692-BEE1-41CF-97689C88847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Live: reveal resampling</a:t>
            </a:r>
          </a:p>
        </p:txBody>
      </p:sp>
      <p:sp>
        <p:nvSpPr>
          <p:cNvPr id="4" name="text_3">
            <a:extLst>
              <a:ext uri="{FF2B5EF4-FFF2-40B4-BE49-F238E27FC236}">
                <a16:creationId xmlns:a16="http://schemas.microsoft.com/office/drawing/2014/main" id="{409A38AF-198A-B043-602F-CFBA9DC98E2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Next stage → Resampling</a:t>
            </a:r>
          </a:p>
        </p:txBody>
      </p:sp>
      <p:cxnSp>
        <p:nvCxnSpPr>
          <p:cNvPr id="5" name="Straight Connector 4">
            <a:extLst>
              <a:ext uri="{FF2B5EF4-FFF2-40B4-BE49-F238E27FC236}">
                <a16:creationId xmlns:a16="http://schemas.microsoft.com/office/drawing/2014/main" id="{BC3E1F59-73F8-806A-F69F-34D62D823A3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2D0104D-6C3B-2D30-52C1-BC6E1E47882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71FD864-AA21-3C1B-1345-55C56C72DD6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pic>
        <p:nvPicPr>
          <p:cNvPr id="9" name="Picture 8">
            <a:extLst>
              <a:ext uri="{FF2B5EF4-FFF2-40B4-BE49-F238E27FC236}">
                <a16:creationId xmlns:a16="http://schemas.microsoft.com/office/drawing/2014/main" id="{17446993-C436-89AB-2048-806A568474C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565400"/>
            <a:ext cx="5225143" cy="3048000"/>
          </a:xfrm>
          <a:prstGeom prst="rect">
            <a:avLst/>
          </a:prstGeom>
        </p:spPr>
      </p:pic>
      <p:sp>
        <p:nvSpPr>
          <p:cNvPr id="10" name="Rectangle: Rounded Corners 9">
            <a:extLst>
              <a:ext uri="{FF2B5EF4-FFF2-40B4-BE49-F238E27FC236}">
                <a16:creationId xmlns:a16="http://schemas.microsoft.com/office/drawing/2014/main" id="{72A513B1-F434-6AB5-A761-4F5436C04FD2}"/>
              </a:ext>
            </a:extLst>
          </p:cNvPr>
          <p:cNvSpPr/>
          <p:nvPr/>
        </p:nvSpPr>
        <p:spPr>
          <a:xfrm>
            <a:off x="7962900" y="2641600"/>
            <a:ext cx="3543300" cy="276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9">
            <a:extLst>
              <a:ext uri="{FF2B5EF4-FFF2-40B4-BE49-F238E27FC236}">
                <a16:creationId xmlns:a16="http://schemas.microsoft.com/office/drawing/2014/main" id="{7520E092-C0EE-6139-02CC-B8C80CF61DAE}"/>
              </a:ext>
            </a:extLst>
          </p:cNvPr>
          <p:cNvSpPr txBox="1"/>
          <p:nvPr/>
        </p:nvSpPr>
        <p:spPr>
          <a:xfrm>
            <a:off x="8191500" y="2832099"/>
            <a:ext cx="30861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Predict → reveal</a:t>
            </a:r>
          </a:p>
        </p:txBody>
      </p:sp>
      <p:sp>
        <p:nvSpPr>
          <p:cNvPr id="12" name="text_10">
            <a:extLst>
              <a:ext uri="{FF2B5EF4-FFF2-40B4-BE49-F238E27FC236}">
                <a16:creationId xmlns:a16="http://schemas.microsoft.com/office/drawing/2014/main" id="{CFDCCED0-49BA-D676-FC65-AC4979AC0653}"/>
              </a:ext>
            </a:extLst>
          </p:cNvPr>
          <p:cNvSpPr txBox="1"/>
          <p:nvPr/>
        </p:nvSpPr>
        <p:spPr>
          <a:xfrm>
            <a:off x="8191500" y="3454399"/>
            <a:ext cx="30861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Another measurement?
What gets copied?</a:t>
            </a:r>
            <a:endParaRPr lang="en-IL" sz="2400">
              <a:solidFill>
                <a:srgbClr val="15283B"/>
              </a:solidFill>
              <a:latin typeface="Aptos" panose="020B0004020202020204" pitchFamily="34" charset="0"/>
            </a:endParaRPr>
          </a:p>
        </p:txBody>
      </p:sp>
      <p:sp>
        <p:nvSpPr>
          <p:cNvPr id="13" name="text_11">
            <a:extLst>
              <a:ext uri="{FF2B5EF4-FFF2-40B4-BE49-F238E27FC236}">
                <a16:creationId xmlns:a16="http://schemas.microsoft.com/office/drawing/2014/main" id="{73BF021F-39F3-FAE4-A3F4-3135CB5F4CF5}"/>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Uniform weights do not mean uniform spatial belief.</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1302991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71BD68D-2D8D-E3FB-FDF3-534D978C869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84CE8640-17BC-8CAD-9316-71104B4AC71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Uncertainty and failure</a:t>
            </a:r>
          </a:p>
        </p:txBody>
      </p:sp>
      <p:sp>
        <p:nvSpPr>
          <p:cNvPr id="4" name="text_3">
            <a:extLst>
              <a:ext uri="{FF2B5EF4-FFF2-40B4-BE49-F238E27FC236}">
                <a16:creationId xmlns:a16="http://schemas.microsoft.com/office/drawing/2014/main" id="{587C5030-ABFD-54F6-2724-178B498DD51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tight cloud can still be wrong.</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233C374-FA72-0273-2019-197E2F323B0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2EDA4A9-F70D-BF0B-4EF3-8BCFAC57485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CAEB6E3-1B24-929F-E50C-D9257177A37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sp>
        <p:nvSpPr>
          <p:cNvPr id="8" name="Rectangle: Rounded Corners 7">
            <a:extLst>
              <a:ext uri="{FF2B5EF4-FFF2-40B4-BE49-F238E27FC236}">
                <a16:creationId xmlns:a16="http://schemas.microsoft.com/office/drawing/2014/main" id="{02AEB871-6326-2D9F-A962-9BACFDCA8A6E}"/>
              </a:ext>
            </a:extLst>
          </p:cNvPr>
          <p:cNvSpPr/>
          <p:nvPr/>
        </p:nvSpPr>
        <p:spPr>
          <a:xfrm>
            <a:off x="685800" y="2705100"/>
            <a:ext cx="5207000" cy="27559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64FEA822-D93A-6A24-BD92-7A83F22A816E}"/>
              </a:ext>
            </a:extLst>
          </p:cNvPr>
          <p:cNvSpPr txBox="1"/>
          <p:nvPr/>
        </p:nvSpPr>
        <p:spPr>
          <a:xfrm>
            <a:off x="914400" y="28955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Evidence uncertainty</a:t>
            </a:r>
          </a:p>
        </p:txBody>
      </p:sp>
      <p:sp>
        <p:nvSpPr>
          <p:cNvPr id="10" name="text_9">
            <a:extLst>
              <a:ext uri="{FF2B5EF4-FFF2-40B4-BE49-F238E27FC236}">
                <a16:creationId xmlns:a16="http://schemas.microsoft.com/office/drawing/2014/main" id="{93BEFC33-DE35-E78B-FDA5-F3079FB2ECB0}"/>
              </a:ext>
            </a:extLst>
          </p:cNvPr>
          <p:cNvSpPr txBox="1"/>
          <p:nvPr/>
        </p:nvSpPr>
        <p:spPr>
          <a:xfrm>
            <a:off x="914400" y="3517899"/>
            <a:ext cx="4749800" cy="1892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Noisy readings
Ambiguous geometry
Incorrect noise model</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971C379A-5429-EFCE-0A88-7AE03579C5DC}"/>
              </a:ext>
            </a:extLst>
          </p:cNvPr>
          <p:cNvSpPr/>
          <p:nvPr/>
        </p:nvSpPr>
        <p:spPr>
          <a:xfrm>
            <a:off x="6172200" y="2705100"/>
            <a:ext cx="5334000" cy="2755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2162ACFD-BA60-02B2-5CBF-2B8BCB5FAC4B}"/>
              </a:ext>
            </a:extLst>
          </p:cNvPr>
          <p:cNvSpPr txBox="1"/>
          <p:nvPr/>
        </p:nvSpPr>
        <p:spPr>
          <a:xfrm>
            <a:off x="6400800" y="28955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Approximation uncertainty</a:t>
            </a:r>
          </a:p>
        </p:txBody>
      </p:sp>
      <p:sp>
        <p:nvSpPr>
          <p:cNvPr id="13" name="text_12">
            <a:extLst>
              <a:ext uri="{FF2B5EF4-FFF2-40B4-BE49-F238E27FC236}">
                <a16:creationId xmlns:a16="http://schemas.microsoft.com/office/drawing/2014/main" id="{4EE7D48C-36DB-77A0-FA65-2B1A7030BFF5}"/>
              </a:ext>
            </a:extLst>
          </p:cNvPr>
          <p:cNvSpPr txBox="1"/>
          <p:nvPr/>
        </p:nvSpPr>
        <p:spPr>
          <a:xfrm>
            <a:off x="6400800" y="3517899"/>
            <a:ext cx="4876800" cy="18923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Finite robot hypotheses
Resampling diversity
Bounded landmark grids</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4EE63D94-0E99-6666-56F4-FF9041618D98}"/>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Model mismatch · missing hypotheses · lost diversity</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975813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69E7375-AFAB-CB90-13D5-C60A19021CF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6E095EA2-F1D4-E595-D08A-B47A7464EC1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When the map is unknown</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B62151EC-0A28-D33C-E352-F6CA8C45AE8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same range now constrains robot AND landmark locations.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1D80C8D-8A2E-109F-7495-DB9BF161663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9B3F6AB-0E17-FC92-4315-6CC188750F4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1691E77-EAEF-C24B-97EC-34BE407CAFB9}"/>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Rectangle: Rounded Corners 7">
            <a:extLst>
              <a:ext uri="{FF2B5EF4-FFF2-40B4-BE49-F238E27FC236}">
                <a16:creationId xmlns:a16="http://schemas.microsoft.com/office/drawing/2014/main" id="{1E8A3753-87DA-1E42-4DD4-C7B518BB14EF}"/>
              </a:ext>
            </a:extLst>
          </p:cNvPr>
          <p:cNvSpPr/>
          <p:nvPr/>
        </p:nvSpPr>
        <p:spPr>
          <a:xfrm>
            <a:off x="685800" y="2933700"/>
            <a:ext cx="4445000" cy="2019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2A55AF0-D02B-BA47-1567-63CF8A8CA540}"/>
              </a:ext>
            </a:extLst>
          </p:cNvPr>
          <p:cNvSpPr txBox="1"/>
          <p:nvPr/>
        </p:nvSpPr>
        <p:spPr>
          <a:xfrm>
            <a:off x="914400" y="3124199"/>
            <a:ext cx="3987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Robot pose</a:t>
            </a:r>
          </a:p>
        </p:txBody>
      </p:sp>
      <p:sp>
        <p:nvSpPr>
          <p:cNvPr id="10" name="text_9">
            <a:extLst>
              <a:ext uri="{FF2B5EF4-FFF2-40B4-BE49-F238E27FC236}">
                <a16:creationId xmlns:a16="http://schemas.microsoft.com/office/drawing/2014/main" id="{F0C71642-349B-5330-8133-FCF086B6F424}"/>
              </a:ext>
            </a:extLst>
          </p:cNvPr>
          <p:cNvSpPr txBox="1"/>
          <p:nvPr/>
        </p:nvSpPr>
        <p:spPr>
          <a:xfrm>
            <a:off x="914400" y="3746499"/>
            <a:ext cx="3987800" cy="1155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Where was the sensor?</a:t>
            </a:r>
          </a:p>
        </p:txBody>
      </p:sp>
      <p:sp>
        <p:nvSpPr>
          <p:cNvPr id="11" name="Rectangle: Rounded Corners 10">
            <a:extLst>
              <a:ext uri="{FF2B5EF4-FFF2-40B4-BE49-F238E27FC236}">
                <a16:creationId xmlns:a16="http://schemas.microsoft.com/office/drawing/2014/main" id="{B1083E38-DB7B-E739-9BC0-D646E032D0EC}"/>
              </a:ext>
            </a:extLst>
          </p:cNvPr>
          <p:cNvSpPr/>
          <p:nvPr/>
        </p:nvSpPr>
        <p:spPr>
          <a:xfrm>
            <a:off x="7061200" y="2933700"/>
            <a:ext cx="4445000" cy="2019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6D11CB95-3A44-7CCA-F79C-8B68B7A7AE00}"/>
              </a:ext>
            </a:extLst>
          </p:cNvPr>
          <p:cNvSpPr txBox="1"/>
          <p:nvPr/>
        </p:nvSpPr>
        <p:spPr>
          <a:xfrm>
            <a:off x="7289800" y="3124199"/>
            <a:ext cx="3987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Landmark map</a:t>
            </a:r>
          </a:p>
        </p:txBody>
      </p:sp>
      <p:sp>
        <p:nvSpPr>
          <p:cNvPr id="13" name="text_12">
            <a:extLst>
              <a:ext uri="{FF2B5EF4-FFF2-40B4-BE49-F238E27FC236}">
                <a16:creationId xmlns:a16="http://schemas.microsoft.com/office/drawing/2014/main" id="{C03B1E33-1958-A12A-63E1-E2A6B2587467}"/>
              </a:ext>
            </a:extLst>
          </p:cNvPr>
          <p:cNvSpPr txBox="1"/>
          <p:nvPr/>
        </p:nvSpPr>
        <p:spPr>
          <a:xfrm>
            <a:off x="7289800" y="3746499"/>
            <a:ext cx="3987800" cy="1155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What generated the reading?</a:t>
            </a:r>
          </a:p>
        </p:txBody>
      </p:sp>
      <p:cxnSp>
        <p:nvCxnSpPr>
          <p:cNvPr id="14" name="Straight Connector 13">
            <a:extLst>
              <a:ext uri="{FF2B5EF4-FFF2-40B4-BE49-F238E27FC236}">
                <a16:creationId xmlns:a16="http://schemas.microsoft.com/office/drawing/2014/main" id="{88F06018-A97A-58B0-92EC-0AC729550A5C}"/>
              </a:ext>
            </a:extLst>
          </p:cNvPr>
          <p:cNvCxnSpPr/>
          <p:nvPr/>
        </p:nvCxnSpPr>
        <p:spPr>
          <a:xfrm>
            <a:off x="5194300" y="3429000"/>
            <a:ext cx="17907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59703A2-11B9-892C-5057-F1E5A7E71A88}"/>
              </a:ext>
            </a:extLst>
          </p:cNvPr>
          <p:cNvCxnSpPr/>
          <p:nvPr/>
        </p:nvCxnSpPr>
        <p:spPr>
          <a:xfrm flipH="1">
            <a:off x="5194300" y="4445000"/>
            <a:ext cx="17907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4A9D59A8-E379-4830-A82C-0379751F34B8}"/>
              </a:ext>
            </a:extLst>
          </p:cNvPr>
          <p:cNvSpPr txBox="1"/>
          <p:nvPr/>
        </p:nvSpPr>
        <p:spPr>
          <a:xfrm>
            <a:off x="5308600" y="2666999"/>
            <a:ext cx="1739900" cy="711200"/>
          </a:xfrm>
          <a:prstGeom prst="rect">
            <a:avLst/>
          </a:prstGeom>
          <a:noFill/>
        </p:spPr>
        <p:txBody>
          <a:bodyPr vert="horz" wrap="square" lIns="0" tIns="0" rIns="0" bIns="0" rtlCol="0" anchor="t">
            <a:noAutofit/>
          </a:bodyPr>
          <a:lstStyle/>
          <a:p>
            <a:pPr algn="ctr"/>
            <a:r>
              <a:rPr lang="en-IL" sz="2400" b="1">
                <a:solidFill>
                  <a:srgbClr val="2459D3"/>
                </a:solidFill>
                <a:latin typeface="Aptos" panose="020B0004020202020204" pitchFamily="34" charset="0"/>
              </a:rPr>
              <a:t>Place data</a:t>
            </a:r>
          </a:p>
        </p:txBody>
      </p:sp>
      <p:sp>
        <p:nvSpPr>
          <p:cNvPr id="17" name="text_16">
            <a:extLst>
              <a:ext uri="{FF2B5EF4-FFF2-40B4-BE49-F238E27FC236}">
                <a16:creationId xmlns:a16="http://schemas.microsoft.com/office/drawing/2014/main" id="{3808E3D6-1188-BC10-D110-C33639FCFD9E}"/>
              </a:ext>
            </a:extLst>
          </p:cNvPr>
          <p:cNvSpPr txBox="1"/>
          <p:nvPr/>
        </p:nvSpPr>
        <p:spPr>
          <a:xfrm>
            <a:off x="5232400" y="4673599"/>
            <a:ext cx="1739900" cy="749300"/>
          </a:xfrm>
          <a:prstGeom prst="rect">
            <a:avLst/>
          </a:prstGeom>
          <a:noFill/>
        </p:spPr>
        <p:txBody>
          <a:bodyPr vert="horz" wrap="square" lIns="0" tIns="0" rIns="0" bIns="0" rtlCol="0" anchor="t">
            <a:noAutofit/>
          </a:bodyPr>
          <a:lstStyle/>
          <a:p>
            <a:pPr algn="ctr"/>
            <a:r>
              <a:rPr lang="en-IL" sz="2400" b="1">
                <a:solidFill>
                  <a:srgbClr val="137F79"/>
                </a:solidFill>
                <a:latin typeface="Aptos" panose="020B0004020202020204" pitchFamily="34" charset="0"/>
              </a:rPr>
              <a:t>Match data</a:t>
            </a:r>
          </a:p>
        </p:txBody>
      </p:sp>
      <p:sp>
        <p:nvSpPr>
          <p:cNvPr id="18" name="text_17">
            <a:extLst>
              <a:ext uri="{FF2B5EF4-FFF2-40B4-BE49-F238E27FC236}">
                <a16:creationId xmlns:a16="http://schemas.microsoft.com/office/drawing/2014/main" id="{41A124A0-3E3B-F8D5-E5A3-9E55486C95F3}"/>
              </a:ext>
            </a:extLst>
          </p:cNvPr>
          <p:cNvSpPr txBox="1"/>
          <p:nvPr/>
        </p:nvSpPr>
        <p:spPr>
          <a:xfrm>
            <a:off x="685800" y="5194299"/>
            <a:ext cx="10820400" cy="622300"/>
          </a:xfrm>
          <a:prstGeom prst="rect">
            <a:avLst/>
          </a:prstGeom>
          <a:noFill/>
        </p:spPr>
        <p:txBody>
          <a:bodyPr vert="horz" wrap="square" lIns="0" tIns="0" rIns="0" bIns="0" rtlCol="0" anchor="t">
            <a:noAutofit/>
          </a:bodyPr>
          <a:lstStyle/>
          <a:p>
            <a:r>
              <a:rPr lang="en-IL" sz="3000">
                <a:solidFill>
                  <a:srgbClr val="2459D3"/>
                </a:solidFill>
                <a:latin typeface="Cambria Math" panose="02040503050406030204" pitchFamily="18" charset="0"/>
              </a:rPr>
              <a:t>z</a:t>
            </a:r>
            <a:r>
              <a:rPr lang="en-IL" sz="2160" baseline="-22000">
                <a:solidFill>
                  <a:srgbClr val="2459D3"/>
                </a:solidFill>
                <a:latin typeface="Cambria Math" panose="02040503050406030204" pitchFamily="18" charset="0"/>
              </a:rPr>
              <a:t>t,j</a:t>
            </a:r>
            <a:r>
              <a:rPr lang="en-IL" sz="3000">
                <a:solidFill>
                  <a:srgbClr val="2459D3"/>
                </a:solidFill>
                <a:latin typeface="Cambria Math" panose="02040503050406030204" pitchFamily="18" charset="0"/>
              </a:rPr>
              <a:t> ≈ ‖m</a:t>
            </a:r>
            <a:r>
              <a:rPr lang="en-IL" sz="2160" baseline="-22000">
                <a:solidFill>
                  <a:srgbClr val="2459D3"/>
                </a:solidFill>
                <a:latin typeface="Cambria Math" panose="02040503050406030204" pitchFamily="18" charset="0"/>
              </a:rPr>
              <a:t>j</a:t>
            </a:r>
            <a:r>
              <a:rPr lang="en-IL" sz="3000">
                <a:solidFill>
                  <a:srgbClr val="2459D3"/>
                </a:solidFill>
                <a:latin typeface="Cambria Math" panose="02040503050406030204" pitchFamily="18" charset="0"/>
              </a:rPr>
              <a:t> − p</a:t>
            </a:r>
            <a:r>
              <a:rPr lang="en-IL" sz="2160" baseline="-22000">
                <a:solidFill>
                  <a:srgbClr val="2459D3"/>
                </a:solidFill>
                <a:latin typeface="Cambria Math" panose="02040503050406030204" pitchFamily="18" charset="0"/>
              </a:rPr>
              <a:t>t</a:t>
            </a:r>
            <a:r>
              <a:rPr lang="en-IL" sz="3000">
                <a:solidFill>
                  <a:srgbClr val="2459D3"/>
                </a:solidFill>
                <a:latin typeface="Cambria Math" panose="02040503050406030204" pitchFamily="18" charset="0"/>
              </a:rPr>
              <a:t>‖₂</a:t>
            </a:r>
          </a:p>
        </p:txBody>
      </p:sp>
      <p:sp>
        <p:nvSpPr>
          <p:cNvPr id="19" name="text_18">
            <a:extLst>
              <a:ext uri="{FF2B5EF4-FFF2-40B4-BE49-F238E27FC236}">
                <a16:creationId xmlns:a16="http://schemas.microsoft.com/office/drawing/2014/main" id="{25D008E3-E316-ACF6-EDC2-91D2BE3DB61D}"/>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Static landmarks; unknown coordinates.</a:t>
            </a:r>
          </a:p>
        </p:txBody>
      </p:sp>
    </p:spTree>
    <p:extLst>
      <p:ext uri="{BB962C8B-B14F-4D97-AF65-F5344CB8AC3E}">
        <p14:creationId xmlns:p14="http://schemas.microsoft.com/office/powerpoint/2010/main" val="107234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1C18CF9-2DA7-1025-BF3B-DB2B510940A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F863C5C-0172-FF0F-72F6-E4EE1EDDB52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Pose errors distort the map</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43349F49-F168-326A-66AA-55BC1F1186E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Frame mathematics explains the coupling.</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1944659F-E575-E7C5-9AAA-127057FAF07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B1BC47E-D8D8-094C-632C-08C13882399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29E001C-F7AB-B79E-43E8-8AA8ACD4BD9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21</a:t>
            </a:r>
          </a:p>
        </p:txBody>
      </p:sp>
      <p:cxnSp>
        <p:nvCxnSpPr>
          <p:cNvPr id="8" name="Straight Connector 7">
            <a:extLst>
              <a:ext uri="{FF2B5EF4-FFF2-40B4-BE49-F238E27FC236}">
                <a16:creationId xmlns:a16="http://schemas.microsoft.com/office/drawing/2014/main" id="{0BD46A1A-2CE7-67B1-7B57-813BA6CCC46C}"/>
              </a:ext>
            </a:extLst>
          </p:cNvPr>
          <p:cNvCxnSpPr/>
          <p:nvPr/>
        </p:nvCxnSpPr>
        <p:spPr>
          <a:xfrm>
            <a:off x="1143000" y="5257800"/>
            <a:ext cx="3302000" cy="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8191190-9B33-10FC-39AC-A1574D21BB05}"/>
              </a:ext>
            </a:extLst>
          </p:cNvPr>
          <p:cNvCxnSpPr/>
          <p:nvPr/>
        </p:nvCxnSpPr>
        <p:spPr>
          <a:xfrm flipV="1">
            <a:off x="1143000" y="2921000"/>
            <a:ext cx="0" cy="233680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sp>
        <p:nvSpPr>
          <p:cNvPr id="10" name="text_9">
            <a:extLst>
              <a:ext uri="{FF2B5EF4-FFF2-40B4-BE49-F238E27FC236}">
                <a16:creationId xmlns:a16="http://schemas.microsoft.com/office/drawing/2014/main" id="{54F07373-4B24-7A57-8BCA-5C13540970FE}"/>
              </a:ext>
            </a:extLst>
          </p:cNvPr>
          <p:cNvSpPr txBox="1"/>
          <p:nvPr/>
        </p:nvSpPr>
        <p:spPr>
          <a:xfrm>
            <a:off x="4318000" y="5308599"/>
            <a:ext cx="635000" cy="39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x</a:t>
            </a:r>
          </a:p>
        </p:txBody>
      </p:sp>
      <p:sp>
        <p:nvSpPr>
          <p:cNvPr id="11" name="text_10">
            <a:extLst>
              <a:ext uri="{FF2B5EF4-FFF2-40B4-BE49-F238E27FC236}">
                <a16:creationId xmlns:a16="http://schemas.microsoft.com/office/drawing/2014/main" id="{241D927E-C504-CB31-F08D-4B0DC278B356}"/>
              </a:ext>
            </a:extLst>
          </p:cNvPr>
          <p:cNvSpPr txBox="1"/>
          <p:nvPr/>
        </p:nvSpPr>
        <p:spPr>
          <a:xfrm>
            <a:off x="838200" y="2768599"/>
            <a:ext cx="508000" cy="381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y</a:t>
            </a:r>
          </a:p>
        </p:txBody>
      </p:sp>
      <p:sp>
        <p:nvSpPr>
          <p:cNvPr id="12" name="Oval 11">
            <a:extLst>
              <a:ext uri="{FF2B5EF4-FFF2-40B4-BE49-F238E27FC236}">
                <a16:creationId xmlns:a16="http://schemas.microsoft.com/office/drawing/2014/main" id="{E4BFC084-6985-1A88-8E29-5EF6FF494E1E}"/>
              </a:ext>
            </a:extLst>
          </p:cNvPr>
          <p:cNvSpPr/>
          <p:nvPr/>
        </p:nvSpPr>
        <p:spPr>
          <a:xfrm>
            <a:off x="2501900" y="4470400"/>
            <a:ext cx="203200" cy="2032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3" name="Straight Connector 12">
            <a:extLst>
              <a:ext uri="{FF2B5EF4-FFF2-40B4-BE49-F238E27FC236}">
                <a16:creationId xmlns:a16="http://schemas.microsoft.com/office/drawing/2014/main" id="{2C15963A-E25A-6C6D-3E3F-D747683178CF}"/>
              </a:ext>
            </a:extLst>
          </p:cNvPr>
          <p:cNvCxnSpPr/>
          <p:nvPr/>
        </p:nvCxnSpPr>
        <p:spPr>
          <a:xfrm flipV="1">
            <a:off x="2603500" y="3238500"/>
            <a:ext cx="0" cy="13335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75114AC1-3036-8781-5E01-C924607F6BBB}"/>
              </a:ext>
            </a:extLst>
          </p:cNvPr>
          <p:cNvSpPr/>
          <p:nvPr/>
        </p:nvSpPr>
        <p:spPr>
          <a:xfrm>
            <a:off x="2501900" y="3136900"/>
            <a:ext cx="203200" cy="2032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5" name="Straight Connector 14">
            <a:extLst>
              <a:ext uri="{FF2B5EF4-FFF2-40B4-BE49-F238E27FC236}">
                <a16:creationId xmlns:a16="http://schemas.microsoft.com/office/drawing/2014/main" id="{0677FB83-0070-9C68-0A8E-E245EE73E89F}"/>
              </a:ext>
            </a:extLst>
          </p:cNvPr>
          <p:cNvCxnSpPr/>
          <p:nvPr/>
        </p:nvCxnSpPr>
        <p:spPr>
          <a:xfrm>
            <a:off x="2603500" y="4572000"/>
            <a:ext cx="1206500" cy="0"/>
          </a:xfrm>
          <a:prstGeom prst="line">
            <a:avLst/>
          </a:prstGeom>
          <a:ln w="27940">
            <a:solidFill>
              <a:srgbClr val="AE651D"/>
            </a:solidFill>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78889CF2-93CA-DD1A-F885-18E0F550633F}"/>
              </a:ext>
            </a:extLst>
          </p:cNvPr>
          <p:cNvSpPr txBox="1"/>
          <p:nvPr/>
        </p:nvSpPr>
        <p:spPr>
          <a:xfrm>
            <a:off x="2984500" y="3340099"/>
            <a:ext cx="2413000" cy="457200"/>
          </a:xfrm>
          <a:prstGeom prst="rect">
            <a:avLst/>
          </a:prstGeom>
          <a:noFill/>
        </p:spPr>
        <p:txBody>
          <a:bodyPr vert="horz" wrap="square" lIns="0" tIns="0" rIns="0" bIns="0" rtlCol="0" anchor="t">
            <a:noAutofit/>
          </a:bodyPr>
          <a:lstStyle/>
          <a:p>
            <a:r>
              <a:rPr lang="en-IL" sz="2400">
                <a:solidFill>
                  <a:srgbClr val="137F79"/>
                </a:solidFill>
                <a:latin typeface="Aptos" panose="020B0004020202020204" pitchFamily="34" charset="0"/>
              </a:rPr>
              <a:t>(2,3): correct</a:t>
            </a:r>
          </a:p>
        </p:txBody>
      </p:sp>
      <p:sp>
        <p:nvSpPr>
          <p:cNvPr id="17" name="text_16">
            <a:extLst>
              <a:ext uri="{FF2B5EF4-FFF2-40B4-BE49-F238E27FC236}">
                <a16:creationId xmlns:a16="http://schemas.microsoft.com/office/drawing/2014/main" id="{A07A8000-7726-5AEF-F6A6-B3169B9D8A76}"/>
              </a:ext>
            </a:extLst>
          </p:cNvPr>
          <p:cNvSpPr txBox="1"/>
          <p:nvPr/>
        </p:nvSpPr>
        <p:spPr>
          <a:xfrm>
            <a:off x="4127500" y="4317999"/>
            <a:ext cx="1524000" cy="762000"/>
          </a:xfrm>
          <a:prstGeom prst="rect">
            <a:avLst/>
          </a:prstGeom>
          <a:noFill/>
        </p:spPr>
        <p:txBody>
          <a:bodyPr vert="horz" wrap="square" lIns="0" tIns="0" rIns="0" bIns="0" rtlCol="0" anchor="t">
            <a:noAutofit/>
          </a:bodyPr>
          <a:lstStyle/>
          <a:p>
            <a:r>
              <a:rPr lang="en-IL" sz="2400">
                <a:solidFill>
                  <a:srgbClr val="AE651D"/>
                </a:solidFill>
                <a:latin typeface="Aptos" panose="020B0004020202020204" pitchFamily="34" charset="0"/>
              </a:rPr>
              <a:t>(3,2): wrong</a:t>
            </a:r>
          </a:p>
        </p:txBody>
      </p:sp>
      <p:sp>
        <p:nvSpPr>
          <p:cNvPr id="18" name="text_17">
            <a:extLst>
              <a:ext uri="{FF2B5EF4-FFF2-40B4-BE49-F238E27FC236}">
                <a16:creationId xmlns:a16="http://schemas.microsoft.com/office/drawing/2014/main" id="{6687231D-1880-BAA6-1DB3-76055633D135}"/>
              </a:ext>
            </a:extLst>
          </p:cNvPr>
          <p:cNvSpPr txBox="1"/>
          <p:nvPr/>
        </p:nvSpPr>
        <p:spPr>
          <a:xfrm>
            <a:off x="6096000" y="2844799"/>
            <a:ext cx="5410200" cy="1143000"/>
          </a:xfrm>
          <a:prstGeom prst="rect">
            <a:avLst/>
          </a:prstGeom>
          <a:noFill/>
        </p:spPr>
        <p:txBody>
          <a:bodyPr vert="horz" wrap="square" lIns="0" tIns="0" rIns="0" bIns="0" rtlCol="0" anchor="t">
            <a:noAutofit/>
          </a:bodyPr>
          <a:lstStyle/>
          <a:p>
            <a:r>
              <a:rPr lang="pt-BR" sz="3000">
                <a:solidFill>
                  <a:srgbClr val="2459D3"/>
                </a:solidFill>
                <a:latin typeface="Cambria Math" panose="02040503050406030204" pitchFamily="18" charset="0"/>
              </a:rPr>
              <a:t>m</a:t>
            </a:r>
            <a:r>
              <a:rPr lang="pt-BR" sz="2160" baseline="-22000">
                <a:solidFill>
                  <a:srgbClr val="2459D3"/>
                </a:solidFill>
                <a:latin typeface="Cambria Math" panose="02040503050406030204" pitchFamily="18" charset="0"/>
              </a:rPr>
              <a:t>j</a:t>
            </a:r>
            <a:r>
              <a:rPr lang="pt-BR" sz="3000">
                <a:solidFill>
                  <a:srgbClr val="2459D3"/>
                </a:solidFill>
                <a:latin typeface="Cambria Math" panose="02040503050406030204" pitchFamily="18" charset="0"/>
              </a:rPr>
              <a:t> = t</a:t>
            </a:r>
            <a:r>
              <a:rPr lang="pt-BR" sz="2160" baseline="-22000">
                <a:solidFill>
                  <a:srgbClr val="2459D3"/>
                </a:solidFill>
                <a:latin typeface="Cambria Math" panose="02040503050406030204" pitchFamily="18" charset="0"/>
              </a:rPr>
              <a:t>t</a:t>
            </a:r>
            <a:r>
              <a:rPr lang="pt-BR" sz="3000">
                <a:solidFill>
                  <a:srgbClr val="2459D3"/>
                </a:solidFill>
                <a:latin typeface="Cambria Math" panose="02040503050406030204" pitchFamily="18" charset="0"/>
              </a:rPr>
              <a:t> + R(θ</a:t>
            </a:r>
            <a:r>
              <a:rPr lang="pt-BR" sz="2160" baseline="-22000">
                <a:solidFill>
                  <a:srgbClr val="2459D3"/>
                </a:solidFill>
                <a:latin typeface="Cambria Math" panose="02040503050406030204" pitchFamily="18" charset="0"/>
              </a:rPr>
              <a:t>t</a:t>
            </a:r>
            <a:r>
              <a:rPr lang="pt-BR" sz="3000">
                <a:solidFill>
                  <a:srgbClr val="2459D3"/>
                </a:solidFill>
                <a:latin typeface="Cambria Math" panose="02040503050406030204" pitchFamily="18" charset="0"/>
              </a:rPr>
              <a:t>) z</a:t>
            </a:r>
            <a:r>
              <a:rPr lang="pt-BR" sz="2160" baseline="-22000">
                <a:solidFill>
                  <a:srgbClr val="2459D3"/>
                </a:solidFill>
                <a:latin typeface="Cambria Math" panose="02040503050406030204" pitchFamily="18" charset="0"/>
              </a:rPr>
              <a:t>j</a:t>
            </a:r>
            <a:r>
              <a:rPr lang="pt-BR" sz="2160" baseline="32000">
                <a:solidFill>
                  <a:srgbClr val="2459D3"/>
                </a:solidFill>
                <a:latin typeface="Cambria Math" panose="02040503050406030204" pitchFamily="18" charset="0"/>
              </a:rPr>
              <a:t>local</a:t>
            </a:r>
            <a:endParaRPr lang="en-IL" sz="2160" baseline="32000">
              <a:solidFill>
                <a:srgbClr val="2459D3"/>
              </a:solidFill>
              <a:latin typeface="Cambria Math" panose="02040503050406030204" pitchFamily="18" charset="0"/>
            </a:endParaRPr>
          </a:p>
        </p:txBody>
      </p:sp>
      <p:sp>
        <p:nvSpPr>
          <p:cNvPr id="19" name="text_18">
            <a:extLst>
              <a:ext uri="{FF2B5EF4-FFF2-40B4-BE49-F238E27FC236}">
                <a16:creationId xmlns:a16="http://schemas.microsoft.com/office/drawing/2014/main" id="{C901124D-F123-19E2-073F-A0228EEA4A6E}"/>
              </a:ext>
            </a:extLst>
          </p:cNvPr>
          <p:cNvSpPr txBox="1"/>
          <p:nvPr/>
        </p:nvSpPr>
        <p:spPr>
          <a:xfrm>
            <a:off x="6096000" y="4152899"/>
            <a:ext cx="5410200" cy="1193800"/>
          </a:xfrm>
          <a:prstGeom prst="rect">
            <a:avLst/>
          </a:prstGeom>
          <a:noFill/>
        </p:spPr>
        <p:txBody>
          <a:bodyPr vert="horz" wrap="square" lIns="0" tIns="0" rIns="0" bIns="0" rtlCol="0" anchor="t">
            <a:noAutofit/>
          </a:bodyPr>
          <a:lstStyle/>
          <a:p>
            <a:r>
              <a:rPr lang="en-US" sz="2600">
                <a:solidFill>
                  <a:srgbClr val="15283B"/>
                </a:solidFill>
                <a:latin typeface="Aptos" panose="020B0004020202020204" pitchFamily="34" charset="0"/>
              </a:rPr>
              <a:t>Local point (1,0)
Robot (2,2), heading 90°</a:t>
            </a:r>
            <a:endParaRPr lang="en-IL" sz="2600">
              <a:solidFill>
                <a:srgbClr val="15283B"/>
              </a:solidFill>
              <a:latin typeface="Aptos" panose="020B0004020202020204" pitchFamily="34" charset="0"/>
            </a:endParaRPr>
          </a:p>
        </p:txBody>
      </p:sp>
      <p:sp>
        <p:nvSpPr>
          <p:cNvPr id="20" name="text_19">
            <a:extLst>
              <a:ext uri="{FF2B5EF4-FFF2-40B4-BE49-F238E27FC236}">
                <a16:creationId xmlns:a16="http://schemas.microsoft.com/office/drawing/2014/main" id="{BE2793CE-0747-0156-681F-D46A99B46910}"/>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R = rotation; t = translation. Example needs direction information.</a:t>
            </a:r>
          </a:p>
        </p:txBody>
      </p:sp>
    </p:spTree>
    <p:extLst>
      <p:ext uri="{BB962C8B-B14F-4D97-AF65-F5344CB8AC3E}">
        <p14:creationId xmlns:p14="http://schemas.microsoft.com/office/powerpoint/2010/main" val="758422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6707B9E-45EB-1837-AC4A-082574BFBBE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8D49CFE-AC3F-2B25-9E29-1B3A71EF836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Which landmark was observed?</a:t>
            </a:r>
          </a:p>
        </p:txBody>
      </p:sp>
      <p:sp>
        <p:nvSpPr>
          <p:cNvPr id="4" name="text_3">
            <a:extLst>
              <a:ext uri="{FF2B5EF4-FFF2-40B4-BE49-F238E27FC236}">
                <a16:creationId xmlns:a16="http://schemas.microsoft.com/office/drawing/2014/main" id="{BC2B838B-CE68-7960-B45B-8380C31BA72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Data association connects observations to map features.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2DD6688-C1C0-0A08-78B7-4FB03522D9F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EEB4CE2-1CC2-FAC2-BBAC-B69722AAAA6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4029DEC-78B5-666F-8BF1-795243B9B3F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22</a:t>
            </a:r>
          </a:p>
        </p:txBody>
      </p:sp>
      <p:sp>
        <p:nvSpPr>
          <p:cNvPr id="8" name="Rectangle: Rounded Corners 7">
            <a:extLst>
              <a:ext uri="{FF2B5EF4-FFF2-40B4-BE49-F238E27FC236}">
                <a16:creationId xmlns:a16="http://schemas.microsoft.com/office/drawing/2014/main" id="{15165597-66D1-843B-CCBE-8AACB96020F5}"/>
              </a:ext>
            </a:extLst>
          </p:cNvPr>
          <p:cNvSpPr/>
          <p:nvPr/>
        </p:nvSpPr>
        <p:spPr>
          <a:xfrm>
            <a:off x="685800" y="2743200"/>
            <a:ext cx="3454400" cy="2692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390406AE-167F-7B35-487C-6B89158FF0E8}"/>
              </a:ext>
            </a:extLst>
          </p:cNvPr>
          <p:cNvSpPr txBox="1"/>
          <p:nvPr/>
        </p:nvSpPr>
        <p:spPr>
          <a:xfrm>
            <a:off x="914400" y="29336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Match</a:t>
            </a:r>
          </a:p>
        </p:txBody>
      </p:sp>
      <p:sp>
        <p:nvSpPr>
          <p:cNvPr id="10" name="text_9">
            <a:extLst>
              <a:ext uri="{FF2B5EF4-FFF2-40B4-BE49-F238E27FC236}">
                <a16:creationId xmlns:a16="http://schemas.microsoft.com/office/drawing/2014/main" id="{888D94CA-35C9-3BD2-152B-ACC79DEBFA00}"/>
              </a:ext>
            </a:extLst>
          </p:cNvPr>
          <p:cNvSpPr txBox="1"/>
          <p:nvPr/>
        </p:nvSpPr>
        <p:spPr>
          <a:xfrm>
            <a:off x="914400" y="3555999"/>
            <a:ext cx="29972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An existing landmark
Use its map belief</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FC75A0B8-D6C3-6F30-2DBA-121FC04E31E8}"/>
              </a:ext>
            </a:extLst>
          </p:cNvPr>
          <p:cNvSpPr/>
          <p:nvPr/>
        </p:nvSpPr>
        <p:spPr>
          <a:xfrm>
            <a:off x="4368800" y="2743200"/>
            <a:ext cx="3454400" cy="2692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8CCA1D8-BE4C-066F-B8DA-F6300E4E40AB}"/>
              </a:ext>
            </a:extLst>
          </p:cNvPr>
          <p:cNvSpPr txBox="1"/>
          <p:nvPr/>
        </p:nvSpPr>
        <p:spPr>
          <a:xfrm>
            <a:off x="4597400" y="2933699"/>
            <a:ext cx="299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Initialize</a:t>
            </a:r>
          </a:p>
        </p:txBody>
      </p:sp>
      <p:sp>
        <p:nvSpPr>
          <p:cNvPr id="13" name="text_12">
            <a:extLst>
              <a:ext uri="{FF2B5EF4-FFF2-40B4-BE49-F238E27FC236}">
                <a16:creationId xmlns:a16="http://schemas.microsoft.com/office/drawing/2014/main" id="{08E1609C-280B-5B7F-06A1-9947D93619C8}"/>
              </a:ext>
            </a:extLst>
          </p:cNvPr>
          <p:cNvSpPr txBox="1"/>
          <p:nvPr/>
        </p:nvSpPr>
        <p:spPr>
          <a:xfrm>
            <a:off x="4597400" y="3555999"/>
            <a:ext cx="2997200" cy="18288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A new landmark
Keep uncertainty</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D73E71C2-B082-EE6D-0640-D00AFF1A1439}"/>
              </a:ext>
            </a:extLst>
          </p:cNvPr>
          <p:cNvSpPr/>
          <p:nvPr/>
        </p:nvSpPr>
        <p:spPr>
          <a:xfrm>
            <a:off x="8051800" y="2743200"/>
            <a:ext cx="3454400" cy="2692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843B103B-EBB5-6703-5875-7BDD43BA2D7B}"/>
              </a:ext>
            </a:extLst>
          </p:cNvPr>
          <p:cNvSpPr txBox="1"/>
          <p:nvPr/>
        </p:nvSpPr>
        <p:spPr>
          <a:xfrm>
            <a:off x="8280400" y="29336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Reject / defer</a:t>
            </a:r>
          </a:p>
        </p:txBody>
      </p:sp>
      <p:sp>
        <p:nvSpPr>
          <p:cNvPr id="16" name="text_15">
            <a:extLst>
              <a:ext uri="{FF2B5EF4-FFF2-40B4-BE49-F238E27FC236}">
                <a16:creationId xmlns:a16="http://schemas.microsoft.com/office/drawing/2014/main" id="{C452F506-A09C-D0B5-AA49-2CB40C0863A4}"/>
              </a:ext>
            </a:extLst>
          </p:cNvPr>
          <p:cNvSpPr txBox="1"/>
          <p:nvPr/>
        </p:nvSpPr>
        <p:spPr>
          <a:xfrm>
            <a:off x="8280400" y="3555999"/>
            <a:ext cx="2997200" cy="18288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Ambiguous match
Avoid false certainty</a:t>
            </a:r>
          </a:p>
        </p:txBody>
      </p:sp>
      <p:sp>
        <p:nvSpPr>
          <p:cNvPr id="17" name="text_16">
            <a:extLst>
              <a:ext uri="{FF2B5EF4-FFF2-40B4-BE49-F238E27FC236}">
                <a16:creationId xmlns:a16="http://schemas.microsoft.com/office/drawing/2014/main" id="{BD9D8309-4DCC-1E81-A320-4947F9008527}"/>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Demo IDs are supplied; real systems must often infer them.</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4009398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C75D248-FA9E-B199-7764-4B99226DEFB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66BE429-10B0-4467-7ACF-D4A5659A0FF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Range-only landmark estimation</a:t>
            </a:r>
          </a:p>
        </p:txBody>
      </p:sp>
      <p:sp>
        <p:nvSpPr>
          <p:cNvPr id="4" name="text_3">
            <a:extLst>
              <a:ext uri="{FF2B5EF4-FFF2-40B4-BE49-F238E27FC236}">
                <a16:creationId xmlns:a16="http://schemas.microsoft.com/office/drawing/2014/main" id="{39BEA88E-B3AA-3799-745B-C884695776DE}"/>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reading gives a circle; new viewpoints narrow the possibilities.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6A594B3-E0B4-8154-CADD-83CC9262D1F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0B67C47-24A8-4D8D-14DE-50A6B317A68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E5316C1-5AD3-A511-B51A-443E9FA51A6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23</a:t>
            </a:r>
          </a:p>
        </p:txBody>
      </p:sp>
      <p:sp>
        <p:nvSpPr>
          <p:cNvPr id="8" name="Oval 7">
            <a:extLst>
              <a:ext uri="{FF2B5EF4-FFF2-40B4-BE49-F238E27FC236}">
                <a16:creationId xmlns:a16="http://schemas.microsoft.com/office/drawing/2014/main" id="{25C9E932-099A-2DCF-96C4-8D6330256470}"/>
              </a:ext>
            </a:extLst>
          </p:cNvPr>
          <p:cNvSpPr/>
          <p:nvPr/>
        </p:nvSpPr>
        <p:spPr>
          <a:xfrm>
            <a:off x="1270000" y="2768600"/>
            <a:ext cx="2781300" cy="2781300"/>
          </a:xfrm>
          <a:prstGeom prst="ellipse">
            <a:avLst/>
          </a:prstGeom>
          <a:noFill/>
          <a:ln w="27940" cap="flat" cmpd="sng" algn="ctr">
            <a:solidFill>
              <a:srgbClr val="2459D3"/>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Oval 8">
            <a:extLst>
              <a:ext uri="{FF2B5EF4-FFF2-40B4-BE49-F238E27FC236}">
                <a16:creationId xmlns:a16="http://schemas.microsoft.com/office/drawing/2014/main" id="{5EDEA033-DCFD-DE76-D1CC-B3BDAA581E54}"/>
              </a:ext>
            </a:extLst>
          </p:cNvPr>
          <p:cNvSpPr/>
          <p:nvPr/>
        </p:nvSpPr>
        <p:spPr>
          <a:xfrm>
            <a:off x="2908300" y="2768600"/>
            <a:ext cx="2781300" cy="2781300"/>
          </a:xfrm>
          <a:prstGeom prst="ellipse">
            <a:avLst/>
          </a:prstGeom>
          <a:noFill/>
          <a:ln w="27940" cap="flat" cmpd="sng" algn="ctr">
            <a:solidFill>
              <a:srgbClr val="137F7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38A70E39-15F6-1F76-AD83-3F5A1E6D16E0}"/>
              </a:ext>
            </a:extLst>
          </p:cNvPr>
          <p:cNvSpPr/>
          <p:nvPr/>
        </p:nvSpPr>
        <p:spPr>
          <a:xfrm>
            <a:off x="2565400" y="4089400"/>
            <a:ext cx="177800" cy="177800"/>
          </a:xfrm>
          <a:prstGeom prst="ellipse">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Oval 10">
            <a:extLst>
              <a:ext uri="{FF2B5EF4-FFF2-40B4-BE49-F238E27FC236}">
                <a16:creationId xmlns:a16="http://schemas.microsoft.com/office/drawing/2014/main" id="{05C06F53-24E6-BD30-C6F3-5C4A5E6AB117}"/>
              </a:ext>
            </a:extLst>
          </p:cNvPr>
          <p:cNvSpPr/>
          <p:nvPr/>
        </p:nvSpPr>
        <p:spPr>
          <a:xfrm>
            <a:off x="4203700" y="4089400"/>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Oval 11">
            <a:extLst>
              <a:ext uri="{FF2B5EF4-FFF2-40B4-BE49-F238E27FC236}">
                <a16:creationId xmlns:a16="http://schemas.microsoft.com/office/drawing/2014/main" id="{A031A24E-17EA-BF00-C4B5-CF003209EEAD}"/>
              </a:ext>
            </a:extLst>
          </p:cNvPr>
          <p:cNvSpPr/>
          <p:nvPr/>
        </p:nvSpPr>
        <p:spPr>
          <a:xfrm>
            <a:off x="3390900" y="2971800"/>
            <a:ext cx="177800" cy="1778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Oval 12">
            <a:extLst>
              <a:ext uri="{FF2B5EF4-FFF2-40B4-BE49-F238E27FC236}">
                <a16:creationId xmlns:a16="http://schemas.microsoft.com/office/drawing/2014/main" id="{961DC43C-8E5A-F5D2-40D8-9E83BBFDC226}"/>
              </a:ext>
            </a:extLst>
          </p:cNvPr>
          <p:cNvSpPr/>
          <p:nvPr/>
        </p:nvSpPr>
        <p:spPr>
          <a:xfrm>
            <a:off x="3390900" y="5181600"/>
            <a:ext cx="177800" cy="1778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_13">
            <a:extLst>
              <a:ext uri="{FF2B5EF4-FFF2-40B4-BE49-F238E27FC236}">
                <a16:creationId xmlns:a16="http://schemas.microsoft.com/office/drawing/2014/main" id="{BCA55659-B590-F871-2F91-920914532C1E}"/>
              </a:ext>
            </a:extLst>
          </p:cNvPr>
          <p:cNvSpPr txBox="1"/>
          <p:nvPr/>
        </p:nvSpPr>
        <p:spPr>
          <a:xfrm>
            <a:off x="6527800" y="2806699"/>
            <a:ext cx="4978400" cy="1244600"/>
          </a:xfrm>
          <a:prstGeom prst="rect">
            <a:avLst/>
          </a:prstGeom>
          <a:noFill/>
        </p:spPr>
        <p:txBody>
          <a:bodyPr vert="horz" wrap="square" lIns="0" tIns="0" rIns="0" bIns="0" rtlCol="0" anchor="t">
            <a:noAutofit/>
          </a:bodyPr>
          <a:lstStyle/>
          <a:p>
            <a:r>
              <a:rPr lang="en-US" sz="2800">
                <a:solidFill>
                  <a:srgbClr val="15283B"/>
                </a:solidFill>
                <a:latin typeface="Aptos" panose="020B0004020202020204" pitchFamily="34" charset="0"/>
              </a:rPr>
              <a:t>One range: a band
Two views: ambiguity</a:t>
            </a:r>
            <a:endParaRPr lang="en-IL" sz="2800">
              <a:solidFill>
                <a:srgbClr val="15283B"/>
              </a:solidFill>
              <a:latin typeface="Aptos" panose="020B0004020202020204" pitchFamily="34" charset="0"/>
            </a:endParaRPr>
          </a:p>
        </p:txBody>
      </p:sp>
      <p:sp>
        <p:nvSpPr>
          <p:cNvPr id="15" name="text_14">
            <a:extLst>
              <a:ext uri="{FF2B5EF4-FFF2-40B4-BE49-F238E27FC236}">
                <a16:creationId xmlns:a16="http://schemas.microsoft.com/office/drawing/2014/main" id="{58895AFB-B16B-A0D6-427C-0BEAB670207D}"/>
              </a:ext>
            </a:extLst>
          </p:cNvPr>
          <p:cNvSpPr txBox="1"/>
          <p:nvPr/>
        </p:nvSpPr>
        <p:spPr>
          <a:xfrm>
            <a:off x="6527800" y="4419599"/>
            <a:ext cx="4978400" cy="965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‖m</a:t>
            </a:r>
            <a:r>
              <a:rPr lang="en-IL" sz="2088" baseline="-22000">
                <a:solidFill>
                  <a:srgbClr val="2459D3"/>
                </a:solidFill>
                <a:latin typeface="Cambria Math" panose="02040503050406030204" pitchFamily="18" charset="0"/>
              </a:rPr>
              <a:t>j</a:t>
            </a:r>
            <a:r>
              <a:rPr lang="en-IL" sz="2900">
                <a:solidFill>
                  <a:srgbClr val="2459D3"/>
                </a:solidFill>
                <a:latin typeface="Cambria Math" panose="02040503050406030204" pitchFamily="18" charset="0"/>
              </a:rPr>
              <a:t> − p</a:t>
            </a:r>
            <a:r>
              <a:rPr lang="en-IL" sz="2088" baseline="-22000">
                <a:solidFill>
                  <a:srgbClr val="2459D3"/>
                </a:solidFill>
                <a:latin typeface="Cambria Math" panose="02040503050406030204" pitchFamily="18" charset="0"/>
              </a:rPr>
              <a:t>t</a:t>
            </a:r>
            <a:r>
              <a:rPr lang="en-IL" sz="2900">
                <a:solidFill>
                  <a:srgbClr val="2459D3"/>
                </a:solidFill>
                <a:latin typeface="Cambria Math" panose="02040503050406030204" pitchFamily="18" charset="0"/>
              </a:rPr>
              <a:t>‖₂ ≈ z</a:t>
            </a:r>
            <a:r>
              <a:rPr lang="en-IL" sz="2088" baseline="-22000">
                <a:solidFill>
                  <a:srgbClr val="2459D3"/>
                </a:solidFill>
                <a:latin typeface="Cambria Math" panose="02040503050406030204" pitchFamily="18" charset="0"/>
              </a:rPr>
              <a:t>t,j</a:t>
            </a:r>
          </a:p>
        </p:txBody>
      </p:sp>
      <p:sp>
        <p:nvSpPr>
          <p:cNvPr id="16" name="text_15">
            <a:extLst>
              <a:ext uri="{FF2B5EF4-FFF2-40B4-BE49-F238E27FC236}">
                <a16:creationId xmlns:a16="http://schemas.microsoft.com/office/drawing/2014/main" id="{804A19CC-3701-8BDB-AA88-02BB0CD57FE8}"/>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Mean ≠ most likely landmark location.</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187662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D034258-561F-5221-7011-C3DCB47F81DC}"/>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56B0896C-6273-23C0-6DBD-E36DC864347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Live: switch to range-only SLAM</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C4D3F3B1-1A13-23D2-5A36-1AC6B19FAE3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SLAM: unknown map · Same physical landmarks and sensor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230502F-799B-1F5F-EFFD-BAB6F2A5B48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3B7CD84-0CA2-FDB0-B04E-F4D47468439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BC26AEF-B03D-9B54-3DC1-3847AFB001C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24</a:t>
            </a:r>
          </a:p>
        </p:txBody>
      </p:sp>
      <p:pic>
        <p:nvPicPr>
          <p:cNvPr id="9" name="Picture 8">
            <a:extLst>
              <a:ext uri="{FF2B5EF4-FFF2-40B4-BE49-F238E27FC236}">
                <a16:creationId xmlns:a16="http://schemas.microsoft.com/office/drawing/2014/main" id="{C97CC5A7-3BCE-1956-D882-52C740D885C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1" y="2565400"/>
            <a:ext cx="5418667" cy="3048000"/>
          </a:xfrm>
          <a:prstGeom prst="rect">
            <a:avLst/>
          </a:prstGeom>
        </p:spPr>
      </p:pic>
      <p:sp>
        <p:nvSpPr>
          <p:cNvPr id="10" name="Rectangle: Rounded Corners 9">
            <a:extLst>
              <a:ext uri="{FF2B5EF4-FFF2-40B4-BE49-F238E27FC236}">
                <a16:creationId xmlns:a16="http://schemas.microsoft.com/office/drawing/2014/main" id="{882684AA-C5AE-989B-9BCA-E3D050D1AC26}"/>
              </a:ext>
            </a:extLst>
          </p:cNvPr>
          <p:cNvSpPr/>
          <p:nvPr/>
        </p:nvSpPr>
        <p:spPr>
          <a:xfrm>
            <a:off x="7962900" y="2641600"/>
            <a:ext cx="3543300" cy="2768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9">
            <a:extLst>
              <a:ext uri="{FF2B5EF4-FFF2-40B4-BE49-F238E27FC236}">
                <a16:creationId xmlns:a16="http://schemas.microsoft.com/office/drawing/2014/main" id="{E5A50542-14FE-AEA8-E129-6F4245FA3B2C}"/>
              </a:ext>
            </a:extLst>
          </p:cNvPr>
          <p:cNvSpPr txBox="1"/>
          <p:nvPr/>
        </p:nvSpPr>
        <p:spPr>
          <a:xfrm>
            <a:off x="8191500" y="2832099"/>
            <a:ext cx="30861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Change modes</a:t>
            </a:r>
          </a:p>
        </p:txBody>
      </p:sp>
      <p:sp>
        <p:nvSpPr>
          <p:cNvPr id="12" name="text_10">
            <a:extLst>
              <a:ext uri="{FF2B5EF4-FFF2-40B4-BE49-F238E27FC236}">
                <a16:creationId xmlns:a16="http://schemas.microsoft.com/office/drawing/2014/main" id="{BE059D91-23CE-A6E2-3291-9C9F4B90330F}"/>
              </a:ext>
            </a:extLst>
          </p:cNvPr>
          <p:cNvSpPr txBox="1"/>
          <p:nvPr/>
        </p:nvSpPr>
        <p:spPr>
          <a:xfrm>
            <a:off x="8191500" y="3454399"/>
            <a:ext cx="3086100" cy="19050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Unknown locations
Range-only bands
Multiple viewpoints</a:t>
            </a:r>
            <a:endParaRPr lang="en-IL" sz="2400">
              <a:solidFill>
                <a:srgbClr val="15283B"/>
              </a:solidFill>
              <a:latin typeface="Aptos" panose="020B0004020202020204" pitchFamily="34" charset="0"/>
            </a:endParaRPr>
          </a:p>
        </p:txBody>
      </p:sp>
      <p:sp>
        <p:nvSpPr>
          <p:cNvPr id="13" name="text_11">
            <a:extLst>
              <a:ext uri="{FF2B5EF4-FFF2-40B4-BE49-F238E27FC236}">
                <a16:creationId xmlns:a16="http://schemas.microsoft.com/office/drawing/2014/main" id="{99D6B6BE-1BE5-9DCB-FAB8-27D81C59880D}"/>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A circle → overlapping constraints → a more informative map.</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1034226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E4C4B72-2076-513A-52F9-3B3D8FB343F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5161FD1-42AB-B9F3-B9C9-B84456FC911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Drift and recognized revisits</a:t>
            </a:r>
          </a:p>
        </p:txBody>
      </p:sp>
      <p:sp>
        <p:nvSpPr>
          <p:cNvPr id="4" name="text_3">
            <a:extLst>
              <a:ext uri="{FF2B5EF4-FFF2-40B4-BE49-F238E27FC236}">
                <a16:creationId xmlns:a16="http://schemas.microsoft.com/office/drawing/2014/main" id="{84BAF01F-9E94-29FA-F961-14C9127ABFE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Revisiting a place is useful only when the correspondence is recognized.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D68164E-08F4-DA04-CCD6-B28EB94FEA43}"/>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B52D0FF-F4E1-A1DD-5C2B-B6B1317BFFF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66D4AF8-288F-6FA1-1E40-BC590D0547D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25</a:t>
            </a:r>
          </a:p>
        </p:txBody>
      </p:sp>
      <p:cxnSp>
        <p:nvCxnSpPr>
          <p:cNvPr id="8" name="Straight Connector 7">
            <a:extLst>
              <a:ext uri="{FF2B5EF4-FFF2-40B4-BE49-F238E27FC236}">
                <a16:creationId xmlns:a16="http://schemas.microsoft.com/office/drawing/2014/main" id="{576E13EB-AD0E-F552-C798-7D34159F37CA}"/>
              </a:ext>
            </a:extLst>
          </p:cNvPr>
          <p:cNvCxnSpPr/>
          <p:nvPr/>
        </p:nvCxnSpPr>
        <p:spPr>
          <a:xfrm>
            <a:off x="990600" y="5257800"/>
            <a:ext cx="4368800" cy="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EE5828F1-4961-896B-C0C9-238308CE52EE}"/>
              </a:ext>
            </a:extLst>
          </p:cNvPr>
          <p:cNvCxnSpPr/>
          <p:nvPr/>
        </p:nvCxnSpPr>
        <p:spPr>
          <a:xfrm flipV="1">
            <a:off x="990600" y="2667000"/>
            <a:ext cx="0" cy="259080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sp>
        <p:nvSpPr>
          <p:cNvPr id="10" name="text_9">
            <a:extLst>
              <a:ext uri="{FF2B5EF4-FFF2-40B4-BE49-F238E27FC236}">
                <a16:creationId xmlns:a16="http://schemas.microsoft.com/office/drawing/2014/main" id="{73FDE308-3A80-6E81-3D36-B7F6AC15F788}"/>
              </a:ext>
            </a:extLst>
          </p:cNvPr>
          <p:cNvSpPr txBox="1"/>
          <p:nvPr/>
        </p:nvSpPr>
        <p:spPr>
          <a:xfrm>
            <a:off x="5232400" y="5308599"/>
            <a:ext cx="635000" cy="393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x</a:t>
            </a:r>
          </a:p>
        </p:txBody>
      </p:sp>
      <p:sp>
        <p:nvSpPr>
          <p:cNvPr id="11" name="text_10">
            <a:extLst>
              <a:ext uri="{FF2B5EF4-FFF2-40B4-BE49-F238E27FC236}">
                <a16:creationId xmlns:a16="http://schemas.microsoft.com/office/drawing/2014/main" id="{8DED90D0-3756-29C4-F04E-43A8E5DA2878}"/>
              </a:ext>
            </a:extLst>
          </p:cNvPr>
          <p:cNvSpPr txBox="1"/>
          <p:nvPr/>
        </p:nvSpPr>
        <p:spPr>
          <a:xfrm>
            <a:off x="685800" y="2514599"/>
            <a:ext cx="508000" cy="3810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y</a:t>
            </a:r>
          </a:p>
        </p:txBody>
      </p:sp>
      <p:cxnSp>
        <p:nvCxnSpPr>
          <p:cNvPr id="12" name="Straight Connector 11">
            <a:extLst>
              <a:ext uri="{FF2B5EF4-FFF2-40B4-BE49-F238E27FC236}">
                <a16:creationId xmlns:a16="http://schemas.microsoft.com/office/drawing/2014/main" id="{1397506F-69CF-288A-7E70-FFC84B4AB5CD}"/>
              </a:ext>
            </a:extLst>
          </p:cNvPr>
          <p:cNvCxnSpPr/>
          <p:nvPr/>
        </p:nvCxnSpPr>
        <p:spPr>
          <a:xfrm flipV="1">
            <a:off x="1270000" y="5105400"/>
            <a:ext cx="3225800" cy="1143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7AF0A07-418D-CF97-B5F3-6CA860519C39}"/>
              </a:ext>
            </a:extLst>
          </p:cNvPr>
          <p:cNvCxnSpPr/>
          <p:nvPr/>
        </p:nvCxnSpPr>
        <p:spPr>
          <a:xfrm flipV="1">
            <a:off x="4495800" y="3060700"/>
            <a:ext cx="76200" cy="20447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3EE2160-1894-C218-7F32-7EB3D7143169}"/>
              </a:ext>
            </a:extLst>
          </p:cNvPr>
          <p:cNvCxnSpPr/>
          <p:nvPr/>
        </p:nvCxnSpPr>
        <p:spPr>
          <a:xfrm flipH="1" flipV="1">
            <a:off x="1485900" y="2921000"/>
            <a:ext cx="3086100" cy="1397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BDC33F0-2D49-5AD0-1A3E-FB6F81D0D9EC}"/>
              </a:ext>
            </a:extLst>
          </p:cNvPr>
          <p:cNvCxnSpPr/>
          <p:nvPr/>
        </p:nvCxnSpPr>
        <p:spPr>
          <a:xfrm>
            <a:off x="1485900" y="2921000"/>
            <a:ext cx="355600" cy="18415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6F3EC72-DA1D-4002-4A75-4356811DFD50}"/>
              </a:ext>
            </a:extLst>
          </p:cNvPr>
          <p:cNvCxnSpPr/>
          <p:nvPr/>
        </p:nvCxnSpPr>
        <p:spPr>
          <a:xfrm flipH="1">
            <a:off x="1270000" y="4762500"/>
            <a:ext cx="571500" cy="457200"/>
          </a:xfrm>
          <a:prstGeom prst="line">
            <a:avLst/>
          </a:prstGeom>
          <a:ln w="27940">
            <a:solidFill>
              <a:srgbClr val="137F79"/>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0037840E-1003-870F-5DDC-46ED6CDC0E03}"/>
              </a:ext>
            </a:extLst>
          </p:cNvPr>
          <p:cNvSpPr/>
          <p:nvPr/>
        </p:nvSpPr>
        <p:spPr>
          <a:xfrm>
            <a:off x="6477000" y="2730500"/>
            <a:ext cx="5029200" cy="2730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E6D4A746-4EB2-467E-6DCB-C6EE0F6C6B9E}"/>
              </a:ext>
            </a:extLst>
          </p:cNvPr>
          <p:cNvSpPr txBox="1"/>
          <p:nvPr/>
        </p:nvSpPr>
        <p:spPr>
          <a:xfrm>
            <a:off x="6705600" y="2920999"/>
            <a:ext cx="45720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Recognized revisit</a:t>
            </a:r>
          </a:p>
        </p:txBody>
      </p:sp>
      <p:sp>
        <p:nvSpPr>
          <p:cNvPr id="19" name="text_18">
            <a:extLst>
              <a:ext uri="{FF2B5EF4-FFF2-40B4-BE49-F238E27FC236}">
                <a16:creationId xmlns:a16="http://schemas.microsoft.com/office/drawing/2014/main" id="{F695F3C4-E9FA-40C7-F3CD-0EB30CB03BCF}"/>
              </a:ext>
            </a:extLst>
          </p:cNvPr>
          <p:cNvSpPr txBox="1"/>
          <p:nvPr/>
        </p:nvSpPr>
        <p:spPr>
          <a:xfrm>
            <a:off x="6705600" y="3543299"/>
            <a:ext cx="4572000" cy="1866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Adds a consistency constraint
Requires correct matching
Can inform correlated poses</a:t>
            </a:r>
            <a:endParaRPr lang="en-IL" sz="2400">
              <a:solidFill>
                <a:srgbClr val="15283B"/>
              </a:solidFill>
              <a:latin typeface="Aptos" panose="020B0004020202020204" pitchFamily="34" charset="0"/>
            </a:endParaRPr>
          </a:p>
        </p:txBody>
      </p:sp>
      <p:sp>
        <p:nvSpPr>
          <p:cNvPr id="20" name="text_19">
            <a:extLst>
              <a:ext uri="{FF2B5EF4-FFF2-40B4-BE49-F238E27FC236}">
                <a16:creationId xmlns:a16="http://schemas.microsoft.com/office/drawing/2014/main" id="{050CB3A1-A26C-BB0C-A73A-998E3713B6F9}"/>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Reobservation is implemented; global loop optimization is not.</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2742755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D3E503C-CAEB-1349-C32D-E029C1A3123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30161039-C9FA-D714-A87C-2BBD7C7371D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Occupancy-grid mapping</a:t>
            </a:r>
          </a:p>
        </p:txBody>
      </p:sp>
      <p:sp>
        <p:nvSpPr>
          <p:cNvPr id="4" name="text_3">
            <a:extLst>
              <a:ext uri="{FF2B5EF4-FFF2-40B4-BE49-F238E27FC236}">
                <a16:creationId xmlns:a16="http://schemas.microsoft.com/office/drawing/2014/main" id="{DFDBABA2-D8ED-AD33-892F-E6CA57A47E6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different map representation: free, occupied, or unknown.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A5A2456-94F3-FDC0-E994-FF0950AF29A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1F79015-E389-DBA2-6380-D145A26C61E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F4A1D559-32C7-47E4-AEDD-9AE8A08E5DA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26</a:t>
            </a:r>
          </a:p>
        </p:txBody>
      </p:sp>
      <p:sp>
        <p:nvSpPr>
          <p:cNvPr id="8" name="text_7">
            <a:extLst>
              <a:ext uri="{FF2B5EF4-FFF2-40B4-BE49-F238E27FC236}">
                <a16:creationId xmlns:a16="http://schemas.microsoft.com/office/drawing/2014/main" id="{FADEC2F5-9DB1-F7FF-643D-E032D8948977}"/>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ℓ</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(c) = ℓ</a:t>
            </a:r>
            <a:r>
              <a:rPr lang="en-IL" sz="2304" baseline="-22000">
                <a:solidFill>
                  <a:srgbClr val="2459D3"/>
                </a:solidFill>
                <a:latin typeface="Cambria Math" panose="02040503050406030204" pitchFamily="18" charset="0"/>
              </a:rPr>
              <a:t>t−1</a:t>
            </a:r>
            <a:r>
              <a:rPr lang="en-IL" sz="3200">
                <a:solidFill>
                  <a:srgbClr val="2459D3"/>
                </a:solidFill>
                <a:latin typeface="Cambria Math" panose="02040503050406030204" pitchFamily="18" charset="0"/>
              </a:rPr>
              <a:t>(c) + logit P(c occupied | z</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,x</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ℓ</a:t>
            </a:r>
            <a:r>
              <a:rPr lang="en-IL" sz="2304" baseline="-22000">
                <a:solidFill>
                  <a:srgbClr val="2459D3"/>
                </a:solidFill>
                <a:latin typeface="Cambria Math" panose="02040503050406030204" pitchFamily="18" charset="0"/>
              </a:rPr>
              <a:t>0</a:t>
            </a:r>
            <a:r>
              <a:rPr lang="en-IL" sz="3200">
                <a:solidFill>
                  <a:srgbClr val="2459D3"/>
                </a:solidFill>
                <a:latin typeface="Cambria Math" panose="02040503050406030204" pitchFamily="18" charset="0"/>
              </a:rPr>
              <a:t>(c)</a:t>
            </a:r>
          </a:p>
        </p:txBody>
      </p:sp>
      <p:sp>
        <p:nvSpPr>
          <p:cNvPr id="9" name="text_8">
            <a:extLst>
              <a:ext uri="{FF2B5EF4-FFF2-40B4-BE49-F238E27FC236}">
                <a16:creationId xmlns:a16="http://schemas.microsoft.com/office/drawing/2014/main" id="{F92EA985-9C56-9D08-EF8C-911AC03CB20D}"/>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P(c occupied) = 1 / (1 + exp(−ℓ</a:t>
            </a:r>
            <a:r>
              <a:rPr lang="en-US" sz="2304" baseline="-22000">
                <a:solidFill>
                  <a:srgbClr val="15283B"/>
                </a:solidFill>
                <a:latin typeface="Cambria Math" panose="02040503050406030204" pitchFamily="18" charset="0"/>
              </a:rPr>
              <a:t>t</a:t>
            </a:r>
            <a:r>
              <a:rPr lang="en-US" sz="3200">
                <a:solidFill>
                  <a:srgbClr val="15283B"/>
                </a:solidFill>
                <a:latin typeface="Cambria Math" panose="02040503050406030204" pitchFamily="18" charset="0"/>
              </a:rPr>
              <a:t>(c)))</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87C13583-C0CB-A237-8110-A1E684F8FE4A}"/>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HW6 connection; occupancy mapping is not implemented here.</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1574257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7566A3B-254C-B75C-B1AD-3D63133E462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616B5019-85F5-3D39-EFA0-92A39D8C89B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Each robot hypothesis carries a map</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1075714E-3B3B-2E25-4E5C-8A69D5E45A86}"/>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Grid-based range-only SLAM uses conditional landmark distributions.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F42199B-699C-BCB0-419B-A6F93675CBD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88DEC49-1970-7CC6-21E9-65D12890BBE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3736967-16D9-3A06-ABD5-AAE358E38B2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27</a:t>
            </a:r>
          </a:p>
        </p:txBody>
      </p:sp>
      <p:sp>
        <p:nvSpPr>
          <p:cNvPr id="8" name="Rectangle: Rounded Corners 7">
            <a:extLst>
              <a:ext uri="{FF2B5EF4-FFF2-40B4-BE49-F238E27FC236}">
                <a16:creationId xmlns:a16="http://schemas.microsoft.com/office/drawing/2014/main" id="{309B2FB9-4570-240A-CB9E-4DEF79F71214}"/>
              </a:ext>
            </a:extLst>
          </p:cNvPr>
          <p:cNvSpPr/>
          <p:nvPr/>
        </p:nvSpPr>
        <p:spPr>
          <a:xfrm>
            <a:off x="685800" y="2628900"/>
            <a:ext cx="3937000" cy="28829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671106CA-895D-FFD4-673D-A2FA7E9E5EF6}"/>
              </a:ext>
            </a:extLst>
          </p:cNvPr>
          <p:cNvSpPr txBox="1"/>
          <p:nvPr/>
        </p:nvSpPr>
        <p:spPr>
          <a:xfrm>
            <a:off x="914400" y="2819399"/>
            <a:ext cx="3479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Particle i</a:t>
            </a:r>
          </a:p>
        </p:txBody>
      </p:sp>
      <p:sp>
        <p:nvSpPr>
          <p:cNvPr id="10" name="text_9">
            <a:extLst>
              <a:ext uri="{FF2B5EF4-FFF2-40B4-BE49-F238E27FC236}">
                <a16:creationId xmlns:a16="http://schemas.microsoft.com/office/drawing/2014/main" id="{C8E68396-43AB-896A-F7F1-8669F938105A}"/>
              </a:ext>
            </a:extLst>
          </p:cNvPr>
          <p:cNvSpPr txBox="1"/>
          <p:nvPr/>
        </p:nvSpPr>
        <p:spPr>
          <a:xfrm>
            <a:off x="914400" y="3441699"/>
            <a:ext cx="3479800" cy="2019300"/>
          </a:xfrm>
          <a:prstGeom prst="rect">
            <a:avLst/>
          </a:prstGeom>
          <a:noFill/>
        </p:spPr>
        <p:txBody>
          <a:bodyPr vert="horz" wrap="square" lIns="0" tIns="0" rIns="0" bIns="0" rtlCol="0" anchor="t">
            <a:noAutofit/>
          </a:bodyPr>
          <a:lstStyle/>
          <a:p>
            <a:r>
              <a:rPr lang="fr-FR" sz="2400">
                <a:solidFill>
                  <a:srgbClr val="15283B"/>
                </a:solidFill>
                <a:latin typeface="Aptos" panose="020B0004020202020204" pitchFamily="34" charset="0"/>
              </a:rPr>
              <a:t>Robot position
L1 distribution
L2 distribution
L3 distribution</a:t>
            </a:r>
            <a:endParaRPr lang="en-IL" sz="2400">
              <a:solidFill>
                <a:srgbClr val="15283B"/>
              </a:solidFill>
              <a:latin typeface="Aptos" panose="020B0004020202020204" pitchFamily="34" charset="0"/>
            </a:endParaRPr>
          </a:p>
        </p:txBody>
      </p:sp>
      <p:sp>
        <p:nvSpPr>
          <p:cNvPr id="11" name="text_10">
            <a:extLst>
              <a:ext uri="{FF2B5EF4-FFF2-40B4-BE49-F238E27FC236}">
                <a16:creationId xmlns:a16="http://schemas.microsoft.com/office/drawing/2014/main" id="{9F73FA76-BAF4-820C-75E9-997EE5EDFC09}"/>
              </a:ext>
            </a:extLst>
          </p:cNvPr>
          <p:cNvSpPr txBox="1"/>
          <p:nvPr/>
        </p:nvSpPr>
        <p:spPr>
          <a:xfrm>
            <a:off x="4991100" y="2933699"/>
            <a:ext cx="6515100" cy="10033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e</a:t>
            </a:r>
            <a:r>
              <a:rPr lang="en-IL" sz="2088" baseline="-22000">
                <a:solidFill>
                  <a:srgbClr val="2459D3"/>
                </a:solidFill>
                <a:latin typeface="Cambria Math" panose="02040503050406030204" pitchFamily="18" charset="0"/>
              </a:rPr>
              <a:t>ij</a:t>
            </a:r>
            <a:r>
              <a:rPr lang="en-IL" sz="2900">
                <a:solidFill>
                  <a:srgbClr val="2459D3"/>
                </a:solidFill>
                <a:latin typeface="Cambria Math" panose="02040503050406030204" pitchFamily="18" charset="0"/>
              </a:rPr>
              <a:t> = ∑</a:t>
            </a:r>
            <a:r>
              <a:rPr lang="en-IL" sz="2088" baseline="-22000">
                <a:solidFill>
                  <a:srgbClr val="2459D3"/>
                </a:solidFill>
                <a:latin typeface="Cambria Math" panose="02040503050406030204" pitchFamily="18" charset="0"/>
              </a:rPr>
              <a:t>g</a:t>
            </a:r>
            <a:r>
              <a:rPr lang="en-IL" sz="2900">
                <a:solidFill>
                  <a:srgbClr val="2459D3"/>
                </a:solidFill>
                <a:latin typeface="Cambria Math" panose="02040503050406030204" pitchFamily="18" charset="0"/>
              </a:rPr>
              <a:t> L</a:t>
            </a:r>
            <a:r>
              <a:rPr lang="en-IL" sz="2088" baseline="-22000">
                <a:solidFill>
                  <a:srgbClr val="2459D3"/>
                </a:solidFill>
                <a:latin typeface="Cambria Math" panose="02040503050406030204" pitchFamily="18" charset="0"/>
              </a:rPr>
              <a:t>ij</a:t>
            </a:r>
            <a:r>
              <a:rPr lang="en-IL" sz="2900">
                <a:solidFill>
                  <a:srgbClr val="2459D3"/>
                </a:solidFill>
                <a:latin typeface="Cambria Math" panose="02040503050406030204" pitchFamily="18" charset="0"/>
              </a:rPr>
              <a:t>(g) M</a:t>
            </a:r>
            <a:r>
              <a:rPr lang="en-IL" sz="2088" baseline="-22000">
                <a:solidFill>
                  <a:srgbClr val="2459D3"/>
                </a:solidFill>
                <a:latin typeface="Cambria Math" panose="02040503050406030204" pitchFamily="18" charset="0"/>
              </a:rPr>
              <a:t>t−1,ij</a:t>
            </a:r>
            <a:r>
              <a:rPr lang="en-IL" sz="2900">
                <a:solidFill>
                  <a:srgbClr val="2459D3"/>
                </a:solidFill>
                <a:latin typeface="Cambria Math" panose="02040503050406030204" pitchFamily="18" charset="0"/>
              </a:rPr>
              <a:t>(g)</a:t>
            </a:r>
          </a:p>
        </p:txBody>
      </p:sp>
      <p:sp>
        <p:nvSpPr>
          <p:cNvPr id="12" name="text_11">
            <a:extLst>
              <a:ext uri="{FF2B5EF4-FFF2-40B4-BE49-F238E27FC236}">
                <a16:creationId xmlns:a16="http://schemas.microsoft.com/office/drawing/2014/main" id="{81C33423-5744-F62B-C910-94EC395B3658}"/>
              </a:ext>
            </a:extLst>
          </p:cNvPr>
          <p:cNvSpPr txBox="1"/>
          <p:nvPr/>
        </p:nvSpPr>
        <p:spPr>
          <a:xfrm>
            <a:off x="4991100" y="4406899"/>
            <a:ext cx="6515100" cy="10033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M</a:t>
            </a:r>
            <a:r>
              <a:rPr lang="en-IL" sz="2088" baseline="-22000">
                <a:solidFill>
                  <a:srgbClr val="15283B"/>
                </a:solidFill>
                <a:latin typeface="Cambria Math" panose="02040503050406030204" pitchFamily="18" charset="0"/>
              </a:rPr>
              <a:t>t,ij</a:t>
            </a:r>
            <a:r>
              <a:rPr lang="en-IL" sz="2900">
                <a:solidFill>
                  <a:srgbClr val="15283B"/>
                </a:solidFill>
                <a:latin typeface="Cambria Math" panose="02040503050406030204" pitchFamily="18" charset="0"/>
              </a:rPr>
              <a:t>(g) ∝ L</a:t>
            </a:r>
            <a:r>
              <a:rPr lang="en-IL" sz="2088" baseline="-22000">
                <a:solidFill>
                  <a:srgbClr val="15283B"/>
                </a:solidFill>
                <a:latin typeface="Cambria Math" panose="02040503050406030204" pitchFamily="18" charset="0"/>
              </a:rPr>
              <a:t>ij</a:t>
            </a:r>
            <a:r>
              <a:rPr lang="en-IL" sz="2900">
                <a:solidFill>
                  <a:srgbClr val="15283B"/>
                </a:solidFill>
                <a:latin typeface="Cambria Math" panose="02040503050406030204" pitchFamily="18" charset="0"/>
              </a:rPr>
              <a:t>(g) M</a:t>
            </a:r>
            <a:r>
              <a:rPr lang="en-IL" sz="2088" baseline="-22000">
                <a:solidFill>
                  <a:srgbClr val="15283B"/>
                </a:solidFill>
                <a:latin typeface="Cambria Math" panose="02040503050406030204" pitchFamily="18" charset="0"/>
              </a:rPr>
              <a:t>t−1,ij</a:t>
            </a:r>
            <a:r>
              <a:rPr lang="en-IL" sz="2900">
                <a:solidFill>
                  <a:srgbClr val="15283B"/>
                </a:solidFill>
                <a:latin typeface="Cambria Math" panose="02040503050406030204" pitchFamily="18" charset="0"/>
              </a:rPr>
              <a:t>(g)</a:t>
            </a:r>
          </a:p>
        </p:txBody>
      </p:sp>
      <p:sp>
        <p:nvSpPr>
          <p:cNvPr id="13" name="text_12">
            <a:extLst>
              <a:ext uri="{FF2B5EF4-FFF2-40B4-BE49-F238E27FC236}">
                <a16:creationId xmlns:a16="http://schemas.microsoft.com/office/drawing/2014/main" id="{C9E0B61C-F461-8787-F3BA-1A2E77B0703A}"/>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Evidence first; posterior map second; copy them together.</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621228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3A141EF-87E2-08B3-F796-06ACC8E362A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2951A9EC-B5F4-6317-6616-B05BEC46B79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SLAM does not require particles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60D8625B-1D9A-BB8F-C957-A55BDE360B2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Choose a representation suited to the model and uncertainty.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19C364F-A4C6-AC3A-4B67-D534F1E17A6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2C38B76-8641-DA70-3686-C5C41322ED66}"/>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900E6C9-2CAF-D9A4-26CD-13CAD321C21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28</a:t>
            </a:r>
          </a:p>
        </p:txBody>
      </p:sp>
      <p:sp>
        <p:nvSpPr>
          <p:cNvPr id="8" name="Rectangle: Rounded Corners 7">
            <a:extLst>
              <a:ext uri="{FF2B5EF4-FFF2-40B4-BE49-F238E27FC236}">
                <a16:creationId xmlns:a16="http://schemas.microsoft.com/office/drawing/2014/main" id="{6DBC2B74-21F3-3C15-2E4B-AE22BEF9D5B6}"/>
              </a:ext>
            </a:extLst>
          </p:cNvPr>
          <p:cNvSpPr/>
          <p:nvPr/>
        </p:nvSpPr>
        <p:spPr>
          <a:xfrm>
            <a:off x="685800" y="2705100"/>
            <a:ext cx="3454400" cy="2781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546C6B3D-43B4-5C1F-AB8E-881CA4C05188}"/>
              </a:ext>
            </a:extLst>
          </p:cNvPr>
          <p:cNvSpPr txBox="1"/>
          <p:nvPr/>
        </p:nvSpPr>
        <p:spPr>
          <a:xfrm>
            <a:off x="914400" y="28955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Particles</a:t>
            </a:r>
          </a:p>
        </p:txBody>
      </p:sp>
      <p:sp>
        <p:nvSpPr>
          <p:cNvPr id="10" name="text_9">
            <a:extLst>
              <a:ext uri="{FF2B5EF4-FFF2-40B4-BE49-F238E27FC236}">
                <a16:creationId xmlns:a16="http://schemas.microsoft.com/office/drawing/2014/main" id="{DF8BF18D-1FF3-CCD5-AFC0-EE79410C6CE6}"/>
              </a:ext>
            </a:extLst>
          </p:cNvPr>
          <p:cNvSpPr txBox="1"/>
          <p:nvPr/>
        </p:nvSpPr>
        <p:spPr>
          <a:xfrm>
            <a:off x="914400" y="3517899"/>
            <a:ext cx="2997200" cy="19177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Sampled hypotheses
Multiple modes
Sampling cost</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F3C238F1-5128-62BF-7144-E9D6534AD808}"/>
              </a:ext>
            </a:extLst>
          </p:cNvPr>
          <p:cNvSpPr/>
          <p:nvPr/>
        </p:nvSpPr>
        <p:spPr>
          <a:xfrm>
            <a:off x="4368800" y="2705100"/>
            <a:ext cx="3454400" cy="2781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E38FFCA-C8CB-DA40-E5FC-BC34F60D70E8}"/>
              </a:ext>
            </a:extLst>
          </p:cNvPr>
          <p:cNvSpPr txBox="1"/>
          <p:nvPr/>
        </p:nvSpPr>
        <p:spPr>
          <a:xfrm>
            <a:off x="4597400" y="2895599"/>
            <a:ext cx="29972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EKF / UKF</a:t>
            </a:r>
          </a:p>
        </p:txBody>
      </p:sp>
      <p:sp>
        <p:nvSpPr>
          <p:cNvPr id="13" name="text_12">
            <a:extLst>
              <a:ext uri="{FF2B5EF4-FFF2-40B4-BE49-F238E27FC236}">
                <a16:creationId xmlns:a16="http://schemas.microsoft.com/office/drawing/2014/main" id="{E12F5EAD-5E2B-3DB7-6783-80CC50B800BE}"/>
              </a:ext>
            </a:extLst>
          </p:cNvPr>
          <p:cNvSpPr txBox="1"/>
          <p:nvPr/>
        </p:nvSpPr>
        <p:spPr>
          <a:xfrm>
            <a:off x="4597400" y="3517899"/>
            <a:ext cx="2997200" cy="19177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Mean + covariance
Nonlinear approximations
Correlated state</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2E9EB365-4C02-C85D-B45D-186ACD357711}"/>
              </a:ext>
            </a:extLst>
          </p:cNvPr>
          <p:cNvSpPr/>
          <p:nvPr/>
        </p:nvSpPr>
        <p:spPr>
          <a:xfrm>
            <a:off x="8051800" y="2705100"/>
            <a:ext cx="3454400" cy="2781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7225C4AC-4F15-DBEB-C61C-1E56E2A86AAE}"/>
              </a:ext>
            </a:extLst>
          </p:cNvPr>
          <p:cNvSpPr txBox="1"/>
          <p:nvPr/>
        </p:nvSpPr>
        <p:spPr>
          <a:xfrm>
            <a:off x="8280400" y="2895599"/>
            <a:ext cx="29972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Graph SLAM</a:t>
            </a:r>
          </a:p>
        </p:txBody>
      </p:sp>
      <p:sp>
        <p:nvSpPr>
          <p:cNvPr id="16" name="text_15">
            <a:extLst>
              <a:ext uri="{FF2B5EF4-FFF2-40B4-BE49-F238E27FC236}">
                <a16:creationId xmlns:a16="http://schemas.microsoft.com/office/drawing/2014/main" id="{3A72234F-9765-C0D6-C6D3-4A5D1B3FC799}"/>
              </a:ext>
            </a:extLst>
          </p:cNvPr>
          <p:cNvSpPr txBox="1"/>
          <p:nvPr/>
        </p:nvSpPr>
        <p:spPr>
          <a:xfrm>
            <a:off x="8280400" y="3517899"/>
            <a:ext cx="2997200" cy="19177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Pose/map constraints
Optimize residuals
Different architecture</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AF64A48D-2AAB-5C05-10D7-B289C1A9F4F3}"/>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Particle filters · Gaussian filters · graph optimization</a:t>
            </a:r>
          </a:p>
        </p:txBody>
      </p:sp>
    </p:spTree>
    <p:extLst>
      <p:ext uri="{BB962C8B-B14F-4D97-AF65-F5344CB8AC3E}">
        <p14:creationId xmlns:p14="http://schemas.microsoft.com/office/powerpoint/2010/main" val="3508709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DABE2C8-8A04-9786-04F6-3B58C705CA5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B05A65CD-6AF3-F85B-AD22-76DB2A2A503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Kalman-filter idea</a:t>
            </a:r>
          </a:p>
        </p:txBody>
      </p:sp>
      <p:sp>
        <p:nvSpPr>
          <p:cNvPr id="4" name="text_3">
            <a:extLst>
              <a:ext uri="{FF2B5EF4-FFF2-40B4-BE49-F238E27FC236}">
                <a16:creationId xmlns:a16="http://schemas.microsoft.com/office/drawing/2014/main" id="{30ED4060-3447-2C55-65A0-FD70A319186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Represent uncertainty with a mean and covariance.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54D3B2BA-273E-221E-59CE-96E0E008C0F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060F226-2D4E-CAFA-B38A-4AD7BEE26E0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BDE69E8-A16E-7BF6-53B5-6C0450D9E8E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29</a:t>
            </a:r>
          </a:p>
        </p:txBody>
      </p:sp>
      <p:sp>
        <p:nvSpPr>
          <p:cNvPr id="8" name="text_7">
            <a:extLst>
              <a:ext uri="{FF2B5EF4-FFF2-40B4-BE49-F238E27FC236}">
                <a16:creationId xmlns:a16="http://schemas.microsoft.com/office/drawing/2014/main" id="{0EBB80E3-17A1-95AC-2D0F-47E60515F70F}"/>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l-GR" sz="3200">
                <a:solidFill>
                  <a:srgbClr val="2459D3"/>
                </a:solidFill>
                <a:latin typeface="Cambria Math" panose="02040503050406030204" pitchFamily="18" charset="0"/>
              </a:rPr>
              <a:t>μ̄ = </a:t>
            </a:r>
            <a:r>
              <a:rPr lang="en-IL" sz="3200">
                <a:solidFill>
                  <a:srgbClr val="2459D3"/>
                </a:solidFill>
                <a:latin typeface="Cambria Math" panose="02040503050406030204" pitchFamily="18" charset="0"/>
              </a:rPr>
              <a:t>F</a:t>
            </a:r>
            <a:r>
              <a:rPr lang="el-GR" sz="3200">
                <a:solidFill>
                  <a:srgbClr val="2459D3"/>
                </a:solidFill>
                <a:latin typeface="Cambria Math" panose="02040503050406030204" pitchFamily="18" charset="0"/>
              </a:rPr>
              <a:t>μ + </a:t>
            </a:r>
            <a:r>
              <a:rPr lang="en-IL" sz="3200">
                <a:solidFill>
                  <a:srgbClr val="2459D3"/>
                </a:solidFill>
                <a:latin typeface="Cambria Math" panose="02040503050406030204" pitchFamily="18" charset="0"/>
              </a:rPr>
              <a:t>Bu;     </a:t>
            </a:r>
            <a:r>
              <a:rPr lang="el-GR" sz="3200">
                <a:solidFill>
                  <a:srgbClr val="2459D3"/>
                </a:solidFill>
                <a:latin typeface="Cambria Math" panose="02040503050406030204" pitchFamily="18" charset="0"/>
              </a:rPr>
              <a:t>Σ̄ = </a:t>
            </a:r>
            <a:r>
              <a:rPr lang="en-IL" sz="3200">
                <a:solidFill>
                  <a:srgbClr val="2459D3"/>
                </a:solidFill>
                <a:latin typeface="Cambria Math" panose="02040503050406030204" pitchFamily="18" charset="0"/>
              </a:rPr>
              <a:t>F</a:t>
            </a:r>
            <a:r>
              <a:rPr lang="el-GR" sz="3200">
                <a:solidFill>
                  <a:srgbClr val="2459D3"/>
                </a:solidFill>
                <a:latin typeface="Cambria Math" panose="02040503050406030204" pitchFamily="18" charset="0"/>
              </a:rPr>
              <a:t>Σ</a:t>
            </a:r>
            <a:r>
              <a:rPr lang="en-IL" sz="3200">
                <a:solidFill>
                  <a:srgbClr val="2459D3"/>
                </a:solidFill>
                <a:latin typeface="Cambria Math" panose="02040503050406030204" pitchFamily="18" charset="0"/>
              </a:rPr>
              <a:t>F</a:t>
            </a:r>
            <a:r>
              <a:rPr lang="en-IL" sz="2304" baseline="3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Q</a:t>
            </a:r>
          </a:p>
        </p:txBody>
      </p:sp>
      <p:sp>
        <p:nvSpPr>
          <p:cNvPr id="9" name="text_8">
            <a:extLst>
              <a:ext uri="{FF2B5EF4-FFF2-40B4-BE49-F238E27FC236}">
                <a16:creationId xmlns:a16="http://schemas.microsoft.com/office/drawing/2014/main" id="{5B059CA4-E960-3BFD-3514-0A39769029C1}"/>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pl-PL" sz="3200">
                <a:solidFill>
                  <a:srgbClr val="15283B"/>
                </a:solidFill>
                <a:latin typeface="Cambria Math" panose="02040503050406030204" pitchFamily="18" charset="0"/>
              </a:rPr>
              <a:t>e = z − Hμ̄;    S = HΣ̄H</a:t>
            </a:r>
            <a:r>
              <a:rPr lang="pl-PL" sz="2304" baseline="32000">
                <a:solidFill>
                  <a:srgbClr val="15283B"/>
                </a:solidFill>
                <a:latin typeface="Cambria Math" panose="02040503050406030204" pitchFamily="18" charset="0"/>
              </a:rPr>
              <a:t>T</a:t>
            </a:r>
            <a:r>
              <a:rPr lang="pl-PL" sz="3200">
                <a:solidFill>
                  <a:srgbClr val="15283B"/>
                </a:solidFill>
                <a:latin typeface="Cambria Math" panose="02040503050406030204" pitchFamily="18" charset="0"/>
              </a:rPr>
              <a:t> + C</a:t>
            </a:r>
            <a:r>
              <a:rPr lang="pl-PL" sz="2304" baseline="-22000">
                <a:solidFill>
                  <a:srgbClr val="15283B"/>
                </a:solidFill>
                <a:latin typeface="Cambria Math" panose="02040503050406030204" pitchFamily="18" charset="0"/>
              </a:rPr>
              <a:t>z</a:t>
            </a:r>
            <a:endParaRPr lang="en-IL" sz="2304" baseline="-220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73431407-BDCE-DE83-7336-1580F9156415}"/>
              </a:ext>
            </a:extLst>
          </p:cNvPr>
          <p:cNvSpPr txBox="1"/>
          <p:nvPr/>
        </p:nvSpPr>
        <p:spPr>
          <a:xfrm>
            <a:off x="685800" y="4508499"/>
            <a:ext cx="10820400" cy="7493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K = </a:t>
            </a:r>
            <a:r>
              <a:rPr lang="el-GR" sz="3200">
                <a:solidFill>
                  <a:srgbClr val="15283B"/>
                </a:solidFill>
                <a:latin typeface="Cambria Math" panose="02040503050406030204" pitchFamily="18" charset="0"/>
              </a:rPr>
              <a:t>Σ̄</a:t>
            </a:r>
            <a:r>
              <a:rPr lang="en-IL" sz="3200">
                <a:solidFill>
                  <a:srgbClr val="15283B"/>
                </a:solidFill>
                <a:latin typeface="Cambria Math" panose="02040503050406030204" pitchFamily="18" charset="0"/>
              </a:rPr>
              <a:t>H</a:t>
            </a:r>
            <a:r>
              <a:rPr lang="en-IL" sz="2304" baseline="3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S</a:t>
            </a:r>
            <a:r>
              <a:rPr lang="en-IL" sz="2304" baseline="32000">
                <a:solidFill>
                  <a:srgbClr val="15283B"/>
                </a:solidFill>
                <a:latin typeface="Cambria Math" panose="02040503050406030204" pitchFamily="18" charset="0"/>
              </a:rPr>
              <a:t>−1</a:t>
            </a:r>
            <a:r>
              <a:rPr lang="en-IL" sz="3200">
                <a:solidFill>
                  <a:srgbClr val="15283B"/>
                </a:solidFill>
                <a:latin typeface="Cambria Math" panose="02040503050406030204" pitchFamily="18" charset="0"/>
              </a:rPr>
              <a:t>;    </a:t>
            </a:r>
            <a:r>
              <a:rPr lang="el-GR" sz="3200">
                <a:solidFill>
                  <a:srgbClr val="15283B"/>
                </a:solidFill>
                <a:latin typeface="Cambria Math" panose="02040503050406030204" pitchFamily="18" charset="0"/>
              </a:rPr>
              <a:t>μ⁺ = μ̄ + </a:t>
            </a:r>
            <a:r>
              <a:rPr lang="en-IL" sz="3200">
                <a:solidFill>
                  <a:srgbClr val="15283B"/>
                </a:solidFill>
                <a:latin typeface="Cambria Math" panose="02040503050406030204" pitchFamily="18" charset="0"/>
              </a:rPr>
              <a:t>Ke</a:t>
            </a:r>
          </a:p>
        </p:txBody>
      </p:sp>
      <p:sp>
        <p:nvSpPr>
          <p:cNvPr id="11" name="text_10">
            <a:extLst>
              <a:ext uri="{FF2B5EF4-FFF2-40B4-BE49-F238E27FC236}">
                <a16:creationId xmlns:a16="http://schemas.microsoft.com/office/drawing/2014/main" id="{1EF586CF-8623-C085-0A09-498AE48EFE91}"/>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Linear Gaussian assumptions make this update exact.</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377567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4C6BBD2-5120-1135-4193-013E5B9F6599}"/>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BEB957B3-F013-88D9-664B-25AF0D9B0D0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EKF-SLAM: linearize the models</a:t>
            </a:r>
          </a:p>
        </p:txBody>
      </p:sp>
      <p:sp>
        <p:nvSpPr>
          <p:cNvPr id="4" name="text_3">
            <a:extLst>
              <a:ext uri="{FF2B5EF4-FFF2-40B4-BE49-F238E27FC236}">
                <a16:creationId xmlns:a16="http://schemas.microsoft.com/office/drawing/2014/main" id="{D2A81BD6-3A3A-C11A-2618-D022B73A9C5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Gaussian estimates robot pose and every landmark together.</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5BBDAD0-FF3D-CA05-F4A9-7C25630DC4E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8520A69-551B-F719-C756-F536B2C17C4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240DBE2-E7BA-8187-5B2F-C1B96527953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30</a:t>
            </a:r>
          </a:p>
        </p:txBody>
      </p:sp>
      <p:sp>
        <p:nvSpPr>
          <p:cNvPr id="8" name="text_7">
            <a:extLst>
              <a:ext uri="{FF2B5EF4-FFF2-40B4-BE49-F238E27FC236}">
                <a16:creationId xmlns:a16="http://schemas.microsoft.com/office/drawing/2014/main" id="{5442F2C1-16A2-19CE-4D70-E28E1192106B}"/>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X = [x, y, </a:t>
            </a:r>
            <a:r>
              <a:rPr lang="el-GR" sz="3200">
                <a:solidFill>
                  <a:srgbClr val="2459D3"/>
                </a:solidFill>
                <a:latin typeface="Cambria Math" panose="02040503050406030204" pitchFamily="18" charset="0"/>
              </a:rPr>
              <a:t>θ, </a:t>
            </a:r>
            <a:r>
              <a:rPr lang="en-IL" sz="3200">
                <a:solidFill>
                  <a:srgbClr val="2459D3"/>
                </a:solidFill>
                <a:latin typeface="Cambria Math" panose="02040503050406030204" pitchFamily="18" charset="0"/>
              </a:rPr>
              <a:t>m</a:t>
            </a:r>
            <a:r>
              <a:rPr lang="en-IL" sz="2304" baseline="-22000">
                <a:solidFill>
                  <a:srgbClr val="2459D3"/>
                </a:solidFill>
                <a:latin typeface="Cambria Math" panose="02040503050406030204" pitchFamily="18" charset="0"/>
              </a:rPr>
              <a:t>1x</a:t>
            </a:r>
            <a:r>
              <a:rPr lang="en-IL" sz="3200">
                <a:solidFill>
                  <a:srgbClr val="2459D3"/>
                </a:solidFill>
                <a:latin typeface="Cambria Math" panose="02040503050406030204" pitchFamily="18" charset="0"/>
              </a:rPr>
              <a:t>, m</a:t>
            </a:r>
            <a:r>
              <a:rPr lang="en-IL" sz="2304" baseline="-22000">
                <a:solidFill>
                  <a:srgbClr val="2459D3"/>
                </a:solidFill>
                <a:latin typeface="Cambria Math" panose="02040503050406030204" pitchFamily="18" charset="0"/>
              </a:rPr>
              <a:t>1y</a:t>
            </a:r>
            <a:r>
              <a:rPr lang="en-IL" sz="3200">
                <a:solidFill>
                  <a:srgbClr val="2459D3"/>
                </a:solidFill>
                <a:latin typeface="Cambria Math" panose="02040503050406030204" pitchFamily="18" charset="0"/>
              </a:rPr>
              <a:t>, …]</a:t>
            </a:r>
            <a:r>
              <a:rPr lang="en-IL" sz="2304" baseline="32000">
                <a:solidFill>
                  <a:srgbClr val="2459D3"/>
                </a:solidFill>
                <a:latin typeface="Cambria Math" panose="02040503050406030204" pitchFamily="18" charset="0"/>
              </a:rPr>
              <a:t>T</a:t>
            </a:r>
          </a:p>
        </p:txBody>
      </p:sp>
      <p:sp>
        <p:nvSpPr>
          <p:cNvPr id="9" name="text_8">
            <a:extLst>
              <a:ext uri="{FF2B5EF4-FFF2-40B4-BE49-F238E27FC236}">
                <a16:creationId xmlns:a16="http://schemas.microsoft.com/office/drawing/2014/main" id="{05401541-DEDB-5B8C-03B7-8DC2D2AF445A}"/>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el-GR" sz="3200">
                <a:solidFill>
                  <a:srgbClr val="15283B"/>
                </a:solidFill>
                <a:latin typeface="Cambria Math" panose="02040503050406030204" pitchFamily="18" charset="0"/>
              </a:rPr>
              <a:t>μ̄ = </a:t>
            </a:r>
            <a:r>
              <a:rPr lang="en-IL" sz="3200">
                <a:solidFill>
                  <a:srgbClr val="15283B"/>
                </a:solidFill>
                <a:latin typeface="Cambria Math" panose="02040503050406030204" pitchFamily="18" charset="0"/>
              </a:rPr>
              <a:t>f(</a:t>
            </a:r>
            <a:r>
              <a:rPr lang="el-GR" sz="3200">
                <a:solidFill>
                  <a:srgbClr val="15283B"/>
                </a:solidFill>
                <a:latin typeface="Cambria Math" panose="02040503050406030204" pitchFamily="18" charset="0"/>
              </a:rPr>
              <a:t>μ,</a:t>
            </a:r>
            <a:r>
              <a:rPr lang="en-IL" sz="3200">
                <a:solidFill>
                  <a:srgbClr val="15283B"/>
                </a:solidFill>
                <a:latin typeface="Cambria Math" panose="02040503050406030204" pitchFamily="18" charset="0"/>
              </a:rPr>
              <a:t>u);    </a:t>
            </a:r>
            <a:r>
              <a:rPr lang="el-GR" sz="3200">
                <a:solidFill>
                  <a:srgbClr val="15283B"/>
                </a:solidFill>
                <a:latin typeface="Cambria Math" panose="02040503050406030204" pitchFamily="18" charset="0"/>
              </a:rPr>
              <a:t>Σ̄ = </a:t>
            </a:r>
            <a:r>
              <a:rPr lang="en-IL" sz="3200">
                <a:solidFill>
                  <a:srgbClr val="15283B"/>
                </a:solidFill>
                <a:latin typeface="Cambria Math" panose="02040503050406030204" pitchFamily="18" charset="0"/>
              </a:rPr>
              <a:t>F</a:t>
            </a:r>
            <a:r>
              <a:rPr lang="el-GR" sz="3200">
                <a:solidFill>
                  <a:srgbClr val="15283B"/>
                </a:solidFill>
                <a:latin typeface="Cambria Math" panose="02040503050406030204" pitchFamily="18" charset="0"/>
              </a:rPr>
              <a:t>Σ</a:t>
            </a:r>
            <a:r>
              <a:rPr lang="en-IL" sz="3200">
                <a:solidFill>
                  <a:srgbClr val="15283B"/>
                </a:solidFill>
                <a:latin typeface="Cambria Math" panose="02040503050406030204" pitchFamily="18" charset="0"/>
              </a:rPr>
              <a:t>F</a:t>
            </a:r>
            <a:r>
              <a:rPr lang="en-IL" sz="2304" baseline="3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 Q</a:t>
            </a:r>
          </a:p>
        </p:txBody>
      </p:sp>
      <p:sp>
        <p:nvSpPr>
          <p:cNvPr id="10" name="text_9">
            <a:extLst>
              <a:ext uri="{FF2B5EF4-FFF2-40B4-BE49-F238E27FC236}">
                <a16:creationId xmlns:a16="http://schemas.microsoft.com/office/drawing/2014/main" id="{1C246B95-8F94-9101-E03B-9C9A26D807B4}"/>
              </a:ext>
            </a:extLst>
          </p:cNvPr>
          <p:cNvSpPr txBox="1"/>
          <p:nvPr/>
        </p:nvSpPr>
        <p:spPr>
          <a:xfrm>
            <a:off x="685800" y="4508499"/>
            <a:ext cx="10820400" cy="7493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e = z − h(μ̄);    μ⁺ = μ̄ + Ke</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7362C9A4-8CF9-F8F4-AC65-E3D6588495DD}"/>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Jacobians approximate nonlinear motion and sensing.</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3847075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7E558EC-055D-E6D8-2854-99BD62373FB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A943D19F-0743-2685-31ED-BD5C4D7F691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cross-covariance matters</a:t>
            </a:r>
          </a:p>
        </p:txBody>
      </p:sp>
      <p:sp>
        <p:nvSpPr>
          <p:cNvPr id="4" name="text_3">
            <a:extLst>
              <a:ext uri="{FF2B5EF4-FFF2-40B4-BE49-F238E27FC236}">
                <a16:creationId xmlns:a16="http://schemas.microsoft.com/office/drawing/2014/main" id="{621F3B7E-089E-BF6A-FDA4-29BA4A79ADF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landmark observation can inform the robot and the rest of the map.</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F243103-3B68-5FBA-5107-BACBFED8EBE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684C27F-0E30-3BD9-D4A2-D2EE3B44BE3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5EEA72E-5104-1ED5-7C55-31FE3C699A0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31</a:t>
            </a:r>
          </a:p>
        </p:txBody>
      </p:sp>
      <p:cxnSp>
        <p:nvCxnSpPr>
          <p:cNvPr id="8" name="Straight Connector 7">
            <a:extLst>
              <a:ext uri="{FF2B5EF4-FFF2-40B4-BE49-F238E27FC236}">
                <a16:creationId xmlns:a16="http://schemas.microsoft.com/office/drawing/2014/main" id="{0C44C544-26B0-A1A5-6A0C-DE1D0EBBD334}"/>
              </a:ext>
            </a:extLst>
          </p:cNvPr>
          <p:cNvCxnSpPr/>
          <p:nvPr/>
        </p:nvCxnSpPr>
        <p:spPr>
          <a:xfrm>
            <a:off x="1003300" y="2870200"/>
            <a:ext cx="0" cy="18796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9988F54-4B6A-7F32-20A0-083FA4078E88}"/>
              </a:ext>
            </a:extLst>
          </p:cNvPr>
          <p:cNvCxnSpPr/>
          <p:nvPr/>
        </p:nvCxnSpPr>
        <p:spPr>
          <a:xfrm>
            <a:off x="1003300" y="2870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6029438-D7FB-A54E-B7BE-AA5675BCAB45}"/>
              </a:ext>
            </a:extLst>
          </p:cNvPr>
          <p:cNvCxnSpPr/>
          <p:nvPr/>
        </p:nvCxnSpPr>
        <p:spPr>
          <a:xfrm>
            <a:off x="1003300" y="47498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47A070A-B71C-500B-4415-E97DD5D5E345}"/>
              </a:ext>
            </a:extLst>
          </p:cNvPr>
          <p:cNvCxnSpPr/>
          <p:nvPr/>
        </p:nvCxnSpPr>
        <p:spPr>
          <a:xfrm>
            <a:off x="5321300" y="2870200"/>
            <a:ext cx="0" cy="187960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E78CE0E-6CFD-A9D5-3384-405E2BF22EF7}"/>
              </a:ext>
            </a:extLst>
          </p:cNvPr>
          <p:cNvCxnSpPr/>
          <p:nvPr/>
        </p:nvCxnSpPr>
        <p:spPr>
          <a:xfrm flipH="1">
            <a:off x="5219700" y="28702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DE6E33D-AA98-C2E2-3373-AB5232E2E29A}"/>
              </a:ext>
            </a:extLst>
          </p:cNvPr>
          <p:cNvCxnSpPr/>
          <p:nvPr/>
        </p:nvCxnSpPr>
        <p:spPr>
          <a:xfrm flipH="1">
            <a:off x="5219700" y="4749800"/>
            <a:ext cx="101600" cy="0"/>
          </a:xfrm>
          <a:prstGeom prst="line">
            <a:avLst/>
          </a:prstGeom>
          <a:ln w="27940">
            <a:solidFill>
              <a:srgbClr val="15283B"/>
            </a:solidFill>
          </a:ln>
        </p:spPr>
        <p:style>
          <a:lnRef idx="2">
            <a:schemeClr val="accent1"/>
          </a:lnRef>
          <a:fillRef idx="0">
            <a:schemeClr val="accent1"/>
          </a:fillRef>
          <a:effectRef idx="1">
            <a:schemeClr val="accent1"/>
          </a:effectRef>
          <a:fontRef idx="minor">
            <a:schemeClr val="tx1"/>
          </a:fontRef>
        </p:style>
      </p:cxnSp>
      <p:sp>
        <p:nvSpPr>
          <p:cNvPr id="14" name="text_13">
            <a:extLst>
              <a:ext uri="{FF2B5EF4-FFF2-40B4-BE49-F238E27FC236}">
                <a16:creationId xmlns:a16="http://schemas.microsoft.com/office/drawing/2014/main" id="{60745AAA-7491-BDCE-8539-E641620B0C49}"/>
              </a:ext>
            </a:extLst>
          </p:cNvPr>
          <p:cNvSpPr txBox="1"/>
          <p:nvPr/>
        </p:nvSpPr>
        <p:spPr>
          <a:xfrm>
            <a:off x="1143000" y="2920999"/>
            <a:ext cx="2019300" cy="889000"/>
          </a:xfrm>
          <a:prstGeom prst="rect">
            <a:avLst/>
          </a:prstGeom>
          <a:noFill/>
        </p:spPr>
        <p:txBody>
          <a:bodyPr vert="horz" wrap="square" lIns="0" tIns="0" rIns="0" bIns="0" rtlCol="0" anchor="t">
            <a:noAutofit/>
          </a:bodyPr>
          <a:lstStyle/>
          <a:p>
            <a:pPr algn="ctr"/>
            <a:r>
              <a:rPr lang="el-GR" sz="3200">
                <a:solidFill>
                  <a:srgbClr val="15283B"/>
                </a:solidFill>
                <a:latin typeface="Cambria Math" panose="02040503050406030204" pitchFamily="18" charset="0"/>
              </a:rPr>
              <a:t>Σ</a:t>
            </a:r>
            <a:r>
              <a:rPr lang="en-IL" sz="2304" baseline="-22000">
                <a:solidFill>
                  <a:srgbClr val="15283B"/>
                </a:solidFill>
                <a:latin typeface="Cambria Math" panose="02040503050406030204" pitchFamily="18" charset="0"/>
              </a:rPr>
              <a:t>xx</a:t>
            </a:r>
          </a:p>
        </p:txBody>
      </p:sp>
      <p:sp>
        <p:nvSpPr>
          <p:cNvPr id="15" name="text_14">
            <a:extLst>
              <a:ext uri="{FF2B5EF4-FFF2-40B4-BE49-F238E27FC236}">
                <a16:creationId xmlns:a16="http://schemas.microsoft.com/office/drawing/2014/main" id="{2236994A-8200-861F-E552-ADCA7B5FB523}"/>
              </a:ext>
            </a:extLst>
          </p:cNvPr>
          <p:cNvSpPr txBox="1"/>
          <p:nvPr/>
        </p:nvSpPr>
        <p:spPr>
          <a:xfrm>
            <a:off x="3162300" y="2920999"/>
            <a:ext cx="2019300" cy="889000"/>
          </a:xfrm>
          <a:prstGeom prst="rect">
            <a:avLst/>
          </a:prstGeom>
          <a:noFill/>
        </p:spPr>
        <p:txBody>
          <a:bodyPr vert="horz" wrap="square" lIns="0" tIns="0" rIns="0" bIns="0" rtlCol="0" anchor="t">
            <a:noAutofit/>
          </a:bodyPr>
          <a:lstStyle/>
          <a:p>
            <a:pPr algn="ctr"/>
            <a:r>
              <a:rPr lang="el-GR" sz="3200">
                <a:solidFill>
                  <a:srgbClr val="15283B"/>
                </a:solidFill>
                <a:latin typeface="Cambria Math" panose="02040503050406030204" pitchFamily="18" charset="0"/>
              </a:rPr>
              <a:t>Σ</a:t>
            </a:r>
            <a:r>
              <a:rPr lang="en-IL" sz="2304" baseline="-22000">
                <a:solidFill>
                  <a:srgbClr val="15283B"/>
                </a:solidFill>
                <a:latin typeface="Cambria Math" panose="02040503050406030204" pitchFamily="18" charset="0"/>
              </a:rPr>
              <a:t>xm</a:t>
            </a:r>
          </a:p>
        </p:txBody>
      </p:sp>
      <p:sp>
        <p:nvSpPr>
          <p:cNvPr id="16" name="text_15">
            <a:extLst>
              <a:ext uri="{FF2B5EF4-FFF2-40B4-BE49-F238E27FC236}">
                <a16:creationId xmlns:a16="http://schemas.microsoft.com/office/drawing/2014/main" id="{DB1848B8-7255-18DF-FC1F-2979040FB2F7}"/>
              </a:ext>
            </a:extLst>
          </p:cNvPr>
          <p:cNvSpPr txBox="1"/>
          <p:nvPr/>
        </p:nvSpPr>
        <p:spPr>
          <a:xfrm>
            <a:off x="1143000" y="3860799"/>
            <a:ext cx="2019300" cy="889000"/>
          </a:xfrm>
          <a:prstGeom prst="rect">
            <a:avLst/>
          </a:prstGeom>
          <a:noFill/>
        </p:spPr>
        <p:txBody>
          <a:bodyPr vert="horz" wrap="square" lIns="0" tIns="0" rIns="0" bIns="0" rtlCol="0" anchor="t">
            <a:noAutofit/>
          </a:bodyPr>
          <a:lstStyle/>
          <a:p>
            <a:pPr algn="ctr"/>
            <a:r>
              <a:rPr lang="el-GR" sz="3200">
                <a:solidFill>
                  <a:srgbClr val="15283B"/>
                </a:solidFill>
                <a:latin typeface="Cambria Math" panose="02040503050406030204" pitchFamily="18" charset="0"/>
              </a:rPr>
              <a:t>Σ</a:t>
            </a:r>
            <a:r>
              <a:rPr lang="en-IL" sz="2304" baseline="-22000">
                <a:solidFill>
                  <a:srgbClr val="15283B"/>
                </a:solidFill>
                <a:latin typeface="Cambria Math" panose="02040503050406030204" pitchFamily="18" charset="0"/>
              </a:rPr>
              <a:t>mx</a:t>
            </a:r>
          </a:p>
        </p:txBody>
      </p:sp>
      <p:sp>
        <p:nvSpPr>
          <p:cNvPr id="17" name="text_16">
            <a:extLst>
              <a:ext uri="{FF2B5EF4-FFF2-40B4-BE49-F238E27FC236}">
                <a16:creationId xmlns:a16="http://schemas.microsoft.com/office/drawing/2014/main" id="{D8F0DAF0-8558-1CB8-9939-8AA287696C5D}"/>
              </a:ext>
            </a:extLst>
          </p:cNvPr>
          <p:cNvSpPr txBox="1"/>
          <p:nvPr/>
        </p:nvSpPr>
        <p:spPr>
          <a:xfrm>
            <a:off x="3162300" y="3860799"/>
            <a:ext cx="2019300" cy="889000"/>
          </a:xfrm>
          <a:prstGeom prst="rect">
            <a:avLst/>
          </a:prstGeom>
          <a:noFill/>
        </p:spPr>
        <p:txBody>
          <a:bodyPr vert="horz" wrap="square" lIns="0" tIns="0" rIns="0" bIns="0" rtlCol="0" anchor="t">
            <a:noAutofit/>
          </a:bodyPr>
          <a:lstStyle/>
          <a:p>
            <a:pPr algn="ctr"/>
            <a:r>
              <a:rPr lang="el-GR" sz="3200">
                <a:solidFill>
                  <a:srgbClr val="15283B"/>
                </a:solidFill>
                <a:latin typeface="Cambria Math" panose="02040503050406030204" pitchFamily="18" charset="0"/>
              </a:rPr>
              <a:t>Σ</a:t>
            </a:r>
            <a:r>
              <a:rPr lang="en-IL" sz="2304" baseline="-22000">
                <a:solidFill>
                  <a:srgbClr val="15283B"/>
                </a:solidFill>
                <a:latin typeface="Cambria Math" panose="02040503050406030204" pitchFamily="18" charset="0"/>
              </a:rPr>
              <a:t>mm</a:t>
            </a:r>
          </a:p>
        </p:txBody>
      </p:sp>
      <p:sp>
        <p:nvSpPr>
          <p:cNvPr id="18" name="Rectangle: Rounded Corners 17">
            <a:extLst>
              <a:ext uri="{FF2B5EF4-FFF2-40B4-BE49-F238E27FC236}">
                <a16:creationId xmlns:a16="http://schemas.microsoft.com/office/drawing/2014/main" id="{BACCEAF5-BCC6-40D6-8783-D9069B714C4C}"/>
              </a:ext>
            </a:extLst>
          </p:cNvPr>
          <p:cNvSpPr/>
          <p:nvPr/>
        </p:nvSpPr>
        <p:spPr>
          <a:xfrm>
            <a:off x="6477000" y="2794000"/>
            <a:ext cx="5029200" cy="2679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_18">
            <a:extLst>
              <a:ext uri="{FF2B5EF4-FFF2-40B4-BE49-F238E27FC236}">
                <a16:creationId xmlns:a16="http://schemas.microsoft.com/office/drawing/2014/main" id="{24563D5E-AF1F-CFD6-427E-7943094F4B3E}"/>
              </a:ext>
            </a:extLst>
          </p:cNvPr>
          <p:cNvSpPr txBox="1"/>
          <p:nvPr/>
        </p:nvSpPr>
        <p:spPr>
          <a:xfrm>
            <a:off x="6705600" y="2984499"/>
            <a:ext cx="45720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Shared uncertainty</a:t>
            </a:r>
          </a:p>
        </p:txBody>
      </p:sp>
      <p:sp>
        <p:nvSpPr>
          <p:cNvPr id="20" name="text_19">
            <a:extLst>
              <a:ext uri="{FF2B5EF4-FFF2-40B4-BE49-F238E27FC236}">
                <a16:creationId xmlns:a16="http://schemas.microsoft.com/office/drawing/2014/main" id="{F2738B18-FC3C-000E-7B38-41667B3B1334}"/>
              </a:ext>
            </a:extLst>
          </p:cNvPr>
          <p:cNvSpPr txBox="1"/>
          <p:nvPr/>
        </p:nvSpPr>
        <p:spPr>
          <a:xfrm>
            <a:off x="6705600" y="3606799"/>
            <a:ext cx="4572000" cy="1816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Robot ↔ landmarks
Landmark ↔ landmark
Use the full covariance</a:t>
            </a:r>
            <a:endParaRPr lang="en-IL" sz="2400">
              <a:solidFill>
                <a:srgbClr val="15283B"/>
              </a:solidFill>
              <a:latin typeface="Aptos" panose="020B0004020202020204" pitchFamily="34" charset="0"/>
            </a:endParaRPr>
          </a:p>
        </p:txBody>
      </p:sp>
      <p:sp>
        <p:nvSpPr>
          <p:cNvPr id="21" name="text_20">
            <a:extLst>
              <a:ext uri="{FF2B5EF4-FFF2-40B4-BE49-F238E27FC236}">
                <a16:creationId xmlns:a16="http://schemas.microsoft.com/office/drawing/2014/main" id="{2537C6B7-EB7B-96AD-E752-E90EA6F0662B}"/>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IL" sz="2400">
                <a:solidFill>
                  <a:srgbClr val="526477"/>
                </a:solidFill>
                <a:latin typeface="Aptos" panose="020B0004020202020204" pitchFamily="34" charset="0"/>
              </a:rPr>
              <a:t>UKF uses sigma points; correlations still matter.</a:t>
            </a:r>
          </a:p>
        </p:txBody>
      </p:sp>
    </p:spTree>
    <p:extLst>
      <p:ext uri="{BB962C8B-B14F-4D97-AF65-F5344CB8AC3E}">
        <p14:creationId xmlns:p14="http://schemas.microsoft.com/office/powerpoint/2010/main" val="2471893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C328074-FEC1-9E54-6A00-7F0F94BE3A3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EC7900F7-2A33-EB82-7E55-A9DC63C0B475}"/>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Reconstruct the complete process</a:t>
            </a:r>
          </a:p>
        </p:txBody>
      </p:sp>
      <p:sp>
        <p:nvSpPr>
          <p:cNvPr id="4" name="text_3">
            <a:extLst>
              <a:ext uri="{FF2B5EF4-FFF2-40B4-BE49-F238E27FC236}">
                <a16:creationId xmlns:a16="http://schemas.microsoft.com/office/drawing/2014/main" id="{99770601-844C-5EB8-28A5-EB464FF389B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Different representations, the same estimation question.</a:t>
            </a:r>
          </a:p>
        </p:txBody>
      </p:sp>
      <p:cxnSp>
        <p:nvCxnSpPr>
          <p:cNvPr id="5" name="Straight Connector 4">
            <a:extLst>
              <a:ext uri="{FF2B5EF4-FFF2-40B4-BE49-F238E27FC236}">
                <a16:creationId xmlns:a16="http://schemas.microsoft.com/office/drawing/2014/main" id="{01CF4467-C1C3-63D5-B6C7-0DA726F917F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7E1337A-0D0E-C8F3-1FFD-987E7C8A525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D7907D6C-BD0D-BF47-EBB0-EB608D03B33F}"/>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32</a:t>
            </a:r>
          </a:p>
        </p:txBody>
      </p:sp>
      <p:sp>
        <p:nvSpPr>
          <p:cNvPr id="8" name="Rectangle: Rounded Corners 7">
            <a:extLst>
              <a:ext uri="{FF2B5EF4-FFF2-40B4-BE49-F238E27FC236}">
                <a16:creationId xmlns:a16="http://schemas.microsoft.com/office/drawing/2014/main" id="{9F4D57B4-5381-9414-0CF3-223501270656}"/>
              </a:ext>
            </a:extLst>
          </p:cNvPr>
          <p:cNvSpPr/>
          <p:nvPr/>
        </p:nvSpPr>
        <p:spPr>
          <a:xfrm>
            <a:off x="685800" y="2971800"/>
            <a:ext cx="24384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2CCC976-334B-A8F5-7726-9E104708ED70}"/>
              </a:ext>
            </a:extLst>
          </p:cNvPr>
          <p:cNvSpPr txBox="1"/>
          <p:nvPr/>
        </p:nvSpPr>
        <p:spPr>
          <a:xfrm>
            <a:off x="838200" y="3060699"/>
            <a:ext cx="21336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Predict</a:t>
            </a:r>
          </a:p>
        </p:txBody>
      </p:sp>
      <p:cxnSp>
        <p:nvCxnSpPr>
          <p:cNvPr id="10" name="Straight Connector 9">
            <a:extLst>
              <a:ext uri="{FF2B5EF4-FFF2-40B4-BE49-F238E27FC236}">
                <a16:creationId xmlns:a16="http://schemas.microsoft.com/office/drawing/2014/main" id="{93EDDBFA-F992-B7CA-5135-1F7B26DAA614}"/>
              </a:ext>
            </a:extLst>
          </p:cNvPr>
          <p:cNvCxnSpPr/>
          <p:nvPr/>
        </p:nvCxnSpPr>
        <p:spPr>
          <a:xfrm>
            <a:off x="3162300" y="3238500"/>
            <a:ext cx="254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D09A2A68-8CDC-F5C0-CBD5-F418FE5CF7EF}"/>
              </a:ext>
            </a:extLst>
          </p:cNvPr>
          <p:cNvSpPr/>
          <p:nvPr/>
        </p:nvSpPr>
        <p:spPr>
          <a:xfrm>
            <a:off x="3467100" y="2971800"/>
            <a:ext cx="24384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ED1CC4BE-AEF0-BEE5-11F3-2F9E781F6E65}"/>
              </a:ext>
            </a:extLst>
          </p:cNvPr>
          <p:cNvSpPr txBox="1"/>
          <p:nvPr/>
        </p:nvSpPr>
        <p:spPr>
          <a:xfrm>
            <a:off x="3619500" y="3060699"/>
            <a:ext cx="21336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Observe</a:t>
            </a:r>
          </a:p>
        </p:txBody>
      </p:sp>
      <p:cxnSp>
        <p:nvCxnSpPr>
          <p:cNvPr id="13" name="Straight Connector 12">
            <a:extLst>
              <a:ext uri="{FF2B5EF4-FFF2-40B4-BE49-F238E27FC236}">
                <a16:creationId xmlns:a16="http://schemas.microsoft.com/office/drawing/2014/main" id="{DD4F6FF7-A150-1772-A52D-8B3C4E5E013C}"/>
              </a:ext>
            </a:extLst>
          </p:cNvPr>
          <p:cNvCxnSpPr/>
          <p:nvPr/>
        </p:nvCxnSpPr>
        <p:spPr>
          <a:xfrm>
            <a:off x="5943600" y="3238500"/>
            <a:ext cx="254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77B03428-CF1C-B772-A4DB-552982E5C53B}"/>
              </a:ext>
            </a:extLst>
          </p:cNvPr>
          <p:cNvSpPr/>
          <p:nvPr/>
        </p:nvSpPr>
        <p:spPr>
          <a:xfrm>
            <a:off x="6248400" y="2971800"/>
            <a:ext cx="24384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6EDA1D92-2C55-B6D7-3406-FB88AF55DED2}"/>
              </a:ext>
            </a:extLst>
          </p:cNvPr>
          <p:cNvSpPr txBox="1"/>
          <p:nvPr/>
        </p:nvSpPr>
        <p:spPr>
          <a:xfrm>
            <a:off x="6400800" y="3060699"/>
            <a:ext cx="21336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Associate</a:t>
            </a:r>
          </a:p>
        </p:txBody>
      </p:sp>
      <p:cxnSp>
        <p:nvCxnSpPr>
          <p:cNvPr id="16" name="Straight Connector 15">
            <a:extLst>
              <a:ext uri="{FF2B5EF4-FFF2-40B4-BE49-F238E27FC236}">
                <a16:creationId xmlns:a16="http://schemas.microsoft.com/office/drawing/2014/main" id="{C0DD514A-3E2C-B850-AB69-E5B4D802B012}"/>
              </a:ext>
            </a:extLst>
          </p:cNvPr>
          <p:cNvCxnSpPr/>
          <p:nvPr/>
        </p:nvCxnSpPr>
        <p:spPr>
          <a:xfrm>
            <a:off x="8724900" y="3238500"/>
            <a:ext cx="2540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056EF720-FBCE-EDD8-1C4B-4FB5118CB96F}"/>
              </a:ext>
            </a:extLst>
          </p:cNvPr>
          <p:cNvSpPr/>
          <p:nvPr/>
        </p:nvSpPr>
        <p:spPr>
          <a:xfrm>
            <a:off x="9029700" y="2971800"/>
            <a:ext cx="24384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D4E1B2C8-3865-FC96-CC32-49D7790D56A8}"/>
              </a:ext>
            </a:extLst>
          </p:cNvPr>
          <p:cNvSpPr txBox="1"/>
          <p:nvPr/>
        </p:nvSpPr>
        <p:spPr>
          <a:xfrm>
            <a:off x="9182100" y="3060699"/>
            <a:ext cx="21336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Update</a:t>
            </a:r>
          </a:p>
        </p:txBody>
      </p:sp>
      <p:sp>
        <p:nvSpPr>
          <p:cNvPr id="19" name="Rectangle: Rounded Corners 18">
            <a:extLst>
              <a:ext uri="{FF2B5EF4-FFF2-40B4-BE49-F238E27FC236}">
                <a16:creationId xmlns:a16="http://schemas.microsoft.com/office/drawing/2014/main" id="{78F3D918-A76A-CD9B-1481-4F2C285859BD}"/>
              </a:ext>
            </a:extLst>
          </p:cNvPr>
          <p:cNvSpPr/>
          <p:nvPr/>
        </p:nvSpPr>
        <p:spPr>
          <a:xfrm>
            <a:off x="2032000" y="4254500"/>
            <a:ext cx="8128000" cy="12827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_19">
            <a:extLst>
              <a:ext uri="{FF2B5EF4-FFF2-40B4-BE49-F238E27FC236}">
                <a16:creationId xmlns:a16="http://schemas.microsoft.com/office/drawing/2014/main" id="{86450B3F-5ED8-6DA7-AC9D-74DE4BEA73A0}"/>
              </a:ext>
            </a:extLst>
          </p:cNvPr>
          <p:cNvSpPr txBox="1"/>
          <p:nvPr/>
        </p:nvSpPr>
        <p:spPr>
          <a:xfrm>
            <a:off x="2260600" y="4444999"/>
            <a:ext cx="7670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Joint estimate</a:t>
            </a:r>
          </a:p>
        </p:txBody>
      </p:sp>
      <p:sp>
        <p:nvSpPr>
          <p:cNvPr id="21" name="text_20">
            <a:extLst>
              <a:ext uri="{FF2B5EF4-FFF2-40B4-BE49-F238E27FC236}">
                <a16:creationId xmlns:a16="http://schemas.microsoft.com/office/drawing/2014/main" id="{055D1B0A-BAB2-15B8-FFEC-B84D4B1D671E}"/>
              </a:ext>
            </a:extLst>
          </p:cNvPr>
          <p:cNvSpPr txBox="1"/>
          <p:nvPr/>
        </p:nvSpPr>
        <p:spPr>
          <a:xfrm>
            <a:off x="2260600" y="5067299"/>
            <a:ext cx="7670800" cy="4191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Robot belief + landmark map + uncertainty</a:t>
            </a:r>
            <a:endParaRPr lang="en-IL" sz="2400">
              <a:solidFill>
                <a:srgbClr val="15283B"/>
              </a:solidFill>
              <a:latin typeface="Aptos" panose="020B0004020202020204" pitchFamily="34" charset="0"/>
            </a:endParaRPr>
          </a:p>
        </p:txBody>
      </p:sp>
      <p:sp>
        <p:nvSpPr>
          <p:cNvPr id="22" name="text_21">
            <a:extLst>
              <a:ext uri="{FF2B5EF4-FFF2-40B4-BE49-F238E27FC236}">
                <a16:creationId xmlns:a16="http://schemas.microsoft.com/office/drawing/2014/main" id="{A6F82384-A292-9878-BF64-7B39787E8DFE}"/>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Predict → observe → associate → update robot AND map.</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1425764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2B7280C-AFD2-C0A4-63B9-A57F2D606E3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12 / SLAM &amp; BAYESIAN ESTIMATION</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2E480E1F-C242-D8C1-81D2-7108EBFFF6EB}"/>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Questions &amp; recap</a:t>
            </a:r>
          </a:p>
        </p:txBody>
      </p:sp>
      <p:sp>
        <p:nvSpPr>
          <p:cNvPr id="4" name="text_3">
            <a:extLst>
              <a:ext uri="{FF2B5EF4-FFF2-40B4-BE49-F238E27FC236}">
                <a16:creationId xmlns:a16="http://schemas.microsoft.com/office/drawing/2014/main" id="{4FBD25CE-0596-2876-E5BB-E840506003A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Explain the evidence, the uncertainty, and what each mode estimates.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AEDF074-DB71-128C-89E5-5221B845B60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31EF508-ECBF-93D4-DDB2-BAF57551ED6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56A8BF3-1DEE-908A-5D0D-444ACB8B6D5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33</a:t>
            </a:r>
          </a:p>
        </p:txBody>
      </p:sp>
      <p:sp>
        <p:nvSpPr>
          <p:cNvPr id="8" name="Rectangle: Rounded Corners 7">
            <a:extLst>
              <a:ext uri="{FF2B5EF4-FFF2-40B4-BE49-F238E27FC236}">
                <a16:creationId xmlns:a16="http://schemas.microsoft.com/office/drawing/2014/main" id="{DD161638-6D86-F265-3A9E-A25A685121D7}"/>
              </a:ext>
            </a:extLst>
          </p:cNvPr>
          <p:cNvSpPr/>
          <p:nvPr/>
        </p:nvSpPr>
        <p:spPr>
          <a:xfrm>
            <a:off x="685800" y="2679700"/>
            <a:ext cx="5207000" cy="2844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D1788A3-ACB6-360D-6200-49B744BD4DA9}"/>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Explain the updates</a:t>
            </a:r>
          </a:p>
        </p:txBody>
      </p:sp>
      <p:sp>
        <p:nvSpPr>
          <p:cNvPr id="10" name="text_9">
            <a:extLst>
              <a:ext uri="{FF2B5EF4-FFF2-40B4-BE49-F238E27FC236}">
                <a16:creationId xmlns:a16="http://schemas.microsoft.com/office/drawing/2014/main" id="{E32D886E-7C46-AEF0-FFE7-1E9F21DBAB43}"/>
              </a:ext>
            </a:extLst>
          </p:cNvPr>
          <p:cNvSpPr txBox="1"/>
          <p:nvPr/>
        </p:nvSpPr>
        <p:spPr>
          <a:xfrm>
            <a:off x="914400" y="3492499"/>
            <a:ext cx="4749800" cy="19812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Prediction versus evidence
Likelihood versus weight
Resampling versus sensing</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8C144AD4-48F9-AA3E-253B-8764556B4F40}"/>
              </a:ext>
            </a:extLst>
          </p:cNvPr>
          <p:cNvSpPr/>
          <p:nvPr/>
        </p:nvSpPr>
        <p:spPr>
          <a:xfrm>
            <a:off x="6172200" y="2679700"/>
            <a:ext cx="5334000" cy="2844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563DA609-E323-7029-8C8D-6150CE425D27}"/>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Explain SLAM</a:t>
            </a:r>
          </a:p>
        </p:txBody>
      </p:sp>
      <p:sp>
        <p:nvSpPr>
          <p:cNvPr id="13" name="text_12">
            <a:extLst>
              <a:ext uri="{FF2B5EF4-FFF2-40B4-BE49-F238E27FC236}">
                <a16:creationId xmlns:a16="http://schemas.microsoft.com/office/drawing/2014/main" id="{D7F6FD92-3EF0-6CEA-E255-33BD01620FC8}"/>
              </a:ext>
            </a:extLst>
          </p:cNvPr>
          <p:cNvSpPr txBox="1"/>
          <p:nvPr/>
        </p:nvSpPr>
        <p:spPr>
          <a:xfrm>
            <a:off x="6400800" y="3492499"/>
            <a:ext cx="4876800" cy="19812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Known versus unknown map
Pose–map coupling
Particles versus Gaussian filters</a:t>
            </a:r>
          </a:p>
        </p:txBody>
      </p:sp>
    </p:spTree>
    <p:extLst>
      <p:ext uri="{BB962C8B-B14F-4D97-AF65-F5344CB8AC3E}">
        <p14:creationId xmlns:p14="http://schemas.microsoft.com/office/powerpoint/2010/main" val="704432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7460492-E84A-5612-A0A7-1B31751FAB5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EA1E31C7-0C3B-93E3-C36C-B6EE8D2DCD2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Joint posterior and reference frame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BD428A50-49D9-F220-757B-7167F93AB09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Conditional independence requires explicit assumptions.</a:t>
            </a:r>
          </a:p>
        </p:txBody>
      </p:sp>
      <p:cxnSp>
        <p:nvCxnSpPr>
          <p:cNvPr id="5" name="Straight Connector 4">
            <a:extLst>
              <a:ext uri="{FF2B5EF4-FFF2-40B4-BE49-F238E27FC236}">
                <a16:creationId xmlns:a16="http://schemas.microsoft.com/office/drawing/2014/main" id="{CCAD9518-D0FA-DD8C-1DBE-F3A3734D3FC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0AE5DA9-389F-099A-CBC6-ECE55D6E158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6BEC414-2411-1D98-9828-DD2041CF19D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34</a:t>
            </a:r>
          </a:p>
        </p:txBody>
      </p:sp>
      <p:sp>
        <p:nvSpPr>
          <p:cNvPr id="8" name="text_7">
            <a:extLst>
              <a:ext uri="{FF2B5EF4-FFF2-40B4-BE49-F238E27FC236}">
                <a16:creationId xmlns:a16="http://schemas.microsoft.com/office/drawing/2014/main" id="{3624064B-0242-9BEB-C973-C5BFE6698FC8}"/>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pl-PL" sz="3200">
                <a:solidFill>
                  <a:srgbClr val="2459D3"/>
                </a:solidFill>
                <a:latin typeface="Cambria Math" panose="02040503050406030204" pitchFamily="18" charset="0"/>
              </a:rPr>
              <a:t>p(x</a:t>
            </a:r>
            <a:r>
              <a:rPr lang="pl-PL" sz="2304" baseline="-22000">
                <a:solidFill>
                  <a:srgbClr val="2459D3"/>
                </a:solidFill>
                <a:latin typeface="Cambria Math" panose="02040503050406030204" pitchFamily="18" charset="0"/>
              </a:rPr>
              <a:t>0:t</a:t>
            </a:r>
            <a:r>
              <a:rPr lang="pl-PL" sz="3200">
                <a:solidFill>
                  <a:srgbClr val="2459D3"/>
                </a:solidFill>
                <a:latin typeface="Cambria Math" panose="02040503050406030204" pitchFamily="18" charset="0"/>
              </a:rPr>
              <a:t>,m | u,z,c) ∝ p(x</a:t>
            </a:r>
            <a:r>
              <a:rPr lang="pl-PL" sz="2304" baseline="-22000">
                <a:solidFill>
                  <a:srgbClr val="2459D3"/>
                </a:solidFill>
                <a:latin typeface="Cambria Math" panose="02040503050406030204" pitchFamily="18" charset="0"/>
              </a:rPr>
              <a:t>0</a:t>
            </a:r>
            <a:r>
              <a:rPr lang="pl-PL" sz="3200">
                <a:solidFill>
                  <a:srgbClr val="2459D3"/>
                </a:solidFill>
                <a:latin typeface="Cambria Math" panose="02040503050406030204" pitchFamily="18" charset="0"/>
              </a:rPr>
              <a:t>)p(m)</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3DEE418C-8239-4BB6-21AA-C01E50E25744}"/>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  × ∏</a:t>
            </a:r>
            <a:r>
              <a:rPr lang="en-IL" sz="2304" baseline="-22000">
                <a:solidFill>
                  <a:srgbClr val="15283B"/>
                </a:solidFill>
                <a:latin typeface="Cambria Math" panose="02040503050406030204" pitchFamily="18" charset="0"/>
              </a:rPr>
              <a:t>k</a:t>
            </a:r>
            <a:r>
              <a:rPr lang="en-IL" sz="3200">
                <a:solidFill>
                  <a:srgbClr val="15283B"/>
                </a:solidFill>
                <a:latin typeface="Cambria Math" panose="02040503050406030204" pitchFamily="18" charset="0"/>
              </a:rPr>
              <a:t> p(x</a:t>
            </a:r>
            <a:r>
              <a:rPr lang="en-IL" sz="2304" baseline="-22000">
                <a:solidFill>
                  <a:srgbClr val="15283B"/>
                </a:solidFill>
                <a:latin typeface="Cambria Math" panose="02040503050406030204" pitchFamily="18" charset="0"/>
              </a:rPr>
              <a:t>k</a:t>
            </a:r>
            <a:r>
              <a:rPr lang="en-IL" sz="3200">
                <a:solidFill>
                  <a:srgbClr val="15283B"/>
                </a:solidFill>
                <a:latin typeface="Cambria Math" panose="02040503050406030204" pitchFamily="18" charset="0"/>
              </a:rPr>
              <a:t> | x</a:t>
            </a:r>
            <a:r>
              <a:rPr lang="en-IL" sz="2304" baseline="-22000">
                <a:solidFill>
                  <a:srgbClr val="15283B"/>
                </a:solidFill>
                <a:latin typeface="Cambria Math" panose="02040503050406030204" pitchFamily="18" charset="0"/>
              </a:rPr>
              <a:t>k−1</a:t>
            </a:r>
            <a:r>
              <a:rPr lang="en-IL" sz="3200">
                <a:solidFill>
                  <a:srgbClr val="15283B"/>
                </a:solidFill>
                <a:latin typeface="Cambria Math" panose="02040503050406030204" pitchFamily="18" charset="0"/>
              </a:rPr>
              <a:t>,u</a:t>
            </a:r>
            <a:r>
              <a:rPr lang="en-IL" sz="2304" baseline="-22000">
                <a:solidFill>
                  <a:srgbClr val="15283B"/>
                </a:solidFill>
                <a:latin typeface="Cambria Math" panose="02040503050406030204" pitchFamily="18" charset="0"/>
              </a:rPr>
              <a:t>k</a:t>
            </a:r>
            <a:r>
              <a:rPr lang="en-IL" sz="3200">
                <a:solidFill>
                  <a:srgbClr val="15283B"/>
                </a:solidFill>
                <a:latin typeface="Cambria Math" panose="02040503050406030204" pitchFamily="18" charset="0"/>
              </a:rPr>
              <a:t>) ∏</a:t>
            </a:r>
            <a:r>
              <a:rPr lang="en-IL" sz="2304" baseline="-22000">
                <a:solidFill>
                  <a:srgbClr val="15283B"/>
                </a:solidFill>
                <a:latin typeface="Cambria Math" panose="02040503050406030204" pitchFamily="18" charset="0"/>
              </a:rPr>
              <a:t>j</a:t>
            </a:r>
            <a:r>
              <a:rPr lang="en-IL" sz="3200">
                <a:solidFill>
                  <a:srgbClr val="15283B"/>
                </a:solidFill>
                <a:latin typeface="Cambria Math" panose="02040503050406030204" pitchFamily="18" charset="0"/>
              </a:rPr>
              <a:t> p(z</a:t>
            </a:r>
            <a:r>
              <a:rPr lang="en-IL" sz="2304" baseline="-22000">
                <a:solidFill>
                  <a:srgbClr val="15283B"/>
                </a:solidFill>
                <a:latin typeface="Cambria Math" panose="02040503050406030204" pitchFamily="18" charset="0"/>
              </a:rPr>
              <a:t>k,j</a:t>
            </a:r>
            <a:r>
              <a:rPr lang="en-IL" sz="3200">
                <a:solidFill>
                  <a:srgbClr val="15283B"/>
                </a:solidFill>
                <a:latin typeface="Cambria Math" panose="02040503050406030204" pitchFamily="18" charset="0"/>
              </a:rPr>
              <a:t> | x</a:t>
            </a:r>
            <a:r>
              <a:rPr lang="en-IL" sz="2304" baseline="-22000">
                <a:solidFill>
                  <a:srgbClr val="15283B"/>
                </a:solidFill>
                <a:latin typeface="Cambria Math" panose="02040503050406030204" pitchFamily="18" charset="0"/>
              </a:rPr>
              <a:t>k</a:t>
            </a:r>
            <a:r>
              <a:rPr lang="en-IL" sz="3200">
                <a:solidFill>
                  <a:srgbClr val="15283B"/>
                </a:solidFill>
                <a:latin typeface="Cambria Math" panose="02040503050406030204" pitchFamily="18" charset="0"/>
              </a:rPr>
              <a:t>,m</a:t>
            </a:r>
            <a:r>
              <a:rPr lang="en-IL" sz="2304" baseline="-22000">
                <a:solidFill>
                  <a:srgbClr val="15283B"/>
                </a:solidFill>
                <a:latin typeface="Cambria Math" panose="02040503050406030204" pitchFamily="18" charset="0"/>
              </a:rPr>
              <a:t>j</a:t>
            </a:r>
            <a:r>
              <a:rPr lang="en-IL" sz="3200">
                <a:solidFill>
                  <a:srgbClr val="15283B"/>
                </a:solidFill>
                <a:latin typeface="Cambria Math" panose="02040503050406030204" pitchFamily="18" charset="0"/>
              </a:rPr>
              <a:t>)</a:t>
            </a:r>
          </a:p>
        </p:txBody>
      </p:sp>
      <p:sp>
        <p:nvSpPr>
          <p:cNvPr id="10" name="text_9">
            <a:extLst>
              <a:ext uri="{FF2B5EF4-FFF2-40B4-BE49-F238E27FC236}">
                <a16:creationId xmlns:a16="http://schemas.microsoft.com/office/drawing/2014/main" id="{0F12340C-0B82-6D63-D048-E1DC6A42E59A}"/>
              </a:ext>
            </a:extLst>
          </p:cNvPr>
          <p:cNvSpPr txBox="1"/>
          <p:nvPr/>
        </p:nvSpPr>
        <p:spPr>
          <a:xfrm>
            <a:off x="685800" y="4508499"/>
            <a:ext cx="10820400" cy="749300"/>
          </a:xfrm>
          <a:prstGeom prst="rect">
            <a:avLst/>
          </a:prstGeom>
          <a:noFill/>
        </p:spPr>
        <p:txBody>
          <a:bodyPr vert="horz" wrap="square" lIns="0" tIns="0" rIns="0" bIns="0" rtlCol="0" anchor="t">
            <a:noAutofit/>
          </a:bodyPr>
          <a:lstStyle/>
          <a:p>
            <a:r>
              <a:rPr lang="pl-PL" sz="3200">
                <a:solidFill>
                  <a:srgbClr val="15283B"/>
                </a:solidFill>
                <a:latin typeface="Cambria Math" panose="02040503050406030204" pitchFamily="18" charset="0"/>
              </a:rPr>
              <a:t>p(m | x</a:t>
            </a:r>
            <a:r>
              <a:rPr lang="pl-PL" sz="2304" baseline="-22000">
                <a:solidFill>
                  <a:srgbClr val="15283B"/>
                </a:solidFill>
                <a:latin typeface="Cambria Math" panose="02040503050406030204" pitchFamily="18" charset="0"/>
              </a:rPr>
              <a:t>0:t</a:t>
            </a:r>
            <a:r>
              <a:rPr lang="pl-PL" sz="3200">
                <a:solidFill>
                  <a:srgbClr val="15283B"/>
                </a:solidFill>
                <a:latin typeface="Cambria Math" panose="02040503050406030204" pitchFamily="18" charset="0"/>
              </a:rPr>
              <a:t>,z,c) = ∏</a:t>
            </a:r>
            <a:r>
              <a:rPr lang="pl-PL" sz="2304" baseline="-22000">
                <a:solidFill>
                  <a:srgbClr val="15283B"/>
                </a:solidFill>
                <a:latin typeface="Cambria Math" panose="02040503050406030204" pitchFamily="18" charset="0"/>
              </a:rPr>
              <a:t>j</a:t>
            </a:r>
            <a:r>
              <a:rPr lang="pl-PL" sz="3200">
                <a:solidFill>
                  <a:srgbClr val="15283B"/>
                </a:solidFill>
                <a:latin typeface="Cambria Math" panose="02040503050406030204" pitchFamily="18" charset="0"/>
              </a:rPr>
              <a:t> p(m</a:t>
            </a:r>
            <a:r>
              <a:rPr lang="pl-PL" sz="2304" baseline="-22000">
                <a:solidFill>
                  <a:srgbClr val="15283B"/>
                </a:solidFill>
                <a:latin typeface="Cambria Math" panose="02040503050406030204" pitchFamily="18" charset="0"/>
              </a:rPr>
              <a:t>j</a:t>
            </a:r>
            <a:r>
              <a:rPr lang="pl-PL" sz="3200">
                <a:solidFill>
                  <a:srgbClr val="15283B"/>
                </a:solidFill>
                <a:latin typeface="Cambria Math" panose="02040503050406030204" pitchFamily="18" charset="0"/>
              </a:rPr>
              <a:t> | x</a:t>
            </a:r>
            <a:r>
              <a:rPr lang="pl-PL" sz="2304" baseline="-22000">
                <a:solidFill>
                  <a:srgbClr val="15283B"/>
                </a:solidFill>
                <a:latin typeface="Cambria Math" panose="02040503050406030204" pitchFamily="18" charset="0"/>
              </a:rPr>
              <a:t>0:t</a:t>
            </a:r>
            <a:r>
              <a:rPr lang="pl-PL" sz="3200">
                <a:solidFill>
                  <a:srgbClr val="15283B"/>
                </a:solidFill>
                <a:latin typeface="Cambria Math" panose="02040503050406030204" pitchFamily="18" charset="0"/>
              </a:rPr>
              <a:t>,z,c)</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C5DCC03C-656D-5385-27EB-41EA8712B463}"/>
              </a:ext>
            </a:extLst>
          </p:cNvPr>
          <p:cNvSpPr txBox="1"/>
          <p:nvPr/>
        </p:nvSpPr>
        <p:spPr>
          <a:xfrm>
            <a:off x="685800" y="5702299"/>
            <a:ext cx="10820400" cy="520700"/>
          </a:xfrm>
          <a:prstGeom prst="rect">
            <a:avLst/>
          </a:prstGeom>
          <a:noFill/>
        </p:spPr>
        <p:txBody>
          <a:bodyPr vert="horz" wrap="square" lIns="0" tIns="0" rIns="0" bIns="0" rtlCol="0" anchor="t">
            <a:noAutofit/>
          </a:bodyPr>
          <a:lstStyle/>
          <a:p>
            <a:r>
              <a:rPr lang="en-US" sz="2400">
                <a:solidFill>
                  <a:srgbClr val="526477"/>
                </a:solidFill>
                <a:latin typeface="Aptos" panose="020B0004020202020204" pitchFamily="34" charset="0"/>
              </a:rPr>
              <a:t>Online marginals differ from a stored full-trajectory posterior.</a:t>
            </a:r>
            <a:endParaRPr lang="en-IL" sz="2400">
              <a:solidFill>
                <a:srgbClr val="526477"/>
              </a:solidFill>
              <a:latin typeface="Aptos" panose="020B0004020202020204" pitchFamily="34" charset="0"/>
            </a:endParaRPr>
          </a:p>
        </p:txBody>
      </p:sp>
    </p:spTree>
    <p:extLst>
      <p:ext uri="{BB962C8B-B14F-4D97-AF65-F5344CB8AC3E}">
        <p14:creationId xmlns:p14="http://schemas.microsoft.com/office/powerpoint/2010/main" val="735654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38464D3-2FCC-7C9F-AE2D-4B34B67E50C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3ABA5554-B063-7381-56CF-9B11A6A99B0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Likelihoods and systematic selection</a:t>
            </a:r>
          </a:p>
        </p:txBody>
      </p:sp>
      <p:sp>
        <p:nvSpPr>
          <p:cNvPr id="4" name="text_3">
            <a:extLst>
              <a:ext uri="{FF2B5EF4-FFF2-40B4-BE49-F238E27FC236}">
                <a16:creationId xmlns:a16="http://schemas.microsoft.com/office/drawing/2014/main" id="{8519620E-C805-CEFB-8C53-9068C2855DE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Stable arithmetic and correct ancestry preserve the model.</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329267E-9A20-C35C-97BD-87454CBC881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CE9BB13-A25D-8A5D-F4FB-8C7163C03A5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795E4D5-D592-5019-8B98-91C10A8F5D5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35</a:t>
            </a:r>
          </a:p>
        </p:txBody>
      </p:sp>
      <p:sp>
        <p:nvSpPr>
          <p:cNvPr id="8" name="text_7">
            <a:extLst>
              <a:ext uri="{FF2B5EF4-FFF2-40B4-BE49-F238E27FC236}">
                <a16:creationId xmlns:a16="http://schemas.microsoft.com/office/drawing/2014/main" id="{74644DEC-7411-81C7-1E5D-827FF24BB407}"/>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log L</a:t>
            </a:r>
            <a:r>
              <a:rPr lang="en-IL" sz="2304" baseline="-22000">
                <a:solidFill>
                  <a:srgbClr val="2459D3"/>
                </a:solidFill>
                <a:latin typeface="Cambria Math" panose="02040503050406030204" pitchFamily="18" charset="0"/>
              </a:rPr>
              <a:t>i</a:t>
            </a:r>
            <a:r>
              <a:rPr lang="en-IL" sz="3200">
                <a:solidFill>
                  <a:srgbClr val="2459D3"/>
                </a:solidFill>
                <a:latin typeface="Cambria Math" panose="02040503050406030204" pitchFamily="18" charset="0"/>
              </a:rPr>
              <a:t> = const − ½ ∑</a:t>
            </a:r>
            <a:r>
              <a:rPr lang="en-IL" sz="2304" baseline="-22000">
                <a:solidFill>
                  <a:srgbClr val="2459D3"/>
                </a:solidFill>
                <a:latin typeface="Cambria Math" panose="02040503050406030204" pitchFamily="18" charset="0"/>
              </a:rPr>
              <a:t>j</a:t>
            </a:r>
            <a:r>
              <a:rPr lang="en-IL" sz="3200">
                <a:solidFill>
                  <a:srgbClr val="2459D3"/>
                </a:solidFill>
                <a:latin typeface="Cambria Math" panose="02040503050406030204" pitchFamily="18" charset="0"/>
              </a:rPr>
              <a:t> ((z</a:t>
            </a:r>
            <a:r>
              <a:rPr lang="en-IL" sz="2304" baseline="-22000">
                <a:solidFill>
                  <a:srgbClr val="2459D3"/>
                </a:solidFill>
                <a:latin typeface="Cambria Math" panose="02040503050406030204" pitchFamily="18" charset="0"/>
              </a:rPr>
              <a:t>j</a:t>
            </a:r>
            <a:r>
              <a:rPr lang="en-IL" sz="3200">
                <a:solidFill>
                  <a:srgbClr val="2459D3"/>
                </a:solidFill>
                <a:latin typeface="Cambria Math" panose="02040503050406030204" pitchFamily="18" charset="0"/>
              </a:rPr>
              <a:t> − h</a:t>
            </a:r>
            <a:r>
              <a:rPr lang="en-IL" sz="2304" baseline="-22000">
                <a:solidFill>
                  <a:srgbClr val="2459D3"/>
                </a:solidFill>
                <a:latin typeface="Cambria Math" panose="02040503050406030204" pitchFamily="18" charset="0"/>
              </a:rPr>
              <a:t>j</a:t>
            </a:r>
            <a:r>
              <a:rPr lang="en-IL" sz="3200">
                <a:solidFill>
                  <a:srgbClr val="2459D3"/>
                </a:solidFill>
                <a:latin typeface="Cambria Math" panose="02040503050406030204" pitchFamily="18" charset="0"/>
              </a:rPr>
              <a:t>(p</a:t>
            </a:r>
            <a:r>
              <a:rPr lang="en-IL" sz="2304" baseline="-22000">
                <a:solidFill>
                  <a:srgbClr val="2459D3"/>
                </a:solidFill>
                <a:latin typeface="Cambria Math" panose="02040503050406030204" pitchFamily="18" charset="0"/>
              </a:rPr>
              <a:t>i</a:t>
            </a:r>
            <a:r>
              <a:rPr lang="en-IL" sz="3200">
                <a:solidFill>
                  <a:srgbClr val="2459D3"/>
                </a:solidFill>
                <a:latin typeface="Cambria Math" panose="02040503050406030204" pitchFamily="18" charset="0"/>
              </a:rPr>
              <a:t>))/</a:t>
            </a:r>
            <a:r>
              <a:rPr lang="el-GR" sz="3200">
                <a:solidFill>
                  <a:srgbClr val="2459D3"/>
                </a:solidFill>
                <a:latin typeface="Cambria Math" panose="02040503050406030204" pitchFamily="18" charset="0"/>
              </a:rPr>
              <a:t>σ</a:t>
            </a:r>
            <a:r>
              <a:rPr lang="en-IL" sz="2304" baseline="-22000">
                <a:solidFill>
                  <a:srgbClr val="2459D3"/>
                </a:solidFill>
                <a:latin typeface="Cambria Math" panose="02040503050406030204" pitchFamily="18" charset="0"/>
              </a:rPr>
              <a:t>z</a:t>
            </a:r>
            <a:r>
              <a:rPr lang="en-IL" sz="3200">
                <a:solidFill>
                  <a:srgbClr val="2459D3"/>
                </a:solidFill>
                <a:latin typeface="Cambria Math" panose="02040503050406030204" pitchFamily="18" charset="0"/>
              </a:rPr>
              <a:t>)²</a:t>
            </a:r>
          </a:p>
        </p:txBody>
      </p:sp>
      <p:sp>
        <p:nvSpPr>
          <p:cNvPr id="9" name="text_8">
            <a:extLst>
              <a:ext uri="{FF2B5EF4-FFF2-40B4-BE49-F238E27FC236}">
                <a16:creationId xmlns:a16="http://schemas.microsoft.com/office/drawing/2014/main" id="{D9659CFE-9027-75A3-437C-D00E69E35612}"/>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nl-NL" sz="3200">
                <a:solidFill>
                  <a:srgbClr val="15283B"/>
                </a:solidFill>
                <a:latin typeface="Cambria Math" panose="02040503050406030204" pitchFamily="18" charset="0"/>
              </a:rPr>
              <a:t>u</a:t>
            </a:r>
            <a:r>
              <a:rPr lang="nl-NL" sz="2304" baseline="-22000">
                <a:solidFill>
                  <a:srgbClr val="15283B"/>
                </a:solidFill>
                <a:latin typeface="Cambria Math" panose="02040503050406030204" pitchFamily="18" charset="0"/>
              </a:rPr>
              <a:t>k</a:t>
            </a:r>
            <a:r>
              <a:rPr lang="nl-NL" sz="3200">
                <a:solidFill>
                  <a:srgbClr val="15283B"/>
                </a:solidFill>
                <a:latin typeface="Cambria Math" panose="02040503050406030204" pitchFamily="18" charset="0"/>
              </a:rPr>
              <a:t> = (u</a:t>
            </a:r>
            <a:r>
              <a:rPr lang="nl-NL" sz="2304" baseline="-22000">
                <a:solidFill>
                  <a:srgbClr val="15283B"/>
                </a:solidFill>
                <a:latin typeface="Cambria Math" panose="02040503050406030204" pitchFamily="18" charset="0"/>
              </a:rPr>
              <a:t>0</a:t>
            </a:r>
            <a:r>
              <a:rPr lang="nl-NL" sz="3200">
                <a:solidFill>
                  <a:srgbClr val="15283B"/>
                </a:solidFill>
                <a:latin typeface="Cambria Math" panose="02040503050406030204" pitchFamily="18" charset="0"/>
              </a:rPr>
              <a:t> + k)/N;    u</a:t>
            </a:r>
            <a:r>
              <a:rPr lang="nl-NL" sz="2304" baseline="-22000">
                <a:solidFill>
                  <a:srgbClr val="15283B"/>
                </a:solidFill>
                <a:latin typeface="Cambria Math" panose="02040503050406030204" pitchFamily="18" charset="0"/>
              </a:rPr>
              <a:t>0</a:t>
            </a:r>
            <a:r>
              <a:rPr lang="nl-NL" sz="3200">
                <a:solidFill>
                  <a:srgbClr val="15283B"/>
                </a:solidFill>
                <a:latin typeface="Cambria Math" panose="02040503050406030204" pitchFamily="18" charset="0"/>
              </a:rPr>
              <a:t> ∼ Uniform(0,1)</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3FF0CFAA-7888-561A-4DB3-A517CC3C3F89}"/>
              </a:ext>
            </a:extLst>
          </p:cNvPr>
          <p:cNvSpPr txBox="1"/>
          <p:nvPr/>
        </p:nvSpPr>
        <p:spPr>
          <a:xfrm>
            <a:off x="685800" y="4508499"/>
            <a:ext cx="10820400" cy="7493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N</a:t>
            </a:r>
            <a:r>
              <a:rPr lang="en-IL" sz="2304" baseline="-22000">
                <a:solidFill>
                  <a:srgbClr val="15283B"/>
                </a:solidFill>
                <a:latin typeface="Cambria Math" panose="02040503050406030204" pitchFamily="18" charset="0"/>
              </a:rPr>
              <a:t>eff</a:t>
            </a:r>
            <a:r>
              <a:rPr lang="en-IL" sz="3200">
                <a:solidFill>
                  <a:srgbClr val="15283B"/>
                </a:solidFill>
                <a:latin typeface="Cambria Math" panose="02040503050406030204" pitchFamily="18" charset="0"/>
              </a:rPr>
              <a:t> = 1 / ∑</a:t>
            </a:r>
            <a:r>
              <a:rPr lang="en-IL" sz="2304" baseline="-22000">
                <a:solidFill>
                  <a:srgbClr val="15283B"/>
                </a:solidFill>
                <a:latin typeface="Cambria Math" panose="02040503050406030204" pitchFamily="18" charset="0"/>
              </a:rPr>
              <a:t>i</a:t>
            </a:r>
            <a:r>
              <a:rPr lang="en-IL" sz="3200">
                <a:solidFill>
                  <a:srgbClr val="15283B"/>
                </a:solidFill>
                <a:latin typeface="Cambria Math" panose="02040503050406030204" pitchFamily="18" charset="0"/>
              </a:rPr>
              <a:t> w</a:t>
            </a:r>
            <a:r>
              <a:rPr lang="en-IL" sz="2304" baseline="-22000">
                <a:solidFill>
                  <a:srgbClr val="15283B"/>
                </a:solidFill>
                <a:latin typeface="Cambria Math" panose="02040503050406030204" pitchFamily="18" charset="0"/>
              </a:rPr>
              <a:t>i</a:t>
            </a:r>
            <a:r>
              <a:rPr lang="en-IL" sz="3200">
                <a:solidFill>
                  <a:srgbClr val="15283B"/>
                </a:solidFill>
                <a:latin typeface="Cambria Math" panose="02040503050406030204" pitchFamily="18" charset="0"/>
              </a:rPr>
              <a:t>²</a:t>
            </a:r>
          </a:p>
        </p:txBody>
      </p:sp>
    </p:spTree>
    <p:extLst>
      <p:ext uri="{BB962C8B-B14F-4D97-AF65-F5344CB8AC3E}">
        <p14:creationId xmlns:p14="http://schemas.microsoft.com/office/powerpoint/2010/main" val="20789104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257977E-3073-D6C0-D9D4-8C292E6F79F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0FE54E03-1215-6DCA-22C0-CA2098884B1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Range-only conditional-map update</a:t>
            </a:r>
          </a:p>
        </p:txBody>
      </p:sp>
      <p:sp>
        <p:nvSpPr>
          <p:cNvPr id="4" name="text_3">
            <a:extLst>
              <a:ext uri="{FF2B5EF4-FFF2-40B4-BE49-F238E27FC236}">
                <a16:creationId xmlns:a16="http://schemas.microsoft.com/office/drawing/2014/main" id="{87C3BE0E-0602-CA17-034A-6F5A6F6BFC7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evidence uses the previous map distribution.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CC40B60-E363-7D83-9800-E2312B7785C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C2A9F4C-2D95-9B6E-72FE-1CCC8D47D00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CC1C3B1-52FB-7959-AB07-72082386CFD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36</a:t>
            </a:r>
          </a:p>
        </p:txBody>
      </p:sp>
      <p:sp>
        <p:nvSpPr>
          <p:cNvPr id="8" name="text_7">
            <a:extLst>
              <a:ext uri="{FF2B5EF4-FFF2-40B4-BE49-F238E27FC236}">
                <a16:creationId xmlns:a16="http://schemas.microsoft.com/office/drawing/2014/main" id="{5EC67A0B-3D54-83D5-CA4F-EA528341C035}"/>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e</a:t>
            </a:r>
            <a:r>
              <a:rPr lang="en-IL" sz="2304" baseline="-22000">
                <a:solidFill>
                  <a:srgbClr val="2459D3"/>
                </a:solidFill>
                <a:latin typeface="Cambria Math" panose="02040503050406030204" pitchFamily="18" charset="0"/>
              </a:rPr>
              <a:t>ij</a:t>
            </a:r>
            <a:r>
              <a:rPr lang="en-IL" sz="3200">
                <a:solidFill>
                  <a:srgbClr val="2459D3"/>
                </a:solidFill>
                <a:latin typeface="Cambria Math" panose="02040503050406030204" pitchFamily="18" charset="0"/>
              </a:rPr>
              <a:t> = ∑</a:t>
            </a:r>
            <a:r>
              <a:rPr lang="en-IL" sz="2304" baseline="-22000">
                <a:solidFill>
                  <a:srgbClr val="2459D3"/>
                </a:solidFill>
                <a:latin typeface="Cambria Math" panose="02040503050406030204" pitchFamily="18" charset="0"/>
              </a:rPr>
              <a:t>g</a:t>
            </a:r>
            <a:r>
              <a:rPr lang="en-IL" sz="3200">
                <a:solidFill>
                  <a:srgbClr val="2459D3"/>
                </a:solidFill>
                <a:latin typeface="Cambria Math" panose="02040503050406030204" pitchFamily="18" charset="0"/>
              </a:rPr>
              <a:t> L</a:t>
            </a:r>
            <a:r>
              <a:rPr lang="en-IL" sz="2304" baseline="-22000">
                <a:solidFill>
                  <a:srgbClr val="2459D3"/>
                </a:solidFill>
                <a:latin typeface="Cambria Math" panose="02040503050406030204" pitchFamily="18" charset="0"/>
              </a:rPr>
              <a:t>ij</a:t>
            </a:r>
            <a:r>
              <a:rPr lang="en-IL" sz="3200">
                <a:solidFill>
                  <a:srgbClr val="2459D3"/>
                </a:solidFill>
                <a:latin typeface="Cambria Math" panose="02040503050406030204" pitchFamily="18" charset="0"/>
              </a:rPr>
              <a:t>(g) M</a:t>
            </a:r>
            <a:r>
              <a:rPr lang="en-IL" sz="2304" baseline="-22000">
                <a:solidFill>
                  <a:srgbClr val="2459D3"/>
                </a:solidFill>
                <a:latin typeface="Cambria Math" panose="02040503050406030204" pitchFamily="18" charset="0"/>
              </a:rPr>
              <a:t>old,ij</a:t>
            </a:r>
            <a:r>
              <a:rPr lang="en-IL" sz="3200">
                <a:solidFill>
                  <a:srgbClr val="2459D3"/>
                </a:solidFill>
                <a:latin typeface="Cambria Math" panose="02040503050406030204" pitchFamily="18" charset="0"/>
              </a:rPr>
              <a:t>(g)</a:t>
            </a:r>
          </a:p>
        </p:txBody>
      </p:sp>
      <p:sp>
        <p:nvSpPr>
          <p:cNvPr id="9" name="text_8">
            <a:extLst>
              <a:ext uri="{FF2B5EF4-FFF2-40B4-BE49-F238E27FC236}">
                <a16:creationId xmlns:a16="http://schemas.microsoft.com/office/drawing/2014/main" id="{2BE29E3B-B9D0-9D66-B7AA-7497B1FF0CF2}"/>
              </a:ext>
            </a:extLst>
          </p:cNvPr>
          <p:cNvSpPr txBox="1"/>
          <p:nvPr/>
        </p:nvSpPr>
        <p:spPr>
          <a:xfrm>
            <a:off x="685800" y="3314699"/>
            <a:ext cx="10820400" cy="7493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M</a:t>
            </a:r>
            <a:r>
              <a:rPr lang="en-IL" sz="2304" baseline="-22000">
                <a:solidFill>
                  <a:srgbClr val="15283B"/>
                </a:solidFill>
                <a:latin typeface="Cambria Math" panose="02040503050406030204" pitchFamily="18" charset="0"/>
              </a:rPr>
              <a:t>new,ij</a:t>
            </a:r>
            <a:r>
              <a:rPr lang="en-IL" sz="3200">
                <a:solidFill>
                  <a:srgbClr val="15283B"/>
                </a:solidFill>
                <a:latin typeface="Cambria Math" panose="02040503050406030204" pitchFamily="18" charset="0"/>
              </a:rPr>
              <a:t>(g) = L</a:t>
            </a:r>
            <a:r>
              <a:rPr lang="en-IL" sz="2304" baseline="-22000">
                <a:solidFill>
                  <a:srgbClr val="15283B"/>
                </a:solidFill>
                <a:latin typeface="Cambria Math" panose="02040503050406030204" pitchFamily="18" charset="0"/>
              </a:rPr>
              <a:t>ij</a:t>
            </a:r>
            <a:r>
              <a:rPr lang="en-IL" sz="3200">
                <a:solidFill>
                  <a:srgbClr val="15283B"/>
                </a:solidFill>
                <a:latin typeface="Cambria Math" panose="02040503050406030204" pitchFamily="18" charset="0"/>
              </a:rPr>
              <a:t>(g) M</a:t>
            </a:r>
            <a:r>
              <a:rPr lang="en-IL" sz="2304" baseline="-22000">
                <a:solidFill>
                  <a:srgbClr val="15283B"/>
                </a:solidFill>
                <a:latin typeface="Cambria Math" panose="02040503050406030204" pitchFamily="18" charset="0"/>
              </a:rPr>
              <a:t>old,ij</a:t>
            </a:r>
            <a:r>
              <a:rPr lang="en-IL" sz="3200">
                <a:solidFill>
                  <a:srgbClr val="15283B"/>
                </a:solidFill>
                <a:latin typeface="Cambria Math" panose="02040503050406030204" pitchFamily="18" charset="0"/>
              </a:rPr>
              <a:t>(g) / e</a:t>
            </a:r>
            <a:r>
              <a:rPr lang="en-IL" sz="2304" baseline="-22000">
                <a:solidFill>
                  <a:srgbClr val="15283B"/>
                </a:solidFill>
                <a:latin typeface="Cambria Math" panose="02040503050406030204" pitchFamily="18" charset="0"/>
              </a:rPr>
              <a:t>ij</a:t>
            </a:r>
          </a:p>
        </p:txBody>
      </p:sp>
      <p:sp>
        <p:nvSpPr>
          <p:cNvPr id="10" name="text_9">
            <a:extLst>
              <a:ext uri="{FF2B5EF4-FFF2-40B4-BE49-F238E27FC236}">
                <a16:creationId xmlns:a16="http://schemas.microsoft.com/office/drawing/2014/main" id="{DDCC2825-073D-36A6-3AFA-5FE57E2A881C}"/>
              </a:ext>
            </a:extLst>
          </p:cNvPr>
          <p:cNvSpPr txBox="1"/>
          <p:nvPr/>
        </p:nvSpPr>
        <p:spPr>
          <a:xfrm>
            <a:off x="685800" y="4051299"/>
            <a:ext cx="10820400" cy="7493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w</a:t>
            </a:r>
            <a:r>
              <a:rPr lang="en-IL" sz="2304" baseline="-22000">
                <a:solidFill>
                  <a:srgbClr val="15283B"/>
                </a:solidFill>
                <a:latin typeface="Cambria Math" panose="02040503050406030204" pitchFamily="18" charset="0"/>
              </a:rPr>
              <a:t>i</a:t>
            </a:r>
            <a:r>
              <a:rPr lang="en-IL" sz="3200">
                <a:solidFill>
                  <a:srgbClr val="15283B"/>
                </a:solidFill>
                <a:latin typeface="Cambria Math" panose="02040503050406030204" pitchFamily="18" charset="0"/>
              </a:rPr>
              <a:t>⁺ ∝ w</a:t>
            </a:r>
            <a:r>
              <a:rPr lang="en-IL" sz="2304" baseline="-22000">
                <a:solidFill>
                  <a:srgbClr val="15283B"/>
                </a:solidFill>
                <a:latin typeface="Cambria Math" panose="02040503050406030204" pitchFamily="18" charset="0"/>
              </a:rPr>
              <a:t>i</a:t>
            </a:r>
            <a:r>
              <a:rPr lang="en-IL" sz="3200">
                <a:solidFill>
                  <a:srgbClr val="15283B"/>
                </a:solidFill>
                <a:latin typeface="Cambria Math" panose="02040503050406030204" pitchFamily="18" charset="0"/>
              </a:rPr>
              <a:t> ∏</a:t>
            </a:r>
            <a:r>
              <a:rPr lang="en-IL" sz="2304" baseline="-22000">
                <a:solidFill>
                  <a:srgbClr val="15283B"/>
                </a:solidFill>
                <a:latin typeface="Cambria Math" panose="02040503050406030204" pitchFamily="18" charset="0"/>
              </a:rPr>
              <a:t>j</a:t>
            </a:r>
            <a:r>
              <a:rPr lang="en-IL" sz="3200">
                <a:solidFill>
                  <a:srgbClr val="15283B"/>
                </a:solidFill>
                <a:latin typeface="Cambria Math" panose="02040503050406030204" pitchFamily="18" charset="0"/>
              </a:rPr>
              <a:t> e</a:t>
            </a:r>
            <a:r>
              <a:rPr lang="en-IL" sz="2304" baseline="-22000">
                <a:solidFill>
                  <a:srgbClr val="15283B"/>
                </a:solidFill>
                <a:latin typeface="Cambria Math" panose="02040503050406030204" pitchFamily="18" charset="0"/>
              </a:rPr>
              <a:t>ij</a:t>
            </a:r>
          </a:p>
        </p:txBody>
      </p:sp>
      <p:sp>
        <p:nvSpPr>
          <p:cNvPr id="11" name="text_10">
            <a:extLst>
              <a:ext uri="{FF2B5EF4-FFF2-40B4-BE49-F238E27FC236}">
                <a16:creationId xmlns:a16="http://schemas.microsoft.com/office/drawing/2014/main" id="{3B2C999D-A256-3E9F-B555-247DC4673450}"/>
              </a:ext>
            </a:extLst>
          </p:cNvPr>
          <p:cNvSpPr txBox="1"/>
          <p:nvPr/>
        </p:nvSpPr>
        <p:spPr>
          <a:xfrm>
            <a:off x="685800" y="4787899"/>
            <a:ext cx="10820400" cy="749300"/>
          </a:xfrm>
          <a:prstGeom prst="rect">
            <a:avLst/>
          </a:prstGeom>
          <a:noFill/>
        </p:spPr>
        <p:txBody>
          <a:bodyPr vert="horz" wrap="square" lIns="0" tIns="0" rIns="0" bIns="0" rtlCol="0" anchor="t">
            <a:noAutofit/>
          </a:bodyPr>
          <a:lstStyle/>
          <a:p>
            <a:r>
              <a:rPr lang="pl-PL" sz="3200">
                <a:solidFill>
                  <a:srgbClr val="15283B"/>
                </a:solidFill>
                <a:latin typeface="Cambria Math" panose="02040503050406030204" pitchFamily="18" charset="0"/>
              </a:rPr>
              <a:t>P(m</a:t>
            </a:r>
            <a:r>
              <a:rPr lang="pl-PL" sz="2304" baseline="-22000">
                <a:solidFill>
                  <a:srgbClr val="15283B"/>
                </a:solidFill>
                <a:latin typeface="Cambria Math" panose="02040503050406030204" pitchFamily="18" charset="0"/>
              </a:rPr>
              <a:t>j</a:t>
            </a:r>
            <a:r>
              <a:rPr lang="pl-PL" sz="3200">
                <a:solidFill>
                  <a:srgbClr val="15283B"/>
                </a:solidFill>
                <a:latin typeface="Cambria Math" panose="02040503050406030204" pitchFamily="18" charset="0"/>
              </a:rPr>
              <a:t>=g | z,u) ≈ ∑</a:t>
            </a:r>
            <a:r>
              <a:rPr lang="pl-PL" sz="2304" baseline="-22000">
                <a:solidFill>
                  <a:srgbClr val="15283B"/>
                </a:solidFill>
                <a:latin typeface="Cambria Math" panose="02040503050406030204" pitchFamily="18" charset="0"/>
              </a:rPr>
              <a:t>i</a:t>
            </a:r>
            <a:r>
              <a:rPr lang="pl-PL" sz="3200">
                <a:solidFill>
                  <a:srgbClr val="15283B"/>
                </a:solidFill>
                <a:latin typeface="Cambria Math" panose="02040503050406030204" pitchFamily="18" charset="0"/>
              </a:rPr>
              <a:t> w</a:t>
            </a:r>
            <a:r>
              <a:rPr lang="pl-PL" sz="2304" baseline="-22000">
                <a:solidFill>
                  <a:srgbClr val="15283B"/>
                </a:solidFill>
                <a:latin typeface="Cambria Math" panose="02040503050406030204" pitchFamily="18" charset="0"/>
              </a:rPr>
              <a:t>i</a:t>
            </a:r>
            <a:r>
              <a:rPr lang="pl-PL" sz="3200">
                <a:solidFill>
                  <a:srgbClr val="15283B"/>
                </a:solidFill>
                <a:latin typeface="Cambria Math" panose="02040503050406030204" pitchFamily="18" charset="0"/>
              </a:rPr>
              <a:t> M</a:t>
            </a:r>
            <a:r>
              <a:rPr lang="pl-PL" sz="2304" baseline="-22000">
                <a:solidFill>
                  <a:srgbClr val="15283B"/>
                </a:solidFill>
                <a:latin typeface="Cambria Math" panose="02040503050406030204" pitchFamily="18" charset="0"/>
              </a:rPr>
              <a:t>ij</a:t>
            </a:r>
            <a:r>
              <a:rPr lang="pl-PL" sz="3200">
                <a:solidFill>
                  <a:srgbClr val="15283B"/>
                </a:solidFill>
                <a:latin typeface="Cambria Math" panose="02040503050406030204" pitchFamily="18" charset="0"/>
              </a:rPr>
              <a:t>(g)</a:t>
            </a:r>
            <a:endParaRPr lang="en-IL" sz="3200">
              <a:solidFill>
                <a:srgbClr val="15283B"/>
              </a:solidFill>
              <a:latin typeface="Cambria Math" panose="02040503050406030204" pitchFamily="18" charset="0"/>
            </a:endParaRPr>
          </a:p>
        </p:txBody>
      </p:sp>
    </p:spTree>
    <p:extLst>
      <p:ext uri="{BB962C8B-B14F-4D97-AF65-F5344CB8AC3E}">
        <p14:creationId xmlns:p14="http://schemas.microsoft.com/office/powerpoint/2010/main" val="22190837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898D933-6AF8-93DC-B69A-34D1BA0138A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99146C97-AD3C-96E5-BB84-C7B48302CBF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Kalman/EKF covariance and checks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297C1FF1-6B31-8579-C0E3-80F098C3231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Covariance correction must preserve the joint structure.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7D11640-B946-E0D8-5092-F1A4914E2AD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A90C955-D5E1-1A93-3DD8-A158329092F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B44D8C22-51E7-B981-58A7-1E69ADBB221A}"/>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37</a:t>
            </a:r>
          </a:p>
        </p:txBody>
      </p:sp>
      <p:sp>
        <p:nvSpPr>
          <p:cNvPr id="8" name="text_7">
            <a:extLst>
              <a:ext uri="{FF2B5EF4-FFF2-40B4-BE49-F238E27FC236}">
                <a16:creationId xmlns:a16="http://schemas.microsoft.com/office/drawing/2014/main" id="{0C6BC201-0931-F74E-41B3-D8BD3124FACB}"/>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l-GR" sz="3200">
                <a:solidFill>
                  <a:srgbClr val="2459D3"/>
                </a:solidFill>
                <a:latin typeface="Cambria Math" panose="02040503050406030204" pitchFamily="18" charset="0"/>
              </a:rPr>
              <a:t>Σ⁺ = (</a:t>
            </a:r>
            <a:r>
              <a:rPr lang="en-IL" sz="3200">
                <a:solidFill>
                  <a:srgbClr val="2459D3"/>
                </a:solidFill>
                <a:latin typeface="Cambria Math" panose="02040503050406030204" pitchFamily="18" charset="0"/>
              </a:rPr>
              <a:t>I − KH) </a:t>
            </a:r>
            <a:r>
              <a:rPr lang="el-GR" sz="3200">
                <a:solidFill>
                  <a:srgbClr val="2459D3"/>
                </a:solidFill>
                <a:latin typeface="Cambria Math" panose="02040503050406030204" pitchFamily="18" charset="0"/>
              </a:rPr>
              <a:t>Σ̄ (</a:t>
            </a:r>
            <a:r>
              <a:rPr lang="en-IL" sz="3200">
                <a:solidFill>
                  <a:srgbClr val="2459D3"/>
                </a:solidFill>
                <a:latin typeface="Cambria Math" panose="02040503050406030204" pitchFamily="18" charset="0"/>
              </a:rPr>
              <a:t>I − KH)</a:t>
            </a:r>
            <a:r>
              <a:rPr lang="en-IL" sz="2304" baseline="3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K C</a:t>
            </a:r>
            <a:r>
              <a:rPr lang="en-IL" sz="2304" baseline="-22000">
                <a:solidFill>
                  <a:srgbClr val="2459D3"/>
                </a:solidFill>
                <a:latin typeface="Cambria Math" panose="02040503050406030204" pitchFamily="18" charset="0"/>
              </a:rPr>
              <a:t>z</a:t>
            </a:r>
            <a:r>
              <a:rPr lang="en-IL" sz="3200">
                <a:solidFill>
                  <a:srgbClr val="2459D3"/>
                </a:solidFill>
                <a:latin typeface="Cambria Math" panose="02040503050406030204" pitchFamily="18" charset="0"/>
              </a:rPr>
              <a:t> K</a:t>
            </a:r>
            <a:r>
              <a:rPr lang="en-IL" sz="2304" baseline="32000">
                <a:solidFill>
                  <a:srgbClr val="2459D3"/>
                </a:solidFill>
                <a:latin typeface="Cambria Math" panose="02040503050406030204" pitchFamily="18" charset="0"/>
              </a:rPr>
              <a:t>T</a:t>
            </a:r>
          </a:p>
        </p:txBody>
      </p:sp>
      <p:sp>
        <p:nvSpPr>
          <p:cNvPr id="9" name="text_8">
            <a:extLst>
              <a:ext uri="{FF2B5EF4-FFF2-40B4-BE49-F238E27FC236}">
                <a16:creationId xmlns:a16="http://schemas.microsoft.com/office/drawing/2014/main" id="{E2D2D8E0-2687-8EFD-B27B-86E7C70ED9AC}"/>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F = ∂f/∂X;    H = ∂h/∂X</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310FB025-9475-3A5C-22F9-A4CBB967F0A3}"/>
              </a:ext>
            </a:extLst>
          </p:cNvPr>
          <p:cNvSpPr txBox="1"/>
          <p:nvPr/>
        </p:nvSpPr>
        <p:spPr>
          <a:xfrm>
            <a:off x="685800" y="4508499"/>
            <a:ext cx="10820400" cy="749300"/>
          </a:xfrm>
          <a:prstGeom prst="rect">
            <a:avLst/>
          </a:prstGeom>
          <a:noFill/>
        </p:spPr>
        <p:txBody>
          <a:bodyPr vert="horz" wrap="square" lIns="0" tIns="0" rIns="0" bIns="0" rtlCol="0" anchor="t">
            <a:noAutofit/>
          </a:bodyPr>
          <a:lstStyle/>
          <a:p>
            <a:r>
              <a:rPr lang="el-GR" sz="3200">
                <a:solidFill>
                  <a:srgbClr val="15283B"/>
                </a:solidFill>
                <a:latin typeface="Cambria Math" panose="02040503050406030204" pitchFamily="18" charset="0"/>
              </a:rPr>
              <a:t>ρ</a:t>
            </a:r>
            <a:r>
              <a:rPr lang="en-IL" sz="2304" baseline="-22000">
                <a:solidFill>
                  <a:srgbClr val="15283B"/>
                </a:solidFill>
                <a:latin typeface="Cambria Math" panose="02040503050406030204" pitchFamily="18" charset="0"/>
              </a:rPr>
              <a:t>j</a:t>
            </a:r>
            <a:r>
              <a:rPr lang="en-IL" sz="3200">
                <a:solidFill>
                  <a:srgbClr val="15283B"/>
                </a:solidFill>
                <a:latin typeface="Cambria Math" panose="02040503050406030204" pitchFamily="18" charset="0"/>
              </a:rPr>
              <a:t> = ‖m</a:t>
            </a:r>
            <a:r>
              <a:rPr lang="en-IL" sz="2304" baseline="-22000">
                <a:solidFill>
                  <a:srgbClr val="15283B"/>
                </a:solidFill>
                <a:latin typeface="Cambria Math" panose="02040503050406030204" pitchFamily="18" charset="0"/>
              </a:rPr>
              <a:t>j</a:t>
            </a:r>
            <a:r>
              <a:rPr lang="en-IL" sz="3200">
                <a:solidFill>
                  <a:srgbClr val="15283B"/>
                </a:solidFill>
                <a:latin typeface="Cambria Math" panose="02040503050406030204" pitchFamily="18" charset="0"/>
              </a:rPr>
              <a:t> − p‖;   ∂</a:t>
            </a:r>
            <a:r>
              <a:rPr lang="el-GR" sz="3200">
                <a:solidFill>
                  <a:srgbClr val="15283B"/>
                </a:solidFill>
                <a:latin typeface="Cambria Math" panose="02040503050406030204" pitchFamily="18" charset="0"/>
              </a:rPr>
              <a:t>ρ/∂</a:t>
            </a:r>
            <a:r>
              <a:rPr lang="en-IL" sz="3200">
                <a:solidFill>
                  <a:srgbClr val="15283B"/>
                </a:solidFill>
                <a:latin typeface="Cambria Math" panose="02040503050406030204" pitchFamily="18" charset="0"/>
              </a:rPr>
              <a:t>p = −(m</a:t>
            </a:r>
            <a:r>
              <a:rPr lang="en-IL" sz="2304" baseline="-22000">
                <a:solidFill>
                  <a:srgbClr val="15283B"/>
                </a:solidFill>
                <a:latin typeface="Cambria Math" panose="02040503050406030204" pitchFamily="18" charset="0"/>
              </a:rPr>
              <a:t>j</a:t>
            </a:r>
            <a:r>
              <a:rPr lang="en-IL" sz="3200">
                <a:solidFill>
                  <a:srgbClr val="15283B"/>
                </a:solidFill>
                <a:latin typeface="Cambria Math" panose="02040503050406030204" pitchFamily="18" charset="0"/>
              </a:rPr>
              <a:t> − p)</a:t>
            </a:r>
            <a:r>
              <a:rPr lang="en-IL" sz="2304" baseline="3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a:t>
            </a:r>
            <a:r>
              <a:rPr lang="el-GR" sz="3200">
                <a:solidFill>
                  <a:srgbClr val="15283B"/>
                </a:solidFill>
                <a:latin typeface="Cambria Math" panose="02040503050406030204" pitchFamily="18" charset="0"/>
              </a:rPr>
              <a:t>ρ</a:t>
            </a:r>
            <a:r>
              <a:rPr lang="en-IL" sz="2304" baseline="-22000">
                <a:solidFill>
                  <a:srgbClr val="15283B"/>
                </a:solidFill>
                <a:latin typeface="Cambria Math" panose="02040503050406030204" pitchFamily="18" charset="0"/>
              </a:rPr>
              <a:t>j</a:t>
            </a:r>
          </a:p>
        </p:txBody>
      </p:sp>
    </p:spTree>
    <p:extLst>
      <p:ext uri="{BB962C8B-B14F-4D97-AF65-F5344CB8AC3E}">
        <p14:creationId xmlns:p14="http://schemas.microsoft.com/office/powerpoint/2010/main" val="654287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564051B9-0DFB-EB05-4DA8-F9CE1A1588D5}"/>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ABFC210D-6F9D-B8DA-A603-D3A68B03E77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Maps and graph-based SLAM</a:t>
            </a:r>
          </a:p>
        </p:txBody>
      </p:sp>
      <p:sp>
        <p:nvSpPr>
          <p:cNvPr id="4" name="text_3">
            <a:extLst>
              <a:ext uri="{FF2B5EF4-FFF2-40B4-BE49-F238E27FC236}">
                <a16:creationId xmlns:a16="http://schemas.microsoft.com/office/drawing/2014/main" id="{1C71D373-0F7C-8732-6EE3-7EAD92BB077D}"/>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Landmark grids, occupancy cells, and factor graphs are different.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C26494D-B4F0-5A3E-18F0-CAF72942D246}"/>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3DE4E72-7778-E501-25A2-050883DE85F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Localization and mapping under uncertainty</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8C5604C-DCA1-4EA6-6590-86F865770A4C}"/>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38</a:t>
            </a:r>
          </a:p>
        </p:txBody>
      </p:sp>
      <p:sp>
        <p:nvSpPr>
          <p:cNvPr id="8" name="text_7">
            <a:extLst>
              <a:ext uri="{FF2B5EF4-FFF2-40B4-BE49-F238E27FC236}">
                <a16:creationId xmlns:a16="http://schemas.microsoft.com/office/drawing/2014/main" id="{438B4D43-F3CD-C649-B879-B2B2004D6638}"/>
              </a:ext>
            </a:extLst>
          </p:cNvPr>
          <p:cNvSpPr txBox="1"/>
          <p:nvPr/>
        </p:nvSpPr>
        <p:spPr>
          <a:xfrm>
            <a:off x="685800" y="2578099"/>
            <a:ext cx="10820400" cy="7493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Occupancy: ℓ⁺ = ℓ + logit(p</a:t>
            </a:r>
            <a:r>
              <a:rPr lang="en-IL" sz="2304" baseline="-22000">
                <a:solidFill>
                  <a:srgbClr val="2459D3"/>
                </a:solidFill>
                <a:latin typeface="Cambria Math" panose="02040503050406030204" pitchFamily="18" charset="0"/>
              </a:rPr>
              <a:t>hit</a:t>
            </a:r>
            <a:r>
              <a:rPr lang="en-IL" sz="3200">
                <a:solidFill>
                  <a:srgbClr val="2459D3"/>
                </a:solidFill>
                <a:latin typeface="Cambria Math" panose="02040503050406030204" pitchFamily="18" charset="0"/>
              </a:rPr>
              <a:t>) − ℓ</a:t>
            </a:r>
            <a:r>
              <a:rPr lang="en-IL" sz="2304" baseline="-22000">
                <a:solidFill>
                  <a:srgbClr val="2459D3"/>
                </a:solidFill>
                <a:latin typeface="Cambria Math" panose="02040503050406030204" pitchFamily="18" charset="0"/>
              </a:rPr>
              <a:t>0</a:t>
            </a:r>
          </a:p>
        </p:txBody>
      </p:sp>
      <p:sp>
        <p:nvSpPr>
          <p:cNvPr id="9" name="text_8">
            <a:extLst>
              <a:ext uri="{FF2B5EF4-FFF2-40B4-BE49-F238E27FC236}">
                <a16:creationId xmlns:a16="http://schemas.microsoft.com/office/drawing/2014/main" id="{737A7466-5EB8-8C94-3722-0826D148A2CE}"/>
              </a:ext>
            </a:extLst>
          </p:cNvPr>
          <p:cNvSpPr txBox="1"/>
          <p:nvPr/>
        </p:nvSpPr>
        <p:spPr>
          <a:xfrm>
            <a:off x="685800" y="3543299"/>
            <a:ext cx="10820400" cy="749300"/>
          </a:xfrm>
          <a:prstGeom prst="rect">
            <a:avLst/>
          </a:prstGeom>
          <a:noFill/>
        </p:spPr>
        <p:txBody>
          <a:bodyPr vert="horz" wrap="square" lIns="0" tIns="0" rIns="0" bIns="0" rtlCol="0" anchor="t">
            <a:noAutofit/>
          </a:bodyPr>
          <a:lstStyle/>
          <a:p>
            <a:r>
              <a:rPr lang="de-DE" sz="3200">
                <a:solidFill>
                  <a:srgbClr val="15283B"/>
                </a:solidFill>
                <a:latin typeface="Cambria Math" panose="02040503050406030204" pitchFamily="18" charset="0"/>
              </a:rPr>
              <a:t>Graph: minimize ∑</a:t>
            </a:r>
            <a:r>
              <a:rPr lang="de-DE" sz="2304" baseline="-22000">
                <a:solidFill>
                  <a:srgbClr val="15283B"/>
                </a:solidFill>
                <a:latin typeface="Cambria Math" panose="02040503050406030204" pitchFamily="18" charset="0"/>
              </a:rPr>
              <a:t>f</a:t>
            </a:r>
            <a:r>
              <a:rPr lang="de-DE" sz="3200">
                <a:solidFill>
                  <a:srgbClr val="15283B"/>
                </a:solidFill>
                <a:latin typeface="Cambria Math" panose="02040503050406030204" pitchFamily="18" charset="0"/>
              </a:rPr>
              <a:t> r</a:t>
            </a:r>
            <a:r>
              <a:rPr lang="de-DE" sz="2304" baseline="-22000">
                <a:solidFill>
                  <a:srgbClr val="15283B"/>
                </a:solidFill>
                <a:latin typeface="Cambria Math" panose="02040503050406030204" pitchFamily="18" charset="0"/>
              </a:rPr>
              <a:t>f</a:t>
            </a:r>
            <a:r>
              <a:rPr lang="de-DE" sz="3200">
                <a:solidFill>
                  <a:srgbClr val="15283B"/>
                </a:solidFill>
                <a:latin typeface="Cambria Math" panose="02040503050406030204" pitchFamily="18" charset="0"/>
              </a:rPr>
              <a:t>(X)</a:t>
            </a:r>
            <a:r>
              <a:rPr lang="de-DE" sz="2304" baseline="32000">
                <a:solidFill>
                  <a:srgbClr val="15283B"/>
                </a:solidFill>
                <a:latin typeface="Cambria Math" panose="02040503050406030204" pitchFamily="18" charset="0"/>
              </a:rPr>
              <a:t>T</a:t>
            </a:r>
            <a:r>
              <a:rPr lang="de-DE" sz="3200">
                <a:solidFill>
                  <a:srgbClr val="15283B"/>
                </a:solidFill>
                <a:latin typeface="Cambria Math" panose="02040503050406030204" pitchFamily="18" charset="0"/>
              </a:rPr>
              <a:t> Ω</a:t>
            </a:r>
            <a:r>
              <a:rPr lang="de-DE" sz="2304" baseline="-22000">
                <a:solidFill>
                  <a:srgbClr val="15283B"/>
                </a:solidFill>
                <a:latin typeface="Cambria Math" panose="02040503050406030204" pitchFamily="18" charset="0"/>
              </a:rPr>
              <a:t>f</a:t>
            </a:r>
            <a:r>
              <a:rPr lang="de-DE" sz="3200">
                <a:solidFill>
                  <a:srgbClr val="15283B"/>
                </a:solidFill>
                <a:latin typeface="Cambria Math" panose="02040503050406030204" pitchFamily="18" charset="0"/>
              </a:rPr>
              <a:t> r</a:t>
            </a:r>
            <a:r>
              <a:rPr lang="de-DE" sz="2304" baseline="-22000">
                <a:solidFill>
                  <a:srgbClr val="15283B"/>
                </a:solidFill>
                <a:latin typeface="Cambria Math" panose="02040503050406030204" pitchFamily="18" charset="0"/>
              </a:rPr>
              <a:t>f</a:t>
            </a:r>
            <a:r>
              <a:rPr lang="de-DE" sz="3200">
                <a:solidFill>
                  <a:srgbClr val="15283B"/>
                </a:solidFill>
                <a:latin typeface="Cambria Math" panose="02040503050406030204" pitchFamily="18" charset="0"/>
              </a:rPr>
              <a:t>(X)</a:t>
            </a:r>
            <a:endParaRPr lang="en-IL" sz="3200">
              <a:solidFill>
                <a:srgbClr val="15283B"/>
              </a:solidFill>
              <a:latin typeface="Cambria Math" panose="02040503050406030204" pitchFamily="18" charset="0"/>
            </a:endParaRPr>
          </a:p>
        </p:txBody>
      </p:sp>
    </p:spTree>
    <p:extLst>
      <p:ext uri="{BB962C8B-B14F-4D97-AF65-F5344CB8AC3E}">
        <p14:creationId xmlns:p14="http://schemas.microsoft.com/office/powerpoint/2010/main" val="3914173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7677</Words>
  <Application>Microsoft Office PowerPoint</Application>
  <PresentationFormat>Custom</PresentationFormat>
  <Paragraphs>613</Paragraphs>
  <Slides>38</Slides>
  <Notes>38</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2026-10-05T13:36:17Z</dcterms:created>
  <dcterms:modified xsi:type="dcterms:W3CDTF">2026-10-05T13:36:17Z</dcterms:modified>
</cp:coreProperties>
</file>