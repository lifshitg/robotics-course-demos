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CCF17E-7018-4F47-8D52-4D3EB3CB93E4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2826EA-CBC9-40F9-ADE8-DAD05B43C1C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65428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Week 1 — Robotics &amp; Autonomous Systems
Audience: Python familiarity; little networking knowledge.
Use this title while students settle; begin the timed teaching content on the next slide.
Timing: explanation 25 minutes; code 7; run/inspect 6; experiments 4; questions/recap 3. Total 45 minutes. Five hidden backup slides are outside the schedule.
ROS 2 Jazzy is the teaching baseline, not a claim about the newest ROS distribution.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26EA-CBC9-40F9-ADE8-DAD05B43C1C2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98129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Timing: 2 minutes.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Purpose: Establish what students are learning and why it exists.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- ROS means Robot Operating System: a software framework for building robotics</a:t>
            </a:r>
          </a:p>
          <a:p>
            <a:r>
              <a:rPr lang="en-US">
                <a:latin typeface="Aptos" panose="020B0004020202020204" pitchFamily="34" charset="0"/>
              </a:rPr>
              <a:t>  applications that runs on an operating system such as Linux.</a:t>
            </a:r>
          </a:p>
          <a:p>
            <a:r>
              <a:rPr lang="en-US">
                <a:latin typeface="Aptos" panose="020B0004020202020204" pitchFamily="34" charset="0"/>
              </a:rPr>
              <a:t>- It supplies communication libraries, development/debugging tools, and an ecosystem</a:t>
            </a:r>
          </a:p>
          <a:p>
            <a:r>
              <a:rPr lang="en-US">
                <a:latin typeface="Aptos" panose="020B0004020202020204" pitchFamily="34" charset="0"/>
              </a:rPr>
              <a:t>  of reusable packages, including drivers and robotics algorithms.</a:t>
            </a:r>
          </a:p>
          <a:p>
            <a:r>
              <a:rPr lang="en-US">
                <a:latin typeface="Aptos" panose="020B0004020202020204" pitchFamily="34" charset="0"/>
              </a:rPr>
              <a:t>- Robotics software combines components written by different people, often in different</a:t>
            </a:r>
          </a:p>
          <a:p>
            <a:r>
              <a:rPr lang="en-US">
                <a:latin typeface="Aptos" panose="020B0004020202020204" pitchFamily="34" charset="0"/>
              </a:rPr>
              <a:t>  languages and running on different computers. ROS supplies common interfaces to connect them.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Visual: Three layers: robot application; ROS libraries/tools/packages; host OS/hardware.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Speaker guidance: Start with “How do a camera, a planner, and a motor driver share</a:t>
            </a:r>
          </a:p>
          <a:p>
            <a:r>
              <a:rPr lang="en-US">
                <a:latin typeface="Aptos" panose="020B0004020202020204" pitchFamily="34" charset="0"/>
              </a:rPr>
              <a:t>information?” Define middleware as software handling communication between application</a:t>
            </a:r>
          </a:p>
          <a:p>
            <a:r>
              <a:rPr lang="en-US">
                <a:latin typeface="Aptos" panose="020B0004020202020204" pitchFamily="34" charset="0"/>
              </a:rPr>
              <a:t>components. Explain the purpose before introducing API names.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Demo connection: Python supplies the application logic; rclpy supplies ROS</a:t>
            </a:r>
          </a:p>
          <a:p>
            <a:r>
              <a:rPr lang="en-US">
                <a:latin typeface="Aptos" panose="020B0004020202020204" pitchFamily="34" charset="0"/>
              </a:rPr>
              <a:t>interfaces; std_msgs supplies the message definition.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Reference: Official ROS 2 overview: https://github.com/ros2/ros2_documentation/blob/jazzy/source/index.rst.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26EA-CBC9-40F9-ADE8-DAD05B43C1C2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41107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Timing: 2 minutes.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Purpose: Connect the framework to complete robots and industrial applications.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- Example robot: sensor drivers → perception/localization → planning → control →</a:t>
            </a:r>
          </a:p>
          <a:p>
            <a:r>
              <a:rPr lang="en-US">
                <a:latin typeface="Aptos" panose="020B0004020202020204" pitchFamily="34" charset="0"/>
              </a:rPr>
              <a:t>  actuator drivers. Localization also consumes motion feedback from the robot.</a:t>
            </a:r>
          </a:p>
          <a:p>
            <a:r>
              <a:rPr lang="en-US">
                <a:latin typeface="Aptos" panose="020B0004020202020204" pitchFamily="34" charset="0"/>
              </a:rPr>
              <a:t>- Teams can integrate modules, inspect data, and reuse existing drivers and algorithms.</a:t>
            </a:r>
          </a:p>
          <a:p>
            <a:r>
              <a:rPr lang="en-US">
                <a:latin typeface="Aptos" panose="020B0004020202020204" pitchFamily="34" charset="0"/>
              </a:rPr>
              <a:t>- Compatible interfaces allow simulated sensors/actuators to replace hardware during</a:t>
            </a:r>
          </a:p>
          <a:p>
            <a:r>
              <a:rPr lang="en-US">
                <a:latin typeface="Aptos" panose="020B0004020202020204" pitchFamily="34" charset="0"/>
              </a:rPr>
              <a:t>  development. Physical behavior and timing still need validation on the robot.</a:t>
            </a:r>
          </a:p>
          <a:p>
            <a:r>
              <a:rPr lang="en-US">
                <a:latin typeface="Aptos" panose="020B0004020202020204" pitchFamily="34" charset="0"/>
              </a:rPr>
              <a:t>- Industry examples: ROS-Industrial's work with BMW and Microsoft on logistics</a:t>
            </a:r>
          </a:p>
          <a:p>
            <a:r>
              <a:rPr lang="en-US">
                <a:latin typeface="Aptos" panose="020B0004020202020204" pitchFamily="34" charset="0"/>
              </a:rPr>
              <a:t>  interoperability, and robotic blending/scan-and-plan work for foundries. These are</a:t>
            </a:r>
          </a:p>
          <a:p>
            <a:r>
              <a:rPr lang="en-US">
                <a:latin typeface="Aptos" panose="020B0004020202020204" pitchFamily="34" charset="0"/>
              </a:rPr>
              <a:t>  documented ROS ecosystem applications; do not assume all use the same ROS generation.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Visual: Robot software graph with sensor inputs, actuator outputs, and an alternative</a:t>
            </a:r>
          </a:p>
          <a:p>
            <a:r>
              <a:rPr lang="en-US">
                <a:latin typeface="Aptos" panose="020B0004020202020204" pitchFamily="34" charset="0"/>
              </a:rPr>
              <a:t>simulation boundary. Place the industrial examples beside the graph.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Speaker guidance: Explain the benefit: interoperability for logistics; perception</a:t>
            </a:r>
          </a:p>
          <a:p>
            <a:r>
              <a:rPr lang="en-US">
                <a:latin typeface="Aptos" panose="020B0004020202020204" pitchFamily="34" charset="0"/>
              </a:rPr>
              <a:t>linked to motion planning for manufacturing. ROS adoption alone does not make a system</a:t>
            </a:r>
          </a:p>
          <a:p>
            <a:r>
              <a:rPr lang="en-US">
                <a:latin typeface="Aptos" panose="020B0004020202020204" pitchFamily="34" charset="0"/>
              </a:rPr>
              <a:t>safety certified or guarantee hard real-time control; these require system-level design.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Demo connection: The greeting producer and consumer represent two software modules;</a:t>
            </a:r>
          </a:p>
          <a:p>
            <a:r>
              <a:rPr lang="en-US">
                <a:latin typeface="Aptos" panose="020B0004020202020204" pitchFamily="34" charset="0"/>
              </a:rPr>
              <a:t>a real sensor publishes structured measurements rather than greetings.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Reference: ROS-Industrial applications and project overview: https://rosindustrial.org/.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26EA-CBC9-40F9-ADE8-DAD05B43C1C2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02513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L">
                <a:latin typeface="Aptos" panose="020B0004020202020204" pitchFamily="34" charset="0"/>
              </a:rPr>
              <a:t>Timing: 3 minutes.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Purpose: Explain the redesign and establish which ROS students will use.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- ROS development began in 2007 around Willow Garage's PR2 research platform.</a:t>
            </a:r>
          </a:p>
          <a:p>
            <a:r>
              <a:rPr lang="en-IL">
                <a:latin typeface="Aptos" panose="020B0004020202020204" pitchFamily="34" charset="0"/>
              </a:rPr>
              <a:t>- ROS 2 addressed broader needs: multiple robots, embedded computers, unreliable</a:t>
            </a:r>
          </a:p>
          <a:p>
            <a:r>
              <a:rPr lang="en-IL">
                <a:latin typeface="Aptos" panose="020B0004020202020204" pitchFamily="34" charset="0"/>
              </a:rPr>
              <a:t>  networks, production deployments, and more controlled execution.</a:t>
            </a:r>
          </a:p>
          <a:p>
            <a:r>
              <a:rPr lang="en-IL">
                <a:latin typeface="Aptos" panose="020B0004020202020204" pitchFamily="34" charset="0"/>
              </a:rPr>
              <a:t>- ROS 2's first non-beta distribution was Ardent Apalone in 2017.</a:t>
            </a:r>
          </a:p>
          <a:p>
            <a:r>
              <a:rPr lang="en-IL">
                <a:latin typeface="Aptos" panose="020B0004020202020204" pitchFamily="34" charset="0"/>
              </a:rPr>
              <a:t>- ROS 1's final official distribution, Noetic, reached end of life on May 31, 2025.</a:t>
            </a:r>
          </a:p>
          <a:p>
            <a:r>
              <a:rPr lang="en-IL">
                <a:latin typeface="Aptos" panose="020B0004020202020204" pitchFamily="34" charset="0"/>
              </a:rPr>
              <a:t>  Existing ROS 1 systems remain, but this course uses ROS 2.</a:t>
            </a:r>
          </a:p>
          <a:p>
            <a:r>
              <a:rPr lang="en-IL">
                <a:latin typeface="Aptos" panose="020B0004020202020204" pitchFamily="34" charset="0"/>
              </a:rPr>
              <a:t>- ROS 1/ROS 2 are framework generations; Jazzy is a ROS 2 distribution bundling</a:t>
            </a:r>
          </a:p>
          <a:p>
            <a:r>
              <a:rPr lang="en-IL">
                <a:latin typeface="Aptos" panose="020B0004020202020204" pitchFamily="34" charset="0"/>
              </a:rPr>
              <a:t>  compatible package versions. Jazzy is the demo baseline, not a claim about the newest release.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| Aspect | ROS 1 | ROS 2 |</a:t>
            </a:r>
          </a:p>
          <a:p>
            <a:r>
              <a:rPr lang="en-IL">
                <a:latin typeface="Aptos" panose="020B0004020202020204" pitchFamily="34" charset="0"/>
              </a:rPr>
              <a:t>| --- | --- | --- |</a:t>
            </a:r>
          </a:p>
          <a:p>
            <a:r>
              <a:rPr lang="en-IL">
                <a:latin typeface="Aptos" panose="020B0004020202020204" pitchFamily="34" charset="0"/>
              </a:rPr>
              <a:t>| Discovery | Nodes register with a ROS master | DDS-based discovery in the course setup; no ROS master |</a:t>
            </a:r>
          </a:p>
          <a:p>
            <a:r>
              <a:rPr lang="en-IL">
                <a:latin typeface="Aptos" panose="020B0004020202020204" pitchFamily="34" charset="0"/>
              </a:rPr>
              <a:t>| Topic transport | Custom protocols, commonly TCPROS | Replaceable RMW layer; DDS/RTPS in this explanation |</a:t>
            </a:r>
          </a:p>
          <a:p>
            <a:r>
              <a:rPr lang="en-IL">
                <a:latin typeface="Aptos" panose="020B0004020202020204" pitchFamily="34" charset="0"/>
              </a:rPr>
              <a:t>| Delivery policies | More limited options, including latching | Configurable QoS, including reliability/durability |</a:t>
            </a:r>
          </a:p>
          <a:p>
            <a:r>
              <a:rPr lang="en-IL">
                <a:latin typeface="Aptos" panose="020B0004020202020204" pitchFamily="34" charset="0"/>
              </a:rPr>
              <a:t>| Node management | Application-specific coordination | Standard managed lifecycle interface available |</a:t>
            </a:r>
          </a:p>
          <a:p>
            <a:r>
              <a:rPr lang="en-IL">
                <a:latin typeface="Aptos" panose="020B0004020202020204" pitchFamily="34" charset="0"/>
              </a:rPr>
              <a:t>| Application libraries | rospy, roscpp | rclpy, rclcpp |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Visual: Timeline and comparison table. In a ROS 1 sketch, distinguish master discovery</a:t>
            </a:r>
          </a:p>
          <a:p>
            <a:r>
              <a:rPr lang="en-IL">
                <a:latin typeface="Aptos" panose="020B0004020202020204" pitchFamily="34" charset="0"/>
              </a:rPr>
              <a:t>arrows from a direct data arrow between nodes.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Speaker guidance: The ROS 1 master helps endpoints find each other; it does not</a:t>
            </a:r>
          </a:p>
          <a:p>
            <a:r>
              <a:rPr lang="en-IL">
                <a:latin typeface="Aptos" panose="020B0004020202020204" pitchFamily="34" charset="0"/>
              </a:rPr>
              <a:t>relay every topic message. ROS 2 changes APIs/infrastructure while retaining concepts</a:t>
            </a:r>
          </a:p>
          <a:p>
            <a:r>
              <a:rPr lang="en-IL">
                <a:latin typeface="Aptos" panose="020B0004020202020204" pitchFamily="34" charset="0"/>
              </a:rPr>
              <a:t>such as nodes and topics. Real-time capability depends on the full system.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Demo connection: The scripts import rclpy; there is no roscore startup step.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References: Origins and redesign motivations: https://design.ros2.org/articles/why_ros2.html,</a:t>
            </a:r>
          </a:p>
          <a:p>
            <a:r>
              <a:rPr lang="en-IL">
                <a:latin typeface="Aptos" panose="020B0004020202020204" pitchFamily="34" charset="0"/>
              </a:rPr>
              <a:t>Ardent release: https://github.com/ros2/ros2_documentation/blob/jazzy/source/Releases/Release-Ardent-Apalone.rst,</a:t>
            </a:r>
          </a:p>
          <a:p>
            <a:r>
              <a:rPr lang="en-IL">
                <a:latin typeface="Aptos" panose="020B0004020202020204" pitchFamily="34" charset="0"/>
              </a:rPr>
              <a:t>distribution dates: https://github.com/ros2/ros2_documentation/blob/jazzy/source/Releases.rst,</a:t>
            </a:r>
          </a:p>
          <a:p>
            <a:r>
              <a:rPr lang="en-IL">
                <a:latin typeface="Aptos" panose="020B0004020202020204" pitchFamily="34" charset="0"/>
              </a:rPr>
              <a:t>official ROS 1 end-of-life announcement: https://discourse.ros.org/t/ros-noetic-end-of-life-may-31-2025/43160.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26EA-CBC9-40F9-ADE8-DAD05B43C1C2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33986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Timing: 2 minutes.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Purpose: Explain how a robot application is decomposed.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- A node is a logical component with a responsibility: camera driver, localization,</a:t>
            </a:r>
          </a:p>
          <a:p>
            <a:r>
              <a:rPr lang="en-US">
                <a:latin typeface="Aptos" panose="020B0004020202020204" pitchFamily="34" charset="0"/>
              </a:rPr>
              <a:t>  planner, or motor interface. It creates communication endpoints and performs work.</a:t>
            </a:r>
          </a:p>
          <a:p>
            <a:r>
              <a:rPr lang="en-US">
                <a:latin typeface="Aptos" panose="020B0004020202020204" pitchFamily="34" charset="0"/>
              </a:rPr>
              <a:t>- A process is a running OS program. One process can contain multiple ROS nodes;</a:t>
            </a:r>
          </a:p>
          <a:p>
            <a:r>
              <a:rPr lang="en-US">
                <a:latin typeface="Aptos" panose="020B0004020202020204" pitchFamily="34" charset="0"/>
              </a:rPr>
              <a:t>  this demo runs one node per Python process.</a:t>
            </a:r>
          </a:p>
          <a:p>
            <a:r>
              <a:rPr lang="en-US">
                <a:latin typeface="Aptos" panose="020B0004020202020204" pitchFamily="34" charset="0"/>
              </a:rPr>
              <a:t>- The ROS graph describes nodes and communication connections. Names and namespaces</a:t>
            </a:r>
          </a:p>
          <a:p>
            <a:r>
              <a:rPr lang="en-US">
                <a:latin typeface="Aptos" panose="020B0004020202020204" pitchFamily="34" charset="0"/>
              </a:rPr>
              <a:t>  help identify components. Our nodes are /greeting_publisher and /greeting_subscriber.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Visual: Two process boxes containing the demo nodes; beside them, one process</a:t>
            </a:r>
          </a:p>
          <a:p>
            <a:r>
              <a:rPr lang="en-US">
                <a:latin typeface="Aptos" panose="020B0004020202020204" pitchFamily="34" charset="0"/>
              </a:rPr>
              <a:t>containing two nodes to distinguish the concepts.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Speaker guidance: Point to super().__init__('greeting_publisher'). The class name,</a:t>
            </a:r>
          </a:p>
          <a:p>
            <a:r>
              <a:rPr lang="en-US">
                <a:latin typeface="Aptos" panose="020B0004020202020204" pitchFamily="34" charset="0"/>
              </a:rPr>
              <a:t>script filename, and ROS node name are different identifiers.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Demo connection: ros2 node list reports graph names, not Python class names.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Reference: ROS 2 nodes: https://github.com/ros2/ros2_documentation/blob/jazzy/source/Concepts/Basic/About-Nodes.rst.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26EA-CBC9-40F9-ADE8-DAD05B43C1C2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14429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Timing: 3 minutes.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Purpose: Teach the communication pattern used in the demo.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- A topic names a channel carrying data of a defined message type.</a:t>
            </a:r>
          </a:p>
          <a:p>
            <a:r>
              <a:rPr lang="en-US">
                <a:latin typeface="Aptos" panose="020B0004020202020204" pitchFamily="34" charset="0"/>
              </a:rPr>
              <a:t>- A publisher sends messages; a subscription receives them and registers a</a:t>
            </a:r>
          </a:p>
          <a:p>
            <a:r>
              <a:rPr lang="en-US">
                <a:latin typeface="Aptos" panose="020B0004020202020204" pitchFamily="34" charset="0"/>
              </a:rPr>
              <a:t>  callback. Multiple publishers and subscribers can use the same topic.</a:t>
            </a:r>
          </a:p>
          <a:p>
            <a:r>
              <a:rPr lang="en-US">
                <a:latin typeface="Aptos" panose="020B0004020202020204" pitchFamily="34" charset="0"/>
              </a:rPr>
              <a:t>- Endpoints need the same resolved topic name, compatible type, and compatible QoS.</a:t>
            </a:r>
          </a:p>
          <a:p>
            <a:r>
              <a:rPr lang="en-US">
                <a:latin typeface="Aptos" panose="020B0004020202020204" pitchFamily="34" charset="0"/>
              </a:rPr>
              <a:t>  A shared name alone is insufficient.</a:t>
            </a:r>
          </a:p>
          <a:p>
            <a:r>
              <a:rPr lang="en-US">
                <a:latin typeface="Aptos" panose="020B0004020202020204" pitchFamily="34" charset="0"/>
              </a:rPr>
              <a:t>- Message definitions describe fields; generated language bindings let Python and</a:t>
            </a:r>
          </a:p>
          <a:p>
            <a:r>
              <a:rPr lang="en-US">
                <a:latin typeface="Aptos" panose="020B0004020202020204" pitchFamily="34" charset="0"/>
              </a:rPr>
              <a:t>  C++ code use the same interface.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text</a:t>
            </a:r>
          </a:p>
          <a:p>
            <a:r>
              <a:rPr lang="en-US">
                <a:latin typeface="Aptos" panose="020B0004020202020204" pitchFamily="34" charset="0"/>
              </a:rPr>
              <a:t>/greeting_publisher → /chatter (std_msgs/msg/String) → /greeting_subscriber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Definition: string data       Python: message = String()</a:t>
            </a:r>
          </a:p>
          <a:p>
            <a:r>
              <a:rPr lang="en-US">
                <a:latin typeface="Aptos" panose="020B0004020202020204" pitchFamily="34" charset="0"/>
              </a:rPr>
              <a:t>                                     message.data = 'Hello, robotics! Message 0'</a:t>
            </a:r>
          </a:p>
          <a:p>
            <a:endParaRPr lang="en-US">
              <a:latin typeface="Aptos" panose="020B0004020202020204" pitchFamily="34" charset="0"/>
            </a:endParaRP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Visual: The diagram above with a second subscriber branch; show the field definition</a:t>
            </a:r>
          </a:p>
          <a:p>
            <a:r>
              <a:rPr lang="en-US">
                <a:latin typeface="Aptos" panose="020B0004020202020204" pitchFamily="34" charset="0"/>
              </a:rPr>
              <a:t>beside the Python assignment.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Speaker guidance: A topic is a name and contract, not a separate broker process or</a:t>
            </a:r>
          </a:p>
          <a:p>
            <a:r>
              <a:rPr lang="en-US">
                <a:latin typeface="Aptos" panose="020B0004020202020204" pitchFamily="34" charset="0"/>
              </a:rPr>
              <a:t>storage service. String keeps the example small; actual sensors use richer types.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Demo connection: Both constructors use String and /chatter. Show the definition</a:t>
            </a:r>
          </a:p>
          <a:p>
            <a:r>
              <a:rPr lang="en-US">
                <a:latin typeface="Aptos" panose="020B0004020202020204" pitchFamily="34" charset="0"/>
              </a:rPr>
              <a:t>with ros2 interface show std_msgs/msg/String live.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Reference: Interface definitions: https://github.com/ros2/ros2_documentation/blob/jazzy/source/Concepts/Basic/About-Interfaces.rst.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26EA-CBC9-40F9-ADE8-DAD05B43C1C2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36129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Timing: 2 minutes.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Purpose: Choose the right interface for a task.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| Concept | Interaction | Example |</a:t>
            </a:r>
          </a:p>
          <a:p>
            <a:r>
              <a:rPr lang="en-US">
                <a:latin typeface="Aptos" panose="020B0004020202020204" pitchFamily="34" charset="0"/>
              </a:rPr>
              <a:t>| --- | --- | --- |</a:t>
            </a:r>
          </a:p>
          <a:p>
            <a:r>
              <a:rPr lang="en-US">
                <a:latin typeface="Aptos" panose="020B0004020202020204" pitchFamily="34" charset="0"/>
              </a:rPr>
              <a:t>| Topic | Stream of typed messages | Sensor readings |</a:t>
            </a:r>
          </a:p>
          <a:p>
            <a:r>
              <a:rPr lang="en-US">
                <a:latin typeface="Aptos" panose="020B0004020202020204" pitchFamily="34" charset="0"/>
              </a:rPr>
              <a:t>| Service | Client request → server response | Reset odometry and return success |</a:t>
            </a:r>
          </a:p>
          <a:p>
            <a:r>
              <a:rPr lang="en-US">
                <a:latin typeface="Aptos" panose="020B0004020202020204" pitchFamily="34" charset="0"/>
              </a:rPr>
              <a:t>| Action | Goal → feedback → result; cancellation can be requested | Navigate to a waypoint |</a:t>
            </a:r>
          </a:p>
          <a:p>
            <a:r>
              <a:rPr lang="en-US">
                <a:latin typeface="Aptos" panose="020B0004020202020204" pitchFamily="34" charset="0"/>
              </a:rPr>
              <a:t>| Parameter | Named, typed configuration belonging to a node | Sensor exposure or frame name |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- .srv defines request and response separated by ---; .action defines goal,</a:t>
            </a:r>
          </a:p>
          <a:p>
            <a:r>
              <a:rPr lang="en-US">
                <a:latin typeface="Aptos" panose="020B0004020202020204" pitchFamily="34" charset="0"/>
              </a:rPr>
              <a:t>  result, and feedback. Cancellation is handled by the server and need not be immediate.</a:t>
            </a:r>
          </a:p>
          <a:p>
            <a:r>
              <a:rPr lang="en-US">
                <a:latin typeface="Aptos" panose="020B0004020202020204" pitchFamily="34" charset="0"/>
              </a:rPr>
              <a:t>- ROS 2 parameters belong to nodes, rather than a ROS 1-style global parameter server.</a:t>
            </a:r>
          </a:p>
          <a:p>
            <a:r>
              <a:rPr lang="en-US">
                <a:latin typeface="Aptos" panose="020B0004020202020204" pitchFamily="34" charset="0"/>
              </a:rPr>
              <a:t>  Whether a parameter can change at runtime depends on the node.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Visual: Three communication diagrams plus a configuration box attached to a node.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Speaker guidance: Ask which pattern fits camera frames, reset, and drive to a goal.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Demo connection: These scripts exercise topics. Their interval and greeting are</a:t>
            </a:r>
          </a:p>
          <a:p>
            <a:r>
              <a:rPr lang="en-US">
                <a:latin typeface="Aptos" panose="020B0004020202020204" pitchFamily="34" charset="0"/>
              </a:rPr>
              <a:t>hardcoded; they have not been exposed as custom parameters.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References: Interfaces: https://github.com/ros2/ros2_documentation/blob/jazzy/source/Concepts/Basic/About-Interfaces.rst,</a:t>
            </a:r>
          </a:p>
          <a:p>
            <a:r>
              <a:rPr lang="en-US">
                <a:latin typeface="Aptos" panose="020B0004020202020204" pitchFamily="34" charset="0"/>
              </a:rPr>
              <a:t>parameters: https://github.com/ros2/ros2_documentation/blob/jazzy/source/Concepts/Basic/About-Parameters.rst.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26EA-CBC9-40F9-ADE8-DAD05B43C1C2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6419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Timing: 4 minutes.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Purpose: Explain what sits underneath the ROS API.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text</a:t>
            </a:r>
          </a:p>
          <a:p>
            <a:r>
              <a:rPr lang="en-US">
                <a:latin typeface="Aptos" panose="020B0004020202020204" pitchFamily="34" charset="0"/>
              </a:rPr>
              <a:t>Application: GreetingPublisher / GreetingSubscriber</a:t>
            </a:r>
          </a:p>
          <a:p>
            <a:r>
              <a:rPr lang="en-US">
                <a:latin typeface="Aptos" panose="020B0004020202020204" pitchFamily="34" charset="0"/>
              </a:rPr>
              <a:t>                      ↓</a:t>
            </a:r>
          </a:p>
          <a:p>
            <a:r>
              <a:rPr lang="en-US">
                <a:latin typeface="Aptos" panose="020B0004020202020204" pitchFamily="34" charset="0"/>
              </a:rPr>
              <a:t>Client library: rclpy (Python) / rclcpp (C++)</a:t>
            </a:r>
          </a:p>
          <a:p>
            <a:r>
              <a:rPr lang="en-US">
                <a:latin typeface="Aptos" panose="020B0004020202020204" pitchFamily="34" charset="0"/>
              </a:rPr>
              <a:t>                      ↓</a:t>
            </a:r>
          </a:p>
          <a:p>
            <a:r>
              <a:rPr lang="en-US">
                <a:latin typeface="Aptos" panose="020B0004020202020204" pitchFamily="34" charset="0"/>
              </a:rPr>
              <a:t>rcl: shared C client-library core</a:t>
            </a:r>
          </a:p>
          <a:p>
            <a:r>
              <a:rPr lang="en-US">
                <a:latin typeface="Aptos" panose="020B0004020202020204" pitchFamily="34" charset="0"/>
              </a:rPr>
              <a:t>                      ↓</a:t>
            </a:r>
          </a:p>
          <a:p>
            <a:r>
              <a:rPr lang="en-US">
                <a:latin typeface="Aptos" panose="020B0004020202020204" pitchFamily="34" charset="0"/>
              </a:rPr>
              <a:t>rmw: ROS middleware interface and selected adapter</a:t>
            </a:r>
          </a:p>
          <a:p>
            <a:r>
              <a:rPr lang="en-US">
                <a:latin typeface="Aptos" panose="020B0004020202020204" pitchFamily="34" charset="0"/>
              </a:rPr>
              <a:t>                      ↓</a:t>
            </a:r>
          </a:p>
          <a:p>
            <a:r>
              <a:rPr lang="en-US">
                <a:latin typeface="Aptos" panose="020B0004020202020204" pitchFamily="34" charset="0"/>
              </a:rPr>
              <a:t>DDS implementation: for example Fast DDS or Cyclone DDS</a:t>
            </a:r>
          </a:p>
          <a:p>
            <a:r>
              <a:rPr lang="en-US">
                <a:latin typeface="Aptos" panose="020B0004020202020204" pitchFamily="34" charset="0"/>
              </a:rPr>
              <a:t>                      ↓</a:t>
            </a:r>
          </a:p>
          <a:p>
            <a:r>
              <a:rPr lang="en-US">
                <a:latin typeface="Aptos" panose="020B0004020202020204" pitchFamily="34" charset="0"/>
              </a:rPr>
              <a:t>Transport: for example UDP/IP; local delivery may use shared memory</a:t>
            </a:r>
          </a:p>
          <a:p>
            <a:endParaRPr lang="en-US">
              <a:latin typeface="Aptos" panose="020B0004020202020204" pitchFamily="34" charset="0"/>
            </a:endParaRP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- DDS (Data Distribution Service) is industry-standard middleware for typed</a:t>
            </a:r>
          </a:p>
          <a:p>
            <a:r>
              <a:rPr lang="en-US">
                <a:latin typeface="Aptos" panose="020B0004020202020204" pitchFamily="34" charset="0"/>
              </a:rPr>
              <a:t>  publish/subscribe exchange. ROS supplies robotics-facing APIs above it.</a:t>
            </a:r>
          </a:p>
          <a:p>
            <a:r>
              <a:rPr lang="en-US">
                <a:latin typeface="Aptos" panose="020B0004020202020204" pitchFamily="34" charset="0"/>
              </a:rPr>
              <a:t>- A DomainParticipant joins a DDS domain. DataWriters and DataReaders are</a:t>
            </a:r>
          </a:p>
          <a:p>
            <a:r>
              <a:rPr lang="en-US">
                <a:latin typeface="Aptos" panose="020B0004020202020204" pitchFamily="34" charset="0"/>
              </a:rPr>
              <a:t>  sending/receiving endpoints underlying topic communication. ROS nodes do not</a:t>
            </a:r>
          </a:p>
          <a:p>
            <a:r>
              <a:rPr lang="en-US">
                <a:latin typeface="Aptos" panose="020B0004020202020204" pitchFamily="34" charset="0"/>
              </a:rPr>
              <a:t>  necessarily map one-to-one to DDS participants.</a:t>
            </a:r>
          </a:p>
          <a:p>
            <a:r>
              <a:rPr lang="en-US">
                <a:latin typeface="Aptos" panose="020B0004020202020204" pitchFamily="34" charset="0"/>
              </a:rPr>
              <a:t>- Discovery: participants find one another and exchange endpoint information.</a:t>
            </a:r>
          </a:p>
          <a:p>
            <a:r>
              <a:rPr lang="en-US">
                <a:latin typeface="Aptos" panose="020B0004020202020204" pitchFamily="34" charset="0"/>
              </a:rPr>
              <a:t>  Compatible topic/type/QoS endpoints match, then exchange application data.</a:t>
            </a:r>
          </a:p>
          <a:p>
            <a:r>
              <a:rPr lang="en-US">
                <a:latin typeface="Aptos" panose="020B0004020202020204" pitchFamily="34" charset="0"/>
              </a:rPr>
              <a:t>- Serialization: convert fields into bytes for transport; deserialize on receipt.</a:t>
            </a:r>
          </a:p>
          <a:p>
            <a:r>
              <a:rPr lang="en-US">
                <a:latin typeface="Aptos" panose="020B0004020202020204" pitchFamily="34" charset="0"/>
              </a:rPr>
              <a:t>- RTPS is the interoperability wire protocol used by DDS implementations. DDS</a:t>
            </a:r>
          </a:p>
          <a:p>
            <a:r>
              <a:rPr lang="en-US">
                <a:latin typeface="Aptos" panose="020B0004020202020204" pitchFamily="34" charset="0"/>
              </a:rPr>
              <a:t>  describes middleware behavior/API; RTPS describes protocol-level communication.</a:t>
            </a:r>
          </a:p>
          <a:p>
            <a:r>
              <a:rPr lang="en-US">
                <a:latin typeface="Aptos" panose="020B0004020202020204" pitchFamily="34" charset="0"/>
              </a:rPr>
              <a:t>- RMW allows different middleware implementations. Use DDS for this Jazzy explanation</a:t>
            </a:r>
          </a:p>
          <a:p>
            <a:r>
              <a:rPr lang="en-US">
                <a:latin typeface="Aptos" panose="020B0004020202020204" pitchFamily="34" charset="0"/>
              </a:rPr>
              <a:t>  without claiming every ROS 2 deployment must use DDS.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Visual: Layer stack plus two peers with dashed discovery and solid data arrows.</a:t>
            </a:r>
          </a:p>
          <a:p>
            <a:r>
              <a:rPr lang="en-US">
                <a:latin typeface="Aptos" panose="020B0004020202020204" pitchFamily="34" charset="0"/>
              </a:rPr>
              <a:t>Label their writer/reader; do not insert a central topic broker.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Speaker guidance: Introduce terms one at a time. ROS_DOMAIN_ID=42 groups the demo's</a:t>
            </a:r>
          </a:p>
          <a:p>
            <a:r>
              <a:rPr lang="en-US">
                <a:latin typeface="Aptos" panose="020B0004020202020204" pitchFamily="34" charset="0"/>
              </a:rPr>
              <a:t>participants; LOCALHOST restricts discovery to this machine. The same domain is</a:t>
            </a:r>
          </a:p>
          <a:p>
            <a:r>
              <a:rPr lang="en-US">
                <a:latin typeface="Aptos" panose="020B0004020202020204" pitchFamily="34" charset="0"/>
              </a:rPr>
              <a:t>necessary here, but topic/type/QoS and network checks still matter. A domain ID does</a:t>
            </a:r>
          </a:p>
          <a:p>
            <a:r>
              <a:rPr lang="en-US">
                <a:latin typeface="Aptos" panose="020B0004020202020204" pitchFamily="34" charset="0"/>
              </a:rPr>
              <a:t>not authenticate participants.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Demo connection: publish(message) enters the stack without application socket</a:t>
            </a:r>
          </a:p>
          <a:p>
            <a:r>
              <a:rPr lang="en-US">
                <a:latin typeface="Aptos" panose="020B0004020202020204" pitchFamily="34" charset="0"/>
              </a:rPr>
              <a:t>code. Middleware receives data; the executor schedules the Python callback.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References: Middleware interface: https://design.ros2.org/articles/ros_middleware_interface.html,</a:t>
            </a:r>
          </a:p>
          <a:p>
            <a:r>
              <a:rPr lang="en-US">
                <a:latin typeface="Aptos" panose="020B0004020202020204" pitchFamily="34" charset="0"/>
              </a:rPr>
              <a:t>client libraries: https://github.com/ros2/ros2_documentation/blob/jazzy/source/Concepts/Basic/About-Client-Libraries.rst,</a:t>
            </a:r>
          </a:p>
          <a:p>
            <a:r>
              <a:rPr lang="en-US">
                <a:latin typeface="Aptos" panose="020B0004020202020204" pitchFamily="34" charset="0"/>
              </a:rPr>
              <a:t>DDS implementations and RTPS: https://github.com/ros2/ros2_documentation/blob/jazzy/source/Concepts/Intermediate/About-Different-Middleware-Vendors.rst.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Point to the dashed discovery arrow and solid data arrow. Serializing converts typed fields into bytes; the receiving side reconstructs the message. DomainParticipant joins a domain; it need not equal one ROS node. Discovery uses endpoint metadata before application data can flow.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26EA-CBC9-40F9-ADE8-DAD05B43C1C2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474618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L">
                <a:latin typeface="Aptos" panose="020B0004020202020204" pitchFamily="34" charset="0"/>
              </a:rPr>
              <a:t>Timing: 2 minutes.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Purpose: Explain why delivery behavior is configurable.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| Policy | Meaning | Demo setting |</a:t>
            </a:r>
          </a:p>
          <a:p>
            <a:r>
              <a:rPr lang="en-IL">
                <a:latin typeface="Aptos" panose="020B0004020202020204" pitchFamily="34" charset="0"/>
              </a:rPr>
              <a:t>| --- | --- | --- |</a:t>
            </a:r>
          </a:p>
          <a:p>
            <a:r>
              <a:rPr lang="en-IL">
                <a:latin typeface="Aptos" panose="020B0004020202020204" pitchFamily="34" charset="0"/>
              </a:rPr>
              <a:t>| Reliability | Best effort may lose samples; reliable delivery retries as needed | Reliable |</a:t>
            </a:r>
          </a:p>
          <a:p>
            <a:r>
              <a:rPr lang="en-IL">
                <a:latin typeface="Aptos" panose="020B0004020202020204" pitchFamily="34" charset="0"/>
              </a:rPr>
              <a:t>| Durability | Volatile serves current readers; transient local can retain samples for late joiners | Volatile |</a:t>
            </a:r>
          </a:p>
          <a:p>
            <a:r>
              <a:rPr lang="en-IL">
                <a:latin typeface="Aptos" panose="020B0004020202020204" pitchFamily="34" charset="0"/>
              </a:rPr>
              <a:t>| History/depth | KEEP_LAST retains up to a configured sample count per endpoint history | KEEP_LAST, depth 10 |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- Passing 10 to the rclpy constructors sets depth with other policies at their</a:t>
            </a:r>
          </a:p>
          <a:p>
            <a:r>
              <a:rPr lang="en-IL">
                <a:latin typeface="Aptos" panose="020B0004020202020204" pitchFamily="34" charset="0"/>
              </a:rPr>
              <a:t>  defaults. create_timer(1.0, ...) sets a one-second interval.</a:t>
            </a:r>
          </a:p>
          <a:p>
            <a:r>
              <a:rPr lang="en-IL">
                <a:latin typeface="Aptos" panose="020B0004020202020204" pitchFamily="34" charset="0"/>
              </a:rPr>
              <a:t>- Restarting the subscriber gives new greetings after matching, not replay of all</a:t>
            </a:r>
          </a:p>
          <a:p>
            <a:r>
              <a:rPr lang="en-IL">
                <a:latin typeface="Aptos" panose="020B0004020202020204" pitchFamily="34" charset="0"/>
              </a:rPr>
              <a:t>  missed greetings. Depth 10 does not change volatile durability.</a:t>
            </a:r>
          </a:p>
          <a:p>
            <a:r>
              <a:rPr lang="en-IL">
                <a:latin typeface="Aptos" panose="020B0004020202020204" pitchFamily="34" charset="0"/>
              </a:rPr>
              <a:t>- QoS must be compatible: a best-effort publisher cannot satisfy a reader requesting reliable delivery.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Visual: Bounded history beside a timeline marking subscriber stop/restart.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Speaker guidance: Distinguish history, late joining, and reliability. Reliable</a:t>
            </a:r>
          </a:p>
          <a:p>
            <a:r>
              <a:rPr lang="en-IL">
                <a:latin typeface="Aptos" panose="020B0004020202020204" pitchFamily="34" charset="0"/>
              </a:rPr>
              <a:t>transport does not guarantee callback processing by a deadline.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Demo connection: Inspect QoS with ros2 topic info /chatter --verbose.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References: QoS policies: https://github.com/ros2/ros2_documentation/blob/jazzy/source/Concepts/Intermediate/About-Quality-of-Service-Settings.rst,</a:t>
            </a:r>
          </a:p>
          <a:p>
            <a:r>
              <a:rPr lang="en-IL">
                <a:latin typeface="Aptos" panose="020B0004020202020204" pitchFamily="34" charset="0"/>
              </a:rPr>
              <a:t>rclpy endpoint depth handling: https://github.com/ros2/rclpy/blob/jazzy/rclpy/rclpy/node.py.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26EA-CBC9-40F9-ADE8-DAD05B43C1C2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793073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Timing: 3 minutes.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Purpose: Connect ROS concepts to execution and lifecycle management.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text</a:t>
            </a:r>
          </a:p>
          <a:p>
            <a:r>
              <a:rPr lang="en-US">
                <a:latin typeface="Aptos" panose="020B0004020202020204" pitchFamily="34" charset="0"/>
              </a:rPr>
              <a:t>rclpy.init() → construct node/endpoints/timer → rclpy.spin(node)</a:t>
            </a:r>
          </a:p>
          <a:p>
            <a:r>
              <a:rPr lang="en-US">
                <a:latin typeface="Aptos" panose="020B0004020202020204" pitchFamily="34" charset="0"/>
              </a:rPr>
              <a:t>                                                   ↓</a:t>
            </a:r>
          </a:p>
          <a:p>
            <a:r>
              <a:rPr lang="en-US">
                <a:latin typeface="Aptos" panose="020B0004020202020204" pitchFamily="34" charset="0"/>
              </a:rPr>
              <a:t>                               Ctrl+C / context shutdown</a:t>
            </a:r>
          </a:p>
          <a:p>
            <a:r>
              <a:rPr lang="en-US">
                <a:latin typeface="Aptos" panose="020B0004020202020204" pitchFamily="34" charset="0"/>
              </a:rPr>
              <a:t>                                                   ↓</a:t>
            </a:r>
          </a:p>
          <a:p>
            <a:r>
              <a:rPr lang="en-US">
                <a:latin typeface="Aptos" panose="020B0004020202020204" pitchFamily="34" charset="0"/>
              </a:rPr>
              <a:t>                             destroy_node() → try_shutdown()</a:t>
            </a:r>
          </a:p>
          <a:p>
            <a:endParaRPr lang="en-US">
              <a:latin typeface="Aptos" panose="020B0004020202020204" pitchFamily="34" charset="0"/>
            </a:endParaRP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- An executor waits for ready work and runs callbacks. These scripts use the</a:t>
            </a:r>
          </a:p>
          <a:p>
            <a:r>
              <a:rPr lang="en-US">
                <a:latin typeface="Aptos" panose="020B0004020202020204" pitchFamily="34" charset="0"/>
              </a:rPr>
              <a:t>  default single-threaded executor through rclpy.spin(node).</a:t>
            </a:r>
          </a:p>
          <a:p>
            <a:r>
              <a:rPr lang="en-US">
                <a:latin typeface="Aptos" panose="020B0004020202020204" pitchFamily="34" charset="0"/>
              </a:rPr>
              <a:t>- Publisher: timer ready → publish_greeting → construct/fill String → publish.</a:t>
            </a:r>
          </a:p>
          <a:p>
            <a:r>
              <a:rPr lang="en-US">
                <a:latin typeface="Aptos" panose="020B0004020202020204" pitchFamily="34" charset="0"/>
              </a:rPr>
              <a:t>  Subscriber: data available → executor takes message → receive_greeting → log.</a:t>
            </a:r>
          </a:p>
          <a:p>
            <a:r>
              <a:rPr lang="en-US">
                <a:latin typeface="Aptos" panose="020B0004020202020204" pitchFamily="34" charset="0"/>
              </a:rPr>
              <a:t>- The timer sets an intended period, not a hard deadline. A long callback delays</a:t>
            </a:r>
          </a:p>
          <a:p>
            <a:r>
              <a:rPr lang="en-US">
                <a:latin typeface="Aptos" panose="020B0004020202020204" pitchFamily="34" charset="0"/>
              </a:rPr>
              <a:t>  other work on that single-threaded executor. Middleware receipt and callback</a:t>
            </a:r>
          </a:p>
          <a:p>
            <a:r>
              <a:rPr lang="en-US">
                <a:latin typeface="Aptos" panose="020B0004020202020204" pitchFamily="34" charset="0"/>
              </a:rPr>
              <a:t>  execution are separate stages.</a:t>
            </a:r>
          </a:p>
          <a:p>
            <a:r>
              <a:rPr lang="en-US">
                <a:latin typeface="Aptos" panose="020B0004020202020204" pitchFamily="34" charset="0"/>
              </a:rPr>
              <a:t>- The scripts catch keyboard/external shutdown and clean up in finally, releasing</a:t>
            </a:r>
          </a:p>
          <a:p>
            <a:r>
              <a:rPr lang="en-US">
                <a:latin typeface="Aptos" panose="020B0004020202020204" pitchFamily="34" charset="0"/>
              </a:rPr>
              <a:t>  node resources and shutting down the context if needed.</a:t>
            </a:r>
          </a:p>
          <a:p>
            <a:r>
              <a:rPr lang="en-US">
                <a:latin typeface="Aptos" panose="020B0004020202020204" pitchFamily="34" charset="0"/>
              </a:rPr>
              <a:t>- Managed lifecycle adds explicit states: Unconfigured, Inactive, Active, Finalized.</a:t>
            </a:r>
          </a:p>
          <a:p>
            <a:r>
              <a:rPr lang="en-US">
                <a:latin typeface="Aptos" panose="020B0004020202020204" pitchFamily="34" charset="0"/>
              </a:rPr>
              <a:t>  Configure prepares resources; activate enables managed operation; deactivate pauses</a:t>
            </a:r>
          </a:p>
          <a:p>
            <a:r>
              <a:rPr lang="en-US">
                <a:latin typeface="Aptos" panose="020B0004020202020204" pitchFamily="34" charset="0"/>
              </a:rPr>
              <a:t>  it; cleanup releases configured resources; shutdown reaches Finalized.</a:t>
            </a:r>
          </a:p>
          <a:p>
            <a:r>
              <a:rPr lang="en-US">
                <a:latin typeface="Aptos" panose="020B0004020202020204" pitchFamily="34" charset="0"/>
              </a:rPr>
              <a:t>- Example: configure a camera, verify readiness, then activate downstream processing.</a:t>
            </a:r>
          </a:p>
          <a:p>
            <a:r>
              <a:rPr lang="en-US">
                <a:latin typeface="Aptos" panose="020B0004020202020204" pitchFamily="34" charset="0"/>
              </a:rPr>
              <a:t>  A supervisor coordinates dependencies; the state machine does not do that alone.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Visual: Runtime flow beside Unconfigured --configure--&gt; Inactive --activate--&gt; Active;</a:t>
            </a:r>
          </a:p>
          <a:p>
            <a:r>
              <a:rPr lang="en-US">
                <a:latin typeface="Aptos" panose="020B0004020202020204" pitchFamily="34" charset="0"/>
              </a:rPr>
              <a:t>add deactivate back to Inactive, cleanup back to Unconfigured, and shutdown to Finalized.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Speaker guidance: These scripts inherit ordinary Node; startup and Ctrl+C</a:t>
            </a:r>
          </a:p>
          <a:p>
            <a:r>
              <a:rPr lang="en-US">
                <a:latin typeface="Aptos" panose="020B0004020202020204" pitchFamily="34" charset="0"/>
              </a:rPr>
              <a:t>cleanup are not managed lifecycle transitions. Keep transition/error details in backup.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Demo connection: Keep the runtime flow visible while reading both main() functions.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References: rclpy initialization/spin: https://github.com/ros2/rclpy/blob/jazzy/rclpy/rclpy/__init__.py,</a:t>
            </a:r>
          </a:p>
          <a:p>
            <a:r>
              <a:rPr lang="en-US">
                <a:latin typeface="Aptos" panose="020B0004020202020204" pitchFamily="34" charset="0"/>
              </a:rPr>
              <a:t>executor implementation: https://github.com/ros2/rclpy/blob/jazzy/rclpy/rclpy/executors.py,</a:t>
            </a:r>
          </a:p>
          <a:p>
            <a:r>
              <a:rPr lang="en-US">
                <a:latin typeface="Aptos" panose="020B0004020202020204" pitchFamily="34" charset="0"/>
              </a:rPr>
              <a:t>managed-node lifecycle: https://design.ros2.org/articles/node_lifecycle.html.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26EA-CBC9-40F9-ADE8-DAD05B43C1C2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46767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L">
                <a:latin typeface="Aptos" panose="020B0004020202020204" pitchFamily="34" charset="0"/>
              </a:rPr>
              <a:t>Timing: 2 minutes.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Purpose: Give students a practical starting point for inspecting ROS.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| Command | What to look for |</a:t>
            </a:r>
          </a:p>
          <a:p>
            <a:r>
              <a:rPr lang="en-IL">
                <a:latin typeface="Aptos" panose="020B0004020202020204" pitchFamily="34" charset="0"/>
              </a:rPr>
              <a:t>| --- | --- |</a:t>
            </a:r>
          </a:p>
          <a:p>
            <a:r>
              <a:rPr lang="en-IL">
                <a:latin typeface="Aptos" panose="020B0004020202020204" pitchFamily="34" charset="0"/>
              </a:rPr>
              <a:t>| ros2 node list | The two node names |</a:t>
            </a:r>
          </a:p>
          <a:p>
            <a:r>
              <a:rPr lang="en-IL">
                <a:latin typeface="Aptos" panose="020B0004020202020204" pitchFamily="34" charset="0"/>
              </a:rPr>
              <a:t>| ros2 topic list | /chatter and infrastructure topics |</a:t>
            </a:r>
          </a:p>
          <a:p>
            <a:r>
              <a:rPr lang="en-IL">
                <a:latin typeface="Aptos" panose="020B0004020202020204" pitchFamily="34" charset="0"/>
              </a:rPr>
              <a:t>| ros2 topic info /chatter --verbose | Type, endpoint counts, and QoS |</a:t>
            </a:r>
          </a:p>
          <a:p>
            <a:r>
              <a:rPr lang="en-IL">
                <a:latin typeface="Aptos" panose="020B0004020202020204" pitchFamily="34" charset="0"/>
              </a:rPr>
              <a:t>| ros2 interface show std_msgs/msg/String | string data |</a:t>
            </a:r>
          </a:p>
          <a:p>
            <a:r>
              <a:rPr lang="en-IL">
                <a:latin typeface="Aptos" panose="020B0004020202020204" pitchFamily="34" charset="0"/>
              </a:rPr>
              <a:t>| ros2 topic echo /chatter | Live data; echo adds another subscription |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- A package groups code/resources and declares dependencies. A workspace</a:t>
            </a:r>
          </a:p>
          <a:p>
            <a:r>
              <a:rPr lang="en-IL">
                <a:latin typeface="Aptos" panose="020B0004020202020204" pitchFamily="34" charset="0"/>
              </a:rPr>
              <a:t>  groups packages for building; ROS 2 commonly uses ament and colcon.</a:t>
            </a:r>
          </a:p>
          <a:p>
            <a:r>
              <a:rPr lang="en-IL">
                <a:latin typeface="Aptos" panose="020B0004020202020204" pitchFamily="34" charset="0"/>
              </a:rPr>
              <a:t>- Sourcing a setup script makes an installation available in that shell; a built</a:t>
            </a:r>
          </a:p>
          <a:p>
            <a:r>
              <a:rPr lang="en-IL">
                <a:latin typeface="Aptos" panose="020B0004020202020204" pitchFamily="34" charset="0"/>
              </a:rPr>
              <a:t>  workspace can overlay that installation.</a:t>
            </a:r>
          </a:p>
          <a:p>
            <a:r>
              <a:rPr lang="en-IL">
                <a:latin typeface="Aptos" panose="020B0004020202020204" pitchFamily="34" charset="0"/>
              </a:rPr>
              <a:t>- This demo uses installed rclpy and std_msgs. Run directly without creating or</a:t>
            </a:r>
          </a:p>
          <a:p>
            <a:r>
              <a:rPr lang="en-IL">
                <a:latin typeface="Aptos" panose="020B0004020202020204" pitchFamily="34" charset="0"/>
              </a:rPr>
              <a:t>  building a package; source Jazzy in every terminal.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Visual: Three terminal panes plus the publisher/topic/subscriber diagram.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Speaker guidance: Ask students to find the names, type, depth, and interval in</a:t>
            </a:r>
          </a:p>
          <a:p>
            <a:r>
              <a:rPr lang="en-IL">
                <a:latin typeface="Aptos" panose="020B0004020202020204" pitchFamily="34" charset="0"/>
              </a:rPr>
              <a:t>code before running it. Predict what an extra subscriber changes.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Demo connection: Open both scripts, then use the prepared terminals to connect</a:t>
            </a:r>
          </a:p>
          <a:p>
            <a:r>
              <a:rPr lang="en-IL">
                <a:latin typeface="Aptos" panose="020B0004020202020204" pitchFamily="34" charset="0"/>
              </a:rPr>
              <a:t>each inspection command to the running greeting graph.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References: Topic tutorial: https://github.com/ros2/ros2_documentation/blob/jazzy/source/Tutorials/Beginner-CLI-Tools/Understanding-ROS2-Topics/Understanding-ROS2-Topics.rst,</a:t>
            </a:r>
          </a:p>
          <a:p>
            <a:r>
              <a:rPr lang="en-IL">
                <a:latin typeface="Aptos" panose="020B0004020202020204" pitchFamily="34" charset="0"/>
              </a:rPr>
              <a:t>workspace tutorial: https://github.com/ros2/ros2_documentation/blob/jazzy/source/Tutorials/Beginner-Client-Libraries/Creating-A-Workspace/Creating-A-Workspace.rst,</a:t>
            </a:r>
          </a:p>
          <a:p>
            <a:r>
              <a:rPr lang="en-IL">
                <a:latin typeface="Aptos" panose="020B0004020202020204" pitchFamily="34" charset="0"/>
              </a:rPr>
              <a:t>verbose topic-info implementation: https://github.com/ros2/ros2cli/blob/jazzy/ros2topic/ros2topic/verb/info.py.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26EA-CBC9-40F9-ADE8-DAD05B43C1C2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089116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Timing: 20 minutes total — code 7; run/inspect 6; experiments 4; recap 3.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Follow the demo instructions: demo/README.md; keep the greeting graph visible.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- 7 minutes — code: Imports/inheritance, node names, matching topic/type, depth,</a:t>
            </a:r>
          </a:p>
          <a:p>
            <a:r>
              <a:rPr lang="en-US">
                <a:latin typeface="Aptos" panose="020B0004020202020204" pitchFamily="34" charset="0"/>
              </a:rPr>
              <a:t>  timer, message construction/publication, subscriber callback/logging, init,</a:t>
            </a:r>
          </a:p>
          <a:p>
            <a:r>
              <a:rPr lang="en-US">
                <a:latin typeface="Aptos" panose="020B0004020202020204" pitchFamily="34" charset="0"/>
              </a:rPr>
              <a:t>  executor spin, and cleanup. Read both scripts before running them.</a:t>
            </a:r>
          </a:p>
          <a:p>
            <a:r>
              <a:rPr lang="en-US">
                <a:latin typeface="Aptos" panose="020B0004020202020204" pitchFamily="34" charset="0"/>
              </a:rPr>
              <a:t>- 6 minutes — run and inspect: Start nodes; identify names, type, endpoint counts,</a:t>
            </a:r>
          </a:p>
          <a:p>
            <a:r>
              <a:rPr lang="en-US">
                <a:latin typeface="Aptos" panose="020B0004020202020204" pitchFamily="34" charset="0"/>
              </a:rPr>
              <a:t>  QoS, field definition, and data. Explain echo's subscription; stop it before</a:t>
            </a:r>
          </a:p>
          <a:p>
            <a:r>
              <a:rPr lang="en-US">
                <a:latin typeface="Aptos" panose="020B0004020202020204" pitchFamily="34" charset="0"/>
              </a:rPr>
              <a:t>  interpreting endpoint counts again.</a:t>
            </a:r>
          </a:p>
          <a:p>
            <a:r>
              <a:rPr lang="en-US">
                <a:latin typeface="Aptos" panose="020B0004020202020204" pitchFamily="34" charset="0"/>
              </a:rPr>
              <a:t>- 4 minutes — experiments: Predict, then stop/restart the subscriber (publisher</a:t>
            </a:r>
          </a:p>
          <a:p>
            <a:r>
              <a:rPr lang="en-US">
                <a:latin typeface="Aptos" panose="020B0004020202020204" pitchFamily="34" charset="0"/>
              </a:rPr>
              <a:t>  continues; no replay) and publisher (reception stops; counter resets). The subscriber</a:t>
            </a:r>
          </a:p>
          <a:p>
            <a:r>
              <a:rPr lang="en-US">
                <a:latin typeface="Aptos" panose="020B0004020202020204" pitchFamily="34" charset="0"/>
              </a:rPr>
              <a:t>  may miss early restarted messages while discovery completes.</a:t>
            </a:r>
          </a:p>
          <a:p>
            <a:r>
              <a:rPr lang="en-US">
                <a:latin typeface="Aptos" panose="020B0004020202020204" pitchFamily="34" charset="0"/>
              </a:rPr>
              <a:t>- 3 minutes — recap: Identify components; choose topic/service/action; distinguish</a:t>
            </a:r>
          </a:p>
          <a:p>
            <a:r>
              <a:rPr lang="en-US">
                <a:latin typeface="Aptos" panose="020B0004020202020204" pitchFamily="34" charset="0"/>
              </a:rPr>
              <a:t>  10 from 1.0; explain DDS versus executor roles and ordinary versus managed nodes.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CODE: Identify imports, class/base class, super().__init__ names, String and /chatter, queue depth, count initialization, create_timer, publish_greeting, receive_greeting, rclpy.init, spin, and finally cleanup. Read actual publisher.py and subscriber.py outside the deck.</a:t>
            </a:r>
          </a:p>
          <a:p>
            <a:r>
              <a:rPr lang="en-US">
                <a:latin typeface="Aptos" panose="020B0004020202020204" pitchFamily="34" charset="0"/>
              </a:rPr>
              <a:t>RUN: Use three terminals sourced with /opt/ros/jazzy/setup.bash, ROS_DOMAIN_ID=42, and ROS_AUTOMATIC_DISCOVERY_RANGE=LOCALHOST. Run both scripts and inspect before echo. Echo adds a reader; stop it before rechecking counts.</a:t>
            </a:r>
          </a:p>
          <a:p>
            <a:r>
              <a:rPr lang="en-US">
                <a:latin typeface="Aptos" panose="020B0004020202020204" pitchFamily="34" charset="0"/>
              </a:rPr>
              <a:t>PREDICTIONS: Subscriber stops: publisher continues. Subscriber restarts: new messages, no replay, possible discovery delay. Publisher restarts: publisher counter resets to zero; reader may first see a later number.</a:t>
            </a:r>
          </a:p>
          <a:p>
            <a:r>
              <a:rPr lang="en-US">
                <a:latin typeface="Aptos" panose="020B0004020202020204" pitchFamily="34" charset="0"/>
              </a:rPr>
              <a:t>RECAP: Ask which patterns fit sensor data, reset, and navigation; identify DDS versus executor responsibilities; distinguish 10 from 1.0 and ordinary runtime from managed lifecycle. Stop scripts with Ctrl+C.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26EA-CBC9-40F9-ADE8-DAD05B43C1C2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911044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Optional backup — outside the timed core.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Expand participant discovery followed by endpoint discovery (SPDP/SEDP in standard</a:t>
            </a:r>
          </a:p>
          <a:p>
            <a:r>
              <a:rPr lang="en-US">
                <a:latin typeface="Aptos" panose="020B0004020202020204" pitchFamily="34" charset="0"/>
              </a:rPr>
              <a:t>RTPS discovery). Explain sequence numbers, heartbeats, acknowledgments/negative</a:t>
            </a:r>
          </a:p>
          <a:p>
            <a:r>
              <a:rPr lang="en-US">
                <a:latin typeface="Aptos" panose="020B0004020202020204" pitchFamily="34" charset="0"/>
              </a:rPr>
              <a:t>acknowledgments, and retransmission for reliability; reliable DDS does not imply TCP.</a:t>
            </a:r>
          </a:p>
          <a:p>
            <a:r>
              <a:rPr lang="en-US">
                <a:latin typeface="Aptos" panose="020B0004020202020204" pitchFamily="34" charset="0"/>
              </a:rPr>
              <a:t>UDP multicast is commonly used for discovery, but discovery servers and transport</a:t>
            </a:r>
          </a:p>
          <a:p>
            <a:r>
              <a:rPr lang="en-US">
                <a:latin typeface="Aptos" panose="020B0004020202020204" pitchFamily="34" charset="0"/>
              </a:rPr>
              <a:t>configurations vary. Local delivery can use implementation-specific optimizations.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Visual: Discovery sequence beside a missing-sample/retransmission sequence.</a:t>
            </a:r>
          </a:p>
          <a:p>
            <a:r>
              <a:rPr lang="en-US">
                <a:latin typeface="Aptos" panose="020B0004020202020204" pitchFamily="34" charset="0"/>
              </a:rPr>
              <a:t>Reference: Fast DDS discovery: https://fast-dds.docs.eprosima.com/en/stable/fastdds/discovery/discovery.html</a:t>
            </a:r>
          </a:p>
          <a:p>
            <a:r>
              <a:rPr lang="en-US">
                <a:latin typeface="Aptos" panose="020B0004020202020204" pitchFamily="34" charset="0"/>
              </a:rPr>
              <a:t>and RTPS writer behavior: https://fast-dds.docs.eprosima.com/en/stable/fastdds/rtps_layer/rtps_layer.html.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26EA-CBC9-40F9-ADE8-DAD05B43C1C2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733929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L">
                <a:latin typeface="Aptos" panose="020B0004020202020204" pitchFamily="34" charset="0"/>
              </a:rPr>
              <a:t>Optional backup — outside the timed core.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| Publisher offers | Subscriber requests | Reliability compatible? |</a:t>
            </a:r>
          </a:p>
          <a:p>
            <a:r>
              <a:rPr lang="en-IL">
                <a:latin typeface="Aptos" panose="020B0004020202020204" pitchFamily="34" charset="0"/>
              </a:rPr>
              <a:t>| --- | --- | --- |</a:t>
            </a:r>
          </a:p>
          <a:p>
            <a:r>
              <a:rPr lang="en-IL">
                <a:latin typeface="Aptos" panose="020B0004020202020204" pitchFamily="34" charset="0"/>
              </a:rPr>
              <a:t>| Best effort | Best effort | Yes |</a:t>
            </a:r>
          </a:p>
          <a:p>
            <a:r>
              <a:rPr lang="en-IL">
                <a:latin typeface="Aptos" panose="020B0004020202020204" pitchFamily="34" charset="0"/>
              </a:rPr>
              <a:t>| Best effort | Reliable | No |</a:t>
            </a:r>
          </a:p>
          <a:p>
            <a:r>
              <a:rPr lang="en-IL">
                <a:latin typeface="Aptos" panose="020B0004020202020204" pitchFamily="34" charset="0"/>
              </a:rPr>
              <a:t>| Reliable | Best effort | Yes |</a:t>
            </a:r>
          </a:p>
          <a:p>
            <a:r>
              <a:rPr lang="en-IL">
                <a:latin typeface="Aptos" panose="020B0004020202020204" pitchFamily="34" charset="0"/>
              </a:rPr>
              <a:t>| Reliable | Reliable | Yes |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Assume other policies are compatible. Transient-local retention needs a live writer</a:t>
            </a:r>
          </a:p>
          <a:p>
            <a:r>
              <a:rPr lang="en-IL">
                <a:latin typeface="Aptos" panose="020B0004020202020204" pitchFamily="34" charset="0"/>
              </a:rPr>
              <a:t>and compatible late-joining reader; it is not an indefinite archive. Deadline and</a:t>
            </a:r>
          </a:p>
          <a:p>
            <a:r>
              <a:rPr lang="en-IL">
                <a:latin typeface="Aptos" panose="020B0004020202020204" pitchFamily="34" charset="0"/>
              </a:rPr>
              <a:t>liveliness policies expose timing/availability expectations and events, not hard</a:t>
            </a:r>
          </a:p>
          <a:p>
            <a:r>
              <a:rPr lang="en-IL">
                <a:latin typeface="Aptos" panose="020B0004020202020204" pitchFamily="34" charset="0"/>
              </a:rPr>
              <a:t>callback timing guarantees.</a:t>
            </a:r>
          </a:p>
          <a:p>
            <a:endParaRPr lang="en-IL">
              <a:latin typeface="Aptos" panose="020B0004020202020204" pitchFamily="34" charset="0"/>
            </a:endParaRPr>
          </a:p>
          <a:p>
            <a:r>
              <a:rPr lang="en-IL">
                <a:latin typeface="Aptos" panose="020B0004020202020204" pitchFamily="34" charset="0"/>
              </a:rPr>
              <a:t>Visual: Compatibility table and retained-data timeline.</a:t>
            </a:r>
          </a:p>
          <a:p>
            <a:r>
              <a:rPr lang="en-IL">
                <a:latin typeface="Aptos" panose="020B0004020202020204" pitchFamily="34" charset="0"/>
              </a:rPr>
              <a:t>Reference: QoS documentation: https://github.com/ros2/ros2_documentation/blob/jazzy/source/Concepts/Intermediate/About-Quality-of-Service-Settings.rst.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26EA-CBC9-40F9-ADE8-DAD05B43C1C2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164333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Optional backup — outside the timed core.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Compare one execution thread with a multithreaded worker pool. Callback groups control</a:t>
            </a:r>
          </a:p>
          <a:p>
            <a:r>
              <a:rPr lang="en-US">
                <a:latin typeface="Aptos" panose="020B0004020202020204" pitchFamily="34" charset="0"/>
              </a:rPr>
              <a:t>which callbacks may overlap; additional threads alone do not make callbacks in the</a:t>
            </a:r>
          </a:p>
          <a:p>
            <a:r>
              <a:rPr lang="en-US">
                <a:latin typeface="Aptos" panose="020B0004020202020204" pitchFamily="34" charset="0"/>
              </a:rPr>
              <a:t>default mutually exclusive group concurrent. Discuss slow callbacks and blocking</a:t>
            </a:r>
          </a:p>
          <a:p>
            <a:r>
              <a:rPr lang="en-US">
                <a:latin typeface="Aptos" panose="020B0004020202020204" pitchFamily="34" charset="0"/>
              </a:rPr>
              <a:t>service calls as sources of delay/deadlock; favor short callbacks and asynchronous interactions.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Visual: Single-worker versus multiple-worker callback timelines.</a:t>
            </a:r>
          </a:p>
          <a:p>
            <a:r>
              <a:rPr lang="en-US">
                <a:latin typeface="Aptos" panose="020B0004020202020204" pitchFamily="34" charset="0"/>
              </a:rPr>
              <a:t>Reference: Callback-group guide: https://github.com/ros2/ros2_documentation/blob/jazzy/source/How-To-Guides/Using-callback-groups.rst.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26EA-CBC9-40F9-ADE8-DAD05B43C1C2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006484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Optional backup — outside the timed core.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Expand the diagram with Configuring, Activating, Deactivating, CleaningUp, ShuttingDown,</a:t>
            </a:r>
          </a:p>
          <a:p>
            <a:r>
              <a:rPr lang="en-US">
                <a:latin typeface="Aptos" panose="020B0004020202020204" pitchFamily="34" charset="0"/>
              </a:rPr>
              <a:t>and ErrorProcessing. Lifecycle callbacks report success/failure/error; resulting</a:t>
            </a:r>
          </a:p>
          <a:p>
            <a:r>
              <a:rPr lang="en-US">
                <a:latin typeface="Aptos" panose="020B0004020202020204" pitchFamily="34" charset="0"/>
              </a:rPr>
              <a:t>states depend on the transition and error handling. Supervisors inspect states and</a:t>
            </a:r>
          </a:p>
          <a:p>
            <a:r>
              <a:rPr lang="en-US">
                <a:latin typeface="Aptos" panose="020B0004020202020204" pitchFamily="34" charset="0"/>
              </a:rPr>
              <a:t>request transitions. Lifecycle publishers gate managed publication when inactive;</a:t>
            </a:r>
          </a:p>
          <a:p>
            <a:r>
              <a:rPr lang="en-US">
                <a:latin typeface="Aptos" panose="020B0004020202020204" pitchFamily="34" charset="0"/>
              </a:rPr>
              <a:t>application code must still implement suitable behavior for other callbacks/resources.</a:t>
            </a:r>
          </a:p>
          <a:p>
            <a:r>
              <a:rPr lang="en-US">
                <a:latin typeface="Aptos" panose="020B0004020202020204" pitchFamily="34" charset="0"/>
              </a:rPr>
              <a:t>Use a sensor-startup example separate from the ordinary-node demo.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Visual: Full state machine with success, failure, and error paths distinguished.</a:t>
            </a:r>
          </a:p>
          <a:p>
            <a:r>
              <a:rPr lang="en-US">
                <a:latin typeface="Aptos" panose="020B0004020202020204" pitchFamily="34" charset="0"/>
              </a:rPr>
              <a:t>Reference: Managed-node design: https://design.ros2.org/articles/node_lifecycle.html.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Diagram shows the normal path and reversals. Shutdown is possible from primary operational states. Transition callbacks can return success, failure, or error; failure normally returns to the previous primary state, while error handling uses ErrorProcessing with transition-specific results. Finalized retains the node for introspection until destruction. Managed lifecycle requires appropriate application behavior; arbitrary subscribers/services are not automatically disabled.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26EA-CBC9-40F9-ADE8-DAD05B43C1C2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885339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Aptos" panose="020B0004020202020204" pitchFamily="34" charset="0"/>
              </a:rPr>
              <a:t>Optional backup — outside the timed core.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Port APIs, package/build configuration, parameters, launch files, and delivery policies;</a:t>
            </a:r>
          </a:p>
          <a:p>
            <a:r>
              <a:rPr lang="en-US">
                <a:latin typeface="Aptos" panose="020B0004020202020204" pitchFamily="34" charset="0"/>
              </a:rPr>
              <a:t>rospy code does not run unchanged as rclpy. A ROS 1/ROS 2 bridge can connect supported</a:t>
            </a:r>
          </a:p>
          <a:p>
            <a:r>
              <a:rPr lang="en-US">
                <a:latin typeface="Aptos" panose="020B0004020202020204" pitchFamily="34" charset="0"/>
              </a:rPr>
              <a:t>topic/service interfaces when built with required types. Check distribution/OS support</a:t>
            </a:r>
          </a:p>
          <a:p>
            <a:r>
              <a:rPr lang="en-US">
                <a:latin typeface="Aptos" panose="020B0004020202020204" pitchFamily="34" charset="0"/>
              </a:rPr>
              <a:t>before planning a mixed deployment. The course demo needs no bridge.</a:t>
            </a:r>
          </a:p>
          <a:p>
            <a:endParaRPr lang="en-US">
              <a:latin typeface="Aptos" panose="020B0004020202020204" pitchFamily="34" charset="0"/>
            </a:endParaRPr>
          </a:p>
          <a:p>
            <a:r>
              <a:rPr lang="en-US">
                <a:latin typeface="Aptos" panose="020B0004020202020204" pitchFamily="34" charset="0"/>
              </a:rPr>
              <a:t>Visual: ROS 1 graph → interface bridge → ROS 2 graph.</a:t>
            </a:r>
          </a:p>
          <a:p>
            <a:r>
              <a:rPr lang="en-US">
                <a:latin typeface="Aptos" panose="020B0004020202020204" pitchFamily="34" charset="0"/>
              </a:rPr>
              <a:t>Reference: Official ROS 1 bridge documentation: https://github.com/ros2/ros1_bridge.</a:t>
            </a:r>
            <a:endParaRPr lang="en-IL">
              <a:latin typeface="Aptos" panose="020B00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26EA-CBC9-40F9-ADE8-DAD05B43C1C2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60050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51743-DE20-8571-FCDE-B33A4AB18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88932-9FF2-87B7-CBC2-42474BE2C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701D6-020B-E4E4-4DC6-6C1DBAAE3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FF0F-626B-42B3-9905-163354951EF6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CB1C3-C498-B080-556C-F777ACA78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9037D-AB88-CCD4-87BC-52454E0F2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E2D60-4821-4602-ADF2-1923372D292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42933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7AC96-635B-4DAC-59ED-9F7CBA5FA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7F5E4-C5DE-66E5-3196-3D8A3BF39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DDC4C-E919-2A86-193D-B32AE75D1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FF0F-626B-42B3-9905-163354951EF6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FB4FF-0BA6-47FB-0C9A-B0DAF654B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142E2-CE99-9A28-5ED4-54327A28D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E2D60-4821-4602-ADF2-1923372D292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53436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7B54F-5E46-5243-9EAF-BF33CD4E2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D9EE6-5240-43E0-9E60-5E2A4A05A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FCB27-A833-4E53-9A87-1E5BC2A89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FF0F-626B-42B3-9905-163354951EF6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DBB05-8016-DBA0-8371-73558F4A1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80852-8288-4F6A-3F9D-15FD2CB45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E2D60-4821-4602-ADF2-1923372D292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9692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98CD3-8DB4-9B0F-C754-2FC1B6801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B439E-1A43-CD37-44F5-866B5C867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49617-899E-245B-7E7F-FEA8D1315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23575-A314-F0E3-635C-EF1C42846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FF0F-626B-42B3-9905-163354951EF6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BEDEC-C3B7-AA3A-13CE-AC200A33C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47D6C-6CE3-1143-DCD5-0CB0181C1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E2D60-4821-4602-ADF2-1923372D292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67659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38712-2759-2A78-51C1-D78737CEB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D46B8-1EF1-004A-31DE-D4E6E4950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9AEDC7-52F3-9A75-7032-003E4A3D6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75A112-14E9-DBAD-6883-5CD5CF50CF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D9349C-4A94-8E85-2336-E8D3952144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02C7AB-B8E6-EBFD-4E13-25C6BCC66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FF0F-626B-42B3-9905-163354951EF6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818566-247B-B1E8-7CB7-85D6A4CC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60729B-AA3D-0FB8-B08F-8FFB478FA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E2D60-4821-4602-ADF2-1923372D292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01419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2D152-CF8C-CD2F-F2BA-F90980E36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7DD483-C8C0-9596-ABB2-806292497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FF0F-626B-42B3-9905-163354951EF6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3F4C5-4F85-C62B-1D2C-D569E19BE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3228E6-ED78-ABAF-02D0-1C9DBE16D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E2D60-4821-4602-ADF2-1923372D292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62167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D6BA94-BC14-527F-324F-78CF022D8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FF0F-626B-42B3-9905-163354951EF6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E45AD8-B618-7DCA-28A4-91F34FA84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27257-C044-FB10-B7FF-D8080CD19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E2D60-4821-4602-ADF2-1923372D292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53523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3D964-A1DC-F0D4-1C06-B25086122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61E91-D351-C12B-00A8-7E1301558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8556DD-6E52-CEA5-1AFD-EDDE40D87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B47EA-5A1F-FCCE-86FB-7F66324E2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FF0F-626B-42B3-9905-163354951EF6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28362-CB26-3148-BF33-9F5D1B06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F650F-B631-9F99-AB43-982A25020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E2D60-4821-4602-ADF2-1923372D292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19889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808C3-864E-F6A5-F7F4-3F141635F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A6221D-2114-7875-1F44-D4AD4A9258D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B0779-344A-EE83-5A7F-067A36AC6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5434E-863E-C59E-DD2F-A0C3B9B64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FF0F-626B-42B3-9905-163354951EF6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D171C-E62B-81D2-B524-3CCF9D12C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AC273-246D-2DCB-359F-D9743EFFC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E2D60-4821-4602-ADF2-1923372D292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07740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34001-7BF4-FF72-F107-8B8F25DE0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93EBFC-A47C-704E-00B1-871AD29F2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B7B8B-0552-1FAD-9CF5-D1B284D67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FF0F-626B-42B3-9905-163354951EF6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846DC-D9EF-31F0-AF3C-221BDC230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2D367-93BF-D889-AF88-09DD85B83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E2D60-4821-4602-ADF2-1923372D292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00817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F4B062-8A0C-F8CE-9184-EA913396B3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958907-EE61-9159-94EB-72E92302EC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A399B-DFA3-C4D6-23BF-59E1B7AC5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EFF0F-626B-42B3-9905-163354951EF6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58FF9-DAA3-E042-CFF8-0E5293C6D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8E549-F9D0-AD2E-208F-D263B1A90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E2D60-4821-4602-ADF2-1923372D292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96422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A8D1B9-0013-71AB-E5E2-9B29061D5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C292E-BF05-37AA-8E70-344F8D05B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4A460-A7C4-CB65-24F0-A770896184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0EFF0F-626B-42B3-9905-163354951EF6}" type="datetimeFigureOut">
              <a:rPr lang="en-IL" smtClean="0"/>
              <a:t>04/10/2026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BA6F5-7181-6FCA-4F72-AEEDD21D8D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67844-33EC-EA2A-AE53-9E6A22AB6C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BE2D60-4821-4602-ADF2-1923372D292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8949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F4000339-5102-9D8D-FEAD-1C40B89D60E6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4B6A77C8-444F-DF40-AF61-3284C5A956E9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ROS basics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16A17A0-A0A8-7F05-2908-722AC4AF66AB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_4">
            <a:extLst>
              <a:ext uri="{FF2B5EF4-FFF2-40B4-BE49-F238E27FC236}">
                <a16:creationId xmlns:a16="http://schemas.microsoft.com/office/drawing/2014/main" id="{AD73F4C6-6D5E-BDF7-96ED-F1072F22B226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_5">
            <a:extLst>
              <a:ext uri="{FF2B5EF4-FFF2-40B4-BE49-F238E27FC236}">
                <a16:creationId xmlns:a16="http://schemas.microsoft.com/office/drawing/2014/main" id="{BC0216A3-38A8-8226-29EC-07A9E17B59FF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92D4BB7F-9763-E639-35D3-95DB8144BA35}"/>
              </a:ext>
            </a:extLst>
          </p:cNvPr>
          <p:cNvSpPr txBox="1"/>
          <p:nvPr/>
        </p:nvSpPr>
        <p:spPr>
          <a:xfrm>
            <a:off x="685800" y="1803399"/>
            <a:ext cx="9398000" cy="965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600">
                <a:solidFill>
                  <a:srgbClr val="526477"/>
                </a:solidFill>
                <a:latin typeface="Aptos" panose="020B0004020202020204" pitchFamily="34" charset="0"/>
              </a:rPr>
              <a:t>Connect the pieces of a robot.</a:t>
            </a:r>
            <a:endParaRPr lang="en-IL" sz="3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4A937E2-C65D-C1A8-4AEB-7DD95D6DB791}"/>
              </a:ext>
            </a:extLst>
          </p:cNvPr>
          <p:cNvSpPr/>
          <p:nvPr/>
        </p:nvSpPr>
        <p:spPr>
          <a:xfrm>
            <a:off x="685800" y="3035300"/>
            <a:ext cx="2844800" cy="5334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84F18EBB-41B3-909A-553A-1D1F6FB2475E}"/>
              </a:ext>
            </a:extLst>
          </p:cNvPr>
          <p:cNvSpPr txBox="1"/>
          <p:nvPr/>
        </p:nvSpPr>
        <p:spPr>
          <a:xfrm>
            <a:off x="838200" y="3124199"/>
            <a:ext cx="254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Understand ROS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1E998F-6BCF-C637-F312-AA2A44E524D7}"/>
              </a:ext>
            </a:extLst>
          </p:cNvPr>
          <p:cNvSpPr/>
          <p:nvPr/>
        </p:nvSpPr>
        <p:spPr>
          <a:xfrm>
            <a:off x="3784600" y="3035300"/>
            <a:ext cx="2692400" cy="5334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5BAD77EA-9E2F-2ABC-1A79-28F400B03FE7}"/>
              </a:ext>
            </a:extLst>
          </p:cNvPr>
          <p:cNvSpPr txBox="1"/>
          <p:nvPr/>
        </p:nvSpPr>
        <p:spPr>
          <a:xfrm>
            <a:off x="3937000" y="3124199"/>
            <a:ext cx="2387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Read the code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C48248-E8B9-BE7A-85DE-362B57F9BF71}"/>
              </a:ext>
            </a:extLst>
          </p:cNvPr>
          <p:cNvSpPr/>
          <p:nvPr/>
        </p:nvSpPr>
        <p:spPr>
          <a:xfrm>
            <a:off x="6731000" y="3035300"/>
            <a:ext cx="2844800" cy="5334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2422B400-87E8-0E5B-ECCC-2030D68FE6D5}"/>
              </a:ext>
            </a:extLst>
          </p:cNvPr>
          <p:cNvSpPr txBox="1"/>
          <p:nvPr/>
        </p:nvSpPr>
        <p:spPr>
          <a:xfrm>
            <a:off x="6883400" y="3124199"/>
            <a:ext cx="254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Inspect it live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4094015-286C-543B-863D-E8D2F1707BBE}"/>
              </a:ext>
            </a:extLst>
          </p:cNvPr>
          <p:cNvSpPr/>
          <p:nvPr/>
        </p:nvSpPr>
        <p:spPr>
          <a:xfrm>
            <a:off x="685800" y="4152900"/>
            <a:ext cx="10820400" cy="1447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_14">
            <a:extLst>
              <a:ext uri="{FF2B5EF4-FFF2-40B4-BE49-F238E27FC236}">
                <a16:creationId xmlns:a16="http://schemas.microsoft.com/office/drawing/2014/main" id="{80C57DB8-8E77-16CA-6516-1181332F0915}"/>
              </a:ext>
            </a:extLst>
          </p:cNvPr>
          <p:cNvSpPr txBox="1"/>
          <p:nvPr/>
        </p:nvSpPr>
        <p:spPr>
          <a:xfrm>
            <a:off x="1092200" y="4610099"/>
            <a:ext cx="2336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3200" b="1">
                <a:solidFill>
                  <a:srgbClr val="15283B"/>
                </a:solidFill>
                <a:latin typeface="Aptos" panose="020B0004020202020204" pitchFamily="34" charset="0"/>
              </a:rPr>
              <a:t>Sense</a:t>
            </a:r>
          </a:p>
        </p:txBody>
      </p:sp>
      <p:sp>
        <p:nvSpPr>
          <p:cNvPr id="16" name="text_15">
            <a:extLst>
              <a:ext uri="{FF2B5EF4-FFF2-40B4-BE49-F238E27FC236}">
                <a16:creationId xmlns:a16="http://schemas.microsoft.com/office/drawing/2014/main" id="{7C322CC2-2ED9-D553-D3D6-853A8A121FB3}"/>
              </a:ext>
            </a:extLst>
          </p:cNvPr>
          <p:cNvSpPr txBox="1"/>
          <p:nvPr/>
        </p:nvSpPr>
        <p:spPr>
          <a:xfrm>
            <a:off x="4648200" y="4610099"/>
            <a:ext cx="2336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3200" b="1">
                <a:solidFill>
                  <a:srgbClr val="15283B"/>
                </a:solidFill>
                <a:latin typeface="Aptos" panose="020B0004020202020204" pitchFamily="34" charset="0"/>
              </a:rPr>
              <a:t>Decide</a:t>
            </a:r>
          </a:p>
        </p:txBody>
      </p:sp>
      <p:sp>
        <p:nvSpPr>
          <p:cNvPr id="17" name="text_16">
            <a:extLst>
              <a:ext uri="{FF2B5EF4-FFF2-40B4-BE49-F238E27FC236}">
                <a16:creationId xmlns:a16="http://schemas.microsoft.com/office/drawing/2014/main" id="{3ECACC08-43FB-1C8E-D322-9510F6356E58}"/>
              </a:ext>
            </a:extLst>
          </p:cNvPr>
          <p:cNvSpPr txBox="1"/>
          <p:nvPr/>
        </p:nvSpPr>
        <p:spPr>
          <a:xfrm>
            <a:off x="8204200" y="4610099"/>
            <a:ext cx="2336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3200" b="1">
                <a:solidFill>
                  <a:srgbClr val="15283B"/>
                </a:solidFill>
                <a:latin typeface="Aptos" panose="020B0004020202020204" pitchFamily="34" charset="0"/>
              </a:rPr>
              <a:t>Act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41CA6F5-040F-E768-5E3E-8E7D0FA6BA01}"/>
              </a:ext>
            </a:extLst>
          </p:cNvPr>
          <p:cNvCxnSpPr/>
          <p:nvPr/>
        </p:nvCxnSpPr>
        <p:spPr>
          <a:xfrm>
            <a:off x="3429000" y="4876800"/>
            <a:ext cx="10922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47CA6CB-79EC-44E8-F4DA-6605B4887915}"/>
              </a:ext>
            </a:extLst>
          </p:cNvPr>
          <p:cNvCxnSpPr/>
          <p:nvPr/>
        </p:nvCxnSpPr>
        <p:spPr>
          <a:xfrm>
            <a:off x="6985000" y="4876800"/>
            <a:ext cx="1092200" cy="0"/>
          </a:xfrm>
          <a:prstGeom prst="line">
            <a:avLst/>
          </a:prstGeom>
          <a:ln w="27940">
            <a:solidFill>
              <a:srgbClr val="137F7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3226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24F7E8AB-28B2-FFC3-441E-B8510981E80D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277A5BBD-3C9D-1387-41BD-74A7A4BDDC53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What is ROS?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1A811CC4-337A-6C77-9AAD-88DCEDB0F8B9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A shared framework for building robotics software.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CAC70A-04C9-DA0C-DFB9-16D6AFC493F8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98F199E8-BF68-1E53-13BB-649394024F5D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20E9C83E-683C-6201-4A75-4A67EEA587AE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8" name="text_7">
            <a:extLst>
              <a:ext uri="{FF2B5EF4-FFF2-40B4-BE49-F238E27FC236}">
                <a16:creationId xmlns:a16="http://schemas.microsoft.com/office/drawing/2014/main" id="{500F791D-DA20-CD45-0874-52048AB8EA13}"/>
              </a:ext>
            </a:extLst>
          </p:cNvPr>
          <p:cNvSpPr txBox="1"/>
          <p:nvPr/>
        </p:nvSpPr>
        <p:spPr>
          <a:xfrm>
            <a:off x="685800" y="2692399"/>
            <a:ext cx="44704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3000" b="1">
                <a:solidFill>
                  <a:srgbClr val="2459D3"/>
                </a:solidFill>
                <a:latin typeface="Aptos" panose="020B0004020202020204" pitchFamily="34" charset="0"/>
              </a:rPr>
              <a:t>Robot Operating System</a:t>
            </a:r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9B223AA3-28F1-9724-D96C-E1E9D356C6C3}"/>
              </a:ext>
            </a:extLst>
          </p:cNvPr>
          <p:cNvSpPr txBox="1"/>
          <p:nvPr/>
        </p:nvSpPr>
        <p:spPr>
          <a:xfrm>
            <a:off x="685800" y="3505199"/>
            <a:ext cx="4470400" cy="1854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5283B"/>
                </a:solidFill>
                <a:latin typeface="Aptos" panose="020B0004020202020204" pitchFamily="34" charset="0"/>
              </a:rPr>
              <a:t>Connect software across
languages and machines.
Share common interfaces.</a:t>
            </a:r>
            <a:endParaRPr lang="en-IL" sz="2800">
              <a:solidFill>
                <a:srgbClr val="15283B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E7528C5-FBA0-ABBE-ED20-587220622C6B}"/>
              </a:ext>
            </a:extLst>
          </p:cNvPr>
          <p:cNvSpPr/>
          <p:nvPr/>
        </p:nvSpPr>
        <p:spPr>
          <a:xfrm>
            <a:off x="5638800" y="2616200"/>
            <a:ext cx="5867400" cy="812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3BC16442-7785-7521-9D66-A4BAACF746E7}"/>
              </a:ext>
            </a:extLst>
          </p:cNvPr>
          <p:cNvSpPr txBox="1"/>
          <p:nvPr/>
        </p:nvSpPr>
        <p:spPr>
          <a:xfrm>
            <a:off x="5842000" y="2832099"/>
            <a:ext cx="5461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Robot application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D43A383-295E-D0B6-F0CA-39FE5DD1A32C}"/>
              </a:ext>
            </a:extLst>
          </p:cNvPr>
          <p:cNvSpPr/>
          <p:nvPr/>
        </p:nvSpPr>
        <p:spPr>
          <a:xfrm>
            <a:off x="5638800" y="3556000"/>
            <a:ext cx="5867400" cy="8128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7B8AC143-AC5A-F650-1A90-FA9BE3F71FD0}"/>
              </a:ext>
            </a:extLst>
          </p:cNvPr>
          <p:cNvSpPr txBox="1"/>
          <p:nvPr/>
        </p:nvSpPr>
        <p:spPr>
          <a:xfrm>
            <a:off x="5842000" y="3771899"/>
            <a:ext cx="5461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ROS libraries + tools + packages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257B677-5A1A-58F7-0C7A-F524FD636DCD}"/>
              </a:ext>
            </a:extLst>
          </p:cNvPr>
          <p:cNvSpPr/>
          <p:nvPr/>
        </p:nvSpPr>
        <p:spPr>
          <a:xfrm>
            <a:off x="5638800" y="4495800"/>
            <a:ext cx="5867400" cy="812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_14">
            <a:extLst>
              <a:ext uri="{FF2B5EF4-FFF2-40B4-BE49-F238E27FC236}">
                <a16:creationId xmlns:a16="http://schemas.microsoft.com/office/drawing/2014/main" id="{C8CDD9F5-3FF0-2C6F-D400-4FD15F589E85}"/>
              </a:ext>
            </a:extLst>
          </p:cNvPr>
          <p:cNvSpPr txBox="1"/>
          <p:nvPr/>
        </p:nvSpPr>
        <p:spPr>
          <a:xfrm>
            <a:off x="5842000" y="4711699"/>
            <a:ext cx="5461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Host OS + hardware</a:t>
            </a:r>
          </a:p>
        </p:txBody>
      </p:sp>
      <p:sp>
        <p:nvSpPr>
          <p:cNvPr id="16" name="text_15">
            <a:extLst>
              <a:ext uri="{FF2B5EF4-FFF2-40B4-BE49-F238E27FC236}">
                <a16:creationId xmlns:a16="http://schemas.microsoft.com/office/drawing/2014/main" id="{F13FCB3A-B2D4-439F-A099-CB784F8106BB}"/>
              </a:ext>
            </a:extLst>
          </p:cNvPr>
          <p:cNvSpPr txBox="1"/>
          <p:nvPr/>
        </p:nvSpPr>
        <p:spPr>
          <a:xfrm>
            <a:off x="685800" y="5626099"/>
            <a:ext cx="10820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526477"/>
                </a:solidFill>
                <a:latin typeface="Aptos" panose="020B0004020202020204" pitchFamily="34" charset="0"/>
              </a:rPr>
              <a:t>Reuse drivers and algorithms. Focus on your robot's behavior.</a:t>
            </a:r>
            <a:endParaRPr lang="en-IL" sz="24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975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A668CC99-2CB6-00E2-345A-CCB85508626B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16ECCFFE-9A86-27F4-ABA0-1A2857077B7F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000" b="1">
                <a:solidFill>
                  <a:srgbClr val="15283B"/>
                </a:solidFill>
                <a:latin typeface="Aptos" panose="020B0004020202020204" pitchFamily="34" charset="0"/>
              </a:rPr>
              <a:t>What is ROS used for?</a:t>
            </a:r>
            <a:endParaRPr lang="en-IL" sz="4000" b="1">
              <a:solidFill>
                <a:srgbClr val="15283B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4E810E1E-8C96-01E1-637E-501CF3D10DCA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Integrate sensing, decisions, and actuation in one system.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CCF1D4-DA0B-3685-E275-B5E7245B43E4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5069F47E-DCCB-0E7C-CCB3-34864FC5EC5D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87F739CD-326D-07B7-4670-D21C843DE000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9A9B707-E28A-7ED1-459C-706F320B45B9}"/>
              </a:ext>
            </a:extLst>
          </p:cNvPr>
          <p:cNvSpPr/>
          <p:nvPr/>
        </p:nvSpPr>
        <p:spPr>
          <a:xfrm>
            <a:off x="685800" y="2679700"/>
            <a:ext cx="1981200" cy="10160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FDEB68D5-9267-FF5C-9737-0E255CAC406D}"/>
              </a:ext>
            </a:extLst>
          </p:cNvPr>
          <p:cNvSpPr txBox="1"/>
          <p:nvPr/>
        </p:nvSpPr>
        <p:spPr>
          <a:xfrm>
            <a:off x="762000" y="2908299"/>
            <a:ext cx="18288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Sensors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3ADC98C-7143-821C-E5A7-75EDF284C4D6}"/>
              </a:ext>
            </a:extLst>
          </p:cNvPr>
          <p:cNvCxnSpPr/>
          <p:nvPr/>
        </p:nvCxnSpPr>
        <p:spPr>
          <a:xfrm>
            <a:off x="2667000" y="3187700"/>
            <a:ext cx="3556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6E7ED3B-5FF8-136D-13CF-86213CAEACFC}"/>
              </a:ext>
            </a:extLst>
          </p:cNvPr>
          <p:cNvSpPr/>
          <p:nvPr/>
        </p:nvSpPr>
        <p:spPr>
          <a:xfrm>
            <a:off x="3022600" y="2679700"/>
            <a:ext cx="2336800" cy="10160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_11">
            <a:extLst>
              <a:ext uri="{FF2B5EF4-FFF2-40B4-BE49-F238E27FC236}">
                <a16:creationId xmlns:a16="http://schemas.microsoft.com/office/drawing/2014/main" id="{BDA725AD-7088-F833-FAF1-0C50F5E8ABEE}"/>
              </a:ext>
            </a:extLst>
          </p:cNvPr>
          <p:cNvSpPr txBox="1"/>
          <p:nvPr/>
        </p:nvSpPr>
        <p:spPr>
          <a:xfrm>
            <a:off x="3098800" y="2908299"/>
            <a:ext cx="2184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Perception
Localization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4AE0C5A-B405-A933-4C3F-0A6D63C631B3}"/>
              </a:ext>
            </a:extLst>
          </p:cNvPr>
          <p:cNvCxnSpPr/>
          <p:nvPr/>
        </p:nvCxnSpPr>
        <p:spPr>
          <a:xfrm>
            <a:off x="5359400" y="3187700"/>
            <a:ext cx="3556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F9CA329-10AA-0B21-FBB6-D6B45B113AF6}"/>
              </a:ext>
            </a:extLst>
          </p:cNvPr>
          <p:cNvSpPr/>
          <p:nvPr/>
        </p:nvSpPr>
        <p:spPr>
          <a:xfrm>
            <a:off x="5715000" y="2679700"/>
            <a:ext cx="1879600" cy="10160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_14">
            <a:extLst>
              <a:ext uri="{FF2B5EF4-FFF2-40B4-BE49-F238E27FC236}">
                <a16:creationId xmlns:a16="http://schemas.microsoft.com/office/drawing/2014/main" id="{B90B9B9B-CDFC-67EC-C944-D7EC972C76A4}"/>
              </a:ext>
            </a:extLst>
          </p:cNvPr>
          <p:cNvSpPr txBox="1"/>
          <p:nvPr/>
        </p:nvSpPr>
        <p:spPr>
          <a:xfrm>
            <a:off x="5791200" y="2908299"/>
            <a:ext cx="17272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Planning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04EA274-8340-F774-F6E1-1A76580AD91D}"/>
              </a:ext>
            </a:extLst>
          </p:cNvPr>
          <p:cNvCxnSpPr/>
          <p:nvPr/>
        </p:nvCxnSpPr>
        <p:spPr>
          <a:xfrm>
            <a:off x="7594600" y="3187700"/>
            <a:ext cx="3556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9BACAFA-DD96-BE1B-2B88-AC82938CF220}"/>
              </a:ext>
            </a:extLst>
          </p:cNvPr>
          <p:cNvSpPr/>
          <p:nvPr/>
        </p:nvSpPr>
        <p:spPr>
          <a:xfrm>
            <a:off x="7950200" y="2679700"/>
            <a:ext cx="1778000" cy="10160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_17">
            <a:extLst>
              <a:ext uri="{FF2B5EF4-FFF2-40B4-BE49-F238E27FC236}">
                <a16:creationId xmlns:a16="http://schemas.microsoft.com/office/drawing/2014/main" id="{4B4A4EB4-63F3-FC56-1B61-70D0B493E78A}"/>
              </a:ext>
            </a:extLst>
          </p:cNvPr>
          <p:cNvSpPr txBox="1"/>
          <p:nvPr/>
        </p:nvSpPr>
        <p:spPr>
          <a:xfrm>
            <a:off x="8026400" y="2908299"/>
            <a:ext cx="1625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Control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22EA1D2-FC9E-DD5C-DCE1-6C6A748E4C53}"/>
              </a:ext>
            </a:extLst>
          </p:cNvPr>
          <p:cNvCxnSpPr/>
          <p:nvPr/>
        </p:nvCxnSpPr>
        <p:spPr>
          <a:xfrm>
            <a:off x="9728200" y="3187700"/>
            <a:ext cx="3556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4C95803-5523-5E4D-7210-3EB77E29D6B2}"/>
              </a:ext>
            </a:extLst>
          </p:cNvPr>
          <p:cNvSpPr/>
          <p:nvPr/>
        </p:nvSpPr>
        <p:spPr>
          <a:xfrm>
            <a:off x="10083800" y="2679700"/>
            <a:ext cx="1422400" cy="10160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_20">
            <a:extLst>
              <a:ext uri="{FF2B5EF4-FFF2-40B4-BE49-F238E27FC236}">
                <a16:creationId xmlns:a16="http://schemas.microsoft.com/office/drawing/2014/main" id="{0F7E7C70-677F-734D-D1C5-7F55F84315E6}"/>
              </a:ext>
            </a:extLst>
          </p:cNvPr>
          <p:cNvSpPr txBox="1"/>
          <p:nvPr/>
        </p:nvSpPr>
        <p:spPr>
          <a:xfrm>
            <a:off x="10160000" y="2908299"/>
            <a:ext cx="1270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Drivers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27C3F14-FA0B-5EE8-F697-CE3F25820AFD}"/>
              </a:ext>
            </a:extLst>
          </p:cNvPr>
          <p:cNvCxnSpPr/>
          <p:nvPr/>
        </p:nvCxnSpPr>
        <p:spPr>
          <a:xfrm flipH="1">
            <a:off x="4318000" y="3873500"/>
            <a:ext cx="6477000" cy="0"/>
          </a:xfrm>
          <a:prstGeom prst="line">
            <a:avLst/>
          </a:prstGeom>
          <a:ln w="27940">
            <a:solidFill>
              <a:srgbClr val="137F7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_22">
            <a:extLst>
              <a:ext uri="{FF2B5EF4-FFF2-40B4-BE49-F238E27FC236}">
                <a16:creationId xmlns:a16="http://schemas.microsoft.com/office/drawing/2014/main" id="{76CDE32F-1481-760E-DBC4-C906EBC171FE}"/>
              </a:ext>
            </a:extLst>
          </p:cNvPr>
          <p:cNvSpPr txBox="1"/>
          <p:nvPr/>
        </p:nvSpPr>
        <p:spPr>
          <a:xfrm>
            <a:off x="5092700" y="3949699"/>
            <a:ext cx="4318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37F79"/>
                </a:solidFill>
                <a:latin typeface="Aptos" panose="020B0004020202020204" pitchFamily="34" charset="0"/>
              </a:rPr>
              <a:t>Motion feedback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68052E1-6920-622E-338A-5EE7F6241F93}"/>
              </a:ext>
            </a:extLst>
          </p:cNvPr>
          <p:cNvSpPr/>
          <p:nvPr/>
        </p:nvSpPr>
        <p:spPr>
          <a:xfrm>
            <a:off x="685800" y="4584700"/>
            <a:ext cx="5257800" cy="1295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5" name="text_24">
            <a:extLst>
              <a:ext uri="{FF2B5EF4-FFF2-40B4-BE49-F238E27FC236}">
                <a16:creationId xmlns:a16="http://schemas.microsoft.com/office/drawing/2014/main" id="{B2A7C0AC-356E-5F67-AF9D-08B489919698}"/>
              </a:ext>
            </a:extLst>
          </p:cNvPr>
          <p:cNvSpPr txBox="1"/>
          <p:nvPr/>
        </p:nvSpPr>
        <p:spPr>
          <a:xfrm>
            <a:off x="939800" y="4749799"/>
            <a:ext cx="47498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LOGISTICS</a:t>
            </a:r>
          </a:p>
        </p:txBody>
      </p:sp>
      <p:sp>
        <p:nvSpPr>
          <p:cNvPr id="26" name="text_25">
            <a:extLst>
              <a:ext uri="{FF2B5EF4-FFF2-40B4-BE49-F238E27FC236}">
                <a16:creationId xmlns:a16="http://schemas.microsoft.com/office/drawing/2014/main" id="{4BA8294A-6C15-ED82-5F2A-C5B95C2F922A}"/>
              </a:ext>
            </a:extLst>
          </p:cNvPr>
          <p:cNvSpPr txBox="1"/>
          <p:nvPr/>
        </p:nvSpPr>
        <p:spPr>
          <a:xfrm>
            <a:off x="939800" y="5245099"/>
            <a:ext cx="47498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BMW + Microsoft / interoperability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01D3DA4-AB68-F298-D07F-09768AD7667A}"/>
              </a:ext>
            </a:extLst>
          </p:cNvPr>
          <p:cNvSpPr/>
          <p:nvPr/>
        </p:nvSpPr>
        <p:spPr>
          <a:xfrm>
            <a:off x="6248400" y="4584700"/>
            <a:ext cx="5257800" cy="1295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8" name="text_27">
            <a:extLst>
              <a:ext uri="{FF2B5EF4-FFF2-40B4-BE49-F238E27FC236}">
                <a16:creationId xmlns:a16="http://schemas.microsoft.com/office/drawing/2014/main" id="{1F48C9EA-C9E5-8625-B947-3A5D605EFD60}"/>
              </a:ext>
            </a:extLst>
          </p:cNvPr>
          <p:cNvSpPr txBox="1"/>
          <p:nvPr/>
        </p:nvSpPr>
        <p:spPr>
          <a:xfrm>
            <a:off x="6502400" y="4749799"/>
            <a:ext cx="47498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MANUFACTURING</a:t>
            </a:r>
          </a:p>
        </p:txBody>
      </p:sp>
      <p:sp>
        <p:nvSpPr>
          <p:cNvPr id="29" name="text_28">
            <a:extLst>
              <a:ext uri="{FF2B5EF4-FFF2-40B4-BE49-F238E27FC236}">
                <a16:creationId xmlns:a16="http://schemas.microsoft.com/office/drawing/2014/main" id="{4ED28213-41B8-7271-4C07-936F5763CCB5}"/>
              </a:ext>
            </a:extLst>
          </p:cNvPr>
          <p:cNvSpPr txBox="1"/>
          <p:nvPr/>
        </p:nvSpPr>
        <p:spPr>
          <a:xfrm>
            <a:off x="6502400" y="5245099"/>
            <a:ext cx="47498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Foundries / scan → plan → blend</a:t>
            </a:r>
          </a:p>
        </p:txBody>
      </p:sp>
    </p:spTree>
    <p:extLst>
      <p:ext uri="{BB962C8B-B14F-4D97-AF65-F5344CB8AC3E}">
        <p14:creationId xmlns:p14="http://schemas.microsoft.com/office/powerpoint/2010/main" val="900429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46115809-8919-4753-02AE-D6C9BB86BA6C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59464E80-4230-C89C-0790-1E7694BC9C17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ROS 1 → ROS 2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AE58E6D7-0247-DE60-88D6-D3DE9F7CEA94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Familiar concepts. A redesigned foundation.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9F6D385-1DAC-E258-B532-6C3BCF48D56E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7FC74294-7809-1333-3844-F0FDC828DEA6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DF743E32-A4E4-D0E0-E4C0-BFDC7165861A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04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6F5ACE-3B73-A6DE-515B-DAE3E8B3EF21}"/>
              </a:ext>
            </a:extLst>
          </p:cNvPr>
          <p:cNvCxnSpPr/>
          <p:nvPr/>
        </p:nvCxnSpPr>
        <p:spPr>
          <a:xfrm>
            <a:off x="1600200" y="2590800"/>
            <a:ext cx="9042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36F98BD3-7CAE-04D8-9993-8937FEA8D924}"/>
              </a:ext>
            </a:extLst>
          </p:cNvPr>
          <p:cNvSpPr/>
          <p:nvPr/>
        </p:nvSpPr>
        <p:spPr>
          <a:xfrm>
            <a:off x="1524000" y="2514600"/>
            <a:ext cx="152400" cy="152400"/>
          </a:xfrm>
          <a:prstGeom prst="ellipse">
            <a:avLst/>
          </a:prstGeom>
          <a:solidFill>
            <a:srgbClr val="2459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text_9">
            <a:extLst>
              <a:ext uri="{FF2B5EF4-FFF2-40B4-BE49-F238E27FC236}">
                <a16:creationId xmlns:a16="http://schemas.microsoft.com/office/drawing/2014/main" id="{9A18EC19-06BF-5FED-A327-E5C21241F76F}"/>
              </a:ext>
            </a:extLst>
          </p:cNvPr>
          <p:cNvSpPr txBox="1"/>
          <p:nvPr/>
        </p:nvSpPr>
        <p:spPr>
          <a:xfrm>
            <a:off x="457200" y="2781299"/>
            <a:ext cx="228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2007</a:t>
            </a:r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5E647BB0-CFD4-5345-9F4D-2F24A693BC59}"/>
              </a:ext>
            </a:extLst>
          </p:cNvPr>
          <p:cNvSpPr txBox="1"/>
          <p:nvPr/>
        </p:nvSpPr>
        <p:spPr>
          <a:xfrm>
            <a:off x="279400" y="3225799"/>
            <a:ext cx="2641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ROS begins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DCE3B5F-429C-D886-ECD2-4D454800CF03}"/>
              </a:ext>
            </a:extLst>
          </p:cNvPr>
          <p:cNvSpPr/>
          <p:nvPr/>
        </p:nvSpPr>
        <p:spPr>
          <a:xfrm>
            <a:off x="4495800" y="2514600"/>
            <a:ext cx="152400" cy="152400"/>
          </a:xfrm>
          <a:prstGeom prst="ellipse">
            <a:avLst/>
          </a:prstGeom>
          <a:solidFill>
            <a:srgbClr val="2459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ED4C674C-E9A7-7410-4D8C-0B6E45F3FE32}"/>
              </a:ext>
            </a:extLst>
          </p:cNvPr>
          <p:cNvSpPr txBox="1"/>
          <p:nvPr/>
        </p:nvSpPr>
        <p:spPr>
          <a:xfrm>
            <a:off x="3429000" y="2781299"/>
            <a:ext cx="228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2017</a:t>
            </a:r>
          </a:p>
        </p:txBody>
      </p:sp>
      <p:sp>
        <p:nvSpPr>
          <p:cNvPr id="14" name="text_13">
            <a:extLst>
              <a:ext uri="{FF2B5EF4-FFF2-40B4-BE49-F238E27FC236}">
                <a16:creationId xmlns:a16="http://schemas.microsoft.com/office/drawing/2014/main" id="{CFB7EF2F-335D-C7EC-ECC1-86B00F0D7454}"/>
              </a:ext>
            </a:extLst>
          </p:cNvPr>
          <p:cNvSpPr txBox="1"/>
          <p:nvPr/>
        </p:nvSpPr>
        <p:spPr>
          <a:xfrm>
            <a:off x="3251200" y="3225799"/>
            <a:ext cx="2641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ROS 2 Ardent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78EB15C-3B93-53D5-B12A-30754ADDA184}"/>
              </a:ext>
            </a:extLst>
          </p:cNvPr>
          <p:cNvSpPr/>
          <p:nvPr/>
        </p:nvSpPr>
        <p:spPr>
          <a:xfrm>
            <a:off x="7543800" y="2514600"/>
            <a:ext cx="152400" cy="152400"/>
          </a:xfrm>
          <a:prstGeom prst="ellipse">
            <a:avLst/>
          </a:prstGeom>
          <a:solidFill>
            <a:srgbClr val="2459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_15">
            <a:extLst>
              <a:ext uri="{FF2B5EF4-FFF2-40B4-BE49-F238E27FC236}">
                <a16:creationId xmlns:a16="http://schemas.microsoft.com/office/drawing/2014/main" id="{C28BA14F-F6F7-EAE9-01FB-2F0ACD4A9C00}"/>
              </a:ext>
            </a:extLst>
          </p:cNvPr>
          <p:cNvSpPr txBox="1"/>
          <p:nvPr/>
        </p:nvSpPr>
        <p:spPr>
          <a:xfrm>
            <a:off x="6477000" y="2781299"/>
            <a:ext cx="228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2024</a:t>
            </a:r>
          </a:p>
        </p:txBody>
      </p:sp>
      <p:sp>
        <p:nvSpPr>
          <p:cNvPr id="17" name="text_16">
            <a:extLst>
              <a:ext uri="{FF2B5EF4-FFF2-40B4-BE49-F238E27FC236}">
                <a16:creationId xmlns:a16="http://schemas.microsoft.com/office/drawing/2014/main" id="{55475AA8-C542-50B1-47FF-DA8D4B15BE9F}"/>
              </a:ext>
            </a:extLst>
          </p:cNvPr>
          <p:cNvSpPr txBox="1"/>
          <p:nvPr/>
        </p:nvSpPr>
        <p:spPr>
          <a:xfrm>
            <a:off x="6299200" y="3225799"/>
            <a:ext cx="2641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Jazzy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91DAB08-7DB3-5C15-6B45-868CB6BCCD90}"/>
              </a:ext>
            </a:extLst>
          </p:cNvPr>
          <p:cNvSpPr/>
          <p:nvPr/>
        </p:nvSpPr>
        <p:spPr>
          <a:xfrm>
            <a:off x="10566400" y="2514600"/>
            <a:ext cx="152400" cy="152400"/>
          </a:xfrm>
          <a:prstGeom prst="ellipse">
            <a:avLst/>
          </a:prstGeom>
          <a:solidFill>
            <a:srgbClr val="2459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_18">
            <a:extLst>
              <a:ext uri="{FF2B5EF4-FFF2-40B4-BE49-F238E27FC236}">
                <a16:creationId xmlns:a16="http://schemas.microsoft.com/office/drawing/2014/main" id="{523B2231-5241-6ED3-AA98-A886626AA78F}"/>
              </a:ext>
            </a:extLst>
          </p:cNvPr>
          <p:cNvSpPr txBox="1"/>
          <p:nvPr/>
        </p:nvSpPr>
        <p:spPr>
          <a:xfrm>
            <a:off x="9499600" y="2781299"/>
            <a:ext cx="228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2025</a:t>
            </a:r>
          </a:p>
        </p:txBody>
      </p:sp>
      <p:sp>
        <p:nvSpPr>
          <p:cNvPr id="20" name="text_19">
            <a:extLst>
              <a:ext uri="{FF2B5EF4-FFF2-40B4-BE49-F238E27FC236}">
                <a16:creationId xmlns:a16="http://schemas.microsoft.com/office/drawing/2014/main" id="{FCB59E34-8A53-042F-DD55-4BD92543735A}"/>
              </a:ext>
            </a:extLst>
          </p:cNvPr>
          <p:cNvSpPr txBox="1"/>
          <p:nvPr/>
        </p:nvSpPr>
        <p:spPr>
          <a:xfrm>
            <a:off x="9321800" y="3225799"/>
            <a:ext cx="2641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ROS 1 EOL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1C0B82F-A706-B372-9E96-D4C238E14AF0}"/>
              </a:ext>
            </a:extLst>
          </p:cNvPr>
          <p:cNvSpPr/>
          <p:nvPr/>
        </p:nvSpPr>
        <p:spPr>
          <a:xfrm>
            <a:off x="685800" y="3937000"/>
            <a:ext cx="5257800" cy="1447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_21">
            <a:extLst>
              <a:ext uri="{FF2B5EF4-FFF2-40B4-BE49-F238E27FC236}">
                <a16:creationId xmlns:a16="http://schemas.microsoft.com/office/drawing/2014/main" id="{9AFAF755-9E79-3F47-E05D-873AAAB97F36}"/>
              </a:ext>
            </a:extLst>
          </p:cNvPr>
          <p:cNvSpPr txBox="1"/>
          <p:nvPr/>
        </p:nvSpPr>
        <p:spPr>
          <a:xfrm>
            <a:off x="939800" y="4114799"/>
            <a:ext cx="4749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800" b="1">
                <a:solidFill>
                  <a:srgbClr val="2459D3"/>
                </a:solidFill>
                <a:latin typeface="Aptos" panose="020B0004020202020204" pitchFamily="34" charset="0"/>
              </a:rPr>
              <a:t>ROS 1</a:t>
            </a:r>
          </a:p>
        </p:txBody>
      </p:sp>
      <p:sp>
        <p:nvSpPr>
          <p:cNvPr id="23" name="text_22">
            <a:extLst>
              <a:ext uri="{FF2B5EF4-FFF2-40B4-BE49-F238E27FC236}">
                <a16:creationId xmlns:a16="http://schemas.microsoft.com/office/drawing/2014/main" id="{41627CEF-EED3-4763-0122-84A5072715D4}"/>
              </a:ext>
            </a:extLst>
          </p:cNvPr>
          <p:cNvSpPr txBox="1"/>
          <p:nvPr/>
        </p:nvSpPr>
        <p:spPr>
          <a:xfrm>
            <a:off x="939800" y="4635499"/>
            <a:ext cx="4749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Master discovery · TCPROS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7BBC924-F7B7-5C7D-8E57-E88AD5AC8769}"/>
              </a:ext>
            </a:extLst>
          </p:cNvPr>
          <p:cNvSpPr/>
          <p:nvPr/>
        </p:nvSpPr>
        <p:spPr>
          <a:xfrm>
            <a:off x="6248400" y="3937000"/>
            <a:ext cx="5257800" cy="14478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5" name="text_24">
            <a:extLst>
              <a:ext uri="{FF2B5EF4-FFF2-40B4-BE49-F238E27FC236}">
                <a16:creationId xmlns:a16="http://schemas.microsoft.com/office/drawing/2014/main" id="{6CBB5DC8-0D89-A097-56D2-39FA60DC8C43}"/>
              </a:ext>
            </a:extLst>
          </p:cNvPr>
          <p:cNvSpPr txBox="1"/>
          <p:nvPr/>
        </p:nvSpPr>
        <p:spPr>
          <a:xfrm>
            <a:off x="6502400" y="4114799"/>
            <a:ext cx="4749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800" b="1">
                <a:solidFill>
                  <a:srgbClr val="137F79"/>
                </a:solidFill>
                <a:latin typeface="Aptos" panose="020B0004020202020204" pitchFamily="34" charset="0"/>
              </a:rPr>
              <a:t>ROS 2</a:t>
            </a:r>
          </a:p>
        </p:txBody>
      </p:sp>
      <p:sp>
        <p:nvSpPr>
          <p:cNvPr id="26" name="text_25">
            <a:extLst>
              <a:ext uri="{FF2B5EF4-FFF2-40B4-BE49-F238E27FC236}">
                <a16:creationId xmlns:a16="http://schemas.microsoft.com/office/drawing/2014/main" id="{B87CCC3B-5FDD-4010-25E1-8D77C4623E3B}"/>
              </a:ext>
            </a:extLst>
          </p:cNvPr>
          <p:cNvSpPr txBox="1"/>
          <p:nvPr/>
        </p:nvSpPr>
        <p:spPr>
          <a:xfrm>
            <a:off x="6502400" y="4635499"/>
            <a:ext cx="4749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DDS discovery · QoS · lifecycle</a:t>
            </a:r>
          </a:p>
        </p:txBody>
      </p:sp>
      <p:sp>
        <p:nvSpPr>
          <p:cNvPr id="27" name="text_26">
            <a:extLst>
              <a:ext uri="{FF2B5EF4-FFF2-40B4-BE49-F238E27FC236}">
                <a16:creationId xmlns:a16="http://schemas.microsoft.com/office/drawing/2014/main" id="{7ECF7C6D-8713-3F42-9164-05279A161721}"/>
              </a:ext>
            </a:extLst>
          </p:cNvPr>
          <p:cNvSpPr txBox="1"/>
          <p:nvPr/>
        </p:nvSpPr>
        <p:spPr>
          <a:xfrm>
            <a:off x="685800" y="5575299"/>
            <a:ext cx="108204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600">
                <a:solidFill>
                  <a:srgbClr val="526477"/>
                </a:solidFill>
                <a:latin typeface="Aptos" panose="020B0004020202020204" pitchFamily="34" charset="0"/>
              </a:rPr>
              <a:t>ROS 2 = generation. Jazzy = distribution.</a:t>
            </a:r>
          </a:p>
        </p:txBody>
      </p:sp>
    </p:spTree>
    <p:extLst>
      <p:ext uri="{BB962C8B-B14F-4D97-AF65-F5344CB8AC3E}">
        <p14:creationId xmlns:p14="http://schemas.microsoft.com/office/powerpoint/2010/main" val="206243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67744670-C8F4-977E-9CD1-D90302058EFA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9B0C769D-5677-51F8-6C67-1644DCC1DD0C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000" b="1">
                <a:solidFill>
                  <a:srgbClr val="15283B"/>
                </a:solidFill>
                <a:latin typeface="Aptos" panose="020B0004020202020204" pitchFamily="34" charset="0"/>
              </a:rPr>
              <a:t>Nodes and the ROS graph</a:t>
            </a:r>
            <a:endParaRPr lang="en-IL" sz="4000" b="1">
              <a:solidFill>
                <a:srgbClr val="15283B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F0690953-2245-6373-D0BA-5EEFFBE8E554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A node has a responsibility. A process hosts running code.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B1E5D2-DB6B-B225-241B-7306B91123A1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32015B03-60EB-54D4-298A-2C9133BD5AA9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3495075E-558B-4228-6E34-6C8BC4449A0F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F1D930-2071-B74B-0917-49F35A514B84}"/>
              </a:ext>
            </a:extLst>
          </p:cNvPr>
          <p:cNvSpPr/>
          <p:nvPr/>
        </p:nvSpPr>
        <p:spPr>
          <a:xfrm>
            <a:off x="685800" y="2616200"/>
            <a:ext cx="5257800" cy="29845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D7E0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CFCC0819-F808-1E87-C20D-E39CF4AC3298}"/>
              </a:ext>
            </a:extLst>
          </p:cNvPr>
          <p:cNvSpPr txBox="1"/>
          <p:nvPr/>
        </p:nvSpPr>
        <p:spPr>
          <a:xfrm>
            <a:off x="965200" y="2806699"/>
            <a:ext cx="4699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THIS DEMO: TWO PROCESSES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585BBBF-F5B2-7BB0-2D16-3FE9D702633C}"/>
              </a:ext>
            </a:extLst>
          </p:cNvPr>
          <p:cNvSpPr/>
          <p:nvPr/>
        </p:nvSpPr>
        <p:spPr>
          <a:xfrm>
            <a:off x="965200" y="3467100"/>
            <a:ext cx="4699000" cy="7747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FD7E567C-CB3C-9FA0-C0D2-1F15C9C9BD81}"/>
              </a:ext>
            </a:extLst>
          </p:cNvPr>
          <p:cNvSpPr txBox="1"/>
          <p:nvPr/>
        </p:nvSpPr>
        <p:spPr>
          <a:xfrm>
            <a:off x="1117600" y="3670299"/>
            <a:ext cx="4394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2459D3"/>
                </a:solidFill>
                <a:latin typeface="Consolas" panose="020B0609020204030204" pitchFamily="49" charset="0"/>
              </a:rPr>
              <a:t>/greeting_publisher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8C36008-51EA-2D54-3093-7036B6AC341F}"/>
              </a:ext>
            </a:extLst>
          </p:cNvPr>
          <p:cNvSpPr/>
          <p:nvPr/>
        </p:nvSpPr>
        <p:spPr>
          <a:xfrm>
            <a:off x="965200" y="4546600"/>
            <a:ext cx="4699000" cy="7747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0C300D6F-827C-3C94-0A06-C52D1225BD08}"/>
              </a:ext>
            </a:extLst>
          </p:cNvPr>
          <p:cNvSpPr txBox="1"/>
          <p:nvPr/>
        </p:nvSpPr>
        <p:spPr>
          <a:xfrm>
            <a:off x="1117600" y="4749799"/>
            <a:ext cx="4394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37F79"/>
                </a:solidFill>
                <a:latin typeface="Consolas" panose="020B0609020204030204" pitchFamily="49" charset="0"/>
              </a:rPr>
              <a:t>/greeting_subscriber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48A24F-74AC-563E-9BB6-CF87E296DDFE}"/>
              </a:ext>
            </a:extLst>
          </p:cNvPr>
          <p:cNvCxnSpPr/>
          <p:nvPr/>
        </p:nvCxnSpPr>
        <p:spPr>
          <a:xfrm>
            <a:off x="3314700" y="4241800"/>
            <a:ext cx="0" cy="304800"/>
          </a:xfrm>
          <a:prstGeom prst="line">
            <a:avLst/>
          </a:prstGeom>
          <a:ln w="27940">
            <a:solidFill>
              <a:srgbClr val="137F7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DB0926E-382F-9BA9-19F6-CB69279C2C34}"/>
              </a:ext>
            </a:extLst>
          </p:cNvPr>
          <p:cNvSpPr/>
          <p:nvPr/>
        </p:nvSpPr>
        <p:spPr>
          <a:xfrm>
            <a:off x="6248400" y="2616200"/>
            <a:ext cx="5257800" cy="29845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D7E0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_15">
            <a:extLst>
              <a:ext uri="{FF2B5EF4-FFF2-40B4-BE49-F238E27FC236}">
                <a16:creationId xmlns:a16="http://schemas.microsoft.com/office/drawing/2014/main" id="{841A4495-F06C-DE6A-72E0-26422E2F9B0B}"/>
              </a:ext>
            </a:extLst>
          </p:cNvPr>
          <p:cNvSpPr txBox="1"/>
          <p:nvPr/>
        </p:nvSpPr>
        <p:spPr>
          <a:xfrm>
            <a:off x="6527800" y="2806699"/>
            <a:ext cx="4699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ALSO VALID: ONE PROCESS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EA90263-E507-35C4-F9E1-958ADC44EFE0}"/>
              </a:ext>
            </a:extLst>
          </p:cNvPr>
          <p:cNvSpPr/>
          <p:nvPr/>
        </p:nvSpPr>
        <p:spPr>
          <a:xfrm>
            <a:off x="6553200" y="3733800"/>
            <a:ext cx="2057400" cy="11811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_17">
            <a:extLst>
              <a:ext uri="{FF2B5EF4-FFF2-40B4-BE49-F238E27FC236}">
                <a16:creationId xmlns:a16="http://schemas.microsoft.com/office/drawing/2014/main" id="{249A9D5F-2AAB-33E5-C7BE-AC120B4BA246}"/>
              </a:ext>
            </a:extLst>
          </p:cNvPr>
          <p:cNvSpPr txBox="1"/>
          <p:nvPr/>
        </p:nvSpPr>
        <p:spPr>
          <a:xfrm>
            <a:off x="6680200" y="4025899"/>
            <a:ext cx="18034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800" b="1">
                <a:solidFill>
                  <a:srgbClr val="2459D3"/>
                </a:solidFill>
                <a:latin typeface="Aptos" panose="020B0004020202020204" pitchFamily="34" charset="0"/>
              </a:rPr>
              <a:t>Node 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B7CA180-526D-EB09-251E-3C05D329150C}"/>
              </a:ext>
            </a:extLst>
          </p:cNvPr>
          <p:cNvSpPr/>
          <p:nvPr/>
        </p:nvSpPr>
        <p:spPr>
          <a:xfrm>
            <a:off x="9144000" y="3733800"/>
            <a:ext cx="2057400" cy="11811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_19">
            <a:extLst>
              <a:ext uri="{FF2B5EF4-FFF2-40B4-BE49-F238E27FC236}">
                <a16:creationId xmlns:a16="http://schemas.microsoft.com/office/drawing/2014/main" id="{76E5B94D-14E7-908D-07DA-17A8006E8959}"/>
              </a:ext>
            </a:extLst>
          </p:cNvPr>
          <p:cNvSpPr txBox="1"/>
          <p:nvPr/>
        </p:nvSpPr>
        <p:spPr>
          <a:xfrm>
            <a:off x="9271000" y="4025899"/>
            <a:ext cx="18034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800" b="1">
                <a:solidFill>
                  <a:srgbClr val="137F79"/>
                </a:solidFill>
                <a:latin typeface="Aptos" panose="020B0004020202020204" pitchFamily="34" charset="0"/>
              </a:rPr>
              <a:t>Node B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E6028F-6FE1-53A9-7A18-7273751399F6}"/>
              </a:ext>
            </a:extLst>
          </p:cNvPr>
          <p:cNvCxnSpPr/>
          <p:nvPr/>
        </p:nvCxnSpPr>
        <p:spPr>
          <a:xfrm>
            <a:off x="8610600" y="4318000"/>
            <a:ext cx="5334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_21">
            <a:extLst>
              <a:ext uri="{FF2B5EF4-FFF2-40B4-BE49-F238E27FC236}">
                <a16:creationId xmlns:a16="http://schemas.microsoft.com/office/drawing/2014/main" id="{6B8F40E2-3EBB-CCF6-B297-AF8B6C769DF8}"/>
              </a:ext>
            </a:extLst>
          </p:cNvPr>
          <p:cNvSpPr txBox="1"/>
          <p:nvPr/>
        </p:nvSpPr>
        <p:spPr>
          <a:xfrm>
            <a:off x="685800" y="5740399"/>
            <a:ext cx="10820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526477"/>
                </a:solidFill>
                <a:latin typeface="Aptos" panose="020B0004020202020204" pitchFamily="34" charset="0"/>
              </a:rPr>
              <a:t>The graph describes nodes and their communication connections.</a:t>
            </a:r>
            <a:endParaRPr lang="en-IL" sz="24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824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C6EBFF96-F526-6E4D-75F8-648AF247A790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2B794CBD-FFBC-089E-A628-DC4E795DDE5D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Topics carry typed messages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46E9427B-360B-65D1-2C4B-7C3FC129EC39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Publishers send. Subscribers receive. One topic can connect many.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4AC142-90F2-22D2-1C38-9FCCB5ADEE48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4E2F6FF1-FBBE-2F67-8A0C-382D2B389473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D2985C17-5824-2799-13DE-7B470091CAE5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6ED3D0E-EB0F-50AA-042C-466E93D6DBE8}"/>
              </a:ext>
            </a:extLst>
          </p:cNvPr>
          <p:cNvSpPr/>
          <p:nvPr/>
        </p:nvSpPr>
        <p:spPr>
          <a:xfrm>
            <a:off x="685800" y="2667000"/>
            <a:ext cx="4140200" cy="10414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6708A396-B8C6-BD9D-0B7D-685DFD6C1C2E}"/>
              </a:ext>
            </a:extLst>
          </p:cNvPr>
          <p:cNvSpPr txBox="1"/>
          <p:nvPr/>
        </p:nvSpPr>
        <p:spPr>
          <a:xfrm>
            <a:off x="889000" y="2984499"/>
            <a:ext cx="37338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2459D3"/>
                </a:solidFill>
                <a:latin typeface="Consolas" panose="020B0609020204030204" pitchFamily="49" charset="0"/>
              </a:rPr>
              <a:t>/greeting_publisher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5C733F9-1634-8995-5D12-9875C66FF228}"/>
              </a:ext>
            </a:extLst>
          </p:cNvPr>
          <p:cNvSpPr/>
          <p:nvPr/>
        </p:nvSpPr>
        <p:spPr>
          <a:xfrm>
            <a:off x="5207000" y="2667000"/>
            <a:ext cx="1778000" cy="1041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D7E0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B465C53A-D7D2-8521-086D-C290C9AC6AA0}"/>
              </a:ext>
            </a:extLst>
          </p:cNvPr>
          <p:cNvSpPr txBox="1"/>
          <p:nvPr/>
        </p:nvSpPr>
        <p:spPr>
          <a:xfrm>
            <a:off x="5334000" y="2984499"/>
            <a:ext cx="1524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Consolas" panose="020B0609020204030204" pitchFamily="49" charset="0"/>
              </a:rPr>
              <a:t>/chatter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B6ED018-2D6E-82A2-019F-E677CE9F2F2D}"/>
              </a:ext>
            </a:extLst>
          </p:cNvPr>
          <p:cNvSpPr/>
          <p:nvPr/>
        </p:nvSpPr>
        <p:spPr>
          <a:xfrm>
            <a:off x="7366000" y="2667000"/>
            <a:ext cx="4140200" cy="10414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A9ADCF05-DF3E-51D1-7200-A832FE67F83C}"/>
              </a:ext>
            </a:extLst>
          </p:cNvPr>
          <p:cNvSpPr txBox="1"/>
          <p:nvPr/>
        </p:nvSpPr>
        <p:spPr>
          <a:xfrm>
            <a:off x="7518400" y="2984499"/>
            <a:ext cx="3835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37F79"/>
                </a:solidFill>
                <a:latin typeface="Consolas" panose="020B0609020204030204" pitchFamily="49" charset="0"/>
              </a:rPr>
              <a:t>/greeting_subscriber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3EBA1-8182-6043-BC4C-938363E7F86D}"/>
              </a:ext>
            </a:extLst>
          </p:cNvPr>
          <p:cNvCxnSpPr/>
          <p:nvPr/>
        </p:nvCxnSpPr>
        <p:spPr>
          <a:xfrm>
            <a:off x="4826000" y="3187700"/>
            <a:ext cx="3810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8D7D44-1A32-0770-FAE2-D909309F49F9}"/>
              </a:ext>
            </a:extLst>
          </p:cNvPr>
          <p:cNvCxnSpPr/>
          <p:nvPr/>
        </p:nvCxnSpPr>
        <p:spPr>
          <a:xfrm>
            <a:off x="6985000" y="3187700"/>
            <a:ext cx="381000" cy="0"/>
          </a:xfrm>
          <a:prstGeom prst="line">
            <a:avLst/>
          </a:prstGeom>
          <a:ln w="27940">
            <a:solidFill>
              <a:srgbClr val="137F7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_15">
            <a:extLst>
              <a:ext uri="{FF2B5EF4-FFF2-40B4-BE49-F238E27FC236}">
                <a16:creationId xmlns:a16="http://schemas.microsoft.com/office/drawing/2014/main" id="{BBA93924-F649-A1FF-3C0D-E66211B71337}"/>
              </a:ext>
            </a:extLst>
          </p:cNvPr>
          <p:cNvSpPr txBox="1"/>
          <p:nvPr/>
        </p:nvSpPr>
        <p:spPr>
          <a:xfrm>
            <a:off x="685800" y="3873499"/>
            <a:ext cx="4140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526477"/>
                </a:solidFill>
                <a:latin typeface="Consolas" panose="020B0609020204030204" pitchFamily="49" charset="0"/>
              </a:rPr>
              <a:t>std_msgs/msg/String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415D88B-8227-8865-F97D-7699B191C03D}"/>
              </a:ext>
            </a:extLst>
          </p:cNvPr>
          <p:cNvCxnSpPr/>
          <p:nvPr/>
        </p:nvCxnSpPr>
        <p:spPr>
          <a:xfrm>
            <a:off x="6096000" y="3708400"/>
            <a:ext cx="0" cy="647700"/>
          </a:xfrm>
          <a:prstGeom prst="line">
            <a:avLst/>
          </a:prstGeom>
          <a:ln w="27940">
            <a:solidFill>
              <a:srgbClr val="137F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A9BF923-B97F-6437-E838-1CE32487E704}"/>
              </a:ext>
            </a:extLst>
          </p:cNvPr>
          <p:cNvCxnSpPr/>
          <p:nvPr/>
        </p:nvCxnSpPr>
        <p:spPr>
          <a:xfrm>
            <a:off x="6096000" y="4356100"/>
            <a:ext cx="3111500" cy="0"/>
          </a:xfrm>
          <a:prstGeom prst="line">
            <a:avLst/>
          </a:prstGeom>
          <a:ln w="27940">
            <a:solidFill>
              <a:srgbClr val="137F7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_18">
            <a:extLst>
              <a:ext uri="{FF2B5EF4-FFF2-40B4-BE49-F238E27FC236}">
                <a16:creationId xmlns:a16="http://schemas.microsoft.com/office/drawing/2014/main" id="{896E3CF7-1557-C095-12EC-52ECC2883289}"/>
              </a:ext>
            </a:extLst>
          </p:cNvPr>
          <p:cNvSpPr txBox="1"/>
          <p:nvPr/>
        </p:nvSpPr>
        <p:spPr>
          <a:xfrm>
            <a:off x="9423400" y="4190999"/>
            <a:ext cx="2082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37F79"/>
                </a:solidFill>
                <a:latin typeface="Aptos" panose="020B0004020202020204" pitchFamily="34" charset="0"/>
              </a:rPr>
              <a:t>Another reader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0008F40-E421-FCF6-2446-9FF6B9E66209}"/>
              </a:ext>
            </a:extLst>
          </p:cNvPr>
          <p:cNvSpPr/>
          <p:nvPr/>
        </p:nvSpPr>
        <p:spPr>
          <a:xfrm>
            <a:off x="685800" y="4889500"/>
            <a:ext cx="10820400" cy="11557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_20">
            <a:extLst>
              <a:ext uri="{FF2B5EF4-FFF2-40B4-BE49-F238E27FC236}">
                <a16:creationId xmlns:a16="http://schemas.microsoft.com/office/drawing/2014/main" id="{886B3D29-428E-7E6C-9925-320C45D519A7}"/>
              </a:ext>
            </a:extLst>
          </p:cNvPr>
          <p:cNvSpPr txBox="1"/>
          <p:nvPr/>
        </p:nvSpPr>
        <p:spPr>
          <a:xfrm>
            <a:off x="939800" y="5079999"/>
            <a:ext cx="3048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String interface</a:t>
            </a:r>
          </a:p>
        </p:txBody>
      </p:sp>
      <p:sp>
        <p:nvSpPr>
          <p:cNvPr id="22" name="text_21">
            <a:extLst>
              <a:ext uri="{FF2B5EF4-FFF2-40B4-BE49-F238E27FC236}">
                <a16:creationId xmlns:a16="http://schemas.microsoft.com/office/drawing/2014/main" id="{4F8015A0-F158-25E1-AF73-DB35328AADCB}"/>
              </a:ext>
            </a:extLst>
          </p:cNvPr>
          <p:cNvSpPr txBox="1"/>
          <p:nvPr/>
        </p:nvSpPr>
        <p:spPr>
          <a:xfrm>
            <a:off x="939800" y="5562599"/>
            <a:ext cx="304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Consolas" panose="020B0609020204030204" pitchFamily="49" charset="0"/>
              </a:rPr>
              <a:t>string data</a:t>
            </a:r>
          </a:p>
        </p:txBody>
      </p:sp>
      <p:sp>
        <p:nvSpPr>
          <p:cNvPr id="23" name="text_22">
            <a:extLst>
              <a:ext uri="{FF2B5EF4-FFF2-40B4-BE49-F238E27FC236}">
                <a16:creationId xmlns:a16="http://schemas.microsoft.com/office/drawing/2014/main" id="{CFD5DEEB-F611-7E46-F55C-7C71BDED2863}"/>
              </a:ext>
            </a:extLst>
          </p:cNvPr>
          <p:cNvSpPr txBox="1"/>
          <p:nvPr/>
        </p:nvSpPr>
        <p:spPr>
          <a:xfrm>
            <a:off x="4495800" y="5079999"/>
            <a:ext cx="67564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Consolas" panose="020B0609020204030204" pitchFamily="49" charset="0"/>
              </a:rPr>
              <a:t>message = String()
message.data = 'Hello, robotics!'</a:t>
            </a:r>
          </a:p>
        </p:txBody>
      </p:sp>
    </p:spTree>
    <p:extLst>
      <p:ext uri="{BB962C8B-B14F-4D97-AF65-F5344CB8AC3E}">
        <p14:creationId xmlns:p14="http://schemas.microsoft.com/office/powerpoint/2010/main" val="711501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35F36483-D27F-F006-5736-9F26AC690085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E16CBE85-047F-F15F-ADD1-4F7D4E5A85BA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Choose the right interface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6594F86B-976D-F88E-6BC3-A2DA6603E705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Match the communication pattern to the task.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663758D-A5EF-99E7-3413-A97FCD7E2232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D7F2DB32-4548-D6F0-6390-420F53533337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DC1DE7B0-0478-1CDF-4DB9-4E42F08E376B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11B2C8-E6AA-7F80-0866-6A696B3D8913}"/>
              </a:ext>
            </a:extLst>
          </p:cNvPr>
          <p:cNvSpPr/>
          <p:nvPr/>
        </p:nvSpPr>
        <p:spPr>
          <a:xfrm>
            <a:off x="685800" y="2565400"/>
            <a:ext cx="5257800" cy="15240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510E2325-3EA2-1190-1888-F611B1CF7F8F}"/>
              </a:ext>
            </a:extLst>
          </p:cNvPr>
          <p:cNvSpPr txBox="1"/>
          <p:nvPr/>
        </p:nvSpPr>
        <p:spPr>
          <a:xfrm>
            <a:off x="939800" y="2692399"/>
            <a:ext cx="4749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800" b="1">
                <a:solidFill>
                  <a:srgbClr val="2459D3"/>
                </a:solidFill>
                <a:latin typeface="Aptos" panose="020B0004020202020204" pitchFamily="34" charset="0"/>
              </a:rPr>
              <a:t>Topic</a:t>
            </a:r>
          </a:p>
        </p:txBody>
      </p:sp>
      <p:sp>
        <p:nvSpPr>
          <p:cNvPr id="10" name="text_9">
            <a:extLst>
              <a:ext uri="{FF2B5EF4-FFF2-40B4-BE49-F238E27FC236}">
                <a16:creationId xmlns:a16="http://schemas.microsoft.com/office/drawing/2014/main" id="{4DB94A0F-1217-2B4D-A552-346663DDDC2D}"/>
              </a:ext>
            </a:extLst>
          </p:cNvPr>
          <p:cNvSpPr txBox="1"/>
          <p:nvPr/>
        </p:nvSpPr>
        <p:spPr>
          <a:xfrm>
            <a:off x="939800" y="3187699"/>
            <a:ext cx="4749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data → data → data</a:t>
            </a:r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C720CFEC-9FC7-562C-6AD9-DE7A52C3B9B6}"/>
              </a:ext>
            </a:extLst>
          </p:cNvPr>
          <p:cNvSpPr txBox="1"/>
          <p:nvPr/>
        </p:nvSpPr>
        <p:spPr>
          <a:xfrm>
            <a:off x="939800" y="3619499"/>
            <a:ext cx="4749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Sensor readings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C4228E-6AEB-C3B4-5658-F12CD7156572}"/>
              </a:ext>
            </a:extLst>
          </p:cNvPr>
          <p:cNvSpPr/>
          <p:nvPr/>
        </p:nvSpPr>
        <p:spPr>
          <a:xfrm>
            <a:off x="6248400" y="2565400"/>
            <a:ext cx="5257800" cy="15240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08D921F7-CD5D-84AC-E4CE-59EF9023FEA4}"/>
              </a:ext>
            </a:extLst>
          </p:cNvPr>
          <p:cNvSpPr txBox="1"/>
          <p:nvPr/>
        </p:nvSpPr>
        <p:spPr>
          <a:xfrm>
            <a:off x="6502400" y="2692399"/>
            <a:ext cx="4749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800" b="1">
                <a:solidFill>
                  <a:srgbClr val="137F79"/>
                </a:solidFill>
                <a:latin typeface="Aptos" panose="020B0004020202020204" pitchFamily="34" charset="0"/>
              </a:rPr>
              <a:t>Service</a:t>
            </a:r>
          </a:p>
        </p:txBody>
      </p:sp>
      <p:sp>
        <p:nvSpPr>
          <p:cNvPr id="14" name="text_13">
            <a:extLst>
              <a:ext uri="{FF2B5EF4-FFF2-40B4-BE49-F238E27FC236}">
                <a16:creationId xmlns:a16="http://schemas.microsoft.com/office/drawing/2014/main" id="{B37A466B-3B59-653C-0292-04BC373754E4}"/>
              </a:ext>
            </a:extLst>
          </p:cNvPr>
          <p:cNvSpPr txBox="1"/>
          <p:nvPr/>
        </p:nvSpPr>
        <p:spPr>
          <a:xfrm>
            <a:off x="6502400" y="3187699"/>
            <a:ext cx="4749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request → response</a:t>
            </a:r>
          </a:p>
        </p:txBody>
      </p:sp>
      <p:sp>
        <p:nvSpPr>
          <p:cNvPr id="15" name="text_14">
            <a:extLst>
              <a:ext uri="{FF2B5EF4-FFF2-40B4-BE49-F238E27FC236}">
                <a16:creationId xmlns:a16="http://schemas.microsoft.com/office/drawing/2014/main" id="{998B8128-7C93-13DF-E049-116538965EB2}"/>
              </a:ext>
            </a:extLst>
          </p:cNvPr>
          <p:cNvSpPr txBox="1"/>
          <p:nvPr/>
        </p:nvSpPr>
        <p:spPr>
          <a:xfrm>
            <a:off x="6502400" y="3619499"/>
            <a:ext cx="4749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Reset odometry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0DCFABF-07A6-2D1B-24A2-98DF12F9E738}"/>
              </a:ext>
            </a:extLst>
          </p:cNvPr>
          <p:cNvSpPr/>
          <p:nvPr/>
        </p:nvSpPr>
        <p:spPr>
          <a:xfrm>
            <a:off x="685800" y="4292600"/>
            <a:ext cx="5257800" cy="15240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_16">
            <a:extLst>
              <a:ext uri="{FF2B5EF4-FFF2-40B4-BE49-F238E27FC236}">
                <a16:creationId xmlns:a16="http://schemas.microsoft.com/office/drawing/2014/main" id="{5A82438A-9B98-38B9-771A-19E0E5123A36}"/>
              </a:ext>
            </a:extLst>
          </p:cNvPr>
          <p:cNvSpPr txBox="1"/>
          <p:nvPr/>
        </p:nvSpPr>
        <p:spPr>
          <a:xfrm>
            <a:off x="939800" y="4419599"/>
            <a:ext cx="4749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800" b="1">
                <a:solidFill>
                  <a:srgbClr val="137F79"/>
                </a:solidFill>
                <a:latin typeface="Aptos" panose="020B0004020202020204" pitchFamily="34" charset="0"/>
              </a:rPr>
              <a:t>Action</a:t>
            </a:r>
          </a:p>
        </p:txBody>
      </p:sp>
      <p:sp>
        <p:nvSpPr>
          <p:cNvPr id="18" name="text_17">
            <a:extLst>
              <a:ext uri="{FF2B5EF4-FFF2-40B4-BE49-F238E27FC236}">
                <a16:creationId xmlns:a16="http://schemas.microsoft.com/office/drawing/2014/main" id="{4DFA8A6B-2AFE-763C-CB4F-2D4104FCEA17}"/>
              </a:ext>
            </a:extLst>
          </p:cNvPr>
          <p:cNvSpPr txBox="1"/>
          <p:nvPr/>
        </p:nvSpPr>
        <p:spPr>
          <a:xfrm>
            <a:off x="939800" y="4914899"/>
            <a:ext cx="4749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goal → feedback → result</a:t>
            </a:r>
          </a:p>
        </p:txBody>
      </p:sp>
      <p:sp>
        <p:nvSpPr>
          <p:cNvPr id="19" name="text_18">
            <a:extLst>
              <a:ext uri="{FF2B5EF4-FFF2-40B4-BE49-F238E27FC236}">
                <a16:creationId xmlns:a16="http://schemas.microsoft.com/office/drawing/2014/main" id="{D3459148-B9B6-9CEB-EC94-A5A1D8F51504}"/>
              </a:ext>
            </a:extLst>
          </p:cNvPr>
          <p:cNvSpPr txBox="1"/>
          <p:nvPr/>
        </p:nvSpPr>
        <p:spPr>
          <a:xfrm>
            <a:off x="939800" y="5346699"/>
            <a:ext cx="4749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Navigate + cancel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4ACCEEB-8323-88F9-6ACC-ACF99B83635F}"/>
              </a:ext>
            </a:extLst>
          </p:cNvPr>
          <p:cNvSpPr/>
          <p:nvPr/>
        </p:nvSpPr>
        <p:spPr>
          <a:xfrm>
            <a:off x="6248400" y="4292600"/>
            <a:ext cx="5257800" cy="15240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_20">
            <a:extLst>
              <a:ext uri="{FF2B5EF4-FFF2-40B4-BE49-F238E27FC236}">
                <a16:creationId xmlns:a16="http://schemas.microsoft.com/office/drawing/2014/main" id="{BDAE528D-8E42-FA8E-1981-559CD7A1762F}"/>
              </a:ext>
            </a:extLst>
          </p:cNvPr>
          <p:cNvSpPr txBox="1"/>
          <p:nvPr/>
        </p:nvSpPr>
        <p:spPr>
          <a:xfrm>
            <a:off x="6502400" y="4419599"/>
            <a:ext cx="4749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800" b="1">
                <a:solidFill>
                  <a:srgbClr val="2459D3"/>
                </a:solidFill>
                <a:latin typeface="Aptos" panose="020B0004020202020204" pitchFamily="34" charset="0"/>
              </a:rPr>
              <a:t>Parameter</a:t>
            </a:r>
          </a:p>
        </p:txBody>
      </p:sp>
      <p:sp>
        <p:nvSpPr>
          <p:cNvPr id="22" name="text_21">
            <a:extLst>
              <a:ext uri="{FF2B5EF4-FFF2-40B4-BE49-F238E27FC236}">
                <a16:creationId xmlns:a16="http://schemas.microsoft.com/office/drawing/2014/main" id="{1FD9407D-4B97-52FC-BCD8-CDAC5B31218F}"/>
              </a:ext>
            </a:extLst>
          </p:cNvPr>
          <p:cNvSpPr txBox="1"/>
          <p:nvPr/>
        </p:nvSpPr>
        <p:spPr>
          <a:xfrm>
            <a:off x="6502400" y="4914899"/>
            <a:ext cx="4749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node configuration</a:t>
            </a:r>
          </a:p>
        </p:txBody>
      </p:sp>
      <p:sp>
        <p:nvSpPr>
          <p:cNvPr id="23" name="text_22">
            <a:extLst>
              <a:ext uri="{FF2B5EF4-FFF2-40B4-BE49-F238E27FC236}">
                <a16:creationId xmlns:a16="http://schemas.microsoft.com/office/drawing/2014/main" id="{305E7036-480B-56BC-F08F-8127A62D6337}"/>
              </a:ext>
            </a:extLst>
          </p:cNvPr>
          <p:cNvSpPr txBox="1"/>
          <p:nvPr/>
        </p:nvSpPr>
        <p:spPr>
          <a:xfrm>
            <a:off x="6502400" y="5346699"/>
            <a:ext cx="4749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Exposure / frame name</a:t>
            </a:r>
          </a:p>
        </p:txBody>
      </p:sp>
    </p:spTree>
    <p:extLst>
      <p:ext uri="{BB962C8B-B14F-4D97-AF65-F5344CB8AC3E}">
        <p14:creationId xmlns:p14="http://schemas.microsoft.com/office/powerpoint/2010/main" val="512119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1D24FC45-A6D6-B457-2E3C-FD9E3AC5B995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45DB40C4-2C99-FF54-8222-44D79E84014A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000" b="1">
                <a:solidFill>
                  <a:srgbClr val="15283B"/>
                </a:solidFill>
                <a:latin typeface="Aptos" panose="020B0004020202020204" pitchFamily="34" charset="0"/>
              </a:rPr>
              <a:t>ROS 2 architecture and DDS</a:t>
            </a:r>
            <a:endParaRPr lang="en-IL" sz="4000" b="1">
              <a:solidFill>
                <a:srgbClr val="15283B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43539899-377F-8773-7612-CC44382E28E5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600">
                <a:solidFill>
                  <a:srgbClr val="526477"/>
                </a:solidFill>
                <a:latin typeface="Aptos" panose="020B0004020202020204" pitchFamily="34" charset="0"/>
              </a:rPr>
              <a:t>DDS = Data Distribution Service. RTPS = its wire protocol.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2CBB808-37DE-3C85-4E35-DB3F3009190C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FECFCF3C-61EB-DA46-76E1-2264E8B6DA55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11BD41D7-329F-C04F-D48C-89340BA2BD47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08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E3D6998-A05A-BD7B-6A38-9FA3274DF578}"/>
              </a:ext>
            </a:extLst>
          </p:cNvPr>
          <p:cNvSpPr/>
          <p:nvPr/>
        </p:nvSpPr>
        <p:spPr>
          <a:xfrm>
            <a:off x="685800" y="2463800"/>
            <a:ext cx="4368800" cy="482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387001F1-F0B2-4A81-D267-29EF2F773DF9}"/>
              </a:ext>
            </a:extLst>
          </p:cNvPr>
          <p:cNvSpPr txBox="1"/>
          <p:nvPr/>
        </p:nvSpPr>
        <p:spPr>
          <a:xfrm>
            <a:off x="838200" y="2501899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Application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964442-3F4D-F804-AFD6-8AC3533D7C0D}"/>
              </a:ext>
            </a:extLst>
          </p:cNvPr>
          <p:cNvCxnSpPr/>
          <p:nvPr/>
        </p:nvCxnSpPr>
        <p:spPr>
          <a:xfrm>
            <a:off x="2870200" y="2946400"/>
            <a:ext cx="0" cy="8890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BDBF79D-70FD-4105-B30B-E6E385CFF866}"/>
              </a:ext>
            </a:extLst>
          </p:cNvPr>
          <p:cNvSpPr/>
          <p:nvPr/>
        </p:nvSpPr>
        <p:spPr>
          <a:xfrm>
            <a:off x="685800" y="3035300"/>
            <a:ext cx="4368800" cy="4826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_11">
            <a:extLst>
              <a:ext uri="{FF2B5EF4-FFF2-40B4-BE49-F238E27FC236}">
                <a16:creationId xmlns:a16="http://schemas.microsoft.com/office/drawing/2014/main" id="{587372FE-A9F9-0C19-C7AB-6DB1A569D9F8}"/>
              </a:ext>
            </a:extLst>
          </p:cNvPr>
          <p:cNvSpPr txBox="1"/>
          <p:nvPr/>
        </p:nvSpPr>
        <p:spPr>
          <a:xfrm>
            <a:off x="838200" y="3073399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rclpy / rclcpp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E8E18B-5D65-0621-C6E5-2112CF3F15A4}"/>
              </a:ext>
            </a:extLst>
          </p:cNvPr>
          <p:cNvCxnSpPr/>
          <p:nvPr/>
        </p:nvCxnSpPr>
        <p:spPr>
          <a:xfrm>
            <a:off x="2870200" y="3517900"/>
            <a:ext cx="0" cy="8890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0CBE812-5BBB-994B-CB9C-C253452AC94E}"/>
              </a:ext>
            </a:extLst>
          </p:cNvPr>
          <p:cNvSpPr/>
          <p:nvPr/>
        </p:nvSpPr>
        <p:spPr>
          <a:xfrm>
            <a:off x="685800" y="3606800"/>
            <a:ext cx="4368800" cy="482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_14">
            <a:extLst>
              <a:ext uri="{FF2B5EF4-FFF2-40B4-BE49-F238E27FC236}">
                <a16:creationId xmlns:a16="http://schemas.microsoft.com/office/drawing/2014/main" id="{AD894689-1DEB-0E18-94B1-655E621B2F2A}"/>
              </a:ext>
            </a:extLst>
          </p:cNvPr>
          <p:cNvSpPr txBox="1"/>
          <p:nvPr/>
        </p:nvSpPr>
        <p:spPr>
          <a:xfrm>
            <a:off x="838200" y="3644899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rcl: shared C core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1A356C0-F659-59A1-BF8C-CEDA232B72EC}"/>
              </a:ext>
            </a:extLst>
          </p:cNvPr>
          <p:cNvCxnSpPr/>
          <p:nvPr/>
        </p:nvCxnSpPr>
        <p:spPr>
          <a:xfrm>
            <a:off x="2870200" y="4089400"/>
            <a:ext cx="0" cy="8890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CA21F34-B696-B24B-D640-EF04EDFC4BBA}"/>
              </a:ext>
            </a:extLst>
          </p:cNvPr>
          <p:cNvSpPr/>
          <p:nvPr/>
        </p:nvSpPr>
        <p:spPr>
          <a:xfrm>
            <a:off x="685800" y="4178300"/>
            <a:ext cx="4368800" cy="4826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_17">
            <a:extLst>
              <a:ext uri="{FF2B5EF4-FFF2-40B4-BE49-F238E27FC236}">
                <a16:creationId xmlns:a16="http://schemas.microsoft.com/office/drawing/2014/main" id="{23EEB3F7-8A84-389F-116B-E40835A4A49A}"/>
              </a:ext>
            </a:extLst>
          </p:cNvPr>
          <p:cNvSpPr txBox="1"/>
          <p:nvPr/>
        </p:nvSpPr>
        <p:spPr>
          <a:xfrm>
            <a:off x="838200" y="4216399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rmw: adapter interface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372A96-2419-22E0-9960-25F6300BC36D}"/>
              </a:ext>
            </a:extLst>
          </p:cNvPr>
          <p:cNvCxnSpPr/>
          <p:nvPr/>
        </p:nvCxnSpPr>
        <p:spPr>
          <a:xfrm>
            <a:off x="2870200" y="4660900"/>
            <a:ext cx="0" cy="8890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83EED53-EA9B-E09E-1F69-AD93D44BEF3C}"/>
              </a:ext>
            </a:extLst>
          </p:cNvPr>
          <p:cNvSpPr/>
          <p:nvPr/>
        </p:nvSpPr>
        <p:spPr>
          <a:xfrm>
            <a:off x="685800" y="4749800"/>
            <a:ext cx="4368800" cy="482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_20">
            <a:extLst>
              <a:ext uri="{FF2B5EF4-FFF2-40B4-BE49-F238E27FC236}">
                <a16:creationId xmlns:a16="http://schemas.microsoft.com/office/drawing/2014/main" id="{93439360-1D8A-FE8B-E6CD-418B14728F38}"/>
              </a:ext>
            </a:extLst>
          </p:cNvPr>
          <p:cNvSpPr txBox="1"/>
          <p:nvPr/>
        </p:nvSpPr>
        <p:spPr>
          <a:xfrm>
            <a:off x="838200" y="4787899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DDS implementation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ADAA56D-73F8-1D13-ED13-187EC5DD8233}"/>
              </a:ext>
            </a:extLst>
          </p:cNvPr>
          <p:cNvCxnSpPr/>
          <p:nvPr/>
        </p:nvCxnSpPr>
        <p:spPr>
          <a:xfrm>
            <a:off x="2870200" y="5232400"/>
            <a:ext cx="0" cy="8890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CC76B42-D3E8-CB6B-FD34-DB7261856935}"/>
              </a:ext>
            </a:extLst>
          </p:cNvPr>
          <p:cNvSpPr/>
          <p:nvPr/>
        </p:nvSpPr>
        <p:spPr>
          <a:xfrm>
            <a:off x="685800" y="5321300"/>
            <a:ext cx="4368800" cy="4826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4" name="text_23">
            <a:extLst>
              <a:ext uri="{FF2B5EF4-FFF2-40B4-BE49-F238E27FC236}">
                <a16:creationId xmlns:a16="http://schemas.microsoft.com/office/drawing/2014/main" id="{CE82F45F-D46E-F1E9-F4DF-66F125957A6A}"/>
              </a:ext>
            </a:extLst>
          </p:cNvPr>
          <p:cNvSpPr txBox="1"/>
          <p:nvPr/>
        </p:nvSpPr>
        <p:spPr>
          <a:xfrm>
            <a:off x="838200" y="5359399"/>
            <a:ext cx="4064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Transport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BDF5139-54DC-2684-F370-731E6A7C7A9A}"/>
              </a:ext>
            </a:extLst>
          </p:cNvPr>
          <p:cNvSpPr/>
          <p:nvPr/>
        </p:nvSpPr>
        <p:spPr>
          <a:xfrm>
            <a:off x="5562600" y="2667000"/>
            <a:ext cx="2540000" cy="9398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6" name="text_25">
            <a:extLst>
              <a:ext uri="{FF2B5EF4-FFF2-40B4-BE49-F238E27FC236}">
                <a16:creationId xmlns:a16="http://schemas.microsoft.com/office/drawing/2014/main" id="{AAA40BC1-B914-1598-0B8F-7AB21DCC01A7}"/>
              </a:ext>
            </a:extLst>
          </p:cNvPr>
          <p:cNvSpPr txBox="1"/>
          <p:nvPr/>
        </p:nvSpPr>
        <p:spPr>
          <a:xfrm>
            <a:off x="5689600" y="2857499"/>
            <a:ext cx="22860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600" b="1">
                <a:solidFill>
                  <a:srgbClr val="2459D3"/>
                </a:solidFill>
                <a:latin typeface="Aptos" panose="020B0004020202020204" pitchFamily="34" charset="0"/>
              </a:rPr>
              <a:t>DataWriter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42A834F-4A0E-C857-8065-6CF0415B9396}"/>
              </a:ext>
            </a:extLst>
          </p:cNvPr>
          <p:cNvSpPr/>
          <p:nvPr/>
        </p:nvSpPr>
        <p:spPr>
          <a:xfrm>
            <a:off x="8966200" y="2667000"/>
            <a:ext cx="2540000" cy="9398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8" name="text_27">
            <a:extLst>
              <a:ext uri="{FF2B5EF4-FFF2-40B4-BE49-F238E27FC236}">
                <a16:creationId xmlns:a16="http://schemas.microsoft.com/office/drawing/2014/main" id="{3BE61675-E15C-0267-2395-30C1540581DC}"/>
              </a:ext>
            </a:extLst>
          </p:cNvPr>
          <p:cNvSpPr txBox="1"/>
          <p:nvPr/>
        </p:nvSpPr>
        <p:spPr>
          <a:xfrm>
            <a:off x="9093200" y="2857499"/>
            <a:ext cx="22860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600" b="1">
                <a:solidFill>
                  <a:srgbClr val="137F79"/>
                </a:solidFill>
                <a:latin typeface="Aptos" panose="020B0004020202020204" pitchFamily="34" charset="0"/>
              </a:rPr>
              <a:t>DataReader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541C4DA-8550-D902-A280-9BAA88CC03E2}"/>
              </a:ext>
            </a:extLst>
          </p:cNvPr>
          <p:cNvCxnSpPr/>
          <p:nvPr/>
        </p:nvCxnSpPr>
        <p:spPr>
          <a:xfrm>
            <a:off x="6832600" y="3937000"/>
            <a:ext cx="3403600" cy="0"/>
          </a:xfrm>
          <a:prstGeom prst="line">
            <a:avLst/>
          </a:prstGeom>
          <a:ln w="27940">
            <a:solidFill>
              <a:srgbClr val="137F79"/>
            </a:solidFill>
            <a:prstDash val="dash"/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_29">
            <a:extLst>
              <a:ext uri="{FF2B5EF4-FFF2-40B4-BE49-F238E27FC236}">
                <a16:creationId xmlns:a16="http://schemas.microsoft.com/office/drawing/2014/main" id="{EF506B13-782B-8E27-5564-245CE9A4ECE3}"/>
              </a:ext>
            </a:extLst>
          </p:cNvPr>
          <p:cNvSpPr txBox="1"/>
          <p:nvPr/>
        </p:nvSpPr>
        <p:spPr>
          <a:xfrm>
            <a:off x="6794500" y="4063999"/>
            <a:ext cx="3479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37F79"/>
                </a:solidFill>
                <a:latin typeface="Aptos" panose="020B0004020202020204" pitchFamily="34" charset="0"/>
              </a:rPr>
              <a:t>Discover + match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7F8FC6F-2C5C-A1EB-72FA-1D40CB1ABDF8}"/>
              </a:ext>
            </a:extLst>
          </p:cNvPr>
          <p:cNvCxnSpPr/>
          <p:nvPr/>
        </p:nvCxnSpPr>
        <p:spPr>
          <a:xfrm>
            <a:off x="6832600" y="4800600"/>
            <a:ext cx="34036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_31">
            <a:extLst>
              <a:ext uri="{FF2B5EF4-FFF2-40B4-BE49-F238E27FC236}">
                <a16:creationId xmlns:a16="http://schemas.microsoft.com/office/drawing/2014/main" id="{B1543372-123C-F0E0-7366-7CCD3124ABEE}"/>
              </a:ext>
            </a:extLst>
          </p:cNvPr>
          <p:cNvSpPr txBox="1"/>
          <p:nvPr/>
        </p:nvSpPr>
        <p:spPr>
          <a:xfrm>
            <a:off x="6731000" y="4940299"/>
            <a:ext cx="3657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2459D3"/>
                </a:solidFill>
                <a:latin typeface="Aptos" panose="020B0004020202020204" pitchFamily="34" charset="0"/>
              </a:rPr>
              <a:t>Serialize → deliver</a:t>
            </a:r>
          </a:p>
        </p:txBody>
      </p:sp>
      <p:sp>
        <p:nvSpPr>
          <p:cNvPr id="33" name="text_32">
            <a:extLst>
              <a:ext uri="{FF2B5EF4-FFF2-40B4-BE49-F238E27FC236}">
                <a16:creationId xmlns:a16="http://schemas.microsoft.com/office/drawing/2014/main" id="{DDA9AE29-B814-67F8-969A-95044A7D74E3}"/>
              </a:ext>
            </a:extLst>
          </p:cNvPr>
          <p:cNvSpPr txBox="1"/>
          <p:nvPr/>
        </p:nvSpPr>
        <p:spPr>
          <a:xfrm>
            <a:off x="5562600" y="5676899"/>
            <a:ext cx="5943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526477"/>
                </a:solidFill>
                <a:latin typeface="Aptos" panose="020B0004020202020204" pitchFamily="34" charset="0"/>
              </a:rPr>
              <a:t>Shared domain · type · compatible QoS</a:t>
            </a:r>
            <a:endParaRPr lang="en-IL" sz="24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260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5FD59E0C-17B9-EEEF-A9B9-37CB4E63E8C3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9193C06A-4E1D-4D5B-0C3F-08DE93E551B5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QoS shapes delivery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9492893C-CABB-3406-1CC8-A686356D98AF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Quality of Service sets the contract between endpoints.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8F0D4F-8616-06AD-F25E-E4FB5915A5AB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D0251DAF-3BED-A7EF-A7EA-A9A731FE5AC9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68A7A209-7FB6-915A-A623-7ED364FD0ACA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09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5AB1B5-AAE1-B6FB-93EB-7B18A709F3FA}"/>
              </a:ext>
            </a:extLst>
          </p:cNvPr>
          <p:cNvSpPr/>
          <p:nvPr/>
        </p:nvSpPr>
        <p:spPr>
          <a:xfrm>
            <a:off x="685800" y="2692400"/>
            <a:ext cx="3403600" cy="21971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948953CD-B40D-94C5-0CC2-944577D6E834}"/>
              </a:ext>
            </a:extLst>
          </p:cNvPr>
          <p:cNvSpPr txBox="1"/>
          <p:nvPr/>
        </p:nvSpPr>
        <p:spPr>
          <a:xfrm>
            <a:off x="889000" y="2870199"/>
            <a:ext cx="29972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800" b="1">
                <a:solidFill>
                  <a:srgbClr val="2459D3"/>
                </a:solidFill>
                <a:latin typeface="Aptos" panose="020B0004020202020204" pitchFamily="34" charset="0"/>
              </a:rPr>
              <a:t>Reliability</a:t>
            </a:r>
          </a:p>
        </p:txBody>
      </p:sp>
      <p:sp>
        <p:nvSpPr>
          <p:cNvPr id="10" name="text_9">
            <a:extLst>
              <a:ext uri="{FF2B5EF4-FFF2-40B4-BE49-F238E27FC236}">
                <a16:creationId xmlns:a16="http://schemas.microsoft.com/office/drawing/2014/main" id="{15E1F808-A683-E687-6B1F-3DD1F66BEC04}"/>
              </a:ext>
            </a:extLst>
          </p:cNvPr>
          <p:cNvSpPr txBox="1"/>
          <p:nvPr/>
        </p:nvSpPr>
        <p:spPr>
          <a:xfrm>
            <a:off x="889000" y="3581399"/>
            <a:ext cx="2997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RELIABLE</a:t>
            </a:r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80801610-294A-0D93-35AE-6654EE103207}"/>
              </a:ext>
            </a:extLst>
          </p:cNvPr>
          <p:cNvSpPr txBox="1"/>
          <p:nvPr/>
        </p:nvSpPr>
        <p:spPr>
          <a:xfrm>
            <a:off x="889000" y="4254499"/>
            <a:ext cx="2997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Retry lost samples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95E07E6-85DB-C954-3C41-9AF5FACBE681}"/>
              </a:ext>
            </a:extLst>
          </p:cNvPr>
          <p:cNvSpPr/>
          <p:nvPr/>
        </p:nvSpPr>
        <p:spPr>
          <a:xfrm>
            <a:off x="4394200" y="2692400"/>
            <a:ext cx="3403600" cy="21971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EAC161EA-785D-EDB8-3FF2-77B2BD601170}"/>
              </a:ext>
            </a:extLst>
          </p:cNvPr>
          <p:cNvSpPr txBox="1"/>
          <p:nvPr/>
        </p:nvSpPr>
        <p:spPr>
          <a:xfrm>
            <a:off x="4597400" y="2870199"/>
            <a:ext cx="29972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800" b="1">
                <a:solidFill>
                  <a:srgbClr val="137F79"/>
                </a:solidFill>
                <a:latin typeface="Aptos" panose="020B0004020202020204" pitchFamily="34" charset="0"/>
              </a:rPr>
              <a:t>Durability</a:t>
            </a:r>
          </a:p>
        </p:txBody>
      </p:sp>
      <p:sp>
        <p:nvSpPr>
          <p:cNvPr id="14" name="text_13">
            <a:extLst>
              <a:ext uri="{FF2B5EF4-FFF2-40B4-BE49-F238E27FC236}">
                <a16:creationId xmlns:a16="http://schemas.microsoft.com/office/drawing/2014/main" id="{D6BE4B95-4B01-E2FF-A4F3-255017F1BE5A}"/>
              </a:ext>
            </a:extLst>
          </p:cNvPr>
          <p:cNvSpPr txBox="1"/>
          <p:nvPr/>
        </p:nvSpPr>
        <p:spPr>
          <a:xfrm>
            <a:off x="4597400" y="3581399"/>
            <a:ext cx="2997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VOLATILE</a:t>
            </a:r>
          </a:p>
        </p:txBody>
      </p:sp>
      <p:sp>
        <p:nvSpPr>
          <p:cNvPr id="15" name="text_14">
            <a:extLst>
              <a:ext uri="{FF2B5EF4-FFF2-40B4-BE49-F238E27FC236}">
                <a16:creationId xmlns:a16="http://schemas.microsoft.com/office/drawing/2014/main" id="{801A251E-3C86-B8A2-34C2-964CD51C39E7}"/>
              </a:ext>
            </a:extLst>
          </p:cNvPr>
          <p:cNvSpPr txBox="1"/>
          <p:nvPr/>
        </p:nvSpPr>
        <p:spPr>
          <a:xfrm>
            <a:off x="4597400" y="4254499"/>
            <a:ext cx="2997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New data after joining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075CA37-6AB9-BDEC-9341-45F6EB76EF86}"/>
              </a:ext>
            </a:extLst>
          </p:cNvPr>
          <p:cNvSpPr/>
          <p:nvPr/>
        </p:nvSpPr>
        <p:spPr>
          <a:xfrm>
            <a:off x="8102600" y="2692400"/>
            <a:ext cx="3403600" cy="21971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_16">
            <a:extLst>
              <a:ext uri="{FF2B5EF4-FFF2-40B4-BE49-F238E27FC236}">
                <a16:creationId xmlns:a16="http://schemas.microsoft.com/office/drawing/2014/main" id="{0E998499-45C6-A416-3795-0E071ABFDDEC}"/>
              </a:ext>
            </a:extLst>
          </p:cNvPr>
          <p:cNvSpPr txBox="1"/>
          <p:nvPr/>
        </p:nvSpPr>
        <p:spPr>
          <a:xfrm>
            <a:off x="8305800" y="2870199"/>
            <a:ext cx="29972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800" b="1">
                <a:solidFill>
                  <a:srgbClr val="2459D3"/>
                </a:solidFill>
                <a:latin typeface="Aptos" panose="020B0004020202020204" pitchFamily="34" charset="0"/>
              </a:rPr>
              <a:t>History</a:t>
            </a:r>
          </a:p>
        </p:txBody>
      </p:sp>
      <p:sp>
        <p:nvSpPr>
          <p:cNvPr id="18" name="text_17">
            <a:extLst>
              <a:ext uri="{FF2B5EF4-FFF2-40B4-BE49-F238E27FC236}">
                <a16:creationId xmlns:a16="http://schemas.microsoft.com/office/drawing/2014/main" id="{965E12CB-B4E6-885B-F6CC-94000D2DCA08}"/>
              </a:ext>
            </a:extLst>
          </p:cNvPr>
          <p:cNvSpPr txBox="1"/>
          <p:nvPr/>
        </p:nvSpPr>
        <p:spPr>
          <a:xfrm>
            <a:off x="8305800" y="3581399"/>
            <a:ext cx="2997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KEEP_LAST: 10</a:t>
            </a:r>
          </a:p>
        </p:txBody>
      </p:sp>
      <p:sp>
        <p:nvSpPr>
          <p:cNvPr id="19" name="text_18">
            <a:extLst>
              <a:ext uri="{FF2B5EF4-FFF2-40B4-BE49-F238E27FC236}">
                <a16:creationId xmlns:a16="http://schemas.microsoft.com/office/drawing/2014/main" id="{1474964D-A279-50CE-E0F8-814E4F9B6DA1}"/>
              </a:ext>
            </a:extLst>
          </p:cNvPr>
          <p:cNvSpPr txBox="1"/>
          <p:nvPr/>
        </p:nvSpPr>
        <p:spPr>
          <a:xfrm>
            <a:off x="8305800" y="4254499"/>
            <a:ext cx="2997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Keep 10 samples</a:t>
            </a:r>
          </a:p>
        </p:txBody>
      </p:sp>
      <p:sp>
        <p:nvSpPr>
          <p:cNvPr id="20" name="text_19">
            <a:extLst>
              <a:ext uri="{FF2B5EF4-FFF2-40B4-BE49-F238E27FC236}">
                <a16:creationId xmlns:a16="http://schemas.microsoft.com/office/drawing/2014/main" id="{C8527EB2-47FE-568A-BB4F-8AA5A8D590E8}"/>
              </a:ext>
            </a:extLst>
          </p:cNvPr>
          <p:cNvSpPr txBox="1"/>
          <p:nvPr/>
        </p:nvSpPr>
        <p:spPr>
          <a:xfrm>
            <a:off x="685800" y="5270499"/>
            <a:ext cx="52578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800" b="1">
                <a:solidFill>
                  <a:srgbClr val="2459D3"/>
                </a:solidFill>
                <a:latin typeface="Aptos" panose="020B0004020202020204" pitchFamily="34" charset="0"/>
              </a:rPr>
              <a:t>10 = history depth</a:t>
            </a:r>
          </a:p>
        </p:txBody>
      </p:sp>
      <p:sp>
        <p:nvSpPr>
          <p:cNvPr id="21" name="text_20">
            <a:extLst>
              <a:ext uri="{FF2B5EF4-FFF2-40B4-BE49-F238E27FC236}">
                <a16:creationId xmlns:a16="http://schemas.microsoft.com/office/drawing/2014/main" id="{1591BB0A-7EB0-E491-55D2-A213B99C232C}"/>
              </a:ext>
            </a:extLst>
          </p:cNvPr>
          <p:cNvSpPr txBox="1"/>
          <p:nvPr/>
        </p:nvSpPr>
        <p:spPr>
          <a:xfrm>
            <a:off x="6248400" y="5270499"/>
            <a:ext cx="52578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800" b="1">
                <a:solidFill>
                  <a:srgbClr val="137F79"/>
                </a:solidFill>
                <a:latin typeface="Aptos" panose="020B0004020202020204" pitchFamily="34" charset="0"/>
              </a:rPr>
              <a:t>1.0 = timer interval (s)</a:t>
            </a:r>
          </a:p>
        </p:txBody>
      </p:sp>
      <p:sp>
        <p:nvSpPr>
          <p:cNvPr id="22" name="text_21">
            <a:extLst>
              <a:ext uri="{FF2B5EF4-FFF2-40B4-BE49-F238E27FC236}">
                <a16:creationId xmlns:a16="http://schemas.microsoft.com/office/drawing/2014/main" id="{BF1A9263-6972-5CD8-AE33-CDAE7AEFDB46}"/>
              </a:ext>
            </a:extLst>
          </p:cNvPr>
          <p:cNvSpPr txBox="1"/>
          <p:nvPr/>
        </p:nvSpPr>
        <p:spPr>
          <a:xfrm>
            <a:off x="685800" y="5791199"/>
            <a:ext cx="10820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526477"/>
                </a:solidFill>
                <a:latin typeface="Aptos" panose="020B0004020202020204" pitchFamily="34" charset="0"/>
              </a:rPr>
              <a:t>A restarted subscriber does not replay missed greetings.</a:t>
            </a:r>
            <a:endParaRPr lang="en-IL" sz="24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379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9FCEA805-0AB0-E47D-56C5-3C8AF73248D4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F15DE64B-D3F1-775F-B592-B6DA037F9D54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Execution and lifecycle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7311626C-3934-258F-C327-C3BA7191C950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DDS delivers data. The executor runs your callbacks.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B8988A7-9F86-615D-1879-B05EA46BF580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3182C66E-8D1A-6FB6-F859-5A8F63F2C41C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746F5A29-7E0F-904F-730D-298B8A1517E9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2B2FD46-51E6-177D-795B-6771E65353B6}"/>
              </a:ext>
            </a:extLst>
          </p:cNvPr>
          <p:cNvSpPr/>
          <p:nvPr/>
        </p:nvSpPr>
        <p:spPr>
          <a:xfrm>
            <a:off x="685800" y="2565400"/>
            <a:ext cx="5257800" cy="3378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D42ACA97-92E8-EC9C-695B-2FB485CED8D7}"/>
              </a:ext>
            </a:extLst>
          </p:cNvPr>
          <p:cNvSpPr txBox="1"/>
          <p:nvPr/>
        </p:nvSpPr>
        <p:spPr>
          <a:xfrm>
            <a:off x="939800" y="2768599"/>
            <a:ext cx="47498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ORDINARY NODE: OUR DEMO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925B4B-D061-61DD-65EF-FD75C245422F}"/>
              </a:ext>
            </a:extLst>
          </p:cNvPr>
          <p:cNvSpPr/>
          <p:nvPr/>
        </p:nvSpPr>
        <p:spPr>
          <a:xfrm>
            <a:off x="965200" y="3429000"/>
            <a:ext cx="4699000" cy="6096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9C8D2FDF-25A8-1396-8B8B-4A684A31576E}"/>
              </a:ext>
            </a:extLst>
          </p:cNvPr>
          <p:cNvSpPr txBox="1"/>
          <p:nvPr/>
        </p:nvSpPr>
        <p:spPr>
          <a:xfrm>
            <a:off x="1117600" y="3543299"/>
            <a:ext cx="43942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2459D3"/>
                </a:solidFill>
                <a:latin typeface="Aptos" panose="020B0004020202020204" pitchFamily="34" charset="0"/>
              </a:rPr>
              <a:t>init → construct node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0E85A9-3B20-3AAA-FE23-64DD7BE1086F}"/>
              </a:ext>
            </a:extLst>
          </p:cNvPr>
          <p:cNvCxnSpPr/>
          <p:nvPr/>
        </p:nvCxnSpPr>
        <p:spPr>
          <a:xfrm>
            <a:off x="3314700" y="4038600"/>
            <a:ext cx="0" cy="15240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F32AE44-86C7-8A6C-885C-9AAF30E4EF8F}"/>
              </a:ext>
            </a:extLst>
          </p:cNvPr>
          <p:cNvSpPr/>
          <p:nvPr/>
        </p:nvSpPr>
        <p:spPr>
          <a:xfrm>
            <a:off x="965200" y="4191000"/>
            <a:ext cx="4699000" cy="6096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_13">
            <a:extLst>
              <a:ext uri="{FF2B5EF4-FFF2-40B4-BE49-F238E27FC236}">
                <a16:creationId xmlns:a16="http://schemas.microsoft.com/office/drawing/2014/main" id="{0FE28954-C6C9-315A-2ADA-A615768628AC}"/>
              </a:ext>
            </a:extLst>
          </p:cNvPr>
          <p:cNvSpPr txBox="1"/>
          <p:nvPr/>
        </p:nvSpPr>
        <p:spPr>
          <a:xfrm>
            <a:off x="1117600" y="4305299"/>
            <a:ext cx="43942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2459D3"/>
                </a:solidFill>
                <a:latin typeface="Aptos" panose="020B0004020202020204" pitchFamily="34" charset="0"/>
              </a:rPr>
              <a:t>spin → ready callbacks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83A7CFD-152F-1C91-8000-4FF6E575318C}"/>
              </a:ext>
            </a:extLst>
          </p:cNvPr>
          <p:cNvCxnSpPr/>
          <p:nvPr/>
        </p:nvCxnSpPr>
        <p:spPr>
          <a:xfrm>
            <a:off x="3314700" y="4800600"/>
            <a:ext cx="0" cy="15240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32CB129-A8AE-9744-B142-3597CEB60AFF}"/>
              </a:ext>
            </a:extLst>
          </p:cNvPr>
          <p:cNvSpPr/>
          <p:nvPr/>
        </p:nvSpPr>
        <p:spPr>
          <a:xfrm>
            <a:off x="965200" y="4953000"/>
            <a:ext cx="4699000" cy="6096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_16">
            <a:extLst>
              <a:ext uri="{FF2B5EF4-FFF2-40B4-BE49-F238E27FC236}">
                <a16:creationId xmlns:a16="http://schemas.microsoft.com/office/drawing/2014/main" id="{AB81590E-4BCA-24BB-8358-90CC60BDE8FB}"/>
              </a:ext>
            </a:extLst>
          </p:cNvPr>
          <p:cNvSpPr txBox="1"/>
          <p:nvPr/>
        </p:nvSpPr>
        <p:spPr>
          <a:xfrm>
            <a:off x="1117600" y="5067299"/>
            <a:ext cx="4394200" cy="469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2459D3"/>
                </a:solidFill>
                <a:latin typeface="Aptos" panose="020B0004020202020204" pitchFamily="34" charset="0"/>
              </a:rPr>
              <a:t>Ctrl+C → cleanup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FBEB730-2AF5-75D5-C7F2-661EE60F596B}"/>
              </a:ext>
            </a:extLst>
          </p:cNvPr>
          <p:cNvSpPr/>
          <p:nvPr/>
        </p:nvSpPr>
        <p:spPr>
          <a:xfrm>
            <a:off x="6248400" y="2565400"/>
            <a:ext cx="5257800" cy="3378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_18">
            <a:extLst>
              <a:ext uri="{FF2B5EF4-FFF2-40B4-BE49-F238E27FC236}">
                <a16:creationId xmlns:a16="http://schemas.microsoft.com/office/drawing/2014/main" id="{4A2EE787-7E03-C2D0-35BA-DE74E9F6B905}"/>
              </a:ext>
            </a:extLst>
          </p:cNvPr>
          <p:cNvSpPr txBox="1"/>
          <p:nvPr/>
        </p:nvSpPr>
        <p:spPr>
          <a:xfrm>
            <a:off x="6502400" y="2768599"/>
            <a:ext cx="47498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MANAGED NODE: OPTIONAL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F619BC5-79DB-1374-5280-C0EAE194EC91}"/>
              </a:ext>
            </a:extLst>
          </p:cNvPr>
          <p:cNvSpPr/>
          <p:nvPr/>
        </p:nvSpPr>
        <p:spPr>
          <a:xfrm>
            <a:off x="6553200" y="3429000"/>
            <a:ext cx="2794000" cy="5588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_20">
            <a:extLst>
              <a:ext uri="{FF2B5EF4-FFF2-40B4-BE49-F238E27FC236}">
                <a16:creationId xmlns:a16="http://schemas.microsoft.com/office/drawing/2014/main" id="{E1821116-B0E6-A930-F1D9-B6B5949A63C7}"/>
              </a:ext>
            </a:extLst>
          </p:cNvPr>
          <p:cNvSpPr txBox="1"/>
          <p:nvPr/>
        </p:nvSpPr>
        <p:spPr>
          <a:xfrm>
            <a:off x="6680200" y="3517899"/>
            <a:ext cx="2540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Unconfigured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6FEE791-6184-D674-5243-EC92C0E941F2}"/>
              </a:ext>
            </a:extLst>
          </p:cNvPr>
          <p:cNvSpPr/>
          <p:nvPr/>
        </p:nvSpPr>
        <p:spPr>
          <a:xfrm>
            <a:off x="6553200" y="4267200"/>
            <a:ext cx="2794000" cy="5588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_22">
            <a:extLst>
              <a:ext uri="{FF2B5EF4-FFF2-40B4-BE49-F238E27FC236}">
                <a16:creationId xmlns:a16="http://schemas.microsoft.com/office/drawing/2014/main" id="{F7EB137F-48ED-9BFF-967B-8074E599AB82}"/>
              </a:ext>
            </a:extLst>
          </p:cNvPr>
          <p:cNvSpPr txBox="1"/>
          <p:nvPr/>
        </p:nvSpPr>
        <p:spPr>
          <a:xfrm>
            <a:off x="6680200" y="4356099"/>
            <a:ext cx="2540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Inactive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E4C24AB-6898-5CEF-FDB4-A315A1DA15D0}"/>
              </a:ext>
            </a:extLst>
          </p:cNvPr>
          <p:cNvSpPr/>
          <p:nvPr/>
        </p:nvSpPr>
        <p:spPr>
          <a:xfrm>
            <a:off x="6553200" y="5105400"/>
            <a:ext cx="2794000" cy="5588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5" name="text_24">
            <a:extLst>
              <a:ext uri="{FF2B5EF4-FFF2-40B4-BE49-F238E27FC236}">
                <a16:creationId xmlns:a16="http://schemas.microsoft.com/office/drawing/2014/main" id="{FC32BB68-77B2-9354-96CB-48E8E80960CB}"/>
              </a:ext>
            </a:extLst>
          </p:cNvPr>
          <p:cNvSpPr txBox="1"/>
          <p:nvPr/>
        </p:nvSpPr>
        <p:spPr>
          <a:xfrm>
            <a:off x="6680200" y="5194299"/>
            <a:ext cx="2540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Active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4B9CB01-BFC7-13FD-7231-011966337110}"/>
              </a:ext>
            </a:extLst>
          </p:cNvPr>
          <p:cNvCxnSpPr/>
          <p:nvPr/>
        </p:nvCxnSpPr>
        <p:spPr>
          <a:xfrm>
            <a:off x="7950200" y="3987800"/>
            <a:ext cx="0" cy="279400"/>
          </a:xfrm>
          <a:prstGeom prst="line">
            <a:avLst/>
          </a:prstGeom>
          <a:ln w="27940">
            <a:solidFill>
              <a:srgbClr val="137F7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_26">
            <a:extLst>
              <a:ext uri="{FF2B5EF4-FFF2-40B4-BE49-F238E27FC236}">
                <a16:creationId xmlns:a16="http://schemas.microsoft.com/office/drawing/2014/main" id="{0803750B-7655-C2F5-4BE1-EAA7E71C403E}"/>
              </a:ext>
            </a:extLst>
          </p:cNvPr>
          <p:cNvSpPr txBox="1"/>
          <p:nvPr/>
        </p:nvSpPr>
        <p:spPr>
          <a:xfrm>
            <a:off x="9550400" y="3924299"/>
            <a:ext cx="1701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37F79"/>
                </a:solidFill>
                <a:latin typeface="Aptos" panose="020B0004020202020204" pitchFamily="34" charset="0"/>
              </a:rPr>
              <a:t>configure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18CBB19-77B2-92F9-E78D-55A9FD8D1A2F}"/>
              </a:ext>
            </a:extLst>
          </p:cNvPr>
          <p:cNvCxnSpPr/>
          <p:nvPr/>
        </p:nvCxnSpPr>
        <p:spPr>
          <a:xfrm>
            <a:off x="7950200" y="4826000"/>
            <a:ext cx="0" cy="279400"/>
          </a:xfrm>
          <a:prstGeom prst="line">
            <a:avLst/>
          </a:prstGeom>
          <a:ln w="27940">
            <a:solidFill>
              <a:srgbClr val="137F7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_28">
            <a:extLst>
              <a:ext uri="{FF2B5EF4-FFF2-40B4-BE49-F238E27FC236}">
                <a16:creationId xmlns:a16="http://schemas.microsoft.com/office/drawing/2014/main" id="{5A851518-E819-66EB-459B-EE2B6FF7ACEE}"/>
              </a:ext>
            </a:extLst>
          </p:cNvPr>
          <p:cNvSpPr txBox="1"/>
          <p:nvPr/>
        </p:nvSpPr>
        <p:spPr>
          <a:xfrm>
            <a:off x="9550400" y="4762499"/>
            <a:ext cx="1701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37F79"/>
                </a:solidFill>
                <a:latin typeface="Aptos" panose="020B0004020202020204" pitchFamily="34" charset="0"/>
              </a:rPr>
              <a:t>activate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E4601D9-EF0E-A220-1D8A-CB4AFFBD8AF8}"/>
              </a:ext>
            </a:extLst>
          </p:cNvPr>
          <p:cNvCxnSpPr/>
          <p:nvPr/>
        </p:nvCxnSpPr>
        <p:spPr>
          <a:xfrm>
            <a:off x="9347200" y="3708400"/>
            <a:ext cx="1701800" cy="0"/>
          </a:xfrm>
          <a:prstGeom prst="line">
            <a:avLst/>
          </a:prstGeom>
          <a:ln w="27940">
            <a:solidFill>
              <a:srgbClr val="52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9DDF6A2-F0F8-358B-E6E0-1A61BF885FE7}"/>
              </a:ext>
            </a:extLst>
          </p:cNvPr>
          <p:cNvCxnSpPr/>
          <p:nvPr/>
        </p:nvCxnSpPr>
        <p:spPr>
          <a:xfrm>
            <a:off x="9347200" y="4546600"/>
            <a:ext cx="1701800" cy="0"/>
          </a:xfrm>
          <a:prstGeom prst="line">
            <a:avLst/>
          </a:prstGeom>
          <a:ln w="27940">
            <a:solidFill>
              <a:srgbClr val="52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E609DE7-948B-BD24-A6A3-4D0CE3788070}"/>
              </a:ext>
            </a:extLst>
          </p:cNvPr>
          <p:cNvCxnSpPr/>
          <p:nvPr/>
        </p:nvCxnSpPr>
        <p:spPr>
          <a:xfrm>
            <a:off x="9347200" y="5384800"/>
            <a:ext cx="1701800" cy="0"/>
          </a:xfrm>
          <a:prstGeom prst="line">
            <a:avLst/>
          </a:prstGeom>
          <a:ln w="27940">
            <a:solidFill>
              <a:srgbClr val="52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B40D390-E5DA-ADDC-81DD-04FEBEBEA502}"/>
              </a:ext>
            </a:extLst>
          </p:cNvPr>
          <p:cNvCxnSpPr/>
          <p:nvPr/>
        </p:nvCxnSpPr>
        <p:spPr>
          <a:xfrm>
            <a:off x="11049000" y="3708400"/>
            <a:ext cx="0" cy="2032000"/>
          </a:xfrm>
          <a:prstGeom prst="line">
            <a:avLst/>
          </a:prstGeom>
          <a:ln w="27940">
            <a:solidFill>
              <a:srgbClr val="52647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_33">
            <a:extLst>
              <a:ext uri="{FF2B5EF4-FFF2-40B4-BE49-F238E27FC236}">
                <a16:creationId xmlns:a16="http://schemas.microsoft.com/office/drawing/2014/main" id="{A6B9CEFA-C834-BD46-357A-CD74161CF7DA}"/>
              </a:ext>
            </a:extLst>
          </p:cNvPr>
          <p:cNvSpPr txBox="1"/>
          <p:nvPr/>
        </p:nvSpPr>
        <p:spPr>
          <a:xfrm>
            <a:off x="9499600" y="3314699"/>
            <a:ext cx="1752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shutdown</a:t>
            </a:r>
          </a:p>
        </p:txBody>
      </p:sp>
      <p:sp>
        <p:nvSpPr>
          <p:cNvPr id="35" name="text_34">
            <a:extLst>
              <a:ext uri="{FF2B5EF4-FFF2-40B4-BE49-F238E27FC236}">
                <a16:creationId xmlns:a16="http://schemas.microsoft.com/office/drawing/2014/main" id="{20B9E2AF-886E-9D0F-5288-23E6FA70F110}"/>
              </a:ext>
            </a:extLst>
          </p:cNvPr>
          <p:cNvSpPr txBox="1"/>
          <p:nvPr/>
        </p:nvSpPr>
        <p:spPr>
          <a:xfrm>
            <a:off x="9499600" y="5587999"/>
            <a:ext cx="17526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Finalized</a:t>
            </a:r>
          </a:p>
        </p:txBody>
      </p:sp>
    </p:spTree>
    <p:extLst>
      <p:ext uri="{BB962C8B-B14F-4D97-AF65-F5344CB8AC3E}">
        <p14:creationId xmlns:p14="http://schemas.microsoft.com/office/powerpoint/2010/main" val="3149603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FF4446D7-AC1F-1E1A-6FF4-CC5F88BA8FAA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7C4E78D9-F288-CCFB-7034-1DC3259E7D7D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Inspect before debugging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097C545E-C547-B31B-EB91-C455A4794FF6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Source Jazzy in every terminal. Run these scripts directly.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222827-DE02-C42C-2AF0-76E1C3B806CB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E153C598-5060-352E-8054-063EFFF37CF2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175892DD-12BD-584D-6148-F5E888DC5863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BDC3AF1-622B-6E27-680C-ECA8BCB6F14E}"/>
              </a:ext>
            </a:extLst>
          </p:cNvPr>
          <p:cNvSpPr/>
          <p:nvPr/>
        </p:nvSpPr>
        <p:spPr>
          <a:xfrm>
            <a:off x="685800" y="2578100"/>
            <a:ext cx="10820400" cy="55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B2D66E2E-B75E-CF5C-0C06-BF2707511B36}"/>
              </a:ext>
            </a:extLst>
          </p:cNvPr>
          <p:cNvSpPr txBox="1"/>
          <p:nvPr/>
        </p:nvSpPr>
        <p:spPr>
          <a:xfrm>
            <a:off x="863600" y="2679699"/>
            <a:ext cx="7924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Consolas" panose="020B0609020204030204" pitchFamily="49" charset="0"/>
              </a:rPr>
              <a:t>ros2 node list</a:t>
            </a:r>
          </a:p>
        </p:txBody>
      </p:sp>
      <p:sp>
        <p:nvSpPr>
          <p:cNvPr id="10" name="text_9">
            <a:extLst>
              <a:ext uri="{FF2B5EF4-FFF2-40B4-BE49-F238E27FC236}">
                <a16:creationId xmlns:a16="http://schemas.microsoft.com/office/drawing/2014/main" id="{D697314C-33D8-BD8E-BC68-A8CB9F827E5A}"/>
              </a:ext>
            </a:extLst>
          </p:cNvPr>
          <p:cNvSpPr txBox="1"/>
          <p:nvPr/>
        </p:nvSpPr>
        <p:spPr>
          <a:xfrm>
            <a:off x="9017000" y="2679699"/>
            <a:ext cx="2311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Find nodes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4E0B38F-1092-2C56-56B7-34CAF52E8CA3}"/>
              </a:ext>
            </a:extLst>
          </p:cNvPr>
          <p:cNvSpPr/>
          <p:nvPr/>
        </p:nvSpPr>
        <p:spPr>
          <a:xfrm>
            <a:off x="685800" y="3238500"/>
            <a:ext cx="10820400" cy="5588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_11">
            <a:extLst>
              <a:ext uri="{FF2B5EF4-FFF2-40B4-BE49-F238E27FC236}">
                <a16:creationId xmlns:a16="http://schemas.microsoft.com/office/drawing/2014/main" id="{1D3A8FE5-4C21-9854-D775-7D8462EA8BFB}"/>
              </a:ext>
            </a:extLst>
          </p:cNvPr>
          <p:cNvSpPr txBox="1"/>
          <p:nvPr/>
        </p:nvSpPr>
        <p:spPr>
          <a:xfrm>
            <a:off x="863600" y="3340099"/>
            <a:ext cx="7924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Consolas" panose="020B0609020204030204" pitchFamily="49" charset="0"/>
              </a:rPr>
              <a:t>ros2 topic list</a:t>
            </a:r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44180367-3718-0EC7-FB33-609D8FDD5432}"/>
              </a:ext>
            </a:extLst>
          </p:cNvPr>
          <p:cNvSpPr txBox="1"/>
          <p:nvPr/>
        </p:nvSpPr>
        <p:spPr>
          <a:xfrm>
            <a:off x="9017000" y="3340099"/>
            <a:ext cx="2311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Find topics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7833A6C-FC3B-60B5-AF81-EF9B50F8FE5F}"/>
              </a:ext>
            </a:extLst>
          </p:cNvPr>
          <p:cNvSpPr/>
          <p:nvPr/>
        </p:nvSpPr>
        <p:spPr>
          <a:xfrm>
            <a:off x="685800" y="3898900"/>
            <a:ext cx="10820400" cy="55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_14">
            <a:extLst>
              <a:ext uri="{FF2B5EF4-FFF2-40B4-BE49-F238E27FC236}">
                <a16:creationId xmlns:a16="http://schemas.microsoft.com/office/drawing/2014/main" id="{6D293FE1-A165-5D25-5B0C-95098A32808F}"/>
              </a:ext>
            </a:extLst>
          </p:cNvPr>
          <p:cNvSpPr txBox="1"/>
          <p:nvPr/>
        </p:nvSpPr>
        <p:spPr>
          <a:xfrm>
            <a:off x="863600" y="4000499"/>
            <a:ext cx="7924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Consolas" panose="020B0609020204030204" pitchFamily="49" charset="0"/>
              </a:rPr>
              <a:t>ros2 topic info /chatter --verbose</a:t>
            </a:r>
          </a:p>
        </p:txBody>
      </p:sp>
      <p:sp>
        <p:nvSpPr>
          <p:cNvPr id="16" name="text_15">
            <a:extLst>
              <a:ext uri="{FF2B5EF4-FFF2-40B4-BE49-F238E27FC236}">
                <a16:creationId xmlns:a16="http://schemas.microsoft.com/office/drawing/2014/main" id="{2746F7BD-AEFE-3DE3-05CF-7E986CBDC2E5}"/>
              </a:ext>
            </a:extLst>
          </p:cNvPr>
          <p:cNvSpPr txBox="1"/>
          <p:nvPr/>
        </p:nvSpPr>
        <p:spPr>
          <a:xfrm>
            <a:off x="9017000" y="4000499"/>
            <a:ext cx="2311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Type + QoS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8D08160-23B5-58E0-164D-A0CEFF09E0C7}"/>
              </a:ext>
            </a:extLst>
          </p:cNvPr>
          <p:cNvSpPr/>
          <p:nvPr/>
        </p:nvSpPr>
        <p:spPr>
          <a:xfrm>
            <a:off x="685800" y="4559300"/>
            <a:ext cx="10820400" cy="5588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_17">
            <a:extLst>
              <a:ext uri="{FF2B5EF4-FFF2-40B4-BE49-F238E27FC236}">
                <a16:creationId xmlns:a16="http://schemas.microsoft.com/office/drawing/2014/main" id="{A0B72516-CF88-BC13-87A6-5ECB38C4A04C}"/>
              </a:ext>
            </a:extLst>
          </p:cNvPr>
          <p:cNvSpPr txBox="1"/>
          <p:nvPr/>
        </p:nvSpPr>
        <p:spPr>
          <a:xfrm>
            <a:off x="863600" y="4660899"/>
            <a:ext cx="7924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15283B"/>
                </a:solidFill>
                <a:latin typeface="Consolas" panose="020B0609020204030204" pitchFamily="49" charset="0"/>
              </a:rPr>
              <a:t>ros2 interface show std_msgs/msg/String</a:t>
            </a:r>
            <a:endParaRPr lang="en-IL" sz="2400">
              <a:solidFill>
                <a:srgbClr val="15283B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_18">
            <a:extLst>
              <a:ext uri="{FF2B5EF4-FFF2-40B4-BE49-F238E27FC236}">
                <a16:creationId xmlns:a16="http://schemas.microsoft.com/office/drawing/2014/main" id="{C403780F-031E-3700-2E85-62369BD27CCA}"/>
              </a:ext>
            </a:extLst>
          </p:cNvPr>
          <p:cNvSpPr txBox="1"/>
          <p:nvPr/>
        </p:nvSpPr>
        <p:spPr>
          <a:xfrm>
            <a:off x="9017000" y="4660899"/>
            <a:ext cx="2311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Read fields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0B1988F-DF69-8F10-DBDE-8E4BCDDF6B94}"/>
              </a:ext>
            </a:extLst>
          </p:cNvPr>
          <p:cNvSpPr/>
          <p:nvPr/>
        </p:nvSpPr>
        <p:spPr>
          <a:xfrm>
            <a:off x="685800" y="5219700"/>
            <a:ext cx="10820400" cy="55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_20">
            <a:extLst>
              <a:ext uri="{FF2B5EF4-FFF2-40B4-BE49-F238E27FC236}">
                <a16:creationId xmlns:a16="http://schemas.microsoft.com/office/drawing/2014/main" id="{8E8D4ECD-34FF-AFED-E536-84AC76903D0E}"/>
              </a:ext>
            </a:extLst>
          </p:cNvPr>
          <p:cNvSpPr txBox="1"/>
          <p:nvPr/>
        </p:nvSpPr>
        <p:spPr>
          <a:xfrm>
            <a:off x="863600" y="5321299"/>
            <a:ext cx="7924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Consolas" panose="020B0609020204030204" pitchFamily="49" charset="0"/>
              </a:rPr>
              <a:t>ros2 topic echo /chatter</a:t>
            </a:r>
          </a:p>
        </p:txBody>
      </p:sp>
      <p:sp>
        <p:nvSpPr>
          <p:cNvPr id="22" name="text_21">
            <a:extLst>
              <a:ext uri="{FF2B5EF4-FFF2-40B4-BE49-F238E27FC236}">
                <a16:creationId xmlns:a16="http://schemas.microsoft.com/office/drawing/2014/main" id="{BE41006D-25FD-B886-CFC9-057A01FBCB4A}"/>
              </a:ext>
            </a:extLst>
          </p:cNvPr>
          <p:cNvSpPr txBox="1"/>
          <p:nvPr/>
        </p:nvSpPr>
        <p:spPr>
          <a:xfrm>
            <a:off x="9017000" y="5321299"/>
            <a:ext cx="2311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Observe data</a:t>
            </a:r>
          </a:p>
        </p:txBody>
      </p:sp>
      <p:sp>
        <p:nvSpPr>
          <p:cNvPr id="23" name="text_22">
            <a:extLst>
              <a:ext uri="{FF2B5EF4-FFF2-40B4-BE49-F238E27FC236}">
                <a16:creationId xmlns:a16="http://schemas.microsoft.com/office/drawing/2014/main" id="{EFD6E124-F8DE-D48D-98C0-6F559BFFA1DD}"/>
              </a:ext>
            </a:extLst>
          </p:cNvPr>
          <p:cNvSpPr txBox="1"/>
          <p:nvPr/>
        </p:nvSpPr>
        <p:spPr>
          <a:xfrm>
            <a:off x="685800" y="5867399"/>
            <a:ext cx="10820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526477"/>
                </a:solidFill>
                <a:latin typeface="Aptos" panose="020B0004020202020204" pitchFamily="34" charset="0"/>
              </a:rPr>
              <a:t>topic echo becomes another subscriber.</a:t>
            </a:r>
            <a:endParaRPr lang="en-IL" sz="24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111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2C9D2A53-60BA-536C-0C69-E44DF18FE31F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WEEK 01 / ROS BASICS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5746CE92-5F05-DAD3-2B10-C94CD7F61411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000" b="1">
                <a:solidFill>
                  <a:srgbClr val="15283B"/>
                </a:solidFill>
                <a:latin typeface="Aptos" panose="020B0004020202020204" pitchFamily="34" charset="0"/>
              </a:rPr>
              <a:t>Let's read it. Then run it.</a:t>
            </a:r>
            <a:endParaRPr lang="en-IL" sz="4000" b="1">
              <a:solidFill>
                <a:srgbClr val="15283B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3D036E35-5142-D496-FC0F-589D5A2D6C0A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Predict the behavior before changing the running system.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E2E905-EF9B-DDAF-8FB1-B88502DBBEC8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4BCAF390-16C6-1BF2-94B5-6382FD1DFB21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75BAA050-CBDA-80EF-2A9C-466472EBACCB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BF4054-3506-55C4-25AB-5D55B7200122}"/>
              </a:ext>
            </a:extLst>
          </p:cNvPr>
          <p:cNvSpPr/>
          <p:nvPr/>
        </p:nvSpPr>
        <p:spPr>
          <a:xfrm>
            <a:off x="685800" y="2641600"/>
            <a:ext cx="4140200" cy="10414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0B2A5469-D535-20CF-BCBF-89BD368EB5E3}"/>
              </a:ext>
            </a:extLst>
          </p:cNvPr>
          <p:cNvSpPr txBox="1"/>
          <p:nvPr/>
        </p:nvSpPr>
        <p:spPr>
          <a:xfrm>
            <a:off x="889000" y="2959099"/>
            <a:ext cx="37338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2459D3"/>
                </a:solidFill>
                <a:latin typeface="Consolas" panose="020B0609020204030204" pitchFamily="49" charset="0"/>
              </a:rPr>
              <a:t>/greeting_publisher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A3572FA-C636-61D4-7321-14172046E4CB}"/>
              </a:ext>
            </a:extLst>
          </p:cNvPr>
          <p:cNvSpPr/>
          <p:nvPr/>
        </p:nvSpPr>
        <p:spPr>
          <a:xfrm>
            <a:off x="5207000" y="2641600"/>
            <a:ext cx="1778000" cy="1041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D7E0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BED725E5-EF72-EAE9-1969-8B440EABFFF5}"/>
              </a:ext>
            </a:extLst>
          </p:cNvPr>
          <p:cNvSpPr txBox="1"/>
          <p:nvPr/>
        </p:nvSpPr>
        <p:spPr>
          <a:xfrm>
            <a:off x="5334000" y="2959099"/>
            <a:ext cx="1524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5283B"/>
                </a:solidFill>
                <a:latin typeface="Consolas" panose="020B0609020204030204" pitchFamily="49" charset="0"/>
              </a:rPr>
              <a:t>/chatter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7A9D1EF-6B11-22E0-0999-478D9940A8F2}"/>
              </a:ext>
            </a:extLst>
          </p:cNvPr>
          <p:cNvSpPr/>
          <p:nvPr/>
        </p:nvSpPr>
        <p:spPr>
          <a:xfrm>
            <a:off x="7366000" y="2641600"/>
            <a:ext cx="4140200" cy="10414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304CEDB6-1DE3-A3A0-7CD3-42745BDFBE8F}"/>
              </a:ext>
            </a:extLst>
          </p:cNvPr>
          <p:cNvSpPr txBox="1"/>
          <p:nvPr/>
        </p:nvSpPr>
        <p:spPr>
          <a:xfrm>
            <a:off x="7518400" y="2959099"/>
            <a:ext cx="3835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37F79"/>
                </a:solidFill>
                <a:latin typeface="Consolas" panose="020B0609020204030204" pitchFamily="49" charset="0"/>
              </a:rPr>
              <a:t>/greeting_subscriber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529E91-FCC4-2FA8-BF3D-A7C932DCA313}"/>
              </a:ext>
            </a:extLst>
          </p:cNvPr>
          <p:cNvCxnSpPr/>
          <p:nvPr/>
        </p:nvCxnSpPr>
        <p:spPr>
          <a:xfrm>
            <a:off x="4826000" y="3162300"/>
            <a:ext cx="3810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3BD2F23-C702-453C-1165-750062ACF16D}"/>
              </a:ext>
            </a:extLst>
          </p:cNvPr>
          <p:cNvCxnSpPr/>
          <p:nvPr/>
        </p:nvCxnSpPr>
        <p:spPr>
          <a:xfrm>
            <a:off x="6985000" y="3162300"/>
            <a:ext cx="381000" cy="0"/>
          </a:xfrm>
          <a:prstGeom prst="line">
            <a:avLst/>
          </a:prstGeom>
          <a:ln w="27940">
            <a:solidFill>
              <a:srgbClr val="137F7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_15">
            <a:extLst>
              <a:ext uri="{FF2B5EF4-FFF2-40B4-BE49-F238E27FC236}">
                <a16:creationId xmlns:a16="http://schemas.microsoft.com/office/drawing/2014/main" id="{1C297AF8-CDD9-1968-2B93-E4F8DAEEC277}"/>
              </a:ext>
            </a:extLst>
          </p:cNvPr>
          <p:cNvSpPr txBox="1"/>
          <p:nvPr/>
        </p:nvSpPr>
        <p:spPr>
          <a:xfrm>
            <a:off x="685800" y="3848099"/>
            <a:ext cx="4140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526477"/>
                </a:solidFill>
                <a:latin typeface="Consolas" panose="020B0609020204030204" pitchFamily="49" charset="0"/>
              </a:rPr>
              <a:t>std_msgs/msg/String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7C8721D-B13C-C7AD-0E76-3E34B383983D}"/>
              </a:ext>
            </a:extLst>
          </p:cNvPr>
          <p:cNvSpPr/>
          <p:nvPr/>
        </p:nvSpPr>
        <p:spPr>
          <a:xfrm>
            <a:off x="685800" y="4749800"/>
            <a:ext cx="3403600" cy="11811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_17">
            <a:extLst>
              <a:ext uri="{FF2B5EF4-FFF2-40B4-BE49-F238E27FC236}">
                <a16:creationId xmlns:a16="http://schemas.microsoft.com/office/drawing/2014/main" id="{1CFFF282-8645-1329-E3CF-B783ECF9D15F}"/>
              </a:ext>
            </a:extLst>
          </p:cNvPr>
          <p:cNvSpPr txBox="1"/>
          <p:nvPr/>
        </p:nvSpPr>
        <p:spPr>
          <a:xfrm>
            <a:off x="889000" y="4864099"/>
            <a:ext cx="2997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9" name="text_18">
            <a:extLst>
              <a:ext uri="{FF2B5EF4-FFF2-40B4-BE49-F238E27FC236}">
                <a16:creationId xmlns:a16="http://schemas.microsoft.com/office/drawing/2014/main" id="{0DD4CA0C-27ED-3EDE-406F-F1F3ED082AEF}"/>
              </a:ext>
            </a:extLst>
          </p:cNvPr>
          <p:cNvSpPr txBox="1"/>
          <p:nvPr/>
        </p:nvSpPr>
        <p:spPr>
          <a:xfrm>
            <a:off x="889000" y="5346699"/>
            <a:ext cx="29972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Subscriber stops?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9339FF0-2AEA-99C6-99CE-592071DA8924}"/>
              </a:ext>
            </a:extLst>
          </p:cNvPr>
          <p:cNvSpPr/>
          <p:nvPr/>
        </p:nvSpPr>
        <p:spPr>
          <a:xfrm>
            <a:off x="4394200" y="4749800"/>
            <a:ext cx="3403600" cy="11811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_20">
            <a:extLst>
              <a:ext uri="{FF2B5EF4-FFF2-40B4-BE49-F238E27FC236}">
                <a16:creationId xmlns:a16="http://schemas.microsoft.com/office/drawing/2014/main" id="{DD79AF92-96E4-777B-726F-7AD84E68B11F}"/>
              </a:ext>
            </a:extLst>
          </p:cNvPr>
          <p:cNvSpPr txBox="1"/>
          <p:nvPr/>
        </p:nvSpPr>
        <p:spPr>
          <a:xfrm>
            <a:off x="4597400" y="4864099"/>
            <a:ext cx="2997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22" name="text_21">
            <a:extLst>
              <a:ext uri="{FF2B5EF4-FFF2-40B4-BE49-F238E27FC236}">
                <a16:creationId xmlns:a16="http://schemas.microsoft.com/office/drawing/2014/main" id="{F476192D-2A07-34EE-3A1D-130E1B5AF21C}"/>
              </a:ext>
            </a:extLst>
          </p:cNvPr>
          <p:cNvSpPr txBox="1"/>
          <p:nvPr/>
        </p:nvSpPr>
        <p:spPr>
          <a:xfrm>
            <a:off x="4597400" y="5346699"/>
            <a:ext cx="29972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Subscriber restarts?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C0FA60C-726B-ACE1-CBBD-2A42277C91A3}"/>
              </a:ext>
            </a:extLst>
          </p:cNvPr>
          <p:cNvSpPr/>
          <p:nvPr/>
        </p:nvSpPr>
        <p:spPr>
          <a:xfrm>
            <a:off x="8102600" y="4749800"/>
            <a:ext cx="3403600" cy="11811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4" name="text_23">
            <a:extLst>
              <a:ext uri="{FF2B5EF4-FFF2-40B4-BE49-F238E27FC236}">
                <a16:creationId xmlns:a16="http://schemas.microsoft.com/office/drawing/2014/main" id="{03AEAD85-A683-5569-A861-B1099D5B1FA5}"/>
              </a:ext>
            </a:extLst>
          </p:cNvPr>
          <p:cNvSpPr txBox="1"/>
          <p:nvPr/>
        </p:nvSpPr>
        <p:spPr>
          <a:xfrm>
            <a:off x="8305800" y="4864099"/>
            <a:ext cx="29972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5" name="text_24">
            <a:extLst>
              <a:ext uri="{FF2B5EF4-FFF2-40B4-BE49-F238E27FC236}">
                <a16:creationId xmlns:a16="http://schemas.microsoft.com/office/drawing/2014/main" id="{F80EEE96-9102-5D51-941B-AA224571D00D}"/>
              </a:ext>
            </a:extLst>
          </p:cNvPr>
          <p:cNvSpPr txBox="1"/>
          <p:nvPr/>
        </p:nvSpPr>
        <p:spPr>
          <a:xfrm>
            <a:off x="8305800" y="5346699"/>
            <a:ext cx="29972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5283B"/>
                </a:solidFill>
                <a:latin typeface="Aptos" panose="020B0004020202020204" pitchFamily="34" charset="0"/>
              </a:rPr>
              <a:t>Publisher restarts?</a:t>
            </a:r>
          </a:p>
        </p:txBody>
      </p:sp>
    </p:spTree>
    <p:extLst>
      <p:ext uri="{BB962C8B-B14F-4D97-AF65-F5344CB8AC3E}">
        <p14:creationId xmlns:p14="http://schemas.microsoft.com/office/powerpoint/2010/main" val="3688674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AF67E07C-77E5-9EDD-22C4-9BA7775B2D2C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OPTIONAL / DEEPER DISCUSSION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3ECD0D4E-1D20-1499-F3B6-029D2D690522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DDS discovery and RTPS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010AE4DA-5A00-649E-F4AA-2B18E1D5848D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600">
                <a:solidFill>
                  <a:srgbClr val="526477"/>
                </a:solidFill>
                <a:latin typeface="Aptos" panose="020B0004020202020204" pitchFamily="34" charset="0"/>
              </a:rPr>
              <a:t>Find participants. Match endpoints. Exchange application data.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47211D7-52DE-97FB-3815-519AD826B61C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0B5D579C-C30F-C080-8A2F-535E052DD1E5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82C8A9A1-62F9-19F7-D0F0-CF592F5A8BB9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60EA14-782F-B050-05D0-B0A4C5D45121}"/>
              </a:ext>
            </a:extLst>
          </p:cNvPr>
          <p:cNvSpPr/>
          <p:nvPr/>
        </p:nvSpPr>
        <p:spPr>
          <a:xfrm>
            <a:off x="685800" y="2603500"/>
            <a:ext cx="2768600" cy="5334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1AD0B2A4-77BE-B243-4B39-0EBE944F5181}"/>
              </a:ext>
            </a:extLst>
          </p:cNvPr>
          <p:cNvSpPr txBox="1"/>
          <p:nvPr/>
        </p:nvSpPr>
        <p:spPr>
          <a:xfrm>
            <a:off x="838200" y="2692399"/>
            <a:ext cx="2463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Participants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862B85-1406-6223-9164-BE46B4703EB3}"/>
              </a:ext>
            </a:extLst>
          </p:cNvPr>
          <p:cNvSpPr/>
          <p:nvPr/>
        </p:nvSpPr>
        <p:spPr>
          <a:xfrm>
            <a:off x="3987800" y="2603500"/>
            <a:ext cx="3149600" cy="5334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CE4BF97B-D013-43CC-6D86-E24904B693F2}"/>
              </a:ext>
            </a:extLst>
          </p:cNvPr>
          <p:cNvSpPr txBox="1"/>
          <p:nvPr/>
        </p:nvSpPr>
        <p:spPr>
          <a:xfrm>
            <a:off x="4140200" y="2692399"/>
            <a:ext cx="2844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Endpoint discovery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6D3FE4-4E02-E493-7AF0-809CEC2860C4}"/>
              </a:ext>
            </a:extLst>
          </p:cNvPr>
          <p:cNvSpPr/>
          <p:nvPr/>
        </p:nvSpPr>
        <p:spPr>
          <a:xfrm>
            <a:off x="7670800" y="2603500"/>
            <a:ext cx="3835400" cy="5334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9DE009BF-F1AB-9DBC-EEC3-F9DF17A6C0F2}"/>
              </a:ext>
            </a:extLst>
          </p:cNvPr>
          <p:cNvSpPr txBox="1"/>
          <p:nvPr/>
        </p:nvSpPr>
        <p:spPr>
          <a:xfrm>
            <a:off x="7823200" y="2692399"/>
            <a:ext cx="3530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Application data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D8DEEF-1E19-1533-6744-6936FFEC586D}"/>
              </a:ext>
            </a:extLst>
          </p:cNvPr>
          <p:cNvCxnSpPr/>
          <p:nvPr/>
        </p:nvCxnSpPr>
        <p:spPr>
          <a:xfrm>
            <a:off x="3454400" y="2870200"/>
            <a:ext cx="5334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EF12CD5-3C9F-65CE-5E8A-C92B36E50AD3}"/>
              </a:ext>
            </a:extLst>
          </p:cNvPr>
          <p:cNvCxnSpPr/>
          <p:nvPr/>
        </p:nvCxnSpPr>
        <p:spPr>
          <a:xfrm>
            <a:off x="7137400" y="2870200"/>
            <a:ext cx="533400" cy="0"/>
          </a:xfrm>
          <a:prstGeom prst="line">
            <a:avLst/>
          </a:prstGeom>
          <a:ln w="27940">
            <a:solidFill>
              <a:srgbClr val="137F7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_15">
            <a:extLst>
              <a:ext uri="{FF2B5EF4-FFF2-40B4-BE49-F238E27FC236}">
                <a16:creationId xmlns:a16="http://schemas.microsoft.com/office/drawing/2014/main" id="{84CB059C-A2AA-8EB0-3F80-878364D2FA24}"/>
              </a:ext>
            </a:extLst>
          </p:cNvPr>
          <p:cNvSpPr txBox="1"/>
          <p:nvPr/>
        </p:nvSpPr>
        <p:spPr>
          <a:xfrm>
            <a:off x="685800" y="3492499"/>
            <a:ext cx="10820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SPDP → SEDP → matching writers and readers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E327028-DE85-522C-F6EB-93EB1022DDF8}"/>
              </a:ext>
            </a:extLst>
          </p:cNvPr>
          <p:cNvSpPr/>
          <p:nvPr/>
        </p:nvSpPr>
        <p:spPr>
          <a:xfrm>
            <a:off x="685800" y="4254500"/>
            <a:ext cx="10820400" cy="17145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_17">
            <a:extLst>
              <a:ext uri="{FF2B5EF4-FFF2-40B4-BE49-F238E27FC236}">
                <a16:creationId xmlns:a16="http://schemas.microsoft.com/office/drawing/2014/main" id="{596D104F-60D0-DBDC-6BE5-0AF31CF75C77}"/>
              </a:ext>
            </a:extLst>
          </p:cNvPr>
          <p:cNvSpPr txBox="1"/>
          <p:nvPr/>
        </p:nvSpPr>
        <p:spPr>
          <a:xfrm>
            <a:off x="965200" y="4432299"/>
            <a:ext cx="10261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2459D3"/>
                </a:solidFill>
                <a:latin typeface="Aptos" panose="020B0004020202020204" pitchFamily="34" charset="0"/>
              </a:rPr>
              <a:t>Reliable delivery can recover missing samples.</a:t>
            </a:r>
            <a:endParaRPr lang="en-IL" sz="2800" b="1">
              <a:solidFill>
                <a:srgbClr val="2459D3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_18">
            <a:extLst>
              <a:ext uri="{FF2B5EF4-FFF2-40B4-BE49-F238E27FC236}">
                <a16:creationId xmlns:a16="http://schemas.microsoft.com/office/drawing/2014/main" id="{1320D32C-F325-0A28-0F74-DF5201CD3406}"/>
              </a:ext>
            </a:extLst>
          </p:cNvPr>
          <p:cNvSpPr txBox="1"/>
          <p:nvPr/>
        </p:nvSpPr>
        <p:spPr>
          <a:xfrm>
            <a:off x="965200" y="5105399"/>
            <a:ext cx="1026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15283B"/>
                </a:solidFill>
                <a:latin typeface="Aptos" panose="020B0004020202020204" pitchFamily="34" charset="0"/>
              </a:rPr>
              <a:t>Sequence → heartbeat → ACK/NACK → retransmission</a:t>
            </a:r>
            <a:endParaRPr lang="en-IL" sz="2600">
              <a:solidFill>
                <a:srgbClr val="15283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328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BE0F2BB8-AF8D-7705-C878-408BC4AD00CC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OPTIONAL / DEEPER DISCUSSION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1EB36737-9BC3-A451-326A-A772183D192E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QoS compatibility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A654E018-E6EE-C488-3674-13EE4140640C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The publisher must satisfy the subscriber's requested policy.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B4E623-DE1B-58FF-F8B9-9F6376A06F64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2FD4FDD8-BDFB-5CCC-5FD8-F7862ECFD56B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FF42BCFF-499F-3626-2610-87EF2FCC9DE9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8" name="text_7">
            <a:extLst>
              <a:ext uri="{FF2B5EF4-FFF2-40B4-BE49-F238E27FC236}">
                <a16:creationId xmlns:a16="http://schemas.microsoft.com/office/drawing/2014/main" id="{2D2F9AAE-A373-2DF4-A31E-DC6C47D08C30}"/>
              </a:ext>
            </a:extLst>
          </p:cNvPr>
          <p:cNvSpPr txBox="1"/>
          <p:nvPr/>
        </p:nvSpPr>
        <p:spPr>
          <a:xfrm>
            <a:off x="838200" y="2628899"/>
            <a:ext cx="3429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600" b="1">
                <a:solidFill>
                  <a:srgbClr val="2459D3"/>
                </a:solidFill>
                <a:latin typeface="Aptos" panose="020B0004020202020204" pitchFamily="34" charset="0"/>
              </a:rPr>
              <a:t>Publisher offers</a:t>
            </a:r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DE05C318-B585-C1BD-C3DC-0C5C5CC2EEC3}"/>
              </a:ext>
            </a:extLst>
          </p:cNvPr>
          <p:cNvSpPr txBox="1"/>
          <p:nvPr/>
        </p:nvSpPr>
        <p:spPr>
          <a:xfrm>
            <a:off x="4686300" y="2628899"/>
            <a:ext cx="3429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600" b="1">
                <a:solidFill>
                  <a:srgbClr val="137F79"/>
                </a:solidFill>
                <a:latin typeface="Aptos" panose="020B0004020202020204" pitchFamily="34" charset="0"/>
              </a:rPr>
              <a:t>Reader requests</a:t>
            </a:r>
          </a:p>
        </p:txBody>
      </p:sp>
      <p:sp>
        <p:nvSpPr>
          <p:cNvPr id="10" name="text_9">
            <a:extLst>
              <a:ext uri="{FF2B5EF4-FFF2-40B4-BE49-F238E27FC236}">
                <a16:creationId xmlns:a16="http://schemas.microsoft.com/office/drawing/2014/main" id="{8E294D53-7B5E-6BBF-FF6B-98E3521C285C}"/>
              </a:ext>
            </a:extLst>
          </p:cNvPr>
          <p:cNvSpPr txBox="1"/>
          <p:nvPr/>
        </p:nvSpPr>
        <p:spPr>
          <a:xfrm>
            <a:off x="8534400" y="2628899"/>
            <a:ext cx="2819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600" b="1">
                <a:solidFill>
                  <a:srgbClr val="15283B"/>
                </a:solidFill>
                <a:latin typeface="Aptos" panose="020B0004020202020204" pitchFamily="34" charset="0"/>
              </a:rPr>
              <a:t>Compatible?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DB7BD8-75E6-BE73-68BC-5142B9A5C669}"/>
              </a:ext>
            </a:extLst>
          </p:cNvPr>
          <p:cNvSpPr/>
          <p:nvPr/>
        </p:nvSpPr>
        <p:spPr>
          <a:xfrm>
            <a:off x="685800" y="3175000"/>
            <a:ext cx="10820400" cy="508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_11">
            <a:extLst>
              <a:ext uri="{FF2B5EF4-FFF2-40B4-BE49-F238E27FC236}">
                <a16:creationId xmlns:a16="http://schemas.microsoft.com/office/drawing/2014/main" id="{DC6E6387-F876-6F32-8F2B-91BCF3B5C573}"/>
              </a:ext>
            </a:extLst>
          </p:cNvPr>
          <p:cNvSpPr txBox="1"/>
          <p:nvPr/>
        </p:nvSpPr>
        <p:spPr>
          <a:xfrm>
            <a:off x="838200" y="3238499"/>
            <a:ext cx="3276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Best effort</a:t>
            </a:r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95B9DB78-8540-8A80-4C58-9A689196F51B}"/>
              </a:ext>
            </a:extLst>
          </p:cNvPr>
          <p:cNvSpPr txBox="1"/>
          <p:nvPr/>
        </p:nvSpPr>
        <p:spPr>
          <a:xfrm>
            <a:off x="4686300" y="3238499"/>
            <a:ext cx="3276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Best effort</a:t>
            </a:r>
          </a:p>
        </p:txBody>
      </p:sp>
      <p:sp>
        <p:nvSpPr>
          <p:cNvPr id="14" name="text_13">
            <a:extLst>
              <a:ext uri="{FF2B5EF4-FFF2-40B4-BE49-F238E27FC236}">
                <a16:creationId xmlns:a16="http://schemas.microsoft.com/office/drawing/2014/main" id="{63464992-6F7A-943A-6B98-374FAA4929A4}"/>
              </a:ext>
            </a:extLst>
          </p:cNvPr>
          <p:cNvSpPr txBox="1"/>
          <p:nvPr/>
        </p:nvSpPr>
        <p:spPr>
          <a:xfrm>
            <a:off x="8534400" y="3238499"/>
            <a:ext cx="28194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8EBB713-B155-81AA-6FAF-766891B8DB3B}"/>
              </a:ext>
            </a:extLst>
          </p:cNvPr>
          <p:cNvSpPr/>
          <p:nvPr/>
        </p:nvSpPr>
        <p:spPr>
          <a:xfrm>
            <a:off x="685800" y="3771900"/>
            <a:ext cx="10820400" cy="508000"/>
          </a:xfrm>
          <a:prstGeom prst="roundRect">
            <a:avLst>
              <a:gd name="adj" fmla="val 9000"/>
            </a:avLst>
          </a:prstGeom>
          <a:solidFill>
            <a:srgbClr val="FFF0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_15">
            <a:extLst>
              <a:ext uri="{FF2B5EF4-FFF2-40B4-BE49-F238E27FC236}">
                <a16:creationId xmlns:a16="http://schemas.microsoft.com/office/drawing/2014/main" id="{3CCAAA8C-FF24-3C65-7EEA-DCA0EE4263D7}"/>
              </a:ext>
            </a:extLst>
          </p:cNvPr>
          <p:cNvSpPr txBox="1"/>
          <p:nvPr/>
        </p:nvSpPr>
        <p:spPr>
          <a:xfrm>
            <a:off x="838200" y="3835399"/>
            <a:ext cx="3276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AE651D"/>
                </a:solidFill>
                <a:latin typeface="Aptos" panose="020B0004020202020204" pitchFamily="34" charset="0"/>
              </a:rPr>
              <a:t>Best effort</a:t>
            </a:r>
          </a:p>
        </p:txBody>
      </p:sp>
      <p:sp>
        <p:nvSpPr>
          <p:cNvPr id="17" name="text_16">
            <a:extLst>
              <a:ext uri="{FF2B5EF4-FFF2-40B4-BE49-F238E27FC236}">
                <a16:creationId xmlns:a16="http://schemas.microsoft.com/office/drawing/2014/main" id="{77BB879C-086C-B0BC-B06C-62AAED9C40BC}"/>
              </a:ext>
            </a:extLst>
          </p:cNvPr>
          <p:cNvSpPr txBox="1"/>
          <p:nvPr/>
        </p:nvSpPr>
        <p:spPr>
          <a:xfrm>
            <a:off x="4686300" y="3835399"/>
            <a:ext cx="3276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AE651D"/>
                </a:solidFill>
                <a:latin typeface="Aptos" panose="020B0004020202020204" pitchFamily="34" charset="0"/>
              </a:rPr>
              <a:t>Reliable</a:t>
            </a:r>
          </a:p>
        </p:txBody>
      </p:sp>
      <p:sp>
        <p:nvSpPr>
          <p:cNvPr id="18" name="text_17">
            <a:extLst>
              <a:ext uri="{FF2B5EF4-FFF2-40B4-BE49-F238E27FC236}">
                <a16:creationId xmlns:a16="http://schemas.microsoft.com/office/drawing/2014/main" id="{E7E2680B-CC60-E58D-97F6-2D4CE5A538F7}"/>
              </a:ext>
            </a:extLst>
          </p:cNvPr>
          <p:cNvSpPr txBox="1"/>
          <p:nvPr/>
        </p:nvSpPr>
        <p:spPr>
          <a:xfrm>
            <a:off x="8534400" y="3835399"/>
            <a:ext cx="28194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AE651D"/>
                </a:solidFill>
                <a:latin typeface="Aptos" panose="020B0004020202020204" pitchFamily="34" charset="0"/>
              </a:rPr>
              <a:t>No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36F9EE2-2C2C-7C6B-191D-51C32042D64A}"/>
              </a:ext>
            </a:extLst>
          </p:cNvPr>
          <p:cNvSpPr/>
          <p:nvPr/>
        </p:nvSpPr>
        <p:spPr>
          <a:xfrm>
            <a:off x="685800" y="4368800"/>
            <a:ext cx="10820400" cy="508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_19">
            <a:extLst>
              <a:ext uri="{FF2B5EF4-FFF2-40B4-BE49-F238E27FC236}">
                <a16:creationId xmlns:a16="http://schemas.microsoft.com/office/drawing/2014/main" id="{0A1771D9-CA71-7333-51EA-739650B15D66}"/>
              </a:ext>
            </a:extLst>
          </p:cNvPr>
          <p:cNvSpPr txBox="1"/>
          <p:nvPr/>
        </p:nvSpPr>
        <p:spPr>
          <a:xfrm>
            <a:off x="838200" y="4432299"/>
            <a:ext cx="3276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Reliable</a:t>
            </a:r>
          </a:p>
        </p:txBody>
      </p:sp>
      <p:sp>
        <p:nvSpPr>
          <p:cNvPr id="21" name="text_20">
            <a:extLst>
              <a:ext uri="{FF2B5EF4-FFF2-40B4-BE49-F238E27FC236}">
                <a16:creationId xmlns:a16="http://schemas.microsoft.com/office/drawing/2014/main" id="{2B73238E-5013-3F7D-909E-6F7B09A1C324}"/>
              </a:ext>
            </a:extLst>
          </p:cNvPr>
          <p:cNvSpPr txBox="1"/>
          <p:nvPr/>
        </p:nvSpPr>
        <p:spPr>
          <a:xfrm>
            <a:off x="4686300" y="4432299"/>
            <a:ext cx="3276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Best effort</a:t>
            </a:r>
          </a:p>
        </p:txBody>
      </p:sp>
      <p:sp>
        <p:nvSpPr>
          <p:cNvPr id="22" name="text_21">
            <a:extLst>
              <a:ext uri="{FF2B5EF4-FFF2-40B4-BE49-F238E27FC236}">
                <a16:creationId xmlns:a16="http://schemas.microsoft.com/office/drawing/2014/main" id="{465449AA-BA54-2028-8DB7-8313FC5046D6}"/>
              </a:ext>
            </a:extLst>
          </p:cNvPr>
          <p:cNvSpPr txBox="1"/>
          <p:nvPr/>
        </p:nvSpPr>
        <p:spPr>
          <a:xfrm>
            <a:off x="8534400" y="4432299"/>
            <a:ext cx="28194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B082B74-AA30-39E0-F2BF-ACDBA856C7FC}"/>
              </a:ext>
            </a:extLst>
          </p:cNvPr>
          <p:cNvSpPr/>
          <p:nvPr/>
        </p:nvSpPr>
        <p:spPr>
          <a:xfrm>
            <a:off x="685800" y="4965700"/>
            <a:ext cx="10820400" cy="508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4" name="text_23">
            <a:extLst>
              <a:ext uri="{FF2B5EF4-FFF2-40B4-BE49-F238E27FC236}">
                <a16:creationId xmlns:a16="http://schemas.microsoft.com/office/drawing/2014/main" id="{781C6065-E554-150C-9B19-91D38B29E5C7}"/>
              </a:ext>
            </a:extLst>
          </p:cNvPr>
          <p:cNvSpPr txBox="1"/>
          <p:nvPr/>
        </p:nvSpPr>
        <p:spPr>
          <a:xfrm>
            <a:off x="838200" y="5029199"/>
            <a:ext cx="3276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Reliable</a:t>
            </a:r>
          </a:p>
        </p:txBody>
      </p:sp>
      <p:sp>
        <p:nvSpPr>
          <p:cNvPr id="25" name="text_24">
            <a:extLst>
              <a:ext uri="{FF2B5EF4-FFF2-40B4-BE49-F238E27FC236}">
                <a16:creationId xmlns:a16="http://schemas.microsoft.com/office/drawing/2014/main" id="{8DF706A7-8FF9-90C6-2D01-616F7A98956A}"/>
              </a:ext>
            </a:extLst>
          </p:cNvPr>
          <p:cNvSpPr txBox="1"/>
          <p:nvPr/>
        </p:nvSpPr>
        <p:spPr>
          <a:xfrm>
            <a:off x="4686300" y="5029199"/>
            <a:ext cx="32766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Reliable</a:t>
            </a:r>
          </a:p>
        </p:txBody>
      </p:sp>
      <p:sp>
        <p:nvSpPr>
          <p:cNvPr id="26" name="text_25">
            <a:extLst>
              <a:ext uri="{FF2B5EF4-FFF2-40B4-BE49-F238E27FC236}">
                <a16:creationId xmlns:a16="http://schemas.microsoft.com/office/drawing/2014/main" id="{60443EC7-3E37-19D9-EF6C-66D15C2F70D7}"/>
              </a:ext>
            </a:extLst>
          </p:cNvPr>
          <p:cNvSpPr txBox="1"/>
          <p:nvPr/>
        </p:nvSpPr>
        <p:spPr>
          <a:xfrm>
            <a:off x="8534400" y="5029199"/>
            <a:ext cx="28194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15283B"/>
                </a:solidFill>
                <a:latin typeface="Aptos" panose="020B0004020202020204" pitchFamily="34" charset="0"/>
              </a:rPr>
              <a:t>Yes</a:t>
            </a:r>
          </a:p>
        </p:txBody>
      </p:sp>
      <p:sp>
        <p:nvSpPr>
          <p:cNvPr id="27" name="text_26">
            <a:extLst>
              <a:ext uri="{FF2B5EF4-FFF2-40B4-BE49-F238E27FC236}">
                <a16:creationId xmlns:a16="http://schemas.microsoft.com/office/drawing/2014/main" id="{D2B62E46-A975-D20F-9B8F-28CE57F68E2A}"/>
              </a:ext>
            </a:extLst>
          </p:cNvPr>
          <p:cNvSpPr txBox="1"/>
          <p:nvPr/>
        </p:nvSpPr>
        <p:spPr>
          <a:xfrm>
            <a:off x="685800" y="5727699"/>
            <a:ext cx="10820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526477"/>
                </a:solidFill>
                <a:latin typeface="Aptos" panose="020B0004020202020204" pitchFamily="34" charset="0"/>
              </a:rPr>
              <a:t>Reliability shown here; other policies must also be compatible.</a:t>
            </a:r>
            <a:endParaRPr lang="en-IL" sz="24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342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70DA2868-C0D7-06AD-C74E-5F346CBA2210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OPTIONAL / DEEPER DISCUSSION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BF9DA6D6-E456-4D73-FB30-1047FB75FD7F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Executors and concurrency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98291C54-CBBF-E59D-E4DB-3A3D66C2CB16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Threads help only when callback groups allow work to overlap.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166131-53F5-9A18-A257-1BB841E63652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026F9018-0BC5-413F-8031-A59524A56903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EA061565-EEBD-A8D0-F8F5-75E1910A2073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8" name="text_7">
            <a:extLst>
              <a:ext uri="{FF2B5EF4-FFF2-40B4-BE49-F238E27FC236}">
                <a16:creationId xmlns:a16="http://schemas.microsoft.com/office/drawing/2014/main" id="{E8F20F60-F093-DA24-8332-97595F28C492}"/>
              </a:ext>
            </a:extLst>
          </p:cNvPr>
          <p:cNvSpPr txBox="1"/>
          <p:nvPr/>
        </p:nvSpPr>
        <p:spPr>
          <a:xfrm>
            <a:off x="685800" y="2616199"/>
            <a:ext cx="108204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2459D3"/>
                </a:solidFill>
                <a:latin typeface="Aptos" panose="020B0004020202020204" pitchFamily="34" charset="0"/>
              </a:rPr>
              <a:t>Single-threaded: one callback at a time</a:t>
            </a:r>
            <a:endParaRPr lang="en-IL" sz="2800" b="1">
              <a:solidFill>
                <a:srgbClr val="2459D3"/>
              </a:solidFill>
              <a:latin typeface="Aptos" panose="020B00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DA1479A-5AD4-634D-4F83-CDBD160A16A0}"/>
              </a:ext>
            </a:extLst>
          </p:cNvPr>
          <p:cNvCxnSpPr/>
          <p:nvPr/>
        </p:nvCxnSpPr>
        <p:spPr>
          <a:xfrm>
            <a:off x="2794000" y="3606800"/>
            <a:ext cx="8534400" cy="0"/>
          </a:xfrm>
          <a:prstGeom prst="line">
            <a:avLst/>
          </a:prstGeom>
          <a:ln w="27940">
            <a:solidFill>
              <a:srgbClr val="D7E0E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2F2D9AF-CF50-B1FE-E03F-2DD373D370BA}"/>
              </a:ext>
            </a:extLst>
          </p:cNvPr>
          <p:cNvSpPr/>
          <p:nvPr/>
        </p:nvSpPr>
        <p:spPr>
          <a:xfrm>
            <a:off x="3022600" y="3263900"/>
            <a:ext cx="4064000" cy="6096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3C98C0B5-C465-07BE-F493-938F0C6B846E}"/>
              </a:ext>
            </a:extLst>
          </p:cNvPr>
          <p:cNvSpPr txBox="1"/>
          <p:nvPr/>
        </p:nvSpPr>
        <p:spPr>
          <a:xfrm>
            <a:off x="3200400" y="3390899"/>
            <a:ext cx="3708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Slow callback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B93BD03-04E4-145A-381A-AAD6C3232DBE}"/>
              </a:ext>
            </a:extLst>
          </p:cNvPr>
          <p:cNvSpPr/>
          <p:nvPr/>
        </p:nvSpPr>
        <p:spPr>
          <a:xfrm>
            <a:off x="7289800" y="3263900"/>
            <a:ext cx="2413000" cy="6096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56360B83-87B6-2D03-7C4A-23BAB13FCA6B}"/>
              </a:ext>
            </a:extLst>
          </p:cNvPr>
          <p:cNvSpPr txBox="1"/>
          <p:nvPr/>
        </p:nvSpPr>
        <p:spPr>
          <a:xfrm>
            <a:off x="7467600" y="3390899"/>
            <a:ext cx="2057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Next callback</a:t>
            </a:r>
          </a:p>
        </p:txBody>
      </p:sp>
      <p:sp>
        <p:nvSpPr>
          <p:cNvPr id="14" name="text_13">
            <a:extLst>
              <a:ext uri="{FF2B5EF4-FFF2-40B4-BE49-F238E27FC236}">
                <a16:creationId xmlns:a16="http://schemas.microsoft.com/office/drawing/2014/main" id="{390B672B-ABB9-459C-34DE-F26DA5E28548}"/>
              </a:ext>
            </a:extLst>
          </p:cNvPr>
          <p:cNvSpPr txBox="1"/>
          <p:nvPr/>
        </p:nvSpPr>
        <p:spPr>
          <a:xfrm>
            <a:off x="685800" y="4178299"/>
            <a:ext cx="108204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137F79"/>
                </a:solidFill>
                <a:latin typeface="Aptos" panose="020B0004020202020204" pitchFamily="34" charset="0"/>
              </a:rPr>
              <a:t>Multithreaded: eligible callbacks can overlap</a:t>
            </a:r>
            <a:endParaRPr lang="en-IL" sz="2800" b="1">
              <a:solidFill>
                <a:srgbClr val="137F79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_14">
            <a:extLst>
              <a:ext uri="{FF2B5EF4-FFF2-40B4-BE49-F238E27FC236}">
                <a16:creationId xmlns:a16="http://schemas.microsoft.com/office/drawing/2014/main" id="{D1D79618-7AF8-8F0F-54AE-552D1C6B3D02}"/>
              </a:ext>
            </a:extLst>
          </p:cNvPr>
          <p:cNvSpPr txBox="1"/>
          <p:nvPr/>
        </p:nvSpPr>
        <p:spPr>
          <a:xfrm>
            <a:off x="685800" y="4851399"/>
            <a:ext cx="1981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Worker 1</a:t>
            </a:r>
          </a:p>
        </p:txBody>
      </p:sp>
      <p:sp>
        <p:nvSpPr>
          <p:cNvPr id="16" name="text_15">
            <a:extLst>
              <a:ext uri="{FF2B5EF4-FFF2-40B4-BE49-F238E27FC236}">
                <a16:creationId xmlns:a16="http://schemas.microsoft.com/office/drawing/2014/main" id="{115DF02B-EBC7-A99C-D744-F7DD0328D1F3}"/>
              </a:ext>
            </a:extLst>
          </p:cNvPr>
          <p:cNvSpPr txBox="1"/>
          <p:nvPr/>
        </p:nvSpPr>
        <p:spPr>
          <a:xfrm>
            <a:off x="685800" y="5499099"/>
            <a:ext cx="1981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Worker 2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B50B6A6-E6B1-F90F-4822-5DCEF82FB179}"/>
              </a:ext>
            </a:extLst>
          </p:cNvPr>
          <p:cNvSpPr/>
          <p:nvPr/>
        </p:nvSpPr>
        <p:spPr>
          <a:xfrm>
            <a:off x="3022600" y="4762500"/>
            <a:ext cx="4064000" cy="5461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_17">
            <a:extLst>
              <a:ext uri="{FF2B5EF4-FFF2-40B4-BE49-F238E27FC236}">
                <a16:creationId xmlns:a16="http://schemas.microsoft.com/office/drawing/2014/main" id="{2D649CD8-44C9-DBFB-43A0-FB47E495693F}"/>
              </a:ext>
            </a:extLst>
          </p:cNvPr>
          <p:cNvSpPr txBox="1"/>
          <p:nvPr/>
        </p:nvSpPr>
        <p:spPr>
          <a:xfrm>
            <a:off x="3175000" y="4851399"/>
            <a:ext cx="37592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2459D3"/>
                </a:solidFill>
                <a:latin typeface="Aptos" panose="020B0004020202020204" pitchFamily="34" charset="0"/>
              </a:rPr>
              <a:t>Callback 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435A583-99ED-B808-0E7E-33894DCA4F1B}"/>
              </a:ext>
            </a:extLst>
          </p:cNvPr>
          <p:cNvSpPr/>
          <p:nvPr/>
        </p:nvSpPr>
        <p:spPr>
          <a:xfrm>
            <a:off x="3022600" y="5410200"/>
            <a:ext cx="2413000" cy="5461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_19">
            <a:extLst>
              <a:ext uri="{FF2B5EF4-FFF2-40B4-BE49-F238E27FC236}">
                <a16:creationId xmlns:a16="http://schemas.microsoft.com/office/drawing/2014/main" id="{81464CF7-3B20-8B28-08A0-B59B4D9E6E5C}"/>
              </a:ext>
            </a:extLst>
          </p:cNvPr>
          <p:cNvSpPr txBox="1"/>
          <p:nvPr/>
        </p:nvSpPr>
        <p:spPr>
          <a:xfrm>
            <a:off x="3149600" y="5486399"/>
            <a:ext cx="2159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Callback B</a:t>
            </a:r>
          </a:p>
        </p:txBody>
      </p:sp>
    </p:spTree>
    <p:extLst>
      <p:ext uri="{BB962C8B-B14F-4D97-AF65-F5344CB8AC3E}">
        <p14:creationId xmlns:p14="http://schemas.microsoft.com/office/powerpoint/2010/main" val="2893674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BF464749-0351-7BD3-06EA-F91AA72A4452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OPTIONAL / DEEPER DISCUSSION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DBB31C8D-D3A3-178B-C4C4-C642D207671A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Managed lifecycle transitions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EF9A4774-AF8F-D4A0-EC8E-0E5B9ED8A2C0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A supervisor requests transitions; callbacks manage resources.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F832F8F-9BBE-D000-9C4C-B67103F4E8A4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11725A76-A789-3CC2-F17E-90C9CE590399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B4B1B3ED-AA59-F64D-B1B3-2E5F274F9883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3422834-A65A-9E7F-1CF6-E1A58F67947E}"/>
              </a:ext>
            </a:extLst>
          </p:cNvPr>
          <p:cNvSpPr/>
          <p:nvPr/>
        </p:nvSpPr>
        <p:spPr>
          <a:xfrm>
            <a:off x="685800" y="3009900"/>
            <a:ext cx="2743200" cy="8128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7C278001-9C1E-1242-4B22-36B7BB90D381}"/>
              </a:ext>
            </a:extLst>
          </p:cNvPr>
          <p:cNvSpPr txBox="1"/>
          <p:nvPr/>
        </p:nvSpPr>
        <p:spPr>
          <a:xfrm>
            <a:off x="787400" y="3213099"/>
            <a:ext cx="25400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Unconfigured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A97C5C-17DA-EA1B-1436-B5B739B7F3D7}"/>
              </a:ext>
            </a:extLst>
          </p:cNvPr>
          <p:cNvSpPr/>
          <p:nvPr/>
        </p:nvSpPr>
        <p:spPr>
          <a:xfrm>
            <a:off x="4724400" y="3009900"/>
            <a:ext cx="2743200" cy="8128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5914AD61-0F99-026C-E612-2026D1EF4F47}"/>
              </a:ext>
            </a:extLst>
          </p:cNvPr>
          <p:cNvSpPr txBox="1"/>
          <p:nvPr/>
        </p:nvSpPr>
        <p:spPr>
          <a:xfrm>
            <a:off x="4826000" y="3213099"/>
            <a:ext cx="25400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Inactive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162E83-650B-DCA2-B051-EF65BE670425}"/>
              </a:ext>
            </a:extLst>
          </p:cNvPr>
          <p:cNvSpPr/>
          <p:nvPr/>
        </p:nvSpPr>
        <p:spPr>
          <a:xfrm>
            <a:off x="8763000" y="3009900"/>
            <a:ext cx="2743200" cy="8128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5088064B-FF06-540A-E333-F21293EF23F3}"/>
              </a:ext>
            </a:extLst>
          </p:cNvPr>
          <p:cNvSpPr txBox="1"/>
          <p:nvPr/>
        </p:nvSpPr>
        <p:spPr>
          <a:xfrm>
            <a:off x="8864600" y="3213099"/>
            <a:ext cx="25400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137F79"/>
                </a:solidFill>
                <a:latin typeface="Aptos" panose="020B0004020202020204" pitchFamily="34" charset="0"/>
              </a:rPr>
              <a:t>Active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A97304-6631-EDC1-0A90-EA9672B8544D}"/>
              </a:ext>
            </a:extLst>
          </p:cNvPr>
          <p:cNvCxnSpPr/>
          <p:nvPr/>
        </p:nvCxnSpPr>
        <p:spPr>
          <a:xfrm>
            <a:off x="3429000" y="3263900"/>
            <a:ext cx="1295400" cy="0"/>
          </a:xfrm>
          <a:prstGeom prst="line">
            <a:avLst/>
          </a:prstGeom>
          <a:ln w="27940">
            <a:solidFill>
              <a:srgbClr val="137F7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_14">
            <a:extLst>
              <a:ext uri="{FF2B5EF4-FFF2-40B4-BE49-F238E27FC236}">
                <a16:creationId xmlns:a16="http://schemas.microsoft.com/office/drawing/2014/main" id="{28FB4A0E-EC89-4B9B-2CC0-F3CE27D978D4}"/>
              </a:ext>
            </a:extLst>
          </p:cNvPr>
          <p:cNvSpPr txBox="1"/>
          <p:nvPr/>
        </p:nvSpPr>
        <p:spPr>
          <a:xfrm>
            <a:off x="3378200" y="2654299"/>
            <a:ext cx="1447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37F79"/>
                </a:solidFill>
                <a:latin typeface="Aptos" panose="020B0004020202020204" pitchFamily="34" charset="0"/>
              </a:rPr>
              <a:t>configure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9B5DD99-7289-9651-442C-DFFFDBD6025B}"/>
              </a:ext>
            </a:extLst>
          </p:cNvPr>
          <p:cNvCxnSpPr/>
          <p:nvPr/>
        </p:nvCxnSpPr>
        <p:spPr>
          <a:xfrm>
            <a:off x="7467600" y="3263900"/>
            <a:ext cx="1295400" cy="0"/>
          </a:xfrm>
          <a:prstGeom prst="line">
            <a:avLst/>
          </a:prstGeom>
          <a:ln w="27940">
            <a:solidFill>
              <a:srgbClr val="137F7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_16">
            <a:extLst>
              <a:ext uri="{FF2B5EF4-FFF2-40B4-BE49-F238E27FC236}">
                <a16:creationId xmlns:a16="http://schemas.microsoft.com/office/drawing/2014/main" id="{6E1F514D-323B-CDF8-EE5B-0A460EACB6E3}"/>
              </a:ext>
            </a:extLst>
          </p:cNvPr>
          <p:cNvSpPr txBox="1"/>
          <p:nvPr/>
        </p:nvSpPr>
        <p:spPr>
          <a:xfrm>
            <a:off x="7467600" y="2654299"/>
            <a:ext cx="13208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137F79"/>
                </a:solidFill>
                <a:latin typeface="Aptos" panose="020B0004020202020204" pitchFamily="34" charset="0"/>
              </a:rPr>
              <a:t>activate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4711A5D-AC50-9B50-7215-82AC9DB00489}"/>
              </a:ext>
            </a:extLst>
          </p:cNvPr>
          <p:cNvCxnSpPr/>
          <p:nvPr/>
        </p:nvCxnSpPr>
        <p:spPr>
          <a:xfrm flipH="1">
            <a:off x="3429000" y="3644900"/>
            <a:ext cx="12954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_18">
            <a:extLst>
              <a:ext uri="{FF2B5EF4-FFF2-40B4-BE49-F238E27FC236}">
                <a16:creationId xmlns:a16="http://schemas.microsoft.com/office/drawing/2014/main" id="{C0F416B7-5663-5819-957C-647B443DA3C4}"/>
              </a:ext>
            </a:extLst>
          </p:cNvPr>
          <p:cNvSpPr txBox="1"/>
          <p:nvPr/>
        </p:nvSpPr>
        <p:spPr>
          <a:xfrm>
            <a:off x="3429000" y="3924299"/>
            <a:ext cx="1346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2459D3"/>
                </a:solidFill>
                <a:latin typeface="Aptos" panose="020B0004020202020204" pitchFamily="34" charset="0"/>
              </a:rPr>
              <a:t>cleanup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6261F4C-32D2-A0C1-7B25-068CC1F3C5B3}"/>
              </a:ext>
            </a:extLst>
          </p:cNvPr>
          <p:cNvCxnSpPr/>
          <p:nvPr/>
        </p:nvCxnSpPr>
        <p:spPr>
          <a:xfrm flipH="1">
            <a:off x="7467600" y="3644900"/>
            <a:ext cx="1295400" cy="0"/>
          </a:xfrm>
          <a:prstGeom prst="line">
            <a:avLst/>
          </a:prstGeom>
          <a:ln w="27940">
            <a:solidFill>
              <a:srgbClr val="2459D3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_20">
            <a:extLst>
              <a:ext uri="{FF2B5EF4-FFF2-40B4-BE49-F238E27FC236}">
                <a16:creationId xmlns:a16="http://schemas.microsoft.com/office/drawing/2014/main" id="{C015312D-A850-8258-AFDA-1B598F25A350}"/>
              </a:ext>
            </a:extLst>
          </p:cNvPr>
          <p:cNvSpPr txBox="1"/>
          <p:nvPr/>
        </p:nvSpPr>
        <p:spPr>
          <a:xfrm>
            <a:off x="7150100" y="3924299"/>
            <a:ext cx="19304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>
                <a:solidFill>
                  <a:srgbClr val="2459D3"/>
                </a:solidFill>
                <a:latin typeface="Aptos" panose="020B0004020202020204" pitchFamily="34" charset="0"/>
              </a:rPr>
              <a:t>deactivate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B58823-B537-66AF-87D5-5C0F77960E62}"/>
              </a:ext>
            </a:extLst>
          </p:cNvPr>
          <p:cNvCxnSpPr/>
          <p:nvPr/>
        </p:nvCxnSpPr>
        <p:spPr>
          <a:xfrm>
            <a:off x="2057400" y="4445000"/>
            <a:ext cx="0" cy="304800"/>
          </a:xfrm>
          <a:prstGeom prst="line">
            <a:avLst/>
          </a:prstGeom>
          <a:ln w="27940">
            <a:solidFill>
              <a:srgbClr val="52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38A3FA8-36D3-6053-CA83-938D94EB3541}"/>
              </a:ext>
            </a:extLst>
          </p:cNvPr>
          <p:cNvCxnSpPr/>
          <p:nvPr/>
        </p:nvCxnSpPr>
        <p:spPr>
          <a:xfrm>
            <a:off x="2057400" y="4749800"/>
            <a:ext cx="4038600" cy="0"/>
          </a:xfrm>
          <a:prstGeom prst="line">
            <a:avLst/>
          </a:prstGeom>
          <a:ln w="27940">
            <a:solidFill>
              <a:srgbClr val="52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1B51987-B902-AC2D-FFF2-4DA3D43C7AB5}"/>
              </a:ext>
            </a:extLst>
          </p:cNvPr>
          <p:cNvCxnSpPr/>
          <p:nvPr/>
        </p:nvCxnSpPr>
        <p:spPr>
          <a:xfrm>
            <a:off x="6096000" y="4445000"/>
            <a:ext cx="0" cy="304800"/>
          </a:xfrm>
          <a:prstGeom prst="line">
            <a:avLst/>
          </a:prstGeom>
          <a:ln w="27940">
            <a:solidFill>
              <a:srgbClr val="52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F7993B5-F92C-496D-77D2-FFBBEB05AD4C}"/>
              </a:ext>
            </a:extLst>
          </p:cNvPr>
          <p:cNvCxnSpPr/>
          <p:nvPr/>
        </p:nvCxnSpPr>
        <p:spPr>
          <a:xfrm>
            <a:off x="6096000" y="4749800"/>
            <a:ext cx="0" cy="0"/>
          </a:xfrm>
          <a:prstGeom prst="line">
            <a:avLst/>
          </a:prstGeom>
          <a:ln w="27940">
            <a:solidFill>
              <a:srgbClr val="52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830CA2E-5B03-731C-2B14-A340AFC6450D}"/>
              </a:ext>
            </a:extLst>
          </p:cNvPr>
          <p:cNvCxnSpPr/>
          <p:nvPr/>
        </p:nvCxnSpPr>
        <p:spPr>
          <a:xfrm>
            <a:off x="10134600" y="4445000"/>
            <a:ext cx="0" cy="304800"/>
          </a:xfrm>
          <a:prstGeom prst="line">
            <a:avLst/>
          </a:prstGeom>
          <a:ln w="27940">
            <a:solidFill>
              <a:srgbClr val="52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AA393DB-922E-1B55-F6CC-63574A35A7D1}"/>
              </a:ext>
            </a:extLst>
          </p:cNvPr>
          <p:cNvCxnSpPr/>
          <p:nvPr/>
        </p:nvCxnSpPr>
        <p:spPr>
          <a:xfrm flipH="1">
            <a:off x="6096000" y="4749800"/>
            <a:ext cx="4038600" cy="0"/>
          </a:xfrm>
          <a:prstGeom prst="line">
            <a:avLst/>
          </a:prstGeom>
          <a:ln w="27940">
            <a:solidFill>
              <a:srgbClr val="526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6C55250-A3BB-72AA-E118-7ABC0FD5121D}"/>
              </a:ext>
            </a:extLst>
          </p:cNvPr>
          <p:cNvCxnSpPr/>
          <p:nvPr/>
        </p:nvCxnSpPr>
        <p:spPr>
          <a:xfrm>
            <a:off x="6096000" y="4749800"/>
            <a:ext cx="0" cy="279400"/>
          </a:xfrm>
          <a:prstGeom prst="line">
            <a:avLst/>
          </a:prstGeom>
          <a:ln w="27940">
            <a:solidFill>
              <a:srgbClr val="526477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30B124B-13B3-7012-2960-80FECA20BCFB}"/>
              </a:ext>
            </a:extLst>
          </p:cNvPr>
          <p:cNvSpPr/>
          <p:nvPr/>
        </p:nvSpPr>
        <p:spPr>
          <a:xfrm>
            <a:off x="4724400" y="5054600"/>
            <a:ext cx="2743200" cy="63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D7E0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0" name="text_29">
            <a:extLst>
              <a:ext uri="{FF2B5EF4-FFF2-40B4-BE49-F238E27FC236}">
                <a16:creationId xmlns:a16="http://schemas.microsoft.com/office/drawing/2014/main" id="{AAAB3E9B-E00E-D834-B45B-F03AC2AC505C}"/>
              </a:ext>
            </a:extLst>
          </p:cNvPr>
          <p:cNvSpPr txBox="1"/>
          <p:nvPr/>
        </p:nvSpPr>
        <p:spPr>
          <a:xfrm>
            <a:off x="4876800" y="5168899"/>
            <a:ext cx="24384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400" b="1">
                <a:solidFill>
                  <a:srgbClr val="526477"/>
                </a:solidFill>
                <a:latin typeface="Aptos" panose="020B0004020202020204" pitchFamily="34" charset="0"/>
              </a:rPr>
              <a:t>Finalized</a:t>
            </a:r>
          </a:p>
        </p:txBody>
      </p:sp>
      <p:sp>
        <p:nvSpPr>
          <p:cNvPr id="31" name="text_30">
            <a:extLst>
              <a:ext uri="{FF2B5EF4-FFF2-40B4-BE49-F238E27FC236}">
                <a16:creationId xmlns:a16="http://schemas.microsoft.com/office/drawing/2014/main" id="{E0289F2E-6187-9D06-D38B-66213CFDADEF}"/>
              </a:ext>
            </a:extLst>
          </p:cNvPr>
          <p:cNvSpPr txBox="1"/>
          <p:nvPr/>
        </p:nvSpPr>
        <p:spPr>
          <a:xfrm>
            <a:off x="7721600" y="5092699"/>
            <a:ext cx="37846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2400">
                <a:solidFill>
                  <a:srgbClr val="526477"/>
                </a:solidFill>
                <a:latin typeface="Aptos" panose="020B0004020202020204" pitchFamily="34" charset="0"/>
              </a:rPr>
              <a:t>shutdown</a:t>
            </a:r>
          </a:p>
        </p:txBody>
      </p:sp>
      <p:sp>
        <p:nvSpPr>
          <p:cNvPr id="32" name="text_31">
            <a:extLst>
              <a:ext uri="{FF2B5EF4-FFF2-40B4-BE49-F238E27FC236}">
                <a16:creationId xmlns:a16="http://schemas.microsoft.com/office/drawing/2014/main" id="{AF663BE4-6339-D845-EA81-B746981F0A03}"/>
              </a:ext>
            </a:extLst>
          </p:cNvPr>
          <p:cNvSpPr txBox="1"/>
          <p:nvPr/>
        </p:nvSpPr>
        <p:spPr>
          <a:xfrm>
            <a:off x="685800" y="5791199"/>
            <a:ext cx="10820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>
                <a:solidFill>
                  <a:srgbClr val="526477"/>
                </a:solidFill>
                <a:latin typeface="Aptos" panose="020B0004020202020204" pitchFamily="34" charset="0"/>
              </a:rPr>
              <a:t>Callbacks: success / failure; errors → ErrorProcessing</a:t>
            </a:r>
            <a:endParaRPr lang="en-IL" sz="24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809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1">
            <a:extLst>
              <a:ext uri="{FF2B5EF4-FFF2-40B4-BE49-F238E27FC236}">
                <a16:creationId xmlns:a16="http://schemas.microsoft.com/office/drawing/2014/main" id="{704AB372-D66B-0A4B-0C87-C48B106B7FD1}"/>
              </a:ext>
            </a:extLst>
          </p:cNvPr>
          <p:cNvSpPr txBox="1"/>
          <p:nvPr/>
        </p:nvSpPr>
        <p:spPr>
          <a:xfrm>
            <a:off x="685800" y="330199"/>
            <a:ext cx="914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1600" b="1">
                <a:solidFill>
                  <a:srgbClr val="137F79"/>
                </a:solidFill>
                <a:latin typeface="Aptos" panose="020B0004020202020204" pitchFamily="34" charset="0"/>
              </a:rPr>
              <a:t>OPTIONAL / DEEPER DISCUSSION</a:t>
            </a:r>
          </a:p>
        </p:txBody>
      </p:sp>
      <p:sp>
        <p:nvSpPr>
          <p:cNvPr id="3" name="text_2">
            <a:extLst>
              <a:ext uri="{FF2B5EF4-FFF2-40B4-BE49-F238E27FC236}">
                <a16:creationId xmlns:a16="http://schemas.microsoft.com/office/drawing/2014/main" id="{AD4B8FAF-65CC-4D46-1817-D39D92EB31B3}"/>
              </a:ext>
            </a:extLst>
          </p:cNvPr>
          <p:cNvSpPr txBox="1"/>
          <p:nvPr/>
        </p:nvSpPr>
        <p:spPr>
          <a:xfrm>
            <a:off x="685800" y="812799"/>
            <a:ext cx="10820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IL" sz="4000" b="1">
                <a:solidFill>
                  <a:srgbClr val="15283B"/>
                </a:solidFill>
                <a:latin typeface="Aptos" panose="020B0004020202020204" pitchFamily="34" charset="0"/>
              </a:rPr>
              <a:t>Migrating from ROS 1</a:t>
            </a:r>
          </a:p>
        </p:txBody>
      </p:sp>
      <p:sp>
        <p:nvSpPr>
          <p:cNvPr id="4" name="text_3">
            <a:extLst>
              <a:ext uri="{FF2B5EF4-FFF2-40B4-BE49-F238E27FC236}">
                <a16:creationId xmlns:a16="http://schemas.microsoft.com/office/drawing/2014/main" id="{58AEB06A-9704-20F6-AEFB-C3E9C1A9A2C0}"/>
              </a:ext>
            </a:extLst>
          </p:cNvPr>
          <p:cNvSpPr txBox="1"/>
          <p:nvPr/>
        </p:nvSpPr>
        <p:spPr>
          <a:xfrm>
            <a:off x="685800" y="1574799"/>
            <a:ext cx="1082040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Keep the architectural ideas. Port the implementation.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C12295-AC13-A044-88DA-54C65495E97B}"/>
              </a:ext>
            </a:extLst>
          </p:cNvPr>
          <p:cNvCxnSpPr/>
          <p:nvPr/>
        </p:nvCxnSpPr>
        <p:spPr>
          <a:xfrm>
            <a:off x="685800" y="6273800"/>
            <a:ext cx="10820400" cy="0"/>
          </a:xfrm>
          <a:prstGeom prst="line">
            <a:avLst/>
          </a:prstGeom>
          <a:ln w="27940">
            <a:solidFill>
              <a:srgbClr val="D7E0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5">
            <a:extLst>
              <a:ext uri="{FF2B5EF4-FFF2-40B4-BE49-F238E27FC236}">
                <a16:creationId xmlns:a16="http://schemas.microsoft.com/office/drawing/2014/main" id="{8030EFC5-6B4B-3234-4506-297B343C3256}"/>
              </a:ext>
            </a:extLst>
          </p:cNvPr>
          <p:cNvSpPr txBox="1"/>
          <p:nvPr/>
        </p:nvSpPr>
        <p:spPr>
          <a:xfrm>
            <a:off x="685800" y="6400799"/>
            <a:ext cx="838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526477"/>
                </a:solidFill>
                <a:latin typeface="Aptos" panose="020B0004020202020204" pitchFamily="34" charset="0"/>
              </a:rPr>
              <a:t>Robotics &amp; Autonomous Systems · ROS 2 Jazzy</a:t>
            </a:r>
            <a:endParaRPr lang="en-IL" sz="1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_6">
            <a:extLst>
              <a:ext uri="{FF2B5EF4-FFF2-40B4-BE49-F238E27FC236}">
                <a16:creationId xmlns:a16="http://schemas.microsoft.com/office/drawing/2014/main" id="{6A0D42E8-29A8-C390-7FA4-020663E88782}"/>
              </a:ext>
            </a:extLst>
          </p:cNvPr>
          <p:cNvSpPr txBox="1"/>
          <p:nvPr/>
        </p:nvSpPr>
        <p:spPr>
          <a:xfrm>
            <a:off x="10617200" y="6400799"/>
            <a:ext cx="889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IL" sz="1600">
                <a:solidFill>
                  <a:srgbClr val="526477"/>
                </a:solidFill>
                <a:latin typeface="Aptos" panose="020B0004020202020204" pitchFamily="34" charset="0"/>
              </a:rPr>
              <a:t>17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F1D94B2-E6B2-5502-7E69-F055336C87DD}"/>
              </a:ext>
            </a:extLst>
          </p:cNvPr>
          <p:cNvSpPr/>
          <p:nvPr/>
        </p:nvSpPr>
        <p:spPr>
          <a:xfrm>
            <a:off x="685800" y="2768600"/>
            <a:ext cx="2895600" cy="1104900"/>
          </a:xfrm>
          <a:prstGeom prst="roundRect">
            <a:avLst>
              <a:gd name="adj" fmla="val 9000"/>
            </a:avLst>
          </a:prstGeom>
          <a:solidFill>
            <a:srgbClr val="EAF0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text_8">
            <a:extLst>
              <a:ext uri="{FF2B5EF4-FFF2-40B4-BE49-F238E27FC236}">
                <a16:creationId xmlns:a16="http://schemas.microsoft.com/office/drawing/2014/main" id="{1BCB4593-DD7B-5249-7428-E36E9B9FAF49}"/>
              </a:ext>
            </a:extLst>
          </p:cNvPr>
          <p:cNvSpPr txBox="1"/>
          <p:nvPr/>
        </p:nvSpPr>
        <p:spPr>
          <a:xfrm>
            <a:off x="939800" y="3124199"/>
            <a:ext cx="23876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800" b="1">
                <a:solidFill>
                  <a:srgbClr val="2459D3"/>
                </a:solidFill>
                <a:latin typeface="Aptos" panose="020B0004020202020204" pitchFamily="34" charset="0"/>
              </a:rPr>
              <a:t>ROS 1 graph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71B5D2F-A75B-3378-6A0E-FE325087510F}"/>
              </a:ext>
            </a:extLst>
          </p:cNvPr>
          <p:cNvSpPr/>
          <p:nvPr/>
        </p:nvSpPr>
        <p:spPr>
          <a:xfrm>
            <a:off x="4648200" y="2768600"/>
            <a:ext cx="2895600" cy="11049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6510">
            <a:solidFill>
              <a:srgbClr val="D7E0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_10">
            <a:extLst>
              <a:ext uri="{FF2B5EF4-FFF2-40B4-BE49-F238E27FC236}">
                <a16:creationId xmlns:a16="http://schemas.microsoft.com/office/drawing/2014/main" id="{5991A029-C41A-A833-C76E-C97C7C1E90FF}"/>
              </a:ext>
            </a:extLst>
          </p:cNvPr>
          <p:cNvSpPr txBox="1"/>
          <p:nvPr/>
        </p:nvSpPr>
        <p:spPr>
          <a:xfrm>
            <a:off x="4902200" y="3124199"/>
            <a:ext cx="23876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800" b="1">
                <a:solidFill>
                  <a:srgbClr val="15283B"/>
                </a:solidFill>
                <a:latin typeface="Aptos" panose="020B0004020202020204" pitchFamily="34" charset="0"/>
              </a:rPr>
              <a:t>Bridge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4F54E49-6B7A-D32D-9E7D-4BBDCF054089}"/>
              </a:ext>
            </a:extLst>
          </p:cNvPr>
          <p:cNvSpPr/>
          <p:nvPr/>
        </p:nvSpPr>
        <p:spPr>
          <a:xfrm>
            <a:off x="8610600" y="2768600"/>
            <a:ext cx="2895600" cy="1104900"/>
          </a:xfrm>
          <a:prstGeom prst="roundRect">
            <a:avLst>
              <a:gd name="adj" fmla="val 9000"/>
            </a:avLst>
          </a:prstGeom>
          <a:solidFill>
            <a:srgbClr val="E5F3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_12">
            <a:extLst>
              <a:ext uri="{FF2B5EF4-FFF2-40B4-BE49-F238E27FC236}">
                <a16:creationId xmlns:a16="http://schemas.microsoft.com/office/drawing/2014/main" id="{0523F364-6872-2E35-6BC8-1AADEE0FD914}"/>
              </a:ext>
            </a:extLst>
          </p:cNvPr>
          <p:cNvSpPr txBox="1"/>
          <p:nvPr/>
        </p:nvSpPr>
        <p:spPr>
          <a:xfrm>
            <a:off x="8864600" y="3124199"/>
            <a:ext cx="23876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IL" sz="2800" b="1">
                <a:solidFill>
                  <a:srgbClr val="137F79"/>
                </a:solidFill>
                <a:latin typeface="Aptos" panose="020B0004020202020204" pitchFamily="34" charset="0"/>
              </a:rPr>
              <a:t>ROS 2 graph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34568C1-6A9B-62D5-F1EA-BD33052E7F17}"/>
              </a:ext>
            </a:extLst>
          </p:cNvPr>
          <p:cNvCxnSpPr/>
          <p:nvPr/>
        </p:nvCxnSpPr>
        <p:spPr>
          <a:xfrm>
            <a:off x="3581400" y="3314700"/>
            <a:ext cx="1066800" cy="0"/>
          </a:xfrm>
          <a:prstGeom prst="line">
            <a:avLst/>
          </a:prstGeom>
          <a:ln w="27940">
            <a:solidFill>
              <a:srgbClr val="2459D3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7C49272-8A28-BA3B-C3F6-5707DAB63C0F}"/>
              </a:ext>
            </a:extLst>
          </p:cNvPr>
          <p:cNvCxnSpPr/>
          <p:nvPr/>
        </p:nvCxnSpPr>
        <p:spPr>
          <a:xfrm>
            <a:off x="7543800" y="3314700"/>
            <a:ext cx="1066800" cy="0"/>
          </a:xfrm>
          <a:prstGeom prst="line">
            <a:avLst/>
          </a:prstGeom>
          <a:ln w="27940">
            <a:solidFill>
              <a:srgbClr val="137F79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_15">
            <a:extLst>
              <a:ext uri="{FF2B5EF4-FFF2-40B4-BE49-F238E27FC236}">
                <a16:creationId xmlns:a16="http://schemas.microsoft.com/office/drawing/2014/main" id="{754198A7-9882-D801-822D-E08E30ADE30F}"/>
              </a:ext>
            </a:extLst>
          </p:cNvPr>
          <p:cNvSpPr txBox="1"/>
          <p:nvPr/>
        </p:nvSpPr>
        <p:spPr>
          <a:xfrm>
            <a:off x="685800" y="4444999"/>
            <a:ext cx="108204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 b="1">
                <a:solidFill>
                  <a:srgbClr val="15283B"/>
                </a:solidFill>
                <a:latin typeface="Aptos" panose="020B0004020202020204" pitchFamily="34" charset="0"/>
              </a:rPr>
              <a:t>APIs · build · parameters · launch · QoS</a:t>
            </a:r>
            <a:endParaRPr lang="en-IL" sz="2800" b="1">
              <a:solidFill>
                <a:srgbClr val="15283B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_16">
            <a:extLst>
              <a:ext uri="{FF2B5EF4-FFF2-40B4-BE49-F238E27FC236}">
                <a16:creationId xmlns:a16="http://schemas.microsoft.com/office/drawing/2014/main" id="{589D6F8C-470A-4D0B-3497-6D2BD4038535}"/>
              </a:ext>
            </a:extLst>
          </p:cNvPr>
          <p:cNvSpPr txBox="1"/>
          <p:nvPr/>
        </p:nvSpPr>
        <p:spPr>
          <a:xfrm>
            <a:off x="685800" y="5156199"/>
            <a:ext cx="108204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600">
                <a:solidFill>
                  <a:srgbClr val="526477"/>
                </a:solidFill>
                <a:latin typeface="Aptos" panose="020B0004020202020204" pitchFamily="34" charset="0"/>
              </a:rPr>
              <a:t>Bridge support depends on interfaces, distributions, and operating systems.</a:t>
            </a:r>
            <a:endParaRPr lang="en-IL" sz="2600">
              <a:solidFill>
                <a:srgbClr val="52647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999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5198</Words>
  <Application>Microsoft Office PowerPoint</Application>
  <PresentationFormat>Custom</PresentationFormat>
  <Paragraphs>637</Paragraphs>
  <Slides>17</Slides>
  <Notes>17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גלעד ליפשיץ</dc:creator>
  <cp:lastModifiedBy>גלעד ליפשיץ</cp:lastModifiedBy>
  <cp:revision>1</cp:revision>
  <dcterms:created xsi:type="dcterms:W3CDTF">2026-10-04T14:42:42Z</dcterms:created>
  <dcterms:modified xsi:type="dcterms:W3CDTF">2026-10-04T14:42:42Z</dcterms:modified>
</cp:coreProperties>
</file>