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36814-3E93-4131-8280-34ACB3B98C7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C3F8C-A7E5-4ACB-A3E7-CBE3A8A8D5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338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Week 1 — Robotics &amp; Autonomous Systems
Audience: Python familiarity; little networking knowledge.
Use this title while students settle; begin the timed teaching content on the next slide.
Timing: explanation 25 minutes; code 7; run/inspect 6; experiments 4; questions/recap 3. Total 45 minutes. Five hidden backup slides are outside the schedule.
ROS 2 Jazzy is the teaching baseline, not a claim about the newest ROS distribution.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3048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Establish what students are learning and why it exists.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ROS means Robot Operating System: a software framework for building robotics</a:t>
            </a:r>
          </a:p>
          <a:p>
            <a:r>
              <a:rPr lang="en-US">
                <a:latin typeface="Aptos" panose="020B0004020202020204" pitchFamily="34" charset="0"/>
              </a:rPr>
              <a:t>  applications that runs on an operating system such as Linux.</a:t>
            </a:r>
          </a:p>
          <a:p>
            <a:r>
              <a:rPr lang="en-US">
                <a:latin typeface="Aptos" panose="020B0004020202020204" pitchFamily="34" charset="0"/>
              </a:rPr>
              <a:t>- It supplies communication libraries, development/debugging tools, and an ecosystem</a:t>
            </a:r>
          </a:p>
          <a:p>
            <a:r>
              <a:rPr lang="en-US">
                <a:latin typeface="Aptos" panose="020B0004020202020204" pitchFamily="34" charset="0"/>
              </a:rPr>
              <a:t>  of reusable packages, including drivers and robotics algorithms.</a:t>
            </a:r>
          </a:p>
          <a:p>
            <a:r>
              <a:rPr lang="en-US">
                <a:latin typeface="Aptos" panose="020B0004020202020204" pitchFamily="34" charset="0"/>
              </a:rPr>
              <a:t>- Robotics software combines components written by different people, often in different</a:t>
            </a:r>
          </a:p>
          <a:p>
            <a:r>
              <a:rPr lang="en-US">
                <a:latin typeface="Aptos" panose="020B0004020202020204" pitchFamily="34" charset="0"/>
              </a:rPr>
              <a:t>  languages and running on different computers. ROS supplies common interfaces to connect them.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Three layers: robot application; ROS libraries/tools/packages; host OS/hardware.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Start with “How do a camera, a planner, and a motor driver share</a:t>
            </a:r>
          </a:p>
          <a:p>
            <a:r>
              <a:rPr lang="en-US">
                <a:latin typeface="Aptos" panose="020B0004020202020204" pitchFamily="34" charset="0"/>
              </a:rPr>
              <a:t>information?” Define middleware as software handling communication between application</a:t>
            </a:r>
          </a:p>
          <a:p>
            <a:r>
              <a:rPr lang="en-US">
                <a:latin typeface="Aptos" panose="020B0004020202020204" pitchFamily="34" charset="0"/>
              </a:rPr>
              <a:t>components. Explain the purpose before introducing API names.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Python supplies the application logic; rclpy supplies ROS</a:t>
            </a:r>
          </a:p>
          <a:p>
            <a:r>
              <a:rPr lang="en-US">
                <a:latin typeface="Aptos" panose="020B0004020202020204" pitchFamily="34" charset="0"/>
              </a:rPr>
              <a:t>interfaces; std_msgs supplies the message definition.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Official ROS 2 overview: https://github.com/ros2/ros2_documentation/blob/jazzy/source/index.rst.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2654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Connect the framework to complete robots and industrial applications.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Example robot: sensor drivers → perception/localization → planning → control →</a:t>
            </a:r>
          </a:p>
          <a:p>
            <a:r>
              <a:rPr lang="en-US">
                <a:latin typeface="Aptos" panose="020B0004020202020204" pitchFamily="34" charset="0"/>
              </a:rPr>
              <a:t>  actuator drivers. Localization also consumes motion feedback from the robot.</a:t>
            </a:r>
          </a:p>
          <a:p>
            <a:r>
              <a:rPr lang="en-US">
                <a:latin typeface="Aptos" panose="020B0004020202020204" pitchFamily="34" charset="0"/>
              </a:rPr>
              <a:t>- Teams can integrate modules, inspect data, and reuse existing drivers and algorithms.</a:t>
            </a:r>
          </a:p>
          <a:p>
            <a:r>
              <a:rPr lang="en-US">
                <a:latin typeface="Aptos" panose="020B0004020202020204" pitchFamily="34" charset="0"/>
              </a:rPr>
              <a:t>- Compatible interfaces allow simulated sensors/actuators to replace hardware during</a:t>
            </a:r>
          </a:p>
          <a:p>
            <a:r>
              <a:rPr lang="en-US">
                <a:latin typeface="Aptos" panose="020B0004020202020204" pitchFamily="34" charset="0"/>
              </a:rPr>
              <a:t>  development. Physical behavior and timing still need validation on the robot.</a:t>
            </a:r>
          </a:p>
          <a:p>
            <a:r>
              <a:rPr lang="en-US">
                <a:latin typeface="Aptos" panose="020B0004020202020204" pitchFamily="34" charset="0"/>
              </a:rPr>
              <a:t>- Industry examples: ROS-Industrial's work with BMW and Microsoft on logistics</a:t>
            </a:r>
          </a:p>
          <a:p>
            <a:r>
              <a:rPr lang="en-US">
                <a:latin typeface="Aptos" panose="020B0004020202020204" pitchFamily="34" charset="0"/>
              </a:rPr>
              <a:t>  interoperability, and robotic blending/scan-and-plan work for foundries. These are</a:t>
            </a:r>
          </a:p>
          <a:p>
            <a:r>
              <a:rPr lang="en-US">
                <a:latin typeface="Aptos" panose="020B0004020202020204" pitchFamily="34" charset="0"/>
              </a:rPr>
              <a:t>  documented ROS ecosystem applications; do not assume all use the same ROS generation.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Robot software graph with sensor inputs, actuator outputs, and an alternative</a:t>
            </a:r>
          </a:p>
          <a:p>
            <a:r>
              <a:rPr lang="en-US">
                <a:latin typeface="Aptos" panose="020B0004020202020204" pitchFamily="34" charset="0"/>
              </a:rPr>
              <a:t>simulation boundary. Place the industrial examples beside the graph.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Explain the benefit: interoperability for logistics; perception</a:t>
            </a:r>
          </a:p>
          <a:p>
            <a:r>
              <a:rPr lang="en-US">
                <a:latin typeface="Aptos" panose="020B0004020202020204" pitchFamily="34" charset="0"/>
              </a:rPr>
              <a:t>linked to motion planning for manufacturing. ROS adoption alone does not make a system</a:t>
            </a:r>
          </a:p>
          <a:p>
            <a:r>
              <a:rPr lang="en-US">
                <a:latin typeface="Aptos" panose="020B0004020202020204" pitchFamily="34" charset="0"/>
              </a:rPr>
              <a:t>safety certified or guarantee hard real-time control; these require system-level design.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The greeting producer and consumer represent two software modules;</a:t>
            </a:r>
          </a:p>
          <a:p>
            <a:r>
              <a:rPr lang="en-US">
                <a:latin typeface="Aptos" panose="020B0004020202020204" pitchFamily="34" charset="0"/>
              </a:rPr>
              <a:t>a real sensor publishes structured measurements rather than greetings.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ROS-Industrial applications and project overview: https://rosindustrial.org/.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54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 Keep the timeline brief to allow 2 minutes for the whole-network overview.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Explain the redesign and establish which ROS students will use.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ROS development began in 2007 around Willow Garage's PR2 research platform.</a:t>
            </a:r>
          </a:p>
          <a:p>
            <a:r>
              <a:rPr lang="en-US">
                <a:latin typeface="Aptos" panose="020B0004020202020204" pitchFamily="34" charset="0"/>
              </a:rPr>
              <a:t>- ROS 2 addressed broader needs: multiple robots, embedded computers, unreliable</a:t>
            </a:r>
          </a:p>
          <a:p>
            <a:r>
              <a:rPr lang="en-US">
                <a:latin typeface="Aptos" panose="020B0004020202020204" pitchFamily="34" charset="0"/>
              </a:rPr>
              <a:t>  networks, production deployments, and more controlled execution.</a:t>
            </a:r>
          </a:p>
          <a:p>
            <a:r>
              <a:rPr lang="en-US">
                <a:latin typeface="Aptos" panose="020B0004020202020204" pitchFamily="34" charset="0"/>
              </a:rPr>
              <a:t>- ROS 2's first non-beta distribution was Ardent Apalone in 2017.</a:t>
            </a:r>
          </a:p>
          <a:p>
            <a:r>
              <a:rPr lang="en-US">
                <a:latin typeface="Aptos" panose="020B0004020202020204" pitchFamily="34" charset="0"/>
              </a:rPr>
              <a:t>- ROS 1's final official distribution, Noetic, reached end of life on May 31, 2025.</a:t>
            </a:r>
          </a:p>
          <a:p>
            <a:r>
              <a:rPr lang="en-US">
                <a:latin typeface="Aptos" panose="020B0004020202020204" pitchFamily="34" charset="0"/>
              </a:rPr>
              <a:t>  Existing ROS 1 systems remain, but this course uses ROS 2.</a:t>
            </a:r>
          </a:p>
          <a:p>
            <a:r>
              <a:rPr lang="en-US">
                <a:latin typeface="Aptos" panose="020B0004020202020204" pitchFamily="34" charset="0"/>
              </a:rPr>
              <a:t>- ROS 1/ROS 2 are framework generations; Jazzy is a ROS 2 distribution bundling</a:t>
            </a:r>
          </a:p>
          <a:p>
            <a:r>
              <a:rPr lang="en-US">
                <a:latin typeface="Aptos" panose="020B0004020202020204" pitchFamily="34" charset="0"/>
              </a:rPr>
              <a:t>  compatible package versions. Jazzy is the demo baseline, not a claim about the newest release.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| Aspect | ROS 1 | ROS 2 |</a:t>
            </a:r>
          </a:p>
          <a:p>
            <a:r>
              <a:rPr lang="en-US">
                <a:latin typeface="Aptos" panose="020B0004020202020204" pitchFamily="34" charset="0"/>
              </a:rPr>
              <a:t>| --- | --- | --- |</a:t>
            </a:r>
          </a:p>
          <a:p>
            <a:r>
              <a:rPr lang="en-US">
                <a:latin typeface="Aptos" panose="020B0004020202020204" pitchFamily="34" charset="0"/>
              </a:rPr>
              <a:t>| Discovery | Nodes register with a ROS master | DDS-based discovery in the course setup; no ROS master |</a:t>
            </a:r>
          </a:p>
          <a:p>
            <a:r>
              <a:rPr lang="en-US">
                <a:latin typeface="Aptos" panose="020B0004020202020204" pitchFamily="34" charset="0"/>
              </a:rPr>
              <a:t>| Topic transport | Custom protocols, commonly TCPROS | Replaceable RMW layer; DDS/RTPS in this explanation |</a:t>
            </a:r>
          </a:p>
          <a:p>
            <a:r>
              <a:rPr lang="en-US">
                <a:latin typeface="Aptos" panose="020B0004020202020204" pitchFamily="34" charset="0"/>
              </a:rPr>
              <a:t>| Delivery policies | More limited options, including latching | Configurable QoS, including reliability/durability |</a:t>
            </a:r>
          </a:p>
          <a:p>
            <a:r>
              <a:rPr lang="en-US">
                <a:latin typeface="Aptos" panose="020B0004020202020204" pitchFamily="34" charset="0"/>
              </a:rPr>
              <a:t>| Node management | Application-specific coordination | Standard managed lifecycle interface available |</a:t>
            </a:r>
          </a:p>
          <a:p>
            <a:r>
              <a:rPr lang="en-US">
                <a:latin typeface="Aptos" panose="020B0004020202020204" pitchFamily="34" charset="0"/>
              </a:rPr>
              <a:t>| Application libraries | rospy, roscpp | rclpy, rclcpp |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Timeline and comparison table. In a ROS 1 sketch, distinguish master discovery</a:t>
            </a:r>
          </a:p>
          <a:p>
            <a:r>
              <a:rPr lang="en-US">
                <a:latin typeface="Aptos" panose="020B0004020202020204" pitchFamily="34" charset="0"/>
              </a:rPr>
              <a:t>arrows from a direct data arrow between nodes.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The ROS 1 master helps endpoints find each other; it does not</a:t>
            </a:r>
          </a:p>
          <a:p>
            <a:r>
              <a:rPr lang="en-US">
                <a:latin typeface="Aptos" panose="020B0004020202020204" pitchFamily="34" charset="0"/>
              </a:rPr>
              <a:t>relay every topic message. ROS 2 changes APIs/infrastructure while retaining concepts</a:t>
            </a:r>
          </a:p>
          <a:p>
            <a:r>
              <a:rPr lang="en-US">
                <a:latin typeface="Aptos" panose="020B0004020202020204" pitchFamily="34" charset="0"/>
              </a:rPr>
              <a:t>such as nodes and topics. Real-time capability depends on the full system.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The scripts import rclpy; there is no roscore startup step.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Origins and redesign motivations: https://design.ros2.org/articles/why_ros2.html,</a:t>
            </a:r>
          </a:p>
          <a:p>
            <a:r>
              <a:rPr lang="en-US">
                <a:latin typeface="Aptos" panose="020B0004020202020204" pitchFamily="34" charset="0"/>
              </a:rPr>
              <a:t>Ardent release: https://github.com/ros2/ros2_documentation/blob/jazzy/source/Releases/Release-Ardent-Apalone.rst,</a:t>
            </a:r>
          </a:p>
          <a:p>
            <a:r>
              <a:rPr lang="en-US">
                <a:latin typeface="Aptos" panose="020B0004020202020204" pitchFamily="34" charset="0"/>
              </a:rPr>
              <a:t>distribution dates: https://github.com/ros2/ros2_documentation/blob/jazzy/source/Releases.rst,</a:t>
            </a:r>
          </a:p>
          <a:p>
            <a:r>
              <a:rPr lang="en-US">
                <a:latin typeface="Aptos" panose="020B0004020202020204" pitchFamily="34" charset="0"/>
              </a:rPr>
              <a:t>official ROS 1 end-of-life announcement: https://discourse.ros.org/t/ros-noetic-end-of-life-may-31-2025/43160.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0417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Explain how a robot application is decomposed.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A node is a logical component with a responsibility: camera driver, localization,</a:t>
            </a:r>
          </a:p>
          <a:p>
            <a:r>
              <a:rPr lang="en-US">
                <a:latin typeface="Aptos" panose="020B0004020202020204" pitchFamily="34" charset="0"/>
              </a:rPr>
              <a:t>  planner, or motor interface. It creates communication endpoints and performs work.</a:t>
            </a:r>
          </a:p>
          <a:p>
            <a:r>
              <a:rPr lang="en-US">
                <a:latin typeface="Aptos" panose="020B0004020202020204" pitchFamily="34" charset="0"/>
              </a:rPr>
              <a:t>- A process is a running OS program. One process can contain multiple ROS nodes;</a:t>
            </a:r>
          </a:p>
          <a:p>
            <a:r>
              <a:rPr lang="en-US">
                <a:latin typeface="Aptos" panose="020B0004020202020204" pitchFamily="34" charset="0"/>
              </a:rPr>
              <a:t>  this demo runs one node per Python process.</a:t>
            </a:r>
          </a:p>
          <a:p>
            <a:r>
              <a:rPr lang="en-US">
                <a:latin typeface="Aptos" panose="020B0004020202020204" pitchFamily="34" charset="0"/>
              </a:rPr>
              <a:t>- The ROS graph describes nodes and communication connections. Names and namespaces</a:t>
            </a:r>
          </a:p>
          <a:p>
            <a:r>
              <a:rPr lang="en-US">
                <a:latin typeface="Aptos" panose="020B0004020202020204" pitchFamily="34" charset="0"/>
              </a:rPr>
              <a:t>  help identify components. Our nodes are /greeting_publisher and /greeting_subscriber.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Two process boxes containing the demo nodes; beside them, one process</a:t>
            </a:r>
          </a:p>
          <a:p>
            <a:r>
              <a:rPr lang="en-US">
                <a:latin typeface="Aptos" panose="020B0004020202020204" pitchFamily="34" charset="0"/>
              </a:rPr>
              <a:t>containing two nodes to distinguish the concepts.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Point to super().__init__('greeting_publisher'). The class name,</a:t>
            </a:r>
          </a:p>
          <a:p>
            <a:r>
              <a:rPr lang="en-US">
                <a:latin typeface="Aptos" panose="020B0004020202020204" pitchFamily="34" charset="0"/>
              </a:rPr>
              <a:t>script filename, and ROS node name are different identifiers.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ros2 node list reports graph names, not Python class names.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ROS 2 nodes: https://github.com/ros2/ros2_documentation/blob/jazzy/source/Concepts/Basic/About-Nodes.rst.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0257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 Save the detailed code explanation for the live walkthrough.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Teach the communication pattern used in the demo.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A topic names a channel carrying data of a defined message type.</a:t>
            </a:r>
          </a:p>
          <a:p>
            <a:r>
              <a:rPr lang="en-US">
                <a:latin typeface="Aptos" panose="020B0004020202020204" pitchFamily="34" charset="0"/>
              </a:rPr>
              <a:t>- A publisher sends messages; a subscription receives them and registers a</a:t>
            </a:r>
          </a:p>
          <a:p>
            <a:r>
              <a:rPr lang="en-US">
                <a:latin typeface="Aptos" panose="020B0004020202020204" pitchFamily="34" charset="0"/>
              </a:rPr>
              <a:t>  callback. Multiple publishers and subscribers can use the same topic.</a:t>
            </a:r>
          </a:p>
          <a:p>
            <a:r>
              <a:rPr lang="en-US">
                <a:latin typeface="Aptos" panose="020B0004020202020204" pitchFamily="34" charset="0"/>
              </a:rPr>
              <a:t>- Endpoints need the same resolved topic name, compatible type, and compatible QoS.</a:t>
            </a:r>
          </a:p>
          <a:p>
            <a:r>
              <a:rPr lang="en-US">
                <a:latin typeface="Aptos" panose="020B0004020202020204" pitchFamily="34" charset="0"/>
              </a:rPr>
              <a:t>  A shared name alone is insufficient.</a:t>
            </a:r>
          </a:p>
          <a:p>
            <a:r>
              <a:rPr lang="en-US">
                <a:latin typeface="Aptos" panose="020B0004020202020204" pitchFamily="34" charset="0"/>
              </a:rPr>
              <a:t>- Message definitions describe fields; generated language bindings let Python and</a:t>
            </a:r>
          </a:p>
          <a:p>
            <a:r>
              <a:rPr lang="en-US">
                <a:latin typeface="Aptos" panose="020B0004020202020204" pitchFamily="34" charset="0"/>
              </a:rPr>
              <a:t>  C++ code use the same interface.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text</a:t>
            </a:r>
          </a:p>
          <a:p>
            <a:r>
              <a:rPr lang="en-US">
                <a:latin typeface="Aptos" panose="020B0004020202020204" pitchFamily="34" charset="0"/>
              </a:rPr>
              <a:t>/greeting_publisher → /chatter (std_msgs/msg/String) → /greeting_subscriber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Definition: string data       Python: message = String()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      message.data = 'Hello, robotics! Message 0'</a:t>
            </a:r>
          </a:p>
          <a:p>
            <a:endParaRPr lang="en-US"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The diagram above with a second subscriber branch; show the field definition</a:t>
            </a:r>
          </a:p>
          <a:p>
            <a:r>
              <a:rPr lang="en-US">
                <a:latin typeface="Aptos" panose="020B0004020202020204" pitchFamily="34" charset="0"/>
              </a:rPr>
              <a:t>beside the Python assignment.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A topic is a name and contract, not a separate broker process or</a:t>
            </a:r>
          </a:p>
          <a:p>
            <a:r>
              <a:rPr lang="en-US">
                <a:latin typeface="Aptos" panose="020B0004020202020204" pitchFamily="34" charset="0"/>
              </a:rPr>
              <a:t>storage service. String keeps the example small; actual sensors use richer types.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Both constructors use String and /chatter. Show the definition</a:t>
            </a:r>
          </a:p>
          <a:p>
            <a:r>
              <a:rPr lang="en-US">
                <a:latin typeface="Aptos" panose="020B0004020202020204" pitchFamily="34" charset="0"/>
              </a:rPr>
              <a:t>with ros2 interface show std_msgs/msg/String live.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Interface definitions: https://github.com/ros2/ros2_documentation/blob/jazzy/source/Concepts/Basic/About-Interfaces.rst.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0872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Choose the right interface for a task.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| Concept | Interaction | Example |</a:t>
            </a:r>
          </a:p>
          <a:p>
            <a:r>
              <a:rPr lang="en-US">
                <a:latin typeface="Aptos" panose="020B0004020202020204" pitchFamily="34" charset="0"/>
              </a:rPr>
              <a:t>| --- | --- | --- |</a:t>
            </a:r>
          </a:p>
          <a:p>
            <a:r>
              <a:rPr lang="en-US">
                <a:latin typeface="Aptos" panose="020B0004020202020204" pitchFamily="34" charset="0"/>
              </a:rPr>
              <a:t>| Topic | Stream of typed messages | Sensor readings |</a:t>
            </a:r>
          </a:p>
          <a:p>
            <a:r>
              <a:rPr lang="en-US">
                <a:latin typeface="Aptos" panose="020B0004020202020204" pitchFamily="34" charset="0"/>
              </a:rPr>
              <a:t>| Service | Client request → server response | Reset odometry and return success |</a:t>
            </a:r>
          </a:p>
          <a:p>
            <a:r>
              <a:rPr lang="en-US">
                <a:latin typeface="Aptos" panose="020B0004020202020204" pitchFamily="34" charset="0"/>
              </a:rPr>
              <a:t>| Action | Goal → feedback → result; cancellation can be requested | Navigate to a waypoint |</a:t>
            </a:r>
          </a:p>
          <a:p>
            <a:r>
              <a:rPr lang="en-US">
                <a:latin typeface="Aptos" panose="020B0004020202020204" pitchFamily="34" charset="0"/>
              </a:rPr>
              <a:t>| Parameter | Named, typed configuration belonging to a node | Sensor exposure or frame name |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.srv defines request and response separated by ---; .action defines goal,</a:t>
            </a:r>
          </a:p>
          <a:p>
            <a:r>
              <a:rPr lang="en-US">
                <a:latin typeface="Aptos" panose="020B0004020202020204" pitchFamily="34" charset="0"/>
              </a:rPr>
              <a:t>  result, and feedback. Cancellation is handled by the server and need not be immediate.</a:t>
            </a:r>
          </a:p>
          <a:p>
            <a:r>
              <a:rPr lang="en-US">
                <a:latin typeface="Aptos" panose="020B0004020202020204" pitchFamily="34" charset="0"/>
              </a:rPr>
              <a:t>- ROS 2 parameters belong to nodes, rather than a ROS 1-style global parameter server.</a:t>
            </a:r>
          </a:p>
          <a:p>
            <a:r>
              <a:rPr lang="en-US">
                <a:latin typeface="Aptos" panose="020B0004020202020204" pitchFamily="34" charset="0"/>
              </a:rPr>
              <a:t>  Whether a parameter can change at runtime depends on the node.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Three communication diagrams plus a configuration box attached to a node.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Ask which pattern fits camera frames, reset, and drive to a goal.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These scripts exercise topics. Their interval and greeting are</a:t>
            </a:r>
          </a:p>
          <a:p>
            <a:r>
              <a:rPr lang="en-US">
                <a:latin typeface="Aptos" panose="020B0004020202020204" pitchFamily="34" charset="0"/>
              </a:rPr>
              <a:t>hardcoded; they have not been exposed as custom parameters.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Interfaces: https://github.com/ros2/ros2_documentation/blob/jazzy/source/Concepts/Basic/About-Interfaces.rst,</a:t>
            </a:r>
          </a:p>
          <a:p>
            <a:r>
              <a:rPr lang="en-US">
                <a:latin typeface="Aptos" panose="020B0004020202020204" pitchFamily="34" charset="0"/>
              </a:rPr>
              <a:t>parameters: https://github.com/ros2/ros2_documentation/blob/jazzy/source/Concepts/Basic/About-Parameters.rst.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9166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 This is the high-level overview after introducing topics, services, actions, and parameters.
Explain the nesting from the outside inward: the outer boundary is one logical ROS domain (ROS_DOMAIN_ID=42); the two inner boxes are physical computers; the smaller boxes are ROS nodes. A computer can host several processes, and a process can contain several nodes, as the earlier node/process slide showed. The diagram does not assign one process per node.
Read the connections:
TOPIC: the Camera node on the robot publishes images; the Perception node on the operator computer subscribes. Topics support multiple publishers and readers; only one reader is drawn for clarity.
SERVICE: the Diagnostics node is a client requesting a reset from the Motor node's service server. The response travels back to Diagnostics. The double arrow represents request and response, not a continuously bidirectional stream.
ACTION: the Mission node sends a navigation goal to the Navigation node's action server. Feedback and the final result return to Mission; Mission can request cancellation. The double arrow summarizes these interactions.
LOCAL CONNECTION: Navigation publishes velocity commands to Motor on the robot computer. Point to the short upward arrow between those two nodes. The same graph supports communication within a computer and across computers.
Nodes can combine roles. Motor subscribes to commands and offers a reset service; Navigation offers an action and publishes commands. Nodes connect through named, typed interfaces rather than needing the consumer's physical location. A topic is not a separate broker process. Services and actions do not require a central ROS master. Parameters belong to individual nodes and are configuration, so they were introduced on the previous slide rather than drawn as another network-wide bus.
The ROS domain groups discoverable participants; it is neither a computer nor a subnet nor a security boundary. Several domains can coexist on the same physical network. In the ordinary DDS setup, different domain IDs do not communicate directly; bridging/routing is outside this overview. The same ID alone is insufficient: discovery must be allowed across machines, transport must be reachable (including firewall/network configuration), and endpoint names/types and topic QoS must be compatible. Nodes need not all connect to one another.
This diagram is a conceptual two-computer deployment. The existing demo stays on one machine because ROS_AUTOMATIC_DISCOVERY_RANGE=LOCALHOST. Do not change the demo or its README; briefly contrast that setup with this larger deployment.
Quick comprehension check: Can Mission stay on the laptop while Navigation runs on the robot? Yes, with the matching action interface and working middleware/network configuration. Does joining domain 42 mean every node exchanges data with every other node? No; interfaces and matching determine connections.
References:
ROS domain ID: https://github.com/ros2/ros2_documentation/blob/jazzy/source/Concepts/Intermediate/About-Domain-ID.rst
Discovery range: https://github.com/ros2/ros2_documentation/blob/jazzy/source/Tutorials/Advanced/Improved-Dynamic-Discovery.rst
Actions and client/server roles: https://github.com/ros2/ros2_documentation/blob/jazzy/source/Concepts/Basic/About-Actions.rst
Nodes: https://github.com/ros2/ros2_documentation/blob/jazzy/source/Concepts/Basic/About-Nodes.rst
Interfaces: https://github.com/ros2/ros2_documentation/blob/jazzy/source/Concepts/Basic/About-Interfaces.rst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2022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4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Explain what sits underneath the ROS API.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text</a:t>
            </a:r>
          </a:p>
          <a:p>
            <a:r>
              <a:rPr lang="en-US">
                <a:latin typeface="Aptos" panose="020B0004020202020204" pitchFamily="34" charset="0"/>
              </a:rPr>
              <a:t>Application: GreetingPublisher / GreetingSubscriber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Client library: rclpy (Python) / rclcpp (C++)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rcl: shared C client-library core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rmw: ROS middleware interface and selected adapter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DDS implementation: for example Fast DDS or Cyclone DDS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Transport: for example UDP/IP; local delivery may use shared memory</a:t>
            </a:r>
          </a:p>
          <a:p>
            <a:endParaRPr lang="en-US"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DDS (Data Distribution Service) is industry-standard middleware for typed</a:t>
            </a:r>
          </a:p>
          <a:p>
            <a:r>
              <a:rPr lang="en-US">
                <a:latin typeface="Aptos" panose="020B0004020202020204" pitchFamily="34" charset="0"/>
              </a:rPr>
              <a:t>  publish/subscribe exchange. ROS supplies robotics-facing APIs above it.</a:t>
            </a:r>
          </a:p>
          <a:p>
            <a:r>
              <a:rPr lang="en-US">
                <a:latin typeface="Aptos" panose="020B0004020202020204" pitchFamily="34" charset="0"/>
              </a:rPr>
              <a:t>- A DomainParticipant joins a DDS domain. DataWriters and DataReaders are</a:t>
            </a:r>
          </a:p>
          <a:p>
            <a:r>
              <a:rPr lang="en-US">
                <a:latin typeface="Aptos" panose="020B0004020202020204" pitchFamily="34" charset="0"/>
              </a:rPr>
              <a:t>  sending/receiving endpoints underlying topic communication. ROS nodes do not</a:t>
            </a:r>
          </a:p>
          <a:p>
            <a:r>
              <a:rPr lang="en-US">
                <a:latin typeface="Aptos" panose="020B0004020202020204" pitchFamily="34" charset="0"/>
              </a:rPr>
              <a:t>  necessarily map one-to-one to DDS participants.</a:t>
            </a:r>
          </a:p>
          <a:p>
            <a:r>
              <a:rPr lang="en-US">
                <a:latin typeface="Aptos" panose="020B0004020202020204" pitchFamily="34" charset="0"/>
              </a:rPr>
              <a:t>- Discovery: participants find one another and exchange endpoint information.</a:t>
            </a:r>
          </a:p>
          <a:p>
            <a:r>
              <a:rPr lang="en-US">
                <a:latin typeface="Aptos" panose="020B0004020202020204" pitchFamily="34" charset="0"/>
              </a:rPr>
              <a:t>  Compatible topic/type/QoS endpoints match, then exchange application data.</a:t>
            </a:r>
          </a:p>
          <a:p>
            <a:r>
              <a:rPr lang="en-US">
                <a:latin typeface="Aptos" panose="020B0004020202020204" pitchFamily="34" charset="0"/>
              </a:rPr>
              <a:t>- Serialization: convert fields into bytes for transport; deserialize on receipt.</a:t>
            </a:r>
          </a:p>
          <a:p>
            <a:r>
              <a:rPr lang="en-US">
                <a:latin typeface="Aptos" panose="020B0004020202020204" pitchFamily="34" charset="0"/>
              </a:rPr>
              <a:t>- RTPS is the interoperability wire protocol used by DDS implementations. DDS</a:t>
            </a:r>
          </a:p>
          <a:p>
            <a:r>
              <a:rPr lang="en-US">
                <a:latin typeface="Aptos" panose="020B0004020202020204" pitchFamily="34" charset="0"/>
              </a:rPr>
              <a:t>  describes middleware behavior/API; RTPS describes protocol-level communication.</a:t>
            </a:r>
          </a:p>
          <a:p>
            <a:r>
              <a:rPr lang="en-US">
                <a:latin typeface="Aptos" panose="020B0004020202020204" pitchFamily="34" charset="0"/>
              </a:rPr>
              <a:t>- RMW allows different middleware implementations. Use DDS for this Jazzy explanation</a:t>
            </a:r>
          </a:p>
          <a:p>
            <a:r>
              <a:rPr lang="en-US">
                <a:latin typeface="Aptos" panose="020B0004020202020204" pitchFamily="34" charset="0"/>
              </a:rPr>
              <a:t>  without claiming every ROS 2 deployment must use DDS.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Layer stack plus two peers with dashed discovery and solid data arrows.</a:t>
            </a:r>
          </a:p>
          <a:p>
            <a:r>
              <a:rPr lang="en-US">
                <a:latin typeface="Aptos" panose="020B0004020202020204" pitchFamily="34" charset="0"/>
              </a:rPr>
              <a:t>Label their writer/reader; do not insert a central topic broker.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Introduce terms one at a time. ROS_DOMAIN_ID=42 groups the demo's</a:t>
            </a:r>
          </a:p>
          <a:p>
            <a:r>
              <a:rPr lang="en-US">
                <a:latin typeface="Aptos" panose="020B0004020202020204" pitchFamily="34" charset="0"/>
              </a:rPr>
              <a:t>participants; LOCALHOST restricts discovery to this machine. The same domain is</a:t>
            </a:r>
          </a:p>
          <a:p>
            <a:r>
              <a:rPr lang="en-US">
                <a:latin typeface="Aptos" panose="020B0004020202020204" pitchFamily="34" charset="0"/>
              </a:rPr>
              <a:t>necessary here, but topic/type/QoS and network checks still matter. A domain ID does</a:t>
            </a:r>
          </a:p>
          <a:p>
            <a:r>
              <a:rPr lang="en-US">
                <a:latin typeface="Aptos" panose="020B0004020202020204" pitchFamily="34" charset="0"/>
              </a:rPr>
              <a:t>not authenticate participants.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publish(message) enters the stack without application socket</a:t>
            </a:r>
          </a:p>
          <a:p>
            <a:r>
              <a:rPr lang="en-US">
                <a:latin typeface="Aptos" panose="020B0004020202020204" pitchFamily="34" charset="0"/>
              </a:rPr>
              <a:t>code. Middleware receives data; the executor schedules the Python callback.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Middleware interface: https://design.ros2.org/articles/ros_middleware_interface.html,</a:t>
            </a:r>
          </a:p>
          <a:p>
            <a:r>
              <a:rPr lang="en-US">
                <a:latin typeface="Aptos" panose="020B0004020202020204" pitchFamily="34" charset="0"/>
              </a:rPr>
              <a:t>client libraries: https://github.com/ros2/ros2_documentation/blob/jazzy/source/Concepts/Basic/About-Client-Libraries.rst,</a:t>
            </a:r>
          </a:p>
          <a:p>
            <a:r>
              <a:rPr lang="en-US">
                <a:latin typeface="Aptos" panose="020B0004020202020204" pitchFamily="34" charset="0"/>
              </a:rPr>
              <a:t>DDS implementations and RTPS: https://github.com/ros2/ros2_documentation/blob/jazzy/source/Concepts/Intermediate/About-Different-Middleware-Vendors.rst.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Point to the dashed discovery arrow and solid data arrow. Serializing converts typed fields into bytes; the receiving side reconstructs the message. DomainParticipant joins a domain; it need not equal one ROS node. Discovery uses endpoint metadata before application data can flow.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2876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Timing: 2 minutes.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Purpose: Explain why delivery behavior is configurable.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Policy | Meaning | Demo setting |</a:t>
            </a:r>
          </a:p>
          <a:p>
            <a:r>
              <a:rPr lang="en-IL">
                <a:latin typeface="Aptos" panose="020B0004020202020204" pitchFamily="34" charset="0"/>
              </a:rPr>
              <a:t>| --- | --- | --- |</a:t>
            </a:r>
          </a:p>
          <a:p>
            <a:r>
              <a:rPr lang="en-IL">
                <a:latin typeface="Aptos" panose="020B0004020202020204" pitchFamily="34" charset="0"/>
              </a:rPr>
              <a:t>| Reliability | Best effort may lose samples; reliable delivery retries as needed | Reliable |</a:t>
            </a:r>
          </a:p>
          <a:p>
            <a:r>
              <a:rPr lang="en-IL">
                <a:latin typeface="Aptos" panose="020B0004020202020204" pitchFamily="34" charset="0"/>
              </a:rPr>
              <a:t>| Durability | Volatile serves current readers; transient local can retain samples for late joiners | Volatile |</a:t>
            </a:r>
          </a:p>
          <a:p>
            <a:r>
              <a:rPr lang="en-IL">
                <a:latin typeface="Aptos" panose="020B0004020202020204" pitchFamily="34" charset="0"/>
              </a:rPr>
              <a:t>| History/depth | KEEP_LAST retains up to a configured sample count per endpoint history | KEEP_LAST, depth 10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- Passing 10 to the rclpy constructors sets depth with other policies at their</a:t>
            </a:r>
          </a:p>
          <a:p>
            <a:r>
              <a:rPr lang="en-IL">
                <a:latin typeface="Aptos" panose="020B0004020202020204" pitchFamily="34" charset="0"/>
              </a:rPr>
              <a:t>  defaults. create_timer(1.0, ...) sets a one-second interval.</a:t>
            </a:r>
          </a:p>
          <a:p>
            <a:r>
              <a:rPr lang="en-IL">
                <a:latin typeface="Aptos" panose="020B0004020202020204" pitchFamily="34" charset="0"/>
              </a:rPr>
              <a:t>- Restarting the subscriber gives new greetings after matching, not replay of all</a:t>
            </a:r>
          </a:p>
          <a:p>
            <a:r>
              <a:rPr lang="en-IL">
                <a:latin typeface="Aptos" panose="020B0004020202020204" pitchFamily="34" charset="0"/>
              </a:rPr>
              <a:t>  missed greetings. Depth 10 does not change volatile durability.</a:t>
            </a:r>
          </a:p>
          <a:p>
            <a:r>
              <a:rPr lang="en-IL">
                <a:latin typeface="Aptos" panose="020B0004020202020204" pitchFamily="34" charset="0"/>
              </a:rPr>
              <a:t>- QoS must be compatible: a best-effort publisher cannot satisfy a reader requesting reliable delivery.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Bounded history beside a timeline marking subscriber stop/restart.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Speaker guidance: Distinguish history, late joining, and reliability. Reliable</a:t>
            </a:r>
          </a:p>
          <a:p>
            <a:r>
              <a:rPr lang="en-IL">
                <a:latin typeface="Aptos" panose="020B0004020202020204" pitchFamily="34" charset="0"/>
              </a:rPr>
              <a:t>transport does not guarantee callback processing by a deadline.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Demo connection: Inspect QoS with ros2 topic info /chatter --verbose.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References: QoS policies: https://github.com/ros2/ros2_documentation/blob/jazzy/source/Concepts/Intermediate/About-Quality-of-Service-Settings.rst,</a:t>
            </a:r>
          </a:p>
          <a:p>
            <a:r>
              <a:rPr lang="en-IL">
                <a:latin typeface="Aptos" panose="020B0004020202020204" pitchFamily="34" charset="0"/>
              </a:rPr>
              <a:t>rclpy endpoint depth handling: https://github.com/ros2/rclpy/blob/jazzy/rclpy/rclpy/node.py.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8274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3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Connect ROS concepts to execution and lifecycle management.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text</a:t>
            </a:r>
          </a:p>
          <a:p>
            <a:r>
              <a:rPr lang="en-US">
                <a:latin typeface="Aptos" panose="020B0004020202020204" pitchFamily="34" charset="0"/>
              </a:rPr>
              <a:t>rclpy.init() → construct node/endpoints/timer → rclpy.spin(node)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Ctrl+C / context shutdown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destroy_node() → try_shutdown()</a:t>
            </a:r>
          </a:p>
          <a:p>
            <a:endParaRPr lang="en-US"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An executor waits for ready work and runs callbacks. These scripts use the</a:t>
            </a:r>
          </a:p>
          <a:p>
            <a:r>
              <a:rPr lang="en-US">
                <a:latin typeface="Aptos" panose="020B0004020202020204" pitchFamily="34" charset="0"/>
              </a:rPr>
              <a:t>  default single-threaded executor through rclpy.spin(node).</a:t>
            </a:r>
          </a:p>
          <a:p>
            <a:r>
              <a:rPr lang="en-US">
                <a:latin typeface="Aptos" panose="020B0004020202020204" pitchFamily="34" charset="0"/>
              </a:rPr>
              <a:t>- Publisher: timer ready → publish_greeting → construct/fill String → publish.</a:t>
            </a:r>
          </a:p>
          <a:p>
            <a:r>
              <a:rPr lang="en-US">
                <a:latin typeface="Aptos" panose="020B0004020202020204" pitchFamily="34" charset="0"/>
              </a:rPr>
              <a:t>  Subscriber: data available → executor takes message → receive_greeting → log.</a:t>
            </a:r>
          </a:p>
          <a:p>
            <a:r>
              <a:rPr lang="en-US">
                <a:latin typeface="Aptos" panose="020B0004020202020204" pitchFamily="34" charset="0"/>
              </a:rPr>
              <a:t>- The timer sets an intended period, not a hard deadline. A long callback delays</a:t>
            </a:r>
          </a:p>
          <a:p>
            <a:r>
              <a:rPr lang="en-US">
                <a:latin typeface="Aptos" panose="020B0004020202020204" pitchFamily="34" charset="0"/>
              </a:rPr>
              <a:t>  other work on that single-threaded executor. Middleware receipt and callback</a:t>
            </a:r>
          </a:p>
          <a:p>
            <a:r>
              <a:rPr lang="en-US">
                <a:latin typeface="Aptos" panose="020B0004020202020204" pitchFamily="34" charset="0"/>
              </a:rPr>
              <a:t>  execution are separate stages.</a:t>
            </a:r>
          </a:p>
          <a:p>
            <a:r>
              <a:rPr lang="en-US">
                <a:latin typeface="Aptos" panose="020B0004020202020204" pitchFamily="34" charset="0"/>
              </a:rPr>
              <a:t>- The scripts catch keyboard/external shutdown and clean up in finally, releasing</a:t>
            </a:r>
          </a:p>
          <a:p>
            <a:r>
              <a:rPr lang="en-US">
                <a:latin typeface="Aptos" panose="020B0004020202020204" pitchFamily="34" charset="0"/>
              </a:rPr>
              <a:t>  node resources and shutting down the context if needed.</a:t>
            </a:r>
          </a:p>
          <a:p>
            <a:r>
              <a:rPr lang="en-US">
                <a:latin typeface="Aptos" panose="020B0004020202020204" pitchFamily="34" charset="0"/>
              </a:rPr>
              <a:t>- Managed lifecycle adds explicit states: Unconfigured, Inactive, Active, Finalized.</a:t>
            </a:r>
          </a:p>
          <a:p>
            <a:r>
              <a:rPr lang="en-US">
                <a:latin typeface="Aptos" panose="020B0004020202020204" pitchFamily="34" charset="0"/>
              </a:rPr>
              <a:t>  Configure prepares resources; activate enables managed operation; deactivate pauses</a:t>
            </a:r>
          </a:p>
          <a:p>
            <a:r>
              <a:rPr lang="en-US">
                <a:latin typeface="Aptos" panose="020B0004020202020204" pitchFamily="34" charset="0"/>
              </a:rPr>
              <a:t>  it; cleanup releases configured resources; shutdown reaches Finalized.</a:t>
            </a:r>
          </a:p>
          <a:p>
            <a:r>
              <a:rPr lang="en-US">
                <a:latin typeface="Aptos" panose="020B0004020202020204" pitchFamily="34" charset="0"/>
              </a:rPr>
              <a:t>- Example: configure a camera, verify readiness, then activate downstream processing.</a:t>
            </a:r>
          </a:p>
          <a:p>
            <a:r>
              <a:rPr lang="en-US">
                <a:latin typeface="Aptos" panose="020B0004020202020204" pitchFamily="34" charset="0"/>
              </a:rPr>
              <a:t>  A supervisor coordinates dependencies; the state machine does not do that alone.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Runtime flow beside Unconfigured --configure--&gt; Inactive --activate--&gt; Active;</a:t>
            </a:r>
          </a:p>
          <a:p>
            <a:r>
              <a:rPr lang="en-US">
                <a:latin typeface="Aptos" panose="020B0004020202020204" pitchFamily="34" charset="0"/>
              </a:rPr>
              <a:t>add deactivate back to Inactive, cleanup back to Unconfigured, and shutdown to Finalized.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These scripts inherit ordinary Node; startup and Ctrl+C</a:t>
            </a:r>
          </a:p>
          <a:p>
            <a:r>
              <a:rPr lang="en-US">
                <a:latin typeface="Aptos" panose="020B0004020202020204" pitchFamily="34" charset="0"/>
              </a:rPr>
              <a:t>cleanup are not managed lifecycle transitions. Keep transition/error details in backup.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Keep the runtime flow visible while reading both main() functions.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rclpy initialization/spin: https://github.com/ros2/rclpy/blob/jazzy/rclpy/rclpy/__init__.py,</a:t>
            </a:r>
          </a:p>
          <a:p>
            <a:r>
              <a:rPr lang="en-US">
                <a:latin typeface="Aptos" panose="020B0004020202020204" pitchFamily="34" charset="0"/>
              </a:rPr>
              <a:t>executor implementation: https://github.com/ros2/rclpy/blob/jazzy/rclpy/rclpy/executors.py,</a:t>
            </a:r>
          </a:p>
          <a:p>
            <a:r>
              <a:rPr lang="en-US">
                <a:latin typeface="Aptos" panose="020B0004020202020204" pitchFamily="34" charset="0"/>
              </a:rPr>
              <a:t>managed-node lifecycle: https://design.ros2.org/articles/node_lifecycle.html.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3786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Timing: 2 minutes.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Purpose: Give students a practical starting point for inspecting ROS.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Command | What to look for |</a:t>
            </a:r>
          </a:p>
          <a:p>
            <a:r>
              <a:rPr lang="en-IL">
                <a:latin typeface="Aptos" panose="020B0004020202020204" pitchFamily="34" charset="0"/>
              </a:rPr>
              <a:t>| --- | --- |</a:t>
            </a:r>
          </a:p>
          <a:p>
            <a:r>
              <a:rPr lang="en-IL">
                <a:latin typeface="Aptos" panose="020B0004020202020204" pitchFamily="34" charset="0"/>
              </a:rPr>
              <a:t>| ros2 node list | The two node names |</a:t>
            </a:r>
          </a:p>
          <a:p>
            <a:r>
              <a:rPr lang="en-IL">
                <a:latin typeface="Aptos" panose="020B0004020202020204" pitchFamily="34" charset="0"/>
              </a:rPr>
              <a:t>| ros2 topic list | /chatter and infrastructure topics |</a:t>
            </a:r>
          </a:p>
          <a:p>
            <a:r>
              <a:rPr lang="en-IL">
                <a:latin typeface="Aptos" panose="020B0004020202020204" pitchFamily="34" charset="0"/>
              </a:rPr>
              <a:t>| ros2 topic info /chatter --verbose | Type, endpoint counts, and QoS |</a:t>
            </a:r>
          </a:p>
          <a:p>
            <a:r>
              <a:rPr lang="en-IL">
                <a:latin typeface="Aptos" panose="020B0004020202020204" pitchFamily="34" charset="0"/>
              </a:rPr>
              <a:t>| ros2 interface show std_msgs/msg/String | string data |</a:t>
            </a:r>
          </a:p>
          <a:p>
            <a:r>
              <a:rPr lang="en-IL">
                <a:latin typeface="Aptos" panose="020B0004020202020204" pitchFamily="34" charset="0"/>
              </a:rPr>
              <a:t>| ros2 topic echo /chatter | Live data; echo adds another subscription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- A package groups code/resources and declares dependencies. A workspace</a:t>
            </a:r>
          </a:p>
          <a:p>
            <a:r>
              <a:rPr lang="en-IL">
                <a:latin typeface="Aptos" panose="020B0004020202020204" pitchFamily="34" charset="0"/>
              </a:rPr>
              <a:t>  groups packages for building; ROS 2 commonly uses ament and colcon.</a:t>
            </a:r>
          </a:p>
          <a:p>
            <a:r>
              <a:rPr lang="en-IL">
                <a:latin typeface="Aptos" panose="020B0004020202020204" pitchFamily="34" charset="0"/>
              </a:rPr>
              <a:t>- Sourcing a setup script makes an installation available in that shell; a built</a:t>
            </a:r>
          </a:p>
          <a:p>
            <a:r>
              <a:rPr lang="en-IL">
                <a:latin typeface="Aptos" panose="020B0004020202020204" pitchFamily="34" charset="0"/>
              </a:rPr>
              <a:t>  workspace can overlay that installation.</a:t>
            </a:r>
          </a:p>
          <a:p>
            <a:r>
              <a:rPr lang="en-IL">
                <a:latin typeface="Aptos" panose="020B0004020202020204" pitchFamily="34" charset="0"/>
              </a:rPr>
              <a:t>- This demo uses installed rclpy and std_msgs. Run directly without creating or</a:t>
            </a:r>
          </a:p>
          <a:p>
            <a:r>
              <a:rPr lang="en-IL">
                <a:latin typeface="Aptos" panose="020B0004020202020204" pitchFamily="34" charset="0"/>
              </a:rPr>
              <a:t>  building a package; source Jazzy in every terminal.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Three terminal panes plus the publisher/topic/subscriber diagram.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Speaker guidance: Ask students to find the names, type, depth, and interval in</a:t>
            </a:r>
          </a:p>
          <a:p>
            <a:r>
              <a:rPr lang="en-IL">
                <a:latin typeface="Aptos" panose="020B0004020202020204" pitchFamily="34" charset="0"/>
              </a:rPr>
              <a:t>code before running it. Predict what an extra subscriber changes.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Demo connection: Open both scripts, then use the prepared terminals to connect</a:t>
            </a:r>
          </a:p>
          <a:p>
            <a:r>
              <a:rPr lang="en-IL">
                <a:latin typeface="Aptos" panose="020B0004020202020204" pitchFamily="34" charset="0"/>
              </a:rPr>
              <a:t>each inspection command to the running greeting graph.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References: Topic tutorial: https://github.com/ros2/ros2_documentation/blob/jazzy/source/Tutorials/Beginner-CLI-Tools/Understanding-ROS2-Topics/Understanding-ROS2-Topics.rst,</a:t>
            </a:r>
          </a:p>
          <a:p>
            <a:r>
              <a:rPr lang="en-IL">
                <a:latin typeface="Aptos" panose="020B0004020202020204" pitchFamily="34" charset="0"/>
              </a:rPr>
              <a:t>workspace tutorial: https://github.com/ros2/ros2_documentation/blob/jazzy/source/Tutorials/Beginner-Client-Libraries/Creating-A-Workspace/Creating-A-Workspace.rst,</a:t>
            </a:r>
          </a:p>
          <a:p>
            <a:r>
              <a:rPr lang="en-IL">
                <a:latin typeface="Aptos" panose="020B0004020202020204" pitchFamily="34" charset="0"/>
              </a:rPr>
              <a:t>verbose topic-info implementation: https://github.com/ros2/ros2cli/blob/jazzy/ros2topic/ros2topic/verb/info.py.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2713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20 minutes total — code 7; run/inspect 6; experiments 4; recap 3.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Follow the demo instructions: demo/README.md; keep the greeting graph visible.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- 7 minutes — code: Imports/inheritance, node names, matching topic/type, depth,</a:t>
            </a:r>
          </a:p>
          <a:p>
            <a:r>
              <a:rPr lang="en-US">
                <a:latin typeface="Aptos" panose="020B0004020202020204" pitchFamily="34" charset="0"/>
              </a:rPr>
              <a:t>  timer, message construction/publication, subscriber callback/logging, init,</a:t>
            </a:r>
          </a:p>
          <a:p>
            <a:r>
              <a:rPr lang="en-US">
                <a:latin typeface="Aptos" panose="020B0004020202020204" pitchFamily="34" charset="0"/>
              </a:rPr>
              <a:t>  executor spin, and cleanup. Read both scripts before running them.</a:t>
            </a:r>
          </a:p>
          <a:p>
            <a:r>
              <a:rPr lang="en-US">
                <a:latin typeface="Aptos" panose="020B0004020202020204" pitchFamily="34" charset="0"/>
              </a:rPr>
              <a:t>- 6 minutes — run and inspect: Start nodes; identify names, type, endpoint counts,</a:t>
            </a:r>
          </a:p>
          <a:p>
            <a:r>
              <a:rPr lang="en-US">
                <a:latin typeface="Aptos" panose="020B0004020202020204" pitchFamily="34" charset="0"/>
              </a:rPr>
              <a:t>  QoS, field definition, and data. Explain echo's subscription; stop it before</a:t>
            </a:r>
          </a:p>
          <a:p>
            <a:r>
              <a:rPr lang="en-US">
                <a:latin typeface="Aptos" panose="020B0004020202020204" pitchFamily="34" charset="0"/>
              </a:rPr>
              <a:t>  interpreting endpoint counts again.</a:t>
            </a:r>
          </a:p>
          <a:p>
            <a:r>
              <a:rPr lang="en-US">
                <a:latin typeface="Aptos" panose="020B0004020202020204" pitchFamily="34" charset="0"/>
              </a:rPr>
              <a:t>- 4 minutes — experiments: Predict, then stop/restart the subscriber (publisher</a:t>
            </a:r>
          </a:p>
          <a:p>
            <a:r>
              <a:rPr lang="en-US">
                <a:latin typeface="Aptos" panose="020B0004020202020204" pitchFamily="34" charset="0"/>
              </a:rPr>
              <a:t>  continues; no replay) and publisher (reception stops; counter resets). The subscriber</a:t>
            </a:r>
          </a:p>
          <a:p>
            <a:r>
              <a:rPr lang="en-US">
                <a:latin typeface="Aptos" panose="020B0004020202020204" pitchFamily="34" charset="0"/>
              </a:rPr>
              <a:t>  may miss early restarted messages while discovery completes.</a:t>
            </a:r>
          </a:p>
          <a:p>
            <a:r>
              <a:rPr lang="en-US">
                <a:latin typeface="Aptos" panose="020B0004020202020204" pitchFamily="34" charset="0"/>
              </a:rPr>
              <a:t>- 3 minutes — recap: Identify components; choose topic/service/action; distinguish</a:t>
            </a:r>
          </a:p>
          <a:p>
            <a:r>
              <a:rPr lang="en-US">
                <a:latin typeface="Aptos" panose="020B0004020202020204" pitchFamily="34" charset="0"/>
              </a:rPr>
              <a:t>  10 from 1.0; explain DDS versus executor roles and ordinary versus managed nodes.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CODE: Identify imports, class/base class, super().__init__ names, String and /chatter, queue depth, count initialization, create_timer, publish_greeting, receive_greeting, rclpy.init, spin, and finally cleanup. Read actual publisher.py and subscriber.py outside the deck.</a:t>
            </a:r>
          </a:p>
          <a:p>
            <a:r>
              <a:rPr lang="en-US">
                <a:latin typeface="Aptos" panose="020B0004020202020204" pitchFamily="34" charset="0"/>
              </a:rPr>
              <a:t>RUN: Use three terminals sourced with /opt/ros/jazzy/setup.bash, ROS_DOMAIN_ID=42, and ROS_AUTOMATIC_DISCOVERY_RANGE=LOCALHOST. Run both scripts and inspect before echo. Echo adds a reader; stop it before rechecking counts.</a:t>
            </a:r>
          </a:p>
          <a:p>
            <a:r>
              <a:rPr lang="en-US">
                <a:latin typeface="Aptos" panose="020B0004020202020204" pitchFamily="34" charset="0"/>
              </a:rPr>
              <a:t>PREDICTIONS: Subscriber stops: publisher continues. Subscriber restarts: new messages, no replay, possible discovery delay. Publisher restarts: publisher counter resets to zero; reader may first see a later number.</a:t>
            </a:r>
          </a:p>
          <a:p>
            <a:r>
              <a:rPr lang="en-US">
                <a:latin typeface="Aptos" panose="020B0004020202020204" pitchFamily="34" charset="0"/>
              </a:rPr>
              <a:t>RECAP: Ask which patterns fit sensor data, reset, and navigation; identify DDS versus executor responsibilities; distinguish 10 from 1.0 and ordinary runtime from managed lifecycle. Stop scripts with Ctrl+C.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8938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Expand participant discovery followed by endpoint discovery (SPDP/SEDP in standard</a:t>
            </a:r>
          </a:p>
          <a:p>
            <a:r>
              <a:rPr lang="en-US">
                <a:latin typeface="Aptos" panose="020B0004020202020204" pitchFamily="34" charset="0"/>
              </a:rPr>
              <a:t>RTPS discovery). Explain sequence numbers, heartbeats, acknowledgments/negative</a:t>
            </a:r>
          </a:p>
          <a:p>
            <a:r>
              <a:rPr lang="en-US">
                <a:latin typeface="Aptos" panose="020B0004020202020204" pitchFamily="34" charset="0"/>
              </a:rPr>
              <a:t>acknowledgments, and retransmission for reliability; reliable DDS does not imply TCP.</a:t>
            </a:r>
          </a:p>
          <a:p>
            <a:r>
              <a:rPr lang="en-US">
                <a:latin typeface="Aptos" panose="020B0004020202020204" pitchFamily="34" charset="0"/>
              </a:rPr>
              <a:t>UDP multicast is commonly used for discovery, but discovery servers and transport</a:t>
            </a:r>
          </a:p>
          <a:p>
            <a:r>
              <a:rPr lang="en-US">
                <a:latin typeface="Aptos" panose="020B0004020202020204" pitchFamily="34" charset="0"/>
              </a:rPr>
              <a:t>configurations vary. Local delivery can use implementation-specific optimizations.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Discovery sequence beside a missing-sample/retransmission sequence.</a:t>
            </a:r>
          </a:p>
          <a:p>
            <a:r>
              <a:rPr lang="en-US">
                <a:latin typeface="Aptos" panose="020B0004020202020204" pitchFamily="34" charset="0"/>
              </a:rPr>
              <a:t>Reference: Fast DDS discovery: https://fast-dds.docs.eprosima.com/en/stable/fastdds/discovery/discovery.html</a:t>
            </a:r>
          </a:p>
          <a:p>
            <a:r>
              <a:rPr lang="en-US">
                <a:latin typeface="Aptos" panose="020B0004020202020204" pitchFamily="34" charset="0"/>
              </a:rPr>
              <a:t>and RTPS writer behavior: https://fast-dds.docs.eprosima.com/en/stable/fastdds/rtps_layer/rtps_layer.html.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0624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Publisher offers | Subscriber requests | Reliability compatible? |</a:t>
            </a:r>
          </a:p>
          <a:p>
            <a:r>
              <a:rPr lang="en-IL">
                <a:latin typeface="Aptos" panose="020B0004020202020204" pitchFamily="34" charset="0"/>
              </a:rPr>
              <a:t>| --- | --- | --- |</a:t>
            </a:r>
          </a:p>
          <a:p>
            <a:r>
              <a:rPr lang="en-IL">
                <a:latin typeface="Aptos" panose="020B0004020202020204" pitchFamily="34" charset="0"/>
              </a:rPr>
              <a:t>| Best effort | Best effort | Yes |</a:t>
            </a:r>
          </a:p>
          <a:p>
            <a:r>
              <a:rPr lang="en-IL">
                <a:latin typeface="Aptos" panose="020B0004020202020204" pitchFamily="34" charset="0"/>
              </a:rPr>
              <a:t>| Best effort | Reliable | No |</a:t>
            </a:r>
          </a:p>
          <a:p>
            <a:r>
              <a:rPr lang="en-IL">
                <a:latin typeface="Aptos" panose="020B0004020202020204" pitchFamily="34" charset="0"/>
              </a:rPr>
              <a:t>| Reliable | Best effort | Yes |</a:t>
            </a:r>
          </a:p>
          <a:p>
            <a:r>
              <a:rPr lang="en-IL">
                <a:latin typeface="Aptos" panose="020B0004020202020204" pitchFamily="34" charset="0"/>
              </a:rPr>
              <a:t>| Reliable | Reliable | Yes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Assume other policies are compatible. Transient-local retention needs a live writer</a:t>
            </a:r>
          </a:p>
          <a:p>
            <a:r>
              <a:rPr lang="en-IL">
                <a:latin typeface="Aptos" panose="020B0004020202020204" pitchFamily="34" charset="0"/>
              </a:rPr>
              <a:t>and compatible late-joining reader; it is not an indefinite archive. Deadline and</a:t>
            </a:r>
          </a:p>
          <a:p>
            <a:r>
              <a:rPr lang="en-IL">
                <a:latin typeface="Aptos" panose="020B0004020202020204" pitchFamily="34" charset="0"/>
              </a:rPr>
              <a:t>liveliness policies expose timing/availability expectations and events, not hard</a:t>
            </a:r>
          </a:p>
          <a:p>
            <a:r>
              <a:rPr lang="en-IL">
                <a:latin typeface="Aptos" panose="020B0004020202020204" pitchFamily="34" charset="0"/>
              </a:rPr>
              <a:t>callback timing guarantees.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Compatibility table and retained-data timeline.</a:t>
            </a:r>
          </a:p>
          <a:p>
            <a:r>
              <a:rPr lang="en-IL">
                <a:latin typeface="Aptos" panose="020B0004020202020204" pitchFamily="34" charset="0"/>
              </a:rPr>
              <a:t>Reference: QoS documentation: https://github.com/ros2/ros2_documentation/blob/jazzy/source/Concepts/Intermediate/About-Quality-of-Service-Settings.rst.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3656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Compare one execution thread with a multithreaded worker pool. Callback groups control</a:t>
            </a:r>
          </a:p>
          <a:p>
            <a:r>
              <a:rPr lang="en-US">
                <a:latin typeface="Aptos" panose="020B0004020202020204" pitchFamily="34" charset="0"/>
              </a:rPr>
              <a:t>which callbacks may overlap; additional threads alone do not make callbacks in the</a:t>
            </a:r>
          </a:p>
          <a:p>
            <a:r>
              <a:rPr lang="en-US">
                <a:latin typeface="Aptos" panose="020B0004020202020204" pitchFamily="34" charset="0"/>
              </a:rPr>
              <a:t>default mutually exclusive group concurrent. Discuss slow callbacks and blocking</a:t>
            </a:r>
          </a:p>
          <a:p>
            <a:r>
              <a:rPr lang="en-US">
                <a:latin typeface="Aptos" panose="020B0004020202020204" pitchFamily="34" charset="0"/>
              </a:rPr>
              <a:t>service calls as sources of delay/deadlock; favor short callbacks and asynchronous interactions.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Single-worker versus multiple-worker callback timelines.</a:t>
            </a:r>
          </a:p>
          <a:p>
            <a:r>
              <a:rPr lang="en-US">
                <a:latin typeface="Aptos" panose="020B0004020202020204" pitchFamily="34" charset="0"/>
              </a:rPr>
              <a:t>Reference: Callback-group guide: https://github.com/ros2/ros2_documentation/blob/jazzy/source/How-To-Guides/Using-callback-groups.rst.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98248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Expand the diagram with Configuring, Activating, Deactivating, CleaningUp, ShuttingDown,</a:t>
            </a:r>
          </a:p>
          <a:p>
            <a:r>
              <a:rPr lang="en-US">
                <a:latin typeface="Aptos" panose="020B0004020202020204" pitchFamily="34" charset="0"/>
              </a:rPr>
              <a:t>and ErrorProcessing. Lifecycle callbacks report success/failure/error; resulting</a:t>
            </a:r>
          </a:p>
          <a:p>
            <a:r>
              <a:rPr lang="en-US">
                <a:latin typeface="Aptos" panose="020B0004020202020204" pitchFamily="34" charset="0"/>
              </a:rPr>
              <a:t>states depend on the transition and error handling. Supervisors inspect states and</a:t>
            </a:r>
          </a:p>
          <a:p>
            <a:r>
              <a:rPr lang="en-US">
                <a:latin typeface="Aptos" panose="020B0004020202020204" pitchFamily="34" charset="0"/>
              </a:rPr>
              <a:t>request transitions. Lifecycle publishers gate managed publication when inactive;</a:t>
            </a:r>
          </a:p>
          <a:p>
            <a:r>
              <a:rPr lang="en-US">
                <a:latin typeface="Aptos" panose="020B0004020202020204" pitchFamily="34" charset="0"/>
              </a:rPr>
              <a:t>application code must still implement suitable behavior for other callbacks/resources.</a:t>
            </a:r>
          </a:p>
          <a:p>
            <a:r>
              <a:rPr lang="en-US">
                <a:latin typeface="Aptos" panose="020B0004020202020204" pitchFamily="34" charset="0"/>
              </a:rPr>
              <a:t>Use a sensor-startup example separate from the ordinary-node demo.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Full state machine with success, failure, and error paths distinguished.</a:t>
            </a:r>
          </a:p>
          <a:p>
            <a:r>
              <a:rPr lang="en-US">
                <a:latin typeface="Aptos" panose="020B0004020202020204" pitchFamily="34" charset="0"/>
              </a:rPr>
              <a:t>Reference: Managed-node design: https://design.ros2.org/articles/node_lifecycle.html.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Diagram shows the normal path and reversals. Shutdown is possible from primary operational states. Transition callbacks can return success, failure, or error; failure normally returns to the previous primary state, while error handling uses ErrorProcessing with transition-specific results. Finalized retains the node for introspection until destruction. Managed lifecycle requires appropriate application behavior; arbitrary subscribers/services are not automatically disabled.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4149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Port APIs, package/build configuration, parameters, launch files, and delivery policies;</a:t>
            </a:r>
          </a:p>
          <a:p>
            <a:r>
              <a:rPr lang="en-US">
                <a:latin typeface="Aptos" panose="020B0004020202020204" pitchFamily="34" charset="0"/>
              </a:rPr>
              <a:t>rospy code does not run unchanged as rclpy. A ROS 1/ROS 2 bridge can connect supported</a:t>
            </a:r>
          </a:p>
          <a:p>
            <a:r>
              <a:rPr lang="en-US">
                <a:latin typeface="Aptos" panose="020B0004020202020204" pitchFamily="34" charset="0"/>
              </a:rPr>
              <a:t>topic/service interfaces when built with required types. Check distribution/OS support</a:t>
            </a:r>
          </a:p>
          <a:p>
            <a:r>
              <a:rPr lang="en-US">
                <a:latin typeface="Aptos" panose="020B0004020202020204" pitchFamily="34" charset="0"/>
              </a:rPr>
              <a:t>before planning a mixed deployment. The course demo needs no bridge.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ROS 1 graph → interface bridge → ROS 2 graph.</a:t>
            </a:r>
          </a:p>
          <a:p>
            <a:r>
              <a:rPr lang="en-US">
                <a:latin typeface="Aptos" panose="020B0004020202020204" pitchFamily="34" charset="0"/>
              </a:rPr>
              <a:t>Reference: Official ROS 1 bridge documentation: https://github.com/ros2/ros1_bridge.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C3F8C-A7E5-4ACB-A3E7-CBE3A8A8D559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533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8DA0-440A-841B-AC2E-2BF21BA6B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247D3-7798-A699-2890-166F05F60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A6811-9711-EE44-ADDF-83FE1018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290A5-8F32-7936-BA23-27D3907F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5AE7E-ABD4-2BAB-4FEB-B438C5A2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540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65BB-5376-5D97-1E0E-04EDFAAC9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9F44F-9E28-EF4C-758D-FF3C2F4B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22248-D33E-B03F-BEFC-D33E3157C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0878C-EE4D-CE2C-B585-7A6BB3ED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67A0-8C28-6020-0EB7-E8DAB161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629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CF6B-F498-9F09-5FEF-341D6FF7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4FAD1-049C-1D5B-4996-EAEBB5C5A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33D4D-B8A6-83F5-2F58-AA49AD52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5F3A6-DCB6-EC40-5604-BDFBE3AF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E075E-83B2-1F9C-DFBF-63A88A24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671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2BAD-3672-D1A5-AFFD-E0BA0A11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CF59-4FB9-EFF3-6307-32BEBA515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9B2A9-E9BA-F11A-5BD0-CA702BC3C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CA191-E53F-965C-8C60-54392F52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302A7-B624-1E00-CA6F-0E6BB2FA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6054D-ABE2-B548-BE88-998F7375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715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3787-31B8-6DB4-1B0F-5EA3F30A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277C5-2B29-28AC-9845-89177E42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E62A-0224-9393-4191-DEB9CF324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201C9-A94F-9C5C-541E-118676E3A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A5985-1B0E-CE27-959F-928D7A706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645CF-5321-50E0-18D7-1F5BA950B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85E87-8BAE-1257-2C8D-CBF4F26E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09754-D4E0-8684-5E3B-F3AA4D4B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600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8A4F-DCB4-EC0F-E928-057E970B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31F7F-8003-0D27-82A6-9A62F918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44987-AE9B-31E7-8665-C6B07D40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8977B-7297-CF32-FA99-14980D8F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459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2A6B2-6D8B-2B50-FECE-DB6353A4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72908-FCD2-BF01-477C-F31AD4CF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BC638-D440-6177-7BDB-51700CA3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722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E0C3-9819-4682-AD3D-CB0C4AE34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DEB8-28D3-9799-E3C6-080FA2D34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0022E-59C8-27BD-731A-BD6C328A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FFDDB-AD8C-0FCC-C2CA-0B0C51EA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9FFC8-4633-75A4-13E0-63FFAFDA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C5B60-41BB-388A-844B-702BF383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418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3572-EFDB-832C-BD36-D2DAA0B3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F5B65-0B52-3FBF-74F6-BEB5419110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C9399-E149-AEE5-B2F9-BD53E5CB4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4EB74-F678-D996-4C31-279B8828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BD194-1003-D03C-3C25-F87FB836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8116F-B436-D86C-8C20-2ADB17D6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918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C527-8A8D-8CA9-E7E3-8918E879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98BB1-63C6-6D6B-7E0E-2CECE8760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72120-79D4-0088-751B-C534EE4D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8BBC7-5B74-683E-51D8-0FB2551F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AE65-55A8-F383-CB4D-747E7974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981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9F8D96-0AB2-F703-1D46-42BC5D507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9195A-8C43-5D1D-5323-D149651A2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EE954-C588-7F3F-71FB-62C33CFA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B1388-9413-C005-42AD-0C01D9A0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F0027-4973-3F87-C1EC-CFEA5E21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851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BEB49-70F4-4C63-3209-EB840527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26F06-939B-F90E-7E08-1AEA6A5CA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B760A-9EFA-A919-555D-0262E84BD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DB7A3-88EB-4C98-BB0A-899F8DD27437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DF189-7E24-14EC-1A00-4D5742B0D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8E344-13C9-D666-FA70-F111B673E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BEA71-72C7-44F4-A0F7-4D4FB15EA97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845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487A2D6B-1B9B-9E01-5682-D8A75020D6B5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89A31426-2903-B54B-CAA9-4544BAEF841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ROS basics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2DC4C-1EF9-1ECE-34F3-95EDA38F3549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_4">
            <a:extLst>
              <a:ext uri="{FF2B5EF4-FFF2-40B4-BE49-F238E27FC236}">
                <a16:creationId xmlns:a16="http://schemas.microsoft.com/office/drawing/2014/main" id="{D2C2DEC0-2B87-F690-1EFC-A3C6CB0F72E7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_5">
            <a:extLst>
              <a:ext uri="{FF2B5EF4-FFF2-40B4-BE49-F238E27FC236}">
                <a16:creationId xmlns:a16="http://schemas.microsoft.com/office/drawing/2014/main" id="{6508183D-C071-E7CE-3309-F05957FDBBD1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9BE9D2DC-6486-AF39-A2E8-97109D3E2095}"/>
              </a:ext>
            </a:extLst>
          </p:cNvPr>
          <p:cNvSpPr txBox="1"/>
          <p:nvPr/>
        </p:nvSpPr>
        <p:spPr>
          <a:xfrm>
            <a:off x="685800" y="1803399"/>
            <a:ext cx="9398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>
                <a:solidFill>
                  <a:srgbClr val="526477"/>
                </a:solidFill>
                <a:latin typeface="Aptos" panose="020B0004020202020204" pitchFamily="34" charset="0"/>
              </a:rPr>
              <a:t>Connect the pieces of a robot.</a:t>
            </a:r>
            <a:endParaRPr lang="en-IL" sz="3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2F27A9-8A06-5D49-2333-E6705A2FACAB}"/>
              </a:ext>
            </a:extLst>
          </p:cNvPr>
          <p:cNvSpPr/>
          <p:nvPr/>
        </p:nvSpPr>
        <p:spPr>
          <a:xfrm>
            <a:off x="685800" y="3035300"/>
            <a:ext cx="28448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8B908410-B7C2-EECE-87B9-F23C55CA7B50}"/>
              </a:ext>
            </a:extLst>
          </p:cNvPr>
          <p:cNvSpPr txBox="1"/>
          <p:nvPr/>
        </p:nvSpPr>
        <p:spPr>
          <a:xfrm>
            <a:off x="838200" y="31241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Understand ROS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0AB60A-3389-C26A-EDD7-A10B601DC315}"/>
              </a:ext>
            </a:extLst>
          </p:cNvPr>
          <p:cNvSpPr/>
          <p:nvPr/>
        </p:nvSpPr>
        <p:spPr>
          <a:xfrm>
            <a:off x="3784600" y="3035300"/>
            <a:ext cx="2692400" cy="533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E47D2B17-A49C-5E37-107A-918AAFD06833}"/>
              </a:ext>
            </a:extLst>
          </p:cNvPr>
          <p:cNvSpPr txBox="1"/>
          <p:nvPr/>
        </p:nvSpPr>
        <p:spPr>
          <a:xfrm>
            <a:off x="3937000" y="3124199"/>
            <a:ext cx="238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Read the code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9F6524-F863-081F-3CC8-B5A79240871C}"/>
              </a:ext>
            </a:extLst>
          </p:cNvPr>
          <p:cNvSpPr/>
          <p:nvPr/>
        </p:nvSpPr>
        <p:spPr>
          <a:xfrm>
            <a:off x="6731000" y="3035300"/>
            <a:ext cx="28448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2D721594-2002-F580-D4E2-DB418E926755}"/>
              </a:ext>
            </a:extLst>
          </p:cNvPr>
          <p:cNvSpPr txBox="1"/>
          <p:nvPr/>
        </p:nvSpPr>
        <p:spPr>
          <a:xfrm>
            <a:off x="6883400" y="31241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Inspect it live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8121F7-3ADC-C470-9F06-A7BBCBD5868F}"/>
              </a:ext>
            </a:extLst>
          </p:cNvPr>
          <p:cNvSpPr/>
          <p:nvPr/>
        </p:nvSpPr>
        <p:spPr>
          <a:xfrm>
            <a:off x="685800" y="4152900"/>
            <a:ext cx="10820400" cy="1447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0C784E37-DB6B-6B3E-7611-203B8F3BA68C}"/>
              </a:ext>
            </a:extLst>
          </p:cNvPr>
          <p:cNvSpPr txBox="1"/>
          <p:nvPr/>
        </p:nvSpPr>
        <p:spPr>
          <a:xfrm>
            <a:off x="1092200" y="4610099"/>
            <a:ext cx="2336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3200" b="1">
                <a:solidFill>
                  <a:srgbClr val="15283B"/>
                </a:solidFill>
                <a:latin typeface="Aptos" panose="020B0004020202020204" pitchFamily="34" charset="0"/>
              </a:rPr>
              <a:t>Sense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69D54B42-457B-C7AD-775F-70A476AA6576}"/>
              </a:ext>
            </a:extLst>
          </p:cNvPr>
          <p:cNvSpPr txBox="1"/>
          <p:nvPr/>
        </p:nvSpPr>
        <p:spPr>
          <a:xfrm>
            <a:off x="4648200" y="4610099"/>
            <a:ext cx="2336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3200" b="1">
                <a:solidFill>
                  <a:srgbClr val="15283B"/>
                </a:solidFill>
                <a:latin typeface="Aptos" panose="020B0004020202020204" pitchFamily="34" charset="0"/>
              </a:rPr>
              <a:t>Decide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DA1245E3-5096-A4E5-B5A9-C2301FAB9D27}"/>
              </a:ext>
            </a:extLst>
          </p:cNvPr>
          <p:cNvSpPr txBox="1"/>
          <p:nvPr/>
        </p:nvSpPr>
        <p:spPr>
          <a:xfrm>
            <a:off x="8204200" y="4610099"/>
            <a:ext cx="2336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3200" b="1">
                <a:solidFill>
                  <a:srgbClr val="15283B"/>
                </a:solidFill>
                <a:latin typeface="Aptos" panose="020B0004020202020204" pitchFamily="34" charset="0"/>
              </a:rPr>
              <a:t>Act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8C64BE-4D3F-E3BE-37BA-706A4A9E61F0}"/>
              </a:ext>
            </a:extLst>
          </p:cNvPr>
          <p:cNvCxnSpPr/>
          <p:nvPr/>
        </p:nvCxnSpPr>
        <p:spPr>
          <a:xfrm>
            <a:off x="3429000" y="4876800"/>
            <a:ext cx="10922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89395E-D820-FB52-B8D6-6DCF426A6627}"/>
              </a:ext>
            </a:extLst>
          </p:cNvPr>
          <p:cNvCxnSpPr/>
          <p:nvPr/>
        </p:nvCxnSpPr>
        <p:spPr>
          <a:xfrm>
            <a:off x="6985000" y="4876800"/>
            <a:ext cx="10922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40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9506A522-E45E-09A2-53BE-7A252572C1C1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95072CC8-0AF2-E4F3-D7EF-98236D70FD0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What is ROS?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A32482E5-F1C0-604B-5A95-21ED1BF712C8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A shared framework for building robotics software.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D7D8AE-92AC-D2CF-2261-C33EF554DC38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4FAF78AE-70CB-6A41-04C9-138CAAAB2D12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4227EC56-47D4-7C67-CF2D-4350A11909BC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DA0D6569-238B-6E8D-2135-024EAB5B6F27}"/>
              </a:ext>
            </a:extLst>
          </p:cNvPr>
          <p:cNvSpPr txBox="1"/>
          <p:nvPr/>
        </p:nvSpPr>
        <p:spPr>
          <a:xfrm>
            <a:off x="685800" y="2692399"/>
            <a:ext cx="44704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3000" b="1">
                <a:solidFill>
                  <a:srgbClr val="2459D3"/>
                </a:solidFill>
                <a:latin typeface="Aptos" panose="020B0004020202020204" pitchFamily="34" charset="0"/>
              </a:rPr>
              <a:t>Robot Operating System</a:t>
            </a:r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9AF0036F-C35D-A0FC-B14C-A8A6B399BA41}"/>
              </a:ext>
            </a:extLst>
          </p:cNvPr>
          <p:cNvSpPr txBox="1"/>
          <p:nvPr/>
        </p:nvSpPr>
        <p:spPr>
          <a:xfrm>
            <a:off x="685800" y="3505199"/>
            <a:ext cx="44704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5283B"/>
                </a:solidFill>
                <a:latin typeface="Aptos" panose="020B0004020202020204" pitchFamily="34" charset="0"/>
              </a:rPr>
              <a:t>Connect software across
languages and machines.
Share common interfaces.</a:t>
            </a:r>
            <a:endParaRPr lang="en-IL" sz="2800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B7FD0D-F807-81FF-8196-805F4635DED0}"/>
              </a:ext>
            </a:extLst>
          </p:cNvPr>
          <p:cNvSpPr/>
          <p:nvPr/>
        </p:nvSpPr>
        <p:spPr>
          <a:xfrm>
            <a:off x="5638800" y="2616200"/>
            <a:ext cx="5867400" cy="812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32617F38-D72F-9A14-A5CE-B7EC6322DD5F}"/>
              </a:ext>
            </a:extLst>
          </p:cNvPr>
          <p:cNvSpPr txBox="1"/>
          <p:nvPr/>
        </p:nvSpPr>
        <p:spPr>
          <a:xfrm>
            <a:off x="5842000" y="2832099"/>
            <a:ext cx="546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Robot application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BA6BED-B397-7AD4-9249-5219A6AC99C2}"/>
              </a:ext>
            </a:extLst>
          </p:cNvPr>
          <p:cNvSpPr/>
          <p:nvPr/>
        </p:nvSpPr>
        <p:spPr>
          <a:xfrm>
            <a:off x="5638800" y="3556000"/>
            <a:ext cx="5867400" cy="812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2CFE8FDD-F771-EA54-2B3C-6465036437E5}"/>
              </a:ext>
            </a:extLst>
          </p:cNvPr>
          <p:cNvSpPr txBox="1"/>
          <p:nvPr/>
        </p:nvSpPr>
        <p:spPr>
          <a:xfrm>
            <a:off x="5842000" y="3771899"/>
            <a:ext cx="546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ROS libraries + tools + packages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AC6399-C5A1-C37F-3735-BF33A21FDB10}"/>
              </a:ext>
            </a:extLst>
          </p:cNvPr>
          <p:cNvSpPr/>
          <p:nvPr/>
        </p:nvSpPr>
        <p:spPr>
          <a:xfrm>
            <a:off x="5638800" y="4495800"/>
            <a:ext cx="5867400" cy="812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D969B39F-1920-7D22-7494-33D0AEE562E5}"/>
              </a:ext>
            </a:extLst>
          </p:cNvPr>
          <p:cNvSpPr txBox="1"/>
          <p:nvPr/>
        </p:nvSpPr>
        <p:spPr>
          <a:xfrm>
            <a:off x="5842000" y="4711699"/>
            <a:ext cx="546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Host OS + hardware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F0BF3B32-BE1A-5201-FF7B-C61564C6963C}"/>
              </a:ext>
            </a:extLst>
          </p:cNvPr>
          <p:cNvSpPr txBox="1"/>
          <p:nvPr/>
        </p:nvSpPr>
        <p:spPr>
          <a:xfrm>
            <a:off x="685800" y="5626099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Reuse drivers and algorithms. Focus on your robot's behavior.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4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4CB41D38-B973-C1E9-3B26-E1EC7B20F791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07AE4007-17E1-5257-CF7F-B6FFAA5D852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What is ROS used for?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8E182D09-2B74-2EF0-7967-E9B8BE31365B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Integrate sensing, decisions, and actuation in one system.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2D1867-DE8A-D754-55BB-ED28B9848F13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8A9ED84C-9812-C36E-AC33-691A481A5656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FF791A45-E484-C4D9-35B4-CF67A868E19E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DDFB87-56D6-FC01-7716-EA07EFC21CA4}"/>
              </a:ext>
            </a:extLst>
          </p:cNvPr>
          <p:cNvSpPr/>
          <p:nvPr/>
        </p:nvSpPr>
        <p:spPr>
          <a:xfrm>
            <a:off x="685800" y="2679700"/>
            <a:ext cx="1981200" cy="1016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F463BFFC-E093-4D5C-65ED-674BB9317301}"/>
              </a:ext>
            </a:extLst>
          </p:cNvPr>
          <p:cNvSpPr txBox="1"/>
          <p:nvPr/>
        </p:nvSpPr>
        <p:spPr>
          <a:xfrm>
            <a:off x="762000" y="2908299"/>
            <a:ext cx="1828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Sensors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89AB4E-56D9-DF9F-DEF3-B70110369BF6}"/>
              </a:ext>
            </a:extLst>
          </p:cNvPr>
          <p:cNvCxnSpPr/>
          <p:nvPr/>
        </p:nvCxnSpPr>
        <p:spPr>
          <a:xfrm>
            <a:off x="26670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008FBB-A565-4C9F-CE95-7B9B4A4178F2}"/>
              </a:ext>
            </a:extLst>
          </p:cNvPr>
          <p:cNvSpPr/>
          <p:nvPr/>
        </p:nvSpPr>
        <p:spPr>
          <a:xfrm>
            <a:off x="3022600" y="2679700"/>
            <a:ext cx="2336800" cy="1016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1B9F9538-12EA-1411-534C-A3831CEAA523}"/>
              </a:ext>
            </a:extLst>
          </p:cNvPr>
          <p:cNvSpPr txBox="1"/>
          <p:nvPr/>
        </p:nvSpPr>
        <p:spPr>
          <a:xfrm>
            <a:off x="3098800" y="2908299"/>
            <a:ext cx="2184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Perception
Localization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4996CC-8091-4245-BB4A-5067F8888508}"/>
              </a:ext>
            </a:extLst>
          </p:cNvPr>
          <p:cNvCxnSpPr/>
          <p:nvPr/>
        </p:nvCxnSpPr>
        <p:spPr>
          <a:xfrm>
            <a:off x="53594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633C00-D03A-112D-F788-FC3280F4962E}"/>
              </a:ext>
            </a:extLst>
          </p:cNvPr>
          <p:cNvSpPr/>
          <p:nvPr/>
        </p:nvSpPr>
        <p:spPr>
          <a:xfrm>
            <a:off x="5715000" y="2679700"/>
            <a:ext cx="1879600" cy="1016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C2A52A95-753E-BB96-D4B8-CB48C1A432C6}"/>
              </a:ext>
            </a:extLst>
          </p:cNvPr>
          <p:cNvSpPr txBox="1"/>
          <p:nvPr/>
        </p:nvSpPr>
        <p:spPr>
          <a:xfrm>
            <a:off x="5791200" y="2908299"/>
            <a:ext cx="1727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Planning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87080D-7FEE-826E-F45F-B636DF047B0C}"/>
              </a:ext>
            </a:extLst>
          </p:cNvPr>
          <p:cNvCxnSpPr/>
          <p:nvPr/>
        </p:nvCxnSpPr>
        <p:spPr>
          <a:xfrm>
            <a:off x="75946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726B76-B115-5DD0-890E-52047838EDB1}"/>
              </a:ext>
            </a:extLst>
          </p:cNvPr>
          <p:cNvSpPr/>
          <p:nvPr/>
        </p:nvSpPr>
        <p:spPr>
          <a:xfrm>
            <a:off x="7950200" y="2679700"/>
            <a:ext cx="1778000" cy="1016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2A81D55E-CB5B-A84C-D8DF-B0AF1D6305AD}"/>
              </a:ext>
            </a:extLst>
          </p:cNvPr>
          <p:cNvSpPr txBox="1"/>
          <p:nvPr/>
        </p:nvSpPr>
        <p:spPr>
          <a:xfrm>
            <a:off x="8026400" y="2908299"/>
            <a:ext cx="1625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Control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E0D4CE-E228-059B-A654-B9BC151ED7FC}"/>
              </a:ext>
            </a:extLst>
          </p:cNvPr>
          <p:cNvCxnSpPr/>
          <p:nvPr/>
        </p:nvCxnSpPr>
        <p:spPr>
          <a:xfrm>
            <a:off x="97282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84175B-28C5-1555-B63C-6B79EE34A39E}"/>
              </a:ext>
            </a:extLst>
          </p:cNvPr>
          <p:cNvSpPr/>
          <p:nvPr/>
        </p:nvSpPr>
        <p:spPr>
          <a:xfrm>
            <a:off x="10083800" y="2679700"/>
            <a:ext cx="1422400" cy="1016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3EF4F415-DE02-E5BB-8503-674D06FE97A6}"/>
              </a:ext>
            </a:extLst>
          </p:cNvPr>
          <p:cNvSpPr txBox="1"/>
          <p:nvPr/>
        </p:nvSpPr>
        <p:spPr>
          <a:xfrm>
            <a:off x="10160000" y="2908299"/>
            <a:ext cx="127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Drivers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FBFCDC-87D9-2D49-12C6-3FCDE0B0FE68}"/>
              </a:ext>
            </a:extLst>
          </p:cNvPr>
          <p:cNvCxnSpPr/>
          <p:nvPr/>
        </p:nvCxnSpPr>
        <p:spPr>
          <a:xfrm flipH="1">
            <a:off x="4318000" y="3873500"/>
            <a:ext cx="64770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_22">
            <a:extLst>
              <a:ext uri="{FF2B5EF4-FFF2-40B4-BE49-F238E27FC236}">
                <a16:creationId xmlns:a16="http://schemas.microsoft.com/office/drawing/2014/main" id="{1B4D46BE-C3E6-C472-0E24-2B038BD10898}"/>
              </a:ext>
            </a:extLst>
          </p:cNvPr>
          <p:cNvSpPr txBox="1"/>
          <p:nvPr/>
        </p:nvSpPr>
        <p:spPr>
          <a:xfrm>
            <a:off x="5092700" y="3949699"/>
            <a:ext cx="4318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Motion feedback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581455-23A8-08BA-E751-D293D9D1BFDB}"/>
              </a:ext>
            </a:extLst>
          </p:cNvPr>
          <p:cNvSpPr/>
          <p:nvPr/>
        </p:nvSpPr>
        <p:spPr>
          <a:xfrm>
            <a:off x="685800" y="4584700"/>
            <a:ext cx="5257800" cy="1295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A61C7B95-B9CB-EB52-107F-3D37F324BADA}"/>
              </a:ext>
            </a:extLst>
          </p:cNvPr>
          <p:cNvSpPr txBox="1"/>
          <p:nvPr/>
        </p:nvSpPr>
        <p:spPr>
          <a:xfrm>
            <a:off x="939800" y="47497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LOGISTICS</a:t>
            </a:r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59425F0B-85A6-17D4-65FE-DFADBC3B042C}"/>
              </a:ext>
            </a:extLst>
          </p:cNvPr>
          <p:cNvSpPr txBox="1"/>
          <p:nvPr/>
        </p:nvSpPr>
        <p:spPr>
          <a:xfrm>
            <a:off x="939800" y="52450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BMW + Microsoft / interoperability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4D5591F-3B47-2C47-F3E6-7054CB2DF866}"/>
              </a:ext>
            </a:extLst>
          </p:cNvPr>
          <p:cNvSpPr/>
          <p:nvPr/>
        </p:nvSpPr>
        <p:spPr>
          <a:xfrm>
            <a:off x="6248400" y="4584700"/>
            <a:ext cx="5257800" cy="1295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_27">
            <a:extLst>
              <a:ext uri="{FF2B5EF4-FFF2-40B4-BE49-F238E27FC236}">
                <a16:creationId xmlns:a16="http://schemas.microsoft.com/office/drawing/2014/main" id="{34CE7C0B-77B5-604A-A91E-2BC0AB35BE73}"/>
              </a:ext>
            </a:extLst>
          </p:cNvPr>
          <p:cNvSpPr txBox="1"/>
          <p:nvPr/>
        </p:nvSpPr>
        <p:spPr>
          <a:xfrm>
            <a:off x="6502400" y="47497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MANUFACTURING</a:t>
            </a:r>
          </a:p>
        </p:txBody>
      </p:sp>
      <p:sp>
        <p:nvSpPr>
          <p:cNvPr id="29" name="text_28">
            <a:extLst>
              <a:ext uri="{FF2B5EF4-FFF2-40B4-BE49-F238E27FC236}">
                <a16:creationId xmlns:a16="http://schemas.microsoft.com/office/drawing/2014/main" id="{DDA43797-3E09-8CF7-0990-6DDC5C7A6AD7}"/>
              </a:ext>
            </a:extLst>
          </p:cNvPr>
          <p:cNvSpPr txBox="1"/>
          <p:nvPr/>
        </p:nvSpPr>
        <p:spPr>
          <a:xfrm>
            <a:off x="6502400" y="52450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Foundries / scan → plan → blend</a:t>
            </a:r>
          </a:p>
        </p:txBody>
      </p:sp>
    </p:spTree>
    <p:extLst>
      <p:ext uri="{BB962C8B-B14F-4D97-AF65-F5344CB8AC3E}">
        <p14:creationId xmlns:p14="http://schemas.microsoft.com/office/powerpoint/2010/main" val="361441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E8919A3E-74C5-FCEE-8CB3-11091E0B16B4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8853439F-D5F3-9E9F-B272-981FA1AC74E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ROS 1 → ROS 2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05613216-2FB9-709E-1363-DC6FA478BD0C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Familiar concepts. A redesigned foundation.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CF1C7E-4696-5FB0-ADDB-912E8B621D61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71606141-86AD-ECFF-117A-68B36B77C0F5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C8078018-5AC0-3D28-960A-612AE0D4E2E1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10467C-7A8D-8CB5-C031-E0C160FCE165}"/>
              </a:ext>
            </a:extLst>
          </p:cNvPr>
          <p:cNvCxnSpPr/>
          <p:nvPr/>
        </p:nvCxnSpPr>
        <p:spPr>
          <a:xfrm>
            <a:off x="1600200" y="2590800"/>
            <a:ext cx="9042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0F22EE7-5F3B-878D-3090-3433C70676F9}"/>
              </a:ext>
            </a:extLst>
          </p:cNvPr>
          <p:cNvSpPr/>
          <p:nvPr/>
        </p:nvSpPr>
        <p:spPr>
          <a:xfrm>
            <a:off x="15240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193F0A11-D849-704E-1370-F00FA0BD6155}"/>
              </a:ext>
            </a:extLst>
          </p:cNvPr>
          <p:cNvSpPr txBox="1"/>
          <p:nvPr/>
        </p:nvSpPr>
        <p:spPr>
          <a:xfrm>
            <a:off x="4572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2007</a:t>
            </a:r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EAFA99A6-872B-072B-B34E-2F663EDDCB12}"/>
              </a:ext>
            </a:extLst>
          </p:cNvPr>
          <p:cNvSpPr txBox="1"/>
          <p:nvPr/>
        </p:nvSpPr>
        <p:spPr>
          <a:xfrm>
            <a:off x="2794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ROS begins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D6DAE6-EE79-F6BC-BDFA-F81C07AEE71A}"/>
              </a:ext>
            </a:extLst>
          </p:cNvPr>
          <p:cNvSpPr/>
          <p:nvPr/>
        </p:nvSpPr>
        <p:spPr>
          <a:xfrm>
            <a:off x="44958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5BBBD78E-D2B2-4E61-4718-CEF6CD59DC3A}"/>
              </a:ext>
            </a:extLst>
          </p:cNvPr>
          <p:cNvSpPr txBox="1"/>
          <p:nvPr/>
        </p:nvSpPr>
        <p:spPr>
          <a:xfrm>
            <a:off x="34290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2017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A7C48AFE-4316-1910-1C93-B378063C42EB}"/>
              </a:ext>
            </a:extLst>
          </p:cNvPr>
          <p:cNvSpPr txBox="1"/>
          <p:nvPr/>
        </p:nvSpPr>
        <p:spPr>
          <a:xfrm>
            <a:off x="32512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ROS 2 Ardent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33EAB2-548F-2D11-DE7F-27B2D1A24C8F}"/>
              </a:ext>
            </a:extLst>
          </p:cNvPr>
          <p:cNvSpPr/>
          <p:nvPr/>
        </p:nvSpPr>
        <p:spPr>
          <a:xfrm>
            <a:off x="75438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C42CE16D-030F-2C12-CEBB-80B9592680D4}"/>
              </a:ext>
            </a:extLst>
          </p:cNvPr>
          <p:cNvSpPr txBox="1"/>
          <p:nvPr/>
        </p:nvSpPr>
        <p:spPr>
          <a:xfrm>
            <a:off x="64770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2024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C3645088-D54D-F3A5-A630-137DBBFE394D}"/>
              </a:ext>
            </a:extLst>
          </p:cNvPr>
          <p:cNvSpPr txBox="1"/>
          <p:nvPr/>
        </p:nvSpPr>
        <p:spPr>
          <a:xfrm>
            <a:off x="62992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Jazzy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C0F8B1-FDD1-1080-9DB6-E9D7178D9759}"/>
              </a:ext>
            </a:extLst>
          </p:cNvPr>
          <p:cNvSpPr/>
          <p:nvPr/>
        </p:nvSpPr>
        <p:spPr>
          <a:xfrm>
            <a:off x="105664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4AF7706A-0DC9-1028-CF43-864A1240F374}"/>
              </a:ext>
            </a:extLst>
          </p:cNvPr>
          <p:cNvSpPr txBox="1"/>
          <p:nvPr/>
        </p:nvSpPr>
        <p:spPr>
          <a:xfrm>
            <a:off x="94996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2025</a:t>
            </a:r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417A911C-B932-1FF5-5DBE-023577773F2E}"/>
              </a:ext>
            </a:extLst>
          </p:cNvPr>
          <p:cNvSpPr txBox="1"/>
          <p:nvPr/>
        </p:nvSpPr>
        <p:spPr>
          <a:xfrm>
            <a:off x="93218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ROS 1 EOL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136CA5-DA21-5CDD-6538-197E103880C5}"/>
              </a:ext>
            </a:extLst>
          </p:cNvPr>
          <p:cNvSpPr/>
          <p:nvPr/>
        </p:nvSpPr>
        <p:spPr>
          <a:xfrm>
            <a:off x="685800" y="3937000"/>
            <a:ext cx="5257800" cy="1447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00E4230E-1CF1-9210-E399-2BA2D311654E}"/>
              </a:ext>
            </a:extLst>
          </p:cNvPr>
          <p:cNvSpPr txBox="1"/>
          <p:nvPr/>
        </p:nvSpPr>
        <p:spPr>
          <a:xfrm>
            <a:off x="939800" y="41147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ROS 1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5A43B8A6-2C24-5911-78D4-5E836522709F}"/>
              </a:ext>
            </a:extLst>
          </p:cNvPr>
          <p:cNvSpPr txBox="1"/>
          <p:nvPr/>
        </p:nvSpPr>
        <p:spPr>
          <a:xfrm>
            <a:off x="939800" y="4635499"/>
            <a:ext cx="4749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Master discovery · TCPROS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DD80CE-88A9-2557-8685-27EF50A42BFD}"/>
              </a:ext>
            </a:extLst>
          </p:cNvPr>
          <p:cNvSpPr/>
          <p:nvPr/>
        </p:nvSpPr>
        <p:spPr>
          <a:xfrm>
            <a:off x="6248400" y="3937000"/>
            <a:ext cx="5257800" cy="1447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E5B1800F-95A5-E7AA-85B8-68640D1D4071}"/>
              </a:ext>
            </a:extLst>
          </p:cNvPr>
          <p:cNvSpPr txBox="1"/>
          <p:nvPr/>
        </p:nvSpPr>
        <p:spPr>
          <a:xfrm>
            <a:off x="6502400" y="41147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ROS 2</a:t>
            </a:r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8C21604F-FB20-A0CE-DBB9-75115A5CD366}"/>
              </a:ext>
            </a:extLst>
          </p:cNvPr>
          <p:cNvSpPr txBox="1"/>
          <p:nvPr/>
        </p:nvSpPr>
        <p:spPr>
          <a:xfrm>
            <a:off x="6502400" y="4635499"/>
            <a:ext cx="4749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DDS discovery · QoS · lifecycle</a:t>
            </a:r>
          </a:p>
        </p:txBody>
      </p:sp>
      <p:sp>
        <p:nvSpPr>
          <p:cNvPr id="27" name="text_26">
            <a:extLst>
              <a:ext uri="{FF2B5EF4-FFF2-40B4-BE49-F238E27FC236}">
                <a16:creationId xmlns:a16="http://schemas.microsoft.com/office/drawing/2014/main" id="{F3EA7301-0A3A-F7A1-0DD6-E11CA3860572}"/>
              </a:ext>
            </a:extLst>
          </p:cNvPr>
          <p:cNvSpPr txBox="1"/>
          <p:nvPr/>
        </p:nvSpPr>
        <p:spPr>
          <a:xfrm>
            <a:off x="685800" y="5575299"/>
            <a:ext cx="10820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>
                <a:solidFill>
                  <a:srgbClr val="526477"/>
                </a:solidFill>
                <a:latin typeface="Aptos" panose="020B0004020202020204" pitchFamily="34" charset="0"/>
              </a:rPr>
              <a:t>ROS 2 = generation. Jazzy =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85775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BD2BFABC-AA67-0A0B-7BE5-7C52E69B39BD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44C9F572-9AD2-1CAB-22D1-256957D37382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Nodes and the ROS graph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EDB03062-C0D2-9222-916D-23A6B0E814F7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A node has a responsibility. A process hosts running code.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7D52AD-C473-527C-0225-8EED05771C2D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D7822F45-960F-77A0-FF1A-22C58ECD22CC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AC52618B-6B24-CF1F-EBD7-6646694CAA18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B1F00-FC04-8C11-4FC1-0C1F12F8B2BC}"/>
              </a:ext>
            </a:extLst>
          </p:cNvPr>
          <p:cNvSpPr/>
          <p:nvPr/>
        </p:nvSpPr>
        <p:spPr>
          <a:xfrm>
            <a:off x="685800" y="2616200"/>
            <a:ext cx="5257800" cy="2984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6DBFE804-A8CD-BB92-34F6-9DED4176522C}"/>
              </a:ext>
            </a:extLst>
          </p:cNvPr>
          <p:cNvSpPr txBox="1"/>
          <p:nvPr/>
        </p:nvSpPr>
        <p:spPr>
          <a:xfrm>
            <a:off x="965200" y="2806699"/>
            <a:ext cx="469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THIS DEMO: TWO PROCESSES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4B3C43-72B9-0E5E-8689-E09E624F9C22}"/>
              </a:ext>
            </a:extLst>
          </p:cNvPr>
          <p:cNvSpPr/>
          <p:nvPr/>
        </p:nvSpPr>
        <p:spPr>
          <a:xfrm>
            <a:off x="965200" y="3467100"/>
            <a:ext cx="4699000" cy="7747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752B3786-61E7-D73A-C061-34CDEA5E1D6B}"/>
              </a:ext>
            </a:extLst>
          </p:cNvPr>
          <p:cNvSpPr txBox="1"/>
          <p:nvPr/>
        </p:nvSpPr>
        <p:spPr>
          <a:xfrm>
            <a:off x="1117600" y="3670299"/>
            <a:ext cx="439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Consolas" panose="020B0609020204030204" pitchFamily="49" charset="0"/>
              </a:rPr>
              <a:t>/greeting_publisher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163DD4-0F2E-330D-15FB-099952BF67EB}"/>
              </a:ext>
            </a:extLst>
          </p:cNvPr>
          <p:cNvSpPr/>
          <p:nvPr/>
        </p:nvSpPr>
        <p:spPr>
          <a:xfrm>
            <a:off x="965200" y="4546600"/>
            <a:ext cx="4699000" cy="7747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D6280DCA-C7EF-EBAE-DD2C-DB7B1EE8368E}"/>
              </a:ext>
            </a:extLst>
          </p:cNvPr>
          <p:cNvSpPr txBox="1"/>
          <p:nvPr/>
        </p:nvSpPr>
        <p:spPr>
          <a:xfrm>
            <a:off x="1117600" y="4749799"/>
            <a:ext cx="439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/greeting_subscriber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E885C2-303C-FDFA-5DC6-56478ED74704}"/>
              </a:ext>
            </a:extLst>
          </p:cNvPr>
          <p:cNvCxnSpPr/>
          <p:nvPr/>
        </p:nvCxnSpPr>
        <p:spPr>
          <a:xfrm>
            <a:off x="3314700" y="4241800"/>
            <a:ext cx="0" cy="3048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3411F7-31F4-D251-B7DE-E1768EF37E4B}"/>
              </a:ext>
            </a:extLst>
          </p:cNvPr>
          <p:cNvSpPr/>
          <p:nvPr/>
        </p:nvSpPr>
        <p:spPr>
          <a:xfrm>
            <a:off x="6248400" y="2616200"/>
            <a:ext cx="5257800" cy="2984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00E06371-DB0A-2391-A3EE-6087AAE668CD}"/>
              </a:ext>
            </a:extLst>
          </p:cNvPr>
          <p:cNvSpPr txBox="1"/>
          <p:nvPr/>
        </p:nvSpPr>
        <p:spPr>
          <a:xfrm>
            <a:off x="6527800" y="2806699"/>
            <a:ext cx="469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ALSO VALID: ONE PROCESS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CC4108-3315-E391-B547-99CB58936F48}"/>
              </a:ext>
            </a:extLst>
          </p:cNvPr>
          <p:cNvSpPr/>
          <p:nvPr/>
        </p:nvSpPr>
        <p:spPr>
          <a:xfrm>
            <a:off x="6553200" y="3733800"/>
            <a:ext cx="2057400" cy="1181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1EBBA260-8A9E-3EAC-C7CA-B3D7D5B6BEA5}"/>
              </a:ext>
            </a:extLst>
          </p:cNvPr>
          <p:cNvSpPr txBox="1"/>
          <p:nvPr/>
        </p:nvSpPr>
        <p:spPr>
          <a:xfrm>
            <a:off x="6680200" y="4025899"/>
            <a:ext cx="1803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Node 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AD8B5F-FC35-183C-F95E-68D56CE43F89}"/>
              </a:ext>
            </a:extLst>
          </p:cNvPr>
          <p:cNvSpPr/>
          <p:nvPr/>
        </p:nvSpPr>
        <p:spPr>
          <a:xfrm>
            <a:off x="9144000" y="3733800"/>
            <a:ext cx="2057400" cy="11811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965EB31C-C128-8400-19CA-2073FB7E0C84}"/>
              </a:ext>
            </a:extLst>
          </p:cNvPr>
          <p:cNvSpPr txBox="1"/>
          <p:nvPr/>
        </p:nvSpPr>
        <p:spPr>
          <a:xfrm>
            <a:off x="9271000" y="4025899"/>
            <a:ext cx="1803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Node B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F1FF153-E1C1-FBD2-4526-71BE96F39035}"/>
              </a:ext>
            </a:extLst>
          </p:cNvPr>
          <p:cNvCxnSpPr/>
          <p:nvPr/>
        </p:nvCxnSpPr>
        <p:spPr>
          <a:xfrm>
            <a:off x="8610600" y="4318000"/>
            <a:ext cx="533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_21">
            <a:extLst>
              <a:ext uri="{FF2B5EF4-FFF2-40B4-BE49-F238E27FC236}">
                <a16:creationId xmlns:a16="http://schemas.microsoft.com/office/drawing/2014/main" id="{41F27D20-05C0-D56D-D409-69E7F4AB085D}"/>
              </a:ext>
            </a:extLst>
          </p:cNvPr>
          <p:cNvSpPr txBox="1"/>
          <p:nvPr/>
        </p:nvSpPr>
        <p:spPr>
          <a:xfrm>
            <a:off x="685800" y="5740399"/>
            <a:ext cx="10820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The graph describes nodes and their communication connections.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4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02C4B55D-3F2B-4620-1B1C-A0CCD4C89203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3C5E3BCA-0D8B-55AD-92A1-292FA57CFEC0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Topics carry typed messages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06479526-AA22-01C2-C3E0-B2E691B3E5C6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Publishers send. Subscribers receive. One topic can connect many.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515480-D641-551D-9E32-0759B84FF88C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C60EFF34-4955-4912-97E2-598E8A9EF84B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85647207-7154-0F95-50BB-30DF61690437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92A966-839A-F161-18D9-F9395D8FF7F2}"/>
              </a:ext>
            </a:extLst>
          </p:cNvPr>
          <p:cNvSpPr/>
          <p:nvPr/>
        </p:nvSpPr>
        <p:spPr>
          <a:xfrm>
            <a:off x="685800" y="26670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9DBEA592-F18C-6076-2D6D-089D79BE78F6}"/>
              </a:ext>
            </a:extLst>
          </p:cNvPr>
          <p:cNvSpPr txBox="1"/>
          <p:nvPr/>
        </p:nvSpPr>
        <p:spPr>
          <a:xfrm>
            <a:off x="889000" y="2984499"/>
            <a:ext cx="3733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Consolas" panose="020B0609020204030204" pitchFamily="49" charset="0"/>
              </a:rPr>
              <a:t>/greeting_publisher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80AABB-56DE-D4D6-19CE-8A3F58201DD9}"/>
              </a:ext>
            </a:extLst>
          </p:cNvPr>
          <p:cNvSpPr/>
          <p:nvPr/>
        </p:nvSpPr>
        <p:spPr>
          <a:xfrm>
            <a:off x="5207000" y="2667000"/>
            <a:ext cx="1778000" cy="1041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66553450-96BF-D317-CECA-88217485C9C3}"/>
              </a:ext>
            </a:extLst>
          </p:cNvPr>
          <p:cNvSpPr txBox="1"/>
          <p:nvPr/>
        </p:nvSpPr>
        <p:spPr>
          <a:xfrm>
            <a:off x="5334000" y="2984499"/>
            <a:ext cx="1524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Consolas" panose="020B0609020204030204" pitchFamily="49" charset="0"/>
              </a:rPr>
              <a:t>/chatter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B894BD-C745-4AA3-295E-C719A03555DD}"/>
              </a:ext>
            </a:extLst>
          </p:cNvPr>
          <p:cNvSpPr/>
          <p:nvPr/>
        </p:nvSpPr>
        <p:spPr>
          <a:xfrm>
            <a:off x="7366000" y="26670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79496C12-B3BE-88DF-C340-8BAAD45C9676}"/>
              </a:ext>
            </a:extLst>
          </p:cNvPr>
          <p:cNvSpPr txBox="1"/>
          <p:nvPr/>
        </p:nvSpPr>
        <p:spPr>
          <a:xfrm>
            <a:off x="7518400" y="2984499"/>
            <a:ext cx="3835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/greeting_subscriber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5CE871-DFA8-D4B5-8896-9093DED48686}"/>
              </a:ext>
            </a:extLst>
          </p:cNvPr>
          <p:cNvCxnSpPr/>
          <p:nvPr/>
        </p:nvCxnSpPr>
        <p:spPr>
          <a:xfrm>
            <a:off x="4826000" y="3187700"/>
            <a:ext cx="3810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D2A41D-8495-28FC-4F64-F3C195DBF9E8}"/>
              </a:ext>
            </a:extLst>
          </p:cNvPr>
          <p:cNvCxnSpPr/>
          <p:nvPr/>
        </p:nvCxnSpPr>
        <p:spPr>
          <a:xfrm>
            <a:off x="6985000" y="3187700"/>
            <a:ext cx="3810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BE7D552A-07A4-4F77-6983-DBE977789234}"/>
              </a:ext>
            </a:extLst>
          </p:cNvPr>
          <p:cNvSpPr txBox="1"/>
          <p:nvPr/>
        </p:nvSpPr>
        <p:spPr>
          <a:xfrm>
            <a:off x="685800" y="3873499"/>
            <a:ext cx="4140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526477"/>
                </a:solidFill>
                <a:latin typeface="Consolas" panose="020B0609020204030204" pitchFamily="49" charset="0"/>
              </a:rPr>
              <a:t>std_msgs/msg/String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7684A2-467D-108D-B3C8-A74E042FD769}"/>
              </a:ext>
            </a:extLst>
          </p:cNvPr>
          <p:cNvCxnSpPr/>
          <p:nvPr/>
        </p:nvCxnSpPr>
        <p:spPr>
          <a:xfrm>
            <a:off x="6096000" y="3708400"/>
            <a:ext cx="0" cy="647700"/>
          </a:xfrm>
          <a:prstGeom prst="line">
            <a:avLst/>
          </a:prstGeom>
          <a:ln w="27940">
            <a:solidFill>
              <a:srgbClr val="137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7BA8C2-05A9-F89F-0C6A-00BA6C02F848}"/>
              </a:ext>
            </a:extLst>
          </p:cNvPr>
          <p:cNvCxnSpPr/>
          <p:nvPr/>
        </p:nvCxnSpPr>
        <p:spPr>
          <a:xfrm>
            <a:off x="6096000" y="4356100"/>
            <a:ext cx="31115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18">
            <a:extLst>
              <a:ext uri="{FF2B5EF4-FFF2-40B4-BE49-F238E27FC236}">
                <a16:creationId xmlns:a16="http://schemas.microsoft.com/office/drawing/2014/main" id="{59D4B3F0-BF5D-1182-95F3-CBFF3CC23312}"/>
              </a:ext>
            </a:extLst>
          </p:cNvPr>
          <p:cNvSpPr txBox="1"/>
          <p:nvPr/>
        </p:nvSpPr>
        <p:spPr>
          <a:xfrm>
            <a:off x="9423400" y="4190999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Another reader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55F467-0EA1-4AC3-22DA-51E6FA3CBF3F}"/>
              </a:ext>
            </a:extLst>
          </p:cNvPr>
          <p:cNvSpPr/>
          <p:nvPr/>
        </p:nvSpPr>
        <p:spPr>
          <a:xfrm>
            <a:off x="685800" y="4889500"/>
            <a:ext cx="10820400" cy="11557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3E3975CE-9081-F3C4-BFC7-31301DE0DBC7}"/>
              </a:ext>
            </a:extLst>
          </p:cNvPr>
          <p:cNvSpPr txBox="1"/>
          <p:nvPr/>
        </p:nvSpPr>
        <p:spPr>
          <a:xfrm>
            <a:off x="939800" y="5079999"/>
            <a:ext cx="304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String interface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9BE6771D-98D5-A9FD-ED3B-52C66C1067A0}"/>
              </a:ext>
            </a:extLst>
          </p:cNvPr>
          <p:cNvSpPr txBox="1"/>
          <p:nvPr/>
        </p:nvSpPr>
        <p:spPr>
          <a:xfrm>
            <a:off x="939800" y="5562599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string data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FB273E40-CF2D-E4D8-FC57-EBB7A05B68EC}"/>
              </a:ext>
            </a:extLst>
          </p:cNvPr>
          <p:cNvSpPr txBox="1"/>
          <p:nvPr/>
        </p:nvSpPr>
        <p:spPr>
          <a:xfrm>
            <a:off x="4495800" y="5079999"/>
            <a:ext cx="67564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message = String()
message.data = 'Hello, robotics!'</a:t>
            </a:r>
          </a:p>
        </p:txBody>
      </p:sp>
    </p:spTree>
    <p:extLst>
      <p:ext uri="{BB962C8B-B14F-4D97-AF65-F5344CB8AC3E}">
        <p14:creationId xmlns:p14="http://schemas.microsoft.com/office/powerpoint/2010/main" val="120851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92C48E28-76C3-A79B-5CF3-CAE00F5F61B4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579D5E35-7C6C-9C59-94E7-0DD5F70C2E88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Choose the right interface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1F975042-25E1-84B7-A8B3-AF8047F7313F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Match the communication pattern to the task.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D801CB-EF66-38AD-CAB4-D3CF1C6E7219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2FED64CF-10B3-FE75-9689-D34EF9BDE51C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C7519DCC-AA6F-F840-89EF-8B8779A63761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03D996-DB29-E87E-3321-B0D3A26215B7}"/>
              </a:ext>
            </a:extLst>
          </p:cNvPr>
          <p:cNvSpPr/>
          <p:nvPr/>
        </p:nvSpPr>
        <p:spPr>
          <a:xfrm>
            <a:off x="685800" y="25654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CCBE2A0F-4982-AC6C-60B1-60FDBB2597AB}"/>
              </a:ext>
            </a:extLst>
          </p:cNvPr>
          <p:cNvSpPr txBox="1"/>
          <p:nvPr/>
        </p:nvSpPr>
        <p:spPr>
          <a:xfrm>
            <a:off x="939800" y="26923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Topic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C49A2C50-B922-041C-36A6-4E5C40E5EB48}"/>
              </a:ext>
            </a:extLst>
          </p:cNvPr>
          <p:cNvSpPr txBox="1"/>
          <p:nvPr/>
        </p:nvSpPr>
        <p:spPr>
          <a:xfrm>
            <a:off x="939800" y="31876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data → data → data</a:t>
            </a:r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C0BA8941-C0E7-F2B7-284B-D5516065793D}"/>
              </a:ext>
            </a:extLst>
          </p:cNvPr>
          <p:cNvSpPr txBox="1"/>
          <p:nvPr/>
        </p:nvSpPr>
        <p:spPr>
          <a:xfrm>
            <a:off x="939800" y="36194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Sensor readings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0F41BC-88E5-5651-105A-9D7AD2E581A6}"/>
              </a:ext>
            </a:extLst>
          </p:cNvPr>
          <p:cNvSpPr/>
          <p:nvPr/>
        </p:nvSpPr>
        <p:spPr>
          <a:xfrm>
            <a:off x="6248400" y="25654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64209104-874E-33FC-73A4-D1CB68CDA5DE}"/>
              </a:ext>
            </a:extLst>
          </p:cNvPr>
          <p:cNvSpPr txBox="1"/>
          <p:nvPr/>
        </p:nvSpPr>
        <p:spPr>
          <a:xfrm>
            <a:off x="6502400" y="26923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Service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E2D20E56-4ABB-8747-6B4A-7EB792846E01}"/>
              </a:ext>
            </a:extLst>
          </p:cNvPr>
          <p:cNvSpPr txBox="1"/>
          <p:nvPr/>
        </p:nvSpPr>
        <p:spPr>
          <a:xfrm>
            <a:off x="6502400" y="31876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request → response</a:t>
            </a:r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2063A3B4-87FE-624A-845A-585681B26BAC}"/>
              </a:ext>
            </a:extLst>
          </p:cNvPr>
          <p:cNvSpPr txBox="1"/>
          <p:nvPr/>
        </p:nvSpPr>
        <p:spPr>
          <a:xfrm>
            <a:off x="6502400" y="36194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Reset odometry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E12D0E-8171-76B5-80B2-2BC28668CC35}"/>
              </a:ext>
            </a:extLst>
          </p:cNvPr>
          <p:cNvSpPr/>
          <p:nvPr/>
        </p:nvSpPr>
        <p:spPr>
          <a:xfrm>
            <a:off x="685800" y="42926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9D74F196-B0BA-F740-0478-F20A5AA2D615}"/>
              </a:ext>
            </a:extLst>
          </p:cNvPr>
          <p:cNvSpPr txBox="1"/>
          <p:nvPr/>
        </p:nvSpPr>
        <p:spPr>
          <a:xfrm>
            <a:off x="939800" y="44195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Action</a:t>
            </a:r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E7D57BBC-FE86-412E-9E5F-36C146949602}"/>
              </a:ext>
            </a:extLst>
          </p:cNvPr>
          <p:cNvSpPr txBox="1"/>
          <p:nvPr/>
        </p:nvSpPr>
        <p:spPr>
          <a:xfrm>
            <a:off x="939800" y="49148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goal → feedback → result</a:t>
            </a: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CBC476A3-FE96-06CF-7E8E-5FC73468E57E}"/>
              </a:ext>
            </a:extLst>
          </p:cNvPr>
          <p:cNvSpPr txBox="1"/>
          <p:nvPr/>
        </p:nvSpPr>
        <p:spPr>
          <a:xfrm>
            <a:off x="939800" y="53466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Navigate + cancel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D840F0-08F2-709D-FEB4-ADBF374F91AB}"/>
              </a:ext>
            </a:extLst>
          </p:cNvPr>
          <p:cNvSpPr/>
          <p:nvPr/>
        </p:nvSpPr>
        <p:spPr>
          <a:xfrm>
            <a:off x="6248400" y="42926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AB0AD87A-26F9-74D0-AE69-7FB5222226D5}"/>
              </a:ext>
            </a:extLst>
          </p:cNvPr>
          <p:cNvSpPr txBox="1"/>
          <p:nvPr/>
        </p:nvSpPr>
        <p:spPr>
          <a:xfrm>
            <a:off x="6502400" y="44195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Parameter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2CCE19EB-1C3C-B9EE-B961-6D25A9DE001E}"/>
              </a:ext>
            </a:extLst>
          </p:cNvPr>
          <p:cNvSpPr txBox="1"/>
          <p:nvPr/>
        </p:nvSpPr>
        <p:spPr>
          <a:xfrm>
            <a:off x="6502400" y="49148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node configuration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19017D60-82FE-7FDF-172F-F763FADDD56B}"/>
              </a:ext>
            </a:extLst>
          </p:cNvPr>
          <p:cNvSpPr txBox="1"/>
          <p:nvPr/>
        </p:nvSpPr>
        <p:spPr>
          <a:xfrm>
            <a:off x="6502400" y="53466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Exposure / frame name</a:t>
            </a:r>
          </a:p>
        </p:txBody>
      </p:sp>
    </p:spTree>
    <p:extLst>
      <p:ext uri="{BB962C8B-B14F-4D97-AF65-F5344CB8AC3E}">
        <p14:creationId xmlns:p14="http://schemas.microsoft.com/office/powerpoint/2010/main" val="409870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5E071177-0CC6-C778-B859-321CF77DC0E3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9D94925A-B967-4F54-CEC8-FA080D0D9245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One graph, multiple computers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C16F01C4-142E-695A-2C05-7888171F4C33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Nodes communicate locally or across computers in one ROS domain.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49B0B0-1642-4938-EA13-794C27C24BBB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F17AF361-6657-203F-D6B1-496B127D5123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86C92099-F982-2080-982E-AD1CADD65F9C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9BE639-26FE-C2FE-F532-5CDD98ED8FD3}"/>
              </a:ext>
            </a:extLst>
          </p:cNvPr>
          <p:cNvSpPr/>
          <p:nvPr/>
        </p:nvSpPr>
        <p:spPr>
          <a:xfrm>
            <a:off x="685800" y="2451100"/>
            <a:ext cx="10820400" cy="3238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137F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EDE9D352-40B8-9171-B955-40B1030E62AB}"/>
              </a:ext>
            </a:extLst>
          </p:cNvPr>
          <p:cNvSpPr txBox="1"/>
          <p:nvPr/>
        </p:nvSpPr>
        <p:spPr>
          <a:xfrm>
            <a:off x="939800" y="2578099"/>
            <a:ext cx="762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ROS_DOMAIN_ID = 42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C53B0A-F510-6294-7209-AC8FC755F540}"/>
              </a:ext>
            </a:extLst>
          </p:cNvPr>
          <p:cNvSpPr/>
          <p:nvPr/>
        </p:nvSpPr>
        <p:spPr>
          <a:xfrm>
            <a:off x="939800" y="3124200"/>
            <a:ext cx="3124200" cy="2413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18D81-8DAA-B9A7-9A0B-268E2CF3E9F4}"/>
              </a:ext>
            </a:extLst>
          </p:cNvPr>
          <p:cNvSpPr/>
          <p:nvPr/>
        </p:nvSpPr>
        <p:spPr>
          <a:xfrm>
            <a:off x="8128000" y="3124200"/>
            <a:ext cx="3124200" cy="2413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BC930F72-854E-D269-DFE4-1A6BDB0941E4}"/>
              </a:ext>
            </a:extLst>
          </p:cNvPr>
          <p:cNvSpPr txBox="1"/>
          <p:nvPr/>
        </p:nvSpPr>
        <p:spPr>
          <a:xfrm>
            <a:off x="1143000" y="3200399"/>
            <a:ext cx="271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Robot computer</a:t>
            </a:r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B1AF7F33-173F-17C9-6F88-96DE8DA133C2}"/>
              </a:ext>
            </a:extLst>
          </p:cNvPr>
          <p:cNvSpPr txBox="1"/>
          <p:nvPr/>
        </p:nvSpPr>
        <p:spPr>
          <a:xfrm>
            <a:off x="8331200" y="3200399"/>
            <a:ext cx="271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Operator computer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C75378-D9E6-488D-BB20-0DB6E038EB9B}"/>
              </a:ext>
            </a:extLst>
          </p:cNvPr>
          <p:cNvSpPr/>
          <p:nvPr/>
        </p:nvSpPr>
        <p:spPr>
          <a:xfrm>
            <a:off x="1143000" y="3632200"/>
            <a:ext cx="2717800" cy="431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812619-EF89-BE30-B937-A815996949F8}"/>
              </a:ext>
            </a:extLst>
          </p:cNvPr>
          <p:cNvSpPr/>
          <p:nvPr/>
        </p:nvSpPr>
        <p:spPr>
          <a:xfrm>
            <a:off x="8331200" y="3632200"/>
            <a:ext cx="2717800" cy="431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4A0C2019-4040-4C70-613C-868654C18A8F}"/>
              </a:ext>
            </a:extLst>
          </p:cNvPr>
          <p:cNvSpPr txBox="1"/>
          <p:nvPr/>
        </p:nvSpPr>
        <p:spPr>
          <a:xfrm>
            <a:off x="1244600" y="3670299"/>
            <a:ext cx="251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Camera node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B785A89A-007C-449D-DA4C-6CFDAA328DDF}"/>
              </a:ext>
            </a:extLst>
          </p:cNvPr>
          <p:cNvSpPr txBox="1"/>
          <p:nvPr/>
        </p:nvSpPr>
        <p:spPr>
          <a:xfrm>
            <a:off x="8432800" y="3670299"/>
            <a:ext cx="251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Perception node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BE9135-7E52-179C-A306-C12AB4F8808D}"/>
              </a:ext>
            </a:extLst>
          </p:cNvPr>
          <p:cNvCxnSpPr/>
          <p:nvPr/>
        </p:nvCxnSpPr>
        <p:spPr>
          <a:xfrm>
            <a:off x="3860800" y="3848100"/>
            <a:ext cx="4470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18">
            <a:extLst>
              <a:ext uri="{FF2B5EF4-FFF2-40B4-BE49-F238E27FC236}">
                <a16:creationId xmlns:a16="http://schemas.microsoft.com/office/drawing/2014/main" id="{3580E970-51E9-253A-F3F1-69A958740021}"/>
              </a:ext>
            </a:extLst>
          </p:cNvPr>
          <p:cNvSpPr txBox="1"/>
          <p:nvPr/>
        </p:nvSpPr>
        <p:spPr>
          <a:xfrm>
            <a:off x="4191000" y="3416299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Topic: images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F880CF-0075-632C-7818-F43022772BF3}"/>
              </a:ext>
            </a:extLst>
          </p:cNvPr>
          <p:cNvSpPr/>
          <p:nvPr/>
        </p:nvSpPr>
        <p:spPr>
          <a:xfrm>
            <a:off x="1143000" y="4343400"/>
            <a:ext cx="2717800" cy="431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01BECC-3C62-CD95-263A-E7ABDEA0B010}"/>
              </a:ext>
            </a:extLst>
          </p:cNvPr>
          <p:cNvSpPr/>
          <p:nvPr/>
        </p:nvSpPr>
        <p:spPr>
          <a:xfrm>
            <a:off x="8331200" y="4343400"/>
            <a:ext cx="2717800" cy="431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399110FA-8949-A790-1635-A6EB4B1A3C53}"/>
              </a:ext>
            </a:extLst>
          </p:cNvPr>
          <p:cNvSpPr txBox="1"/>
          <p:nvPr/>
        </p:nvSpPr>
        <p:spPr>
          <a:xfrm>
            <a:off x="1244600" y="4381499"/>
            <a:ext cx="251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Motor node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03463AA8-489C-F048-888A-020206F790F0}"/>
              </a:ext>
            </a:extLst>
          </p:cNvPr>
          <p:cNvSpPr txBox="1"/>
          <p:nvPr/>
        </p:nvSpPr>
        <p:spPr>
          <a:xfrm>
            <a:off x="8432800" y="4381499"/>
            <a:ext cx="251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Diagnostics node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2CA66A-6C46-A2BF-3962-9E7250C44BC3}"/>
              </a:ext>
            </a:extLst>
          </p:cNvPr>
          <p:cNvCxnSpPr/>
          <p:nvPr/>
        </p:nvCxnSpPr>
        <p:spPr>
          <a:xfrm>
            <a:off x="3860800" y="4559300"/>
            <a:ext cx="4470400" cy="0"/>
          </a:xfrm>
          <a:prstGeom prst="line">
            <a:avLst/>
          </a:prstGeom>
          <a:ln w="27940">
            <a:solidFill>
              <a:srgbClr val="137F79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_24">
            <a:extLst>
              <a:ext uri="{FF2B5EF4-FFF2-40B4-BE49-F238E27FC236}">
                <a16:creationId xmlns:a16="http://schemas.microsoft.com/office/drawing/2014/main" id="{2545FD7A-553B-E650-7101-443764982939}"/>
              </a:ext>
            </a:extLst>
          </p:cNvPr>
          <p:cNvSpPr txBox="1"/>
          <p:nvPr/>
        </p:nvSpPr>
        <p:spPr>
          <a:xfrm>
            <a:off x="4191000" y="4127499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Service: reset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4B3AAD-804B-AD9C-6759-A52E2AE6F8CE}"/>
              </a:ext>
            </a:extLst>
          </p:cNvPr>
          <p:cNvSpPr/>
          <p:nvPr/>
        </p:nvSpPr>
        <p:spPr>
          <a:xfrm>
            <a:off x="1143000" y="5054600"/>
            <a:ext cx="2717800" cy="431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894AC9-10EE-81A5-946C-4834F38F6B4F}"/>
              </a:ext>
            </a:extLst>
          </p:cNvPr>
          <p:cNvSpPr/>
          <p:nvPr/>
        </p:nvSpPr>
        <p:spPr>
          <a:xfrm>
            <a:off x="8331200" y="5054600"/>
            <a:ext cx="2717800" cy="431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_27">
            <a:extLst>
              <a:ext uri="{FF2B5EF4-FFF2-40B4-BE49-F238E27FC236}">
                <a16:creationId xmlns:a16="http://schemas.microsoft.com/office/drawing/2014/main" id="{B43B9705-7B53-C2D4-6142-D73158464CAD}"/>
              </a:ext>
            </a:extLst>
          </p:cNvPr>
          <p:cNvSpPr txBox="1"/>
          <p:nvPr/>
        </p:nvSpPr>
        <p:spPr>
          <a:xfrm>
            <a:off x="1244600" y="5092699"/>
            <a:ext cx="251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Navigation node</a:t>
            </a:r>
          </a:p>
        </p:txBody>
      </p:sp>
      <p:sp>
        <p:nvSpPr>
          <p:cNvPr id="29" name="text_28">
            <a:extLst>
              <a:ext uri="{FF2B5EF4-FFF2-40B4-BE49-F238E27FC236}">
                <a16:creationId xmlns:a16="http://schemas.microsoft.com/office/drawing/2014/main" id="{91365FF3-82F0-3142-BEC2-254351979176}"/>
              </a:ext>
            </a:extLst>
          </p:cNvPr>
          <p:cNvSpPr txBox="1"/>
          <p:nvPr/>
        </p:nvSpPr>
        <p:spPr>
          <a:xfrm>
            <a:off x="8432800" y="5092699"/>
            <a:ext cx="251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Mission 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A0A8FD3-499A-E87D-3D90-FCA105FC1875}"/>
              </a:ext>
            </a:extLst>
          </p:cNvPr>
          <p:cNvCxnSpPr/>
          <p:nvPr/>
        </p:nvCxnSpPr>
        <p:spPr>
          <a:xfrm>
            <a:off x="3860800" y="5270500"/>
            <a:ext cx="4470400" cy="0"/>
          </a:xfrm>
          <a:prstGeom prst="line">
            <a:avLst/>
          </a:prstGeom>
          <a:ln w="27940">
            <a:solidFill>
              <a:srgbClr val="2459D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_30">
            <a:extLst>
              <a:ext uri="{FF2B5EF4-FFF2-40B4-BE49-F238E27FC236}">
                <a16:creationId xmlns:a16="http://schemas.microsoft.com/office/drawing/2014/main" id="{6AE96998-EF4A-A96A-B0C3-65614B575704}"/>
              </a:ext>
            </a:extLst>
          </p:cNvPr>
          <p:cNvSpPr txBox="1"/>
          <p:nvPr/>
        </p:nvSpPr>
        <p:spPr>
          <a:xfrm>
            <a:off x="4191000" y="4838699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Action: navigate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9CA4E5-4D95-9432-6999-944CB364C8F2}"/>
              </a:ext>
            </a:extLst>
          </p:cNvPr>
          <p:cNvCxnSpPr/>
          <p:nvPr/>
        </p:nvCxnSpPr>
        <p:spPr>
          <a:xfrm flipV="1">
            <a:off x="2501900" y="4775200"/>
            <a:ext cx="0" cy="2794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_32">
            <a:extLst>
              <a:ext uri="{FF2B5EF4-FFF2-40B4-BE49-F238E27FC236}">
                <a16:creationId xmlns:a16="http://schemas.microsoft.com/office/drawing/2014/main" id="{23AAA93F-47AC-AFEF-7AEF-055E371D663E}"/>
              </a:ext>
            </a:extLst>
          </p:cNvPr>
          <p:cNvSpPr txBox="1"/>
          <p:nvPr/>
        </p:nvSpPr>
        <p:spPr>
          <a:xfrm>
            <a:off x="685800" y="5829299"/>
            <a:ext cx="10820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Same domain + reachable network + compatible interfaces.</a:t>
            </a:r>
          </a:p>
        </p:txBody>
      </p:sp>
    </p:spTree>
    <p:extLst>
      <p:ext uri="{BB962C8B-B14F-4D97-AF65-F5344CB8AC3E}">
        <p14:creationId xmlns:p14="http://schemas.microsoft.com/office/powerpoint/2010/main" val="257754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57414B32-DB47-0867-3E70-C630234D28B9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37E8A3C5-60ED-7F71-B54B-EF74431C8809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ROS 2 architecture and DDS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30166E08-725D-6F16-8900-5324A38C2F5D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>
                <a:solidFill>
                  <a:srgbClr val="526477"/>
                </a:solidFill>
                <a:latin typeface="Aptos" panose="020B0004020202020204" pitchFamily="34" charset="0"/>
              </a:rPr>
              <a:t>DDS = Data Distribution Service. RTPS = its wire protocol.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CCFF35-D189-32BB-BD95-551BFEC89B83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3C206835-27A8-D161-9513-9DE24F46F5FC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E363F286-C54E-A645-0CBE-22FBC76BA345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DA8E70-13EB-4DE2-66CB-4EC24B6D7B7C}"/>
              </a:ext>
            </a:extLst>
          </p:cNvPr>
          <p:cNvSpPr/>
          <p:nvPr/>
        </p:nvSpPr>
        <p:spPr>
          <a:xfrm>
            <a:off x="685800" y="24638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F97A018F-5D9B-0FFC-D782-6381B55274F3}"/>
              </a:ext>
            </a:extLst>
          </p:cNvPr>
          <p:cNvSpPr txBox="1"/>
          <p:nvPr/>
        </p:nvSpPr>
        <p:spPr>
          <a:xfrm>
            <a:off x="838200" y="25018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Application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E3E2E4-C1F4-5B2A-D932-3651BF3AB1A2}"/>
              </a:ext>
            </a:extLst>
          </p:cNvPr>
          <p:cNvCxnSpPr/>
          <p:nvPr/>
        </p:nvCxnSpPr>
        <p:spPr>
          <a:xfrm>
            <a:off x="2870200" y="29464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2313E2-6E23-9CBF-EAF0-8C8830AC24EB}"/>
              </a:ext>
            </a:extLst>
          </p:cNvPr>
          <p:cNvSpPr/>
          <p:nvPr/>
        </p:nvSpPr>
        <p:spPr>
          <a:xfrm>
            <a:off x="685800" y="30353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1E96A1C7-9891-E2E5-5803-6A4099792047}"/>
              </a:ext>
            </a:extLst>
          </p:cNvPr>
          <p:cNvSpPr txBox="1"/>
          <p:nvPr/>
        </p:nvSpPr>
        <p:spPr>
          <a:xfrm>
            <a:off x="838200" y="30733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rclpy / rclcpp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95B540-7263-FA56-7752-D6539A0CC776}"/>
              </a:ext>
            </a:extLst>
          </p:cNvPr>
          <p:cNvCxnSpPr/>
          <p:nvPr/>
        </p:nvCxnSpPr>
        <p:spPr>
          <a:xfrm>
            <a:off x="2870200" y="35179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189B92-B382-9923-F135-5EFD09537ECB}"/>
              </a:ext>
            </a:extLst>
          </p:cNvPr>
          <p:cNvSpPr/>
          <p:nvPr/>
        </p:nvSpPr>
        <p:spPr>
          <a:xfrm>
            <a:off x="685800" y="36068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4C3E1048-19AA-11CC-D05C-88530B4D74BE}"/>
              </a:ext>
            </a:extLst>
          </p:cNvPr>
          <p:cNvSpPr txBox="1"/>
          <p:nvPr/>
        </p:nvSpPr>
        <p:spPr>
          <a:xfrm>
            <a:off x="838200" y="36448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rcl: shared C core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F2A8FE-92BC-29AF-3790-927739ABD11A}"/>
              </a:ext>
            </a:extLst>
          </p:cNvPr>
          <p:cNvCxnSpPr/>
          <p:nvPr/>
        </p:nvCxnSpPr>
        <p:spPr>
          <a:xfrm>
            <a:off x="2870200" y="40894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FEBAA5-17F4-3AE2-36CA-D9D135121610}"/>
              </a:ext>
            </a:extLst>
          </p:cNvPr>
          <p:cNvSpPr/>
          <p:nvPr/>
        </p:nvSpPr>
        <p:spPr>
          <a:xfrm>
            <a:off x="685800" y="41783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600FC002-8D29-ED99-D638-D65132133470}"/>
              </a:ext>
            </a:extLst>
          </p:cNvPr>
          <p:cNvSpPr txBox="1"/>
          <p:nvPr/>
        </p:nvSpPr>
        <p:spPr>
          <a:xfrm>
            <a:off x="838200" y="42163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rmw: adapter interface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9557A6-A200-2EFD-20FB-C56A673BB1ED}"/>
              </a:ext>
            </a:extLst>
          </p:cNvPr>
          <p:cNvCxnSpPr/>
          <p:nvPr/>
        </p:nvCxnSpPr>
        <p:spPr>
          <a:xfrm>
            <a:off x="2870200" y="46609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43CDF3-F87E-4989-4DE8-282DB66B9BC4}"/>
              </a:ext>
            </a:extLst>
          </p:cNvPr>
          <p:cNvSpPr/>
          <p:nvPr/>
        </p:nvSpPr>
        <p:spPr>
          <a:xfrm>
            <a:off x="685800" y="47498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B4108994-EC4B-3266-82F1-E72D04E46372}"/>
              </a:ext>
            </a:extLst>
          </p:cNvPr>
          <p:cNvSpPr txBox="1"/>
          <p:nvPr/>
        </p:nvSpPr>
        <p:spPr>
          <a:xfrm>
            <a:off x="838200" y="47878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DDS implementation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AA5C60-A093-7C5C-5301-938A67B2FE6E}"/>
              </a:ext>
            </a:extLst>
          </p:cNvPr>
          <p:cNvCxnSpPr/>
          <p:nvPr/>
        </p:nvCxnSpPr>
        <p:spPr>
          <a:xfrm>
            <a:off x="2870200" y="52324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7B5859-9218-AE68-7F74-0C8AF24CE5CB}"/>
              </a:ext>
            </a:extLst>
          </p:cNvPr>
          <p:cNvSpPr/>
          <p:nvPr/>
        </p:nvSpPr>
        <p:spPr>
          <a:xfrm>
            <a:off x="685800" y="53213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text_23">
            <a:extLst>
              <a:ext uri="{FF2B5EF4-FFF2-40B4-BE49-F238E27FC236}">
                <a16:creationId xmlns:a16="http://schemas.microsoft.com/office/drawing/2014/main" id="{5BA0FF99-7201-3E52-AE3B-E88A2BE21CCA}"/>
              </a:ext>
            </a:extLst>
          </p:cNvPr>
          <p:cNvSpPr txBox="1"/>
          <p:nvPr/>
        </p:nvSpPr>
        <p:spPr>
          <a:xfrm>
            <a:off x="838200" y="53593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Transport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6BE671-26C3-DC42-89E9-67BA89136911}"/>
              </a:ext>
            </a:extLst>
          </p:cNvPr>
          <p:cNvSpPr/>
          <p:nvPr/>
        </p:nvSpPr>
        <p:spPr>
          <a:xfrm>
            <a:off x="5562600" y="2667000"/>
            <a:ext cx="2540000" cy="939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5B30A216-F9A1-06A7-9C36-E355F7378483}"/>
              </a:ext>
            </a:extLst>
          </p:cNvPr>
          <p:cNvSpPr txBox="1"/>
          <p:nvPr/>
        </p:nvSpPr>
        <p:spPr>
          <a:xfrm>
            <a:off x="5689600" y="2857499"/>
            <a:ext cx="2286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600" b="1">
                <a:solidFill>
                  <a:srgbClr val="2459D3"/>
                </a:solidFill>
                <a:latin typeface="Aptos" panose="020B0004020202020204" pitchFamily="34" charset="0"/>
              </a:rPr>
              <a:t>DataWriter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5E12E40-345B-A2EA-E18C-2690EAC0D15B}"/>
              </a:ext>
            </a:extLst>
          </p:cNvPr>
          <p:cNvSpPr/>
          <p:nvPr/>
        </p:nvSpPr>
        <p:spPr>
          <a:xfrm>
            <a:off x="8966200" y="2667000"/>
            <a:ext cx="2540000" cy="939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_27">
            <a:extLst>
              <a:ext uri="{FF2B5EF4-FFF2-40B4-BE49-F238E27FC236}">
                <a16:creationId xmlns:a16="http://schemas.microsoft.com/office/drawing/2014/main" id="{3C8B0D92-DAC4-75E3-4DF9-BF0AAB62C79B}"/>
              </a:ext>
            </a:extLst>
          </p:cNvPr>
          <p:cNvSpPr txBox="1"/>
          <p:nvPr/>
        </p:nvSpPr>
        <p:spPr>
          <a:xfrm>
            <a:off x="9093200" y="2857499"/>
            <a:ext cx="2286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600" b="1">
                <a:solidFill>
                  <a:srgbClr val="137F79"/>
                </a:solidFill>
                <a:latin typeface="Aptos" panose="020B0004020202020204" pitchFamily="34" charset="0"/>
              </a:rPr>
              <a:t>DataReader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9881F51-6D9A-F9E6-A437-4155EA4BB77C}"/>
              </a:ext>
            </a:extLst>
          </p:cNvPr>
          <p:cNvCxnSpPr/>
          <p:nvPr/>
        </p:nvCxnSpPr>
        <p:spPr>
          <a:xfrm>
            <a:off x="6832600" y="3937000"/>
            <a:ext cx="3403600" cy="0"/>
          </a:xfrm>
          <a:prstGeom prst="line">
            <a:avLst/>
          </a:prstGeom>
          <a:ln w="27940">
            <a:solidFill>
              <a:srgbClr val="137F79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_29">
            <a:extLst>
              <a:ext uri="{FF2B5EF4-FFF2-40B4-BE49-F238E27FC236}">
                <a16:creationId xmlns:a16="http://schemas.microsoft.com/office/drawing/2014/main" id="{40507DE4-6254-4037-E627-691B7FFF56AA}"/>
              </a:ext>
            </a:extLst>
          </p:cNvPr>
          <p:cNvSpPr txBox="1"/>
          <p:nvPr/>
        </p:nvSpPr>
        <p:spPr>
          <a:xfrm>
            <a:off x="6794500" y="4063999"/>
            <a:ext cx="3479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Discover + match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822DCA7-D76B-066F-8818-05A20AA63F68}"/>
              </a:ext>
            </a:extLst>
          </p:cNvPr>
          <p:cNvCxnSpPr/>
          <p:nvPr/>
        </p:nvCxnSpPr>
        <p:spPr>
          <a:xfrm>
            <a:off x="6832600" y="4800600"/>
            <a:ext cx="3403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_31">
            <a:extLst>
              <a:ext uri="{FF2B5EF4-FFF2-40B4-BE49-F238E27FC236}">
                <a16:creationId xmlns:a16="http://schemas.microsoft.com/office/drawing/2014/main" id="{7C203DE2-49DC-A9EC-AB9D-288113B9017F}"/>
              </a:ext>
            </a:extLst>
          </p:cNvPr>
          <p:cNvSpPr txBox="1"/>
          <p:nvPr/>
        </p:nvSpPr>
        <p:spPr>
          <a:xfrm>
            <a:off x="6731000" y="4940299"/>
            <a:ext cx="3657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Serialize → deliver</a:t>
            </a:r>
          </a:p>
        </p:txBody>
      </p:sp>
      <p:sp>
        <p:nvSpPr>
          <p:cNvPr id="33" name="text_32">
            <a:extLst>
              <a:ext uri="{FF2B5EF4-FFF2-40B4-BE49-F238E27FC236}">
                <a16:creationId xmlns:a16="http://schemas.microsoft.com/office/drawing/2014/main" id="{053D5A44-E376-1B13-93A6-1C7E0A3EAB17}"/>
              </a:ext>
            </a:extLst>
          </p:cNvPr>
          <p:cNvSpPr txBox="1"/>
          <p:nvPr/>
        </p:nvSpPr>
        <p:spPr>
          <a:xfrm>
            <a:off x="5562600" y="5676899"/>
            <a:ext cx="5943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Shared domain · type · compatible QoS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5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D4186374-7D2C-C12E-3E82-E0A212FEAA1B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4C3C784B-9BD7-F5F7-E97B-E48EEDC51D5D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QoS shapes delivery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6A628719-253E-8820-9DEA-0D646494DF14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Quality of Service sets the contract between endpoints.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85584-D193-F55E-EFC7-81E6D90FC477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01DFBF78-F21D-2C9B-A49B-8A20B513FB79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3A18F92E-C2F1-B58B-267A-6F11A206304A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B3C657-2A0E-0D41-3D9C-AE7FC7F288B5}"/>
              </a:ext>
            </a:extLst>
          </p:cNvPr>
          <p:cNvSpPr/>
          <p:nvPr/>
        </p:nvSpPr>
        <p:spPr>
          <a:xfrm>
            <a:off x="685800" y="2692400"/>
            <a:ext cx="3403600" cy="2197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D9013231-714C-93F1-F465-921CF0F4F95E}"/>
              </a:ext>
            </a:extLst>
          </p:cNvPr>
          <p:cNvSpPr txBox="1"/>
          <p:nvPr/>
        </p:nvSpPr>
        <p:spPr>
          <a:xfrm>
            <a:off x="889000" y="2870199"/>
            <a:ext cx="299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Reliability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6DA84DC5-96D6-E7C6-2A52-615D4AFF0F70}"/>
              </a:ext>
            </a:extLst>
          </p:cNvPr>
          <p:cNvSpPr txBox="1"/>
          <p:nvPr/>
        </p:nvSpPr>
        <p:spPr>
          <a:xfrm>
            <a:off x="889000" y="35813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FA7CB2C6-D44E-033A-B5C6-EF746942F4A9}"/>
              </a:ext>
            </a:extLst>
          </p:cNvPr>
          <p:cNvSpPr txBox="1"/>
          <p:nvPr/>
        </p:nvSpPr>
        <p:spPr>
          <a:xfrm>
            <a:off x="889000" y="42544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Retry lost samples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695239-0623-6EE5-76D0-5039D6E5F5F7}"/>
              </a:ext>
            </a:extLst>
          </p:cNvPr>
          <p:cNvSpPr/>
          <p:nvPr/>
        </p:nvSpPr>
        <p:spPr>
          <a:xfrm>
            <a:off x="4394200" y="2692400"/>
            <a:ext cx="3403600" cy="21971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056AB06F-DF11-63C6-D0C1-1E358C92DA3D}"/>
              </a:ext>
            </a:extLst>
          </p:cNvPr>
          <p:cNvSpPr txBox="1"/>
          <p:nvPr/>
        </p:nvSpPr>
        <p:spPr>
          <a:xfrm>
            <a:off x="4597400" y="2870199"/>
            <a:ext cx="299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Durability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8E8B2E36-45A3-89C5-7A46-7BCFB6E411FE}"/>
              </a:ext>
            </a:extLst>
          </p:cNvPr>
          <p:cNvSpPr txBox="1"/>
          <p:nvPr/>
        </p:nvSpPr>
        <p:spPr>
          <a:xfrm>
            <a:off x="4597400" y="35813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VOLATILE</a:t>
            </a:r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960C3F87-5A42-1DC2-8836-D9DE4302991F}"/>
              </a:ext>
            </a:extLst>
          </p:cNvPr>
          <p:cNvSpPr txBox="1"/>
          <p:nvPr/>
        </p:nvSpPr>
        <p:spPr>
          <a:xfrm>
            <a:off x="4597400" y="42544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New data after joining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754D97-7117-3486-A9ED-A593ADAD12A5}"/>
              </a:ext>
            </a:extLst>
          </p:cNvPr>
          <p:cNvSpPr/>
          <p:nvPr/>
        </p:nvSpPr>
        <p:spPr>
          <a:xfrm>
            <a:off x="8102600" y="2692400"/>
            <a:ext cx="3403600" cy="2197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436C5ABB-F761-57A8-CF14-9012289DF0A7}"/>
              </a:ext>
            </a:extLst>
          </p:cNvPr>
          <p:cNvSpPr txBox="1"/>
          <p:nvPr/>
        </p:nvSpPr>
        <p:spPr>
          <a:xfrm>
            <a:off x="8305800" y="2870199"/>
            <a:ext cx="299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History</a:t>
            </a:r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98B029A7-7052-BE9F-BC5D-6F21CE71B955}"/>
              </a:ext>
            </a:extLst>
          </p:cNvPr>
          <p:cNvSpPr txBox="1"/>
          <p:nvPr/>
        </p:nvSpPr>
        <p:spPr>
          <a:xfrm>
            <a:off x="8305800" y="35813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KEEP_LAST: 10</a:t>
            </a: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A09820D7-094C-1743-2099-84FAB73DC515}"/>
              </a:ext>
            </a:extLst>
          </p:cNvPr>
          <p:cNvSpPr txBox="1"/>
          <p:nvPr/>
        </p:nvSpPr>
        <p:spPr>
          <a:xfrm>
            <a:off x="8305800" y="42544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Keep 10 samples</a:t>
            </a:r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F0C9C632-2318-D629-92F7-110A2EFB77B3}"/>
              </a:ext>
            </a:extLst>
          </p:cNvPr>
          <p:cNvSpPr txBox="1"/>
          <p:nvPr/>
        </p:nvSpPr>
        <p:spPr>
          <a:xfrm>
            <a:off x="685800" y="5270499"/>
            <a:ext cx="5257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10 = history depth</a:t>
            </a:r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790568B4-65DC-C9E6-DC0D-6A0884F970A8}"/>
              </a:ext>
            </a:extLst>
          </p:cNvPr>
          <p:cNvSpPr txBox="1"/>
          <p:nvPr/>
        </p:nvSpPr>
        <p:spPr>
          <a:xfrm>
            <a:off x="6248400" y="5270499"/>
            <a:ext cx="5257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1.0 = timer interval (s)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9F18C367-A334-69AC-4D96-4817E28D5819}"/>
              </a:ext>
            </a:extLst>
          </p:cNvPr>
          <p:cNvSpPr txBox="1"/>
          <p:nvPr/>
        </p:nvSpPr>
        <p:spPr>
          <a:xfrm>
            <a:off x="685800" y="5791199"/>
            <a:ext cx="1082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A restarted subscriber does not replay missed greetings.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9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CE35C04B-C035-ED2F-7449-A5ED56D84021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1DA1CC2E-7715-FEA9-ABDF-E3F6E80EAEF2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Execution and lifecycle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EA11ACAF-F879-29BB-7E0B-5D38E45E9272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DDS delivers data. The executor runs your callbacks.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668FF6-4C46-BC5F-0488-8261E2E2F6B2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C594DC7C-0619-E25B-51D3-0205BAB66AF8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5296A1DC-E7AB-145A-A2AF-E0D980941C16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E34BB2-7F5D-C33B-14B1-D5E86578FAE0}"/>
              </a:ext>
            </a:extLst>
          </p:cNvPr>
          <p:cNvSpPr/>
          <p:nvPr/>
        </p:nvSpPr>
        <p:spPr>
          <a:xfrm>
            <a:off x="685800" y="2565400"/>
            <a:ext cx="5257800" cy="3378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A61ABDCE-A0C1-4942-1543-F2B250071F46}"/>
              </a:ext>
            </a:extLst>
          </p:cNvPr>
          <p:cNvSpPr txBox="1"/>
          <p:nvPr/>
        </p:nvSpPr>
        <p:spPr>
          <a:xfrm>
            <a:off x="939800" y="2768599"/>
            <a:ext cx="4749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ORDINARY NODE: OUR DEMO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E50B3F-37D0-7E32-BF87-8C0F68E3C094}"/>
              </a:ext>
            </a:extLst>
          </p:cNvPr>
          <p:cNvSpPr/>
          <p:nvPr/>
        </p:nvSpPr>
        <p:spPr>
          <a:xfrm>
            <a:off x="965200" y="3429000"/>
            <a:ext cx="4699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DC9A6653-C74B-65C8-24AD-01B84FEFA306}"/>
              </a:ext>
            </a:extLst>
          </p:cNvPr>
          <p:cNvSpPr txBox="1"/>
          <p:nvPr/>
        </p:nvSpPr>
        <p:spPr>
          <a:xfrm>
            <a:off x="1117600" y="3543299"/>
            <a:ext cx="43942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init → construct node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E2779A-4A38-DE22-10FE-4E1E596D59B3}"/>
              </a:ext>
            </a:extLst>
          </p:cNvPr>
          <p:cNvCxnSpPr/>
          <p:nvPr/>
        </p:nvCxnSpPr>
        <p:spPr>
          <a:xfrm>
            <a:off x="3314700" y="4038600"/>
            <a:ext cx="0" cy="1524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F4E53E-33D7-B39E-FA60-4FBF827DCD30}"/>
              </a:ext>
            </a:extLst>
          </p:cNvPr>
          <p:cNvSpPr/>
          <p:nvPr/>
        </p:nvSpPr>
        <p:spPr>
          <a:xfrm>
            <a:off x="965200" y="4191000"/>
            <a:ext cx="4699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A74550B5-804E-419C-F664-BCFE1F7BC2BB}"/>
              </a:ext>
            </a:extLst>
          </p:cNvPr>
          <p:cNvSpPr txBox="1"/>
          <p:nvPr/>
        </p:nvSpPr>
        <p:spPr>
          <a:xfrm>
            <a:off x="1117600" y="4305299"/>
            <a:ext cx="43942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spin → ready callbacks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15D6E7-2F01-8A80-ED42-9C858098627C}"/>
              </a:ext>
            </a:extLst>
          </p:cNvPr>
          <p:cNvCxnSpPr/>
          <p:nvPr/>
        </p:nvCxnSpPr>
        <p:spPr>
          <a:xfrm>
            <a:off x="3314700" y="4800600"/>
            <a:ext cx="0" cy="1524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6D8861-2D81-493B-85B6-3C62812387DF}"/>
              </a:ext>
            </a:extLst>
          </p:cNvPr>
          <p:cNvSpPr/>
          <p:nvPr/>
        </p:nvSpPr>
        <p:spPr>
          <a:xfrm>
            <a:off x="965200" y="4953000"/>
            <a:ext cx="4699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0909CD80-BEF5-CC43-8022-ABDC2A7A5F80}"/>
              </a:ext>
            </a:extLst>
          </p:cNvPr>
          <p:cNvSpPr txBox="1"/>
          <p:nvPr/>
        </p:nvSpPr>
        <p:spPr>
          <a:xfrm>
            <a:off x="1117600" y="5067299"/>
            <a:ext cx="43942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Ctrl+C → cleanup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BBE60D-D922-886F-B60E-DA2E197AC3E9}"/>
              </a:ext>
            </a:extLst>
          </p:cNvPr>
          <p:cNvSpPr/>
          <p:nvPr/>
        </p:nvSpPr>
        <p:spPr>
          <a:xfrm>
            <a:off x="6248400" y="2565400"/>
            <a:ext cx="5257800" cy="3378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4E547CA4-E10D-E860-7173-FCF67D6D947F}"/>
              </a:ext>
            </a:extLst>
          </p:cNvPr>
          <p:cNvSpPr txBox="1"/>
          <p:nvPr/>
        </p:nvSpPr>
        <p:spPr>
          <a:xfrm>
            <a:off x="6502400" y="2768599"/>
            <a:ext cx="4749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MANAGED NODE: OPTIONAL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5142501-359C-79BE-A82A-2FC3E417E4B9}"/>
              </a:ext>
            </a:extLst>
          </p:cNvPr>
          <p:cNvSpPr/>
          <p:nvPr/>
        </p:nvSpPr>
        <p:spPr>
          <a:xfrm>
            <a:off x="6553200" y="3429000"/>
            <a:ext cx="2794000" cy="558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F6BDDAFA-367B-CF95-459E-33CA8B30EAF8}"/>
              </a:ext>
            </a:extLst>
          </p:cNvPr>
          <p:cNvSpPr txBox="1"/>
          <p:nvPr/>
        </p:nvSpPr>
        <p:spPr>
          <a:xfrm>
            <a:off x="6680200" y="3517899"/>
            <a:ext cx="254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Unconfigured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FE05E6-8591-6323-E349-EA3C656F6E9B}"/>
              </a:ext>
            </a:extLst>
          </p:cNvPr>
          <p:cNvSpPr/>
          <p:nvPr/>
        </p:nvSpPr>
        <p:spPr>
          <a:xfrm>
            <a:off x="6553200" y="4267200"/>
            <a:ext cx="2794000" cy="558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39998206-C682-1BCA-4B1E-92E8BD77B22D}"/>
              </a:ext>
            </a:extLst>
          </p:cNvPr>
          <p:cNvSpPr txBox="1"/>
          <p:nvPr/>
        </p:nvSpPr>
        <p:spPr>
          <a:xfrm>
            <a:off x="6680200" y="4356099"/>
            <a:ext cx="254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Inactive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F006D1-F799-100D-4364-2A746A2BCA17}"/>
              </a:ext>
            </a:extLst>
          </p:cNvPr>
          <p:cNvSpPr/>
          <p:nvPr/>
        </p:nvSpPr>
        <p:spPr>
          <a:xfrm>
            <a:off x="6553200" y="5105400"/>
            <a:ext cx="2794000" cy="558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17E87C78-9AF7-00E9-5975-5F0153610B97}"/>
              </a:ext>
            </a:extLst>
          </p:cNvPr>
          <p:cNvSpPr txBox="1"/>
          <p:nvPr/>
        </p:nvSpPr>
        <p:spPr>
          <a:xfrm>
            <a:off x="6680200" y="5194299"/>
            <a:ext cx="254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Active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00D258-EFBE-76D6-2A40-0803A39C58A0}"/>
              </a:ext>
            </a:extLst>
          </p:cNvPr>
          <p:cNvCxnSpPr/>
          <p:nvPr/>
        </p:nvCxnSpPr>
        <p:spPr>
          <a:xfrm>
            <a:off x="7950200" y="3987800"/>
            <a:ext cx="0" cy="2794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_26">
            <a:extLst>
              <a:ext uri="{FF2B5EF4-FFF2-40B4-BE49-F238E27FC236}">
                <a16:creationId xmlns:a16="http://schemas.microsoft.com/office/drawing/2014/main" id="{EB081F96-F7D1-3B03-C1BC-E4CFDF9B1B07}"/>
              </a:ext>
            </a:extLst>
          </p:cNvPr>
          <p:cNvSpPr txBox="1"/>
          <p:nvPr/>
        </p:nvSpPr>
        <p:spPr>
          <a:xfrm>
            <a:off x="9550400" y="3924299"/>
            <a:ext cx="170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configure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958A64D-8AAD-7378-1B0C-EB1A8D1E3FD6}"/>
              </a:ext>
            </a:extLst>
          </p:cNvPr>
          <p:cNvCxnSpPr/>
          <p:nvPr/>
        </p:nvCxnSpPr>
        <p:spPr>
          <a:xfrm>
            <a:off x="7950200" y="4826000"/>
            <a:ext cx="0" cy="2794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_28">
            <a:extLst>
              <a:ext uri="{FF2B5EF4-FFF2-40B4-BE49-F238E27FC236}">
                <a16:creationId xmlns:a16="http://schemas.microsoft.com/office/drawing/2014/main" id="{1F5E3CAD-6AF7-0E45-A17F-A42A79F0F485}"/>
              </a:ext>
            </a:extLst>
          </p:cNvPr>
          <p:cNvSpPr txBox="1"/>
          <p:nvPr/>
        </p:nvSpPr>
        <p:spPr>
          <a:xfrm>
            <a:off x="9550400" y="4762499"/>
            <a:ext cx="170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activate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BE044E-8E4A-0CFC-8AA9-3D12B13681B3}"/>
              </a:ext>
            </a:extLst>
          </p:cNvPr>
          <p:cNvCxnSpPr/>
          <p:nvPr/>
        </p:nvCxnSpPr>
        <p:spPr>
          <a:xfrm>
            <a:off x="9347200" y="3708400"/>
            <a:ext cx="17018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791EBD-88A8-1953-9D27-D7545C3C39BC}"/>
              </a:ext>
            </a:extLst>
          </p:cNvPr>
          <p:cNvCxnSpPr/>
          <p:nvPr/>
        </p:nvCxnSpPr>
        <p:spPr>
          <a:xfrm>
            <a:off x="9347200" y="4546600"/>
            <a:ext cx="17018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1C5D6E1-2BFF-DE9D-96F9-D79268E37582}"/>
              </a:ext>
            </a:extLst>
          </p:cNvPr>
          <p:cNvCxnSpPr/>
          <p:nvPr/>
        </p:nvCxnSpPr>
        <p:spPr>
          <a:xfrm>
            <a:off x="9347200" y="5384800"/>
            <a:ext cx="17018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4BCFF7-FE44-1161-90C9-070E57431723}"/>
              </a:ext>
            </a:extLst>
          </p:cNvPr>
          <p:cNvCxnSpPr/>
          <p:nvPr/>
        </p:nvCxnSpPr>
        <p:spPr>
          <a:xfrm>
            <a:off x="11049000" y="3708400"/>
            <a:ext cx="0" cy="2032000"/>
          </a:xfrm>
          <a:prstGeom prst="line">
            <a:avLst/>
          </a:prstGeom>
          <a:ln w="27940">
            <a:solidFill>
              <a:srgbClr val="52647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_33">
            <a:extLst>
              <a:ext uri="{FF2B5EF4-FFF2-40B4-BE49-F238E27FC236}">
                <a16:creationId xmlns:a16="http://schemas.microsoft.com/office/drawing/2014/main" id="{D0DA5B61-B111-44E4-303F-F36B4B42599E}"/>
              </a:ext>
            </a:extLst>
          </p:cNvPr>
          <p:cNvSpPr txBox="1"/>
          <p:nvPr/>
        </p:nvSpPr>
        <p:spPr>
          <a:xfrm>
            <a:off x="9499600" y="3314699"/>
            <a:ext cx="1752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shutdown</a:t>
            </a:r>
          </a:p>
        </p:txBody>
      </p:sp>
      <p:sp>
        <p:nvSpPr>
          <p:cNvPr id="35" name="text_34">
            <a:extLst>
              <a:ext uri="{FF2B5EF4-FFF2-40B4-BE49-F238E27FC236}">
                <a16:creationId xmlns:a16="http://schemas.microsoft.com/office/drawing/2014/main" id="{33CF65EC-DA69-700C-6710-9E81AECDD187}"/>
              </a:ext>
            </a:extLst>
          </p:cNvPr>
          <p:cNvSpPr txBox="1"/>
          <p:nvPr/>
        </p:nvSpPr>
        <p:spPr>
          <a:xfrm>
            <a:off x="9499600" y="5587999"/>
            <a:ext cx="1752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Finalized</a:t>
            </a:r>
          </a:p>
        </p:txBody>
      </p:sp>
    </p:spTree>
    <p:extLst>
      <p:ext uri="{BB962C8B-B14F-4D97-AF65-F5344CB8AC3E}">
        <p14:creationId xmlns:p14="http://schemas.microsoft.com/office/powerpoint/2010/main" val="9110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5728CE38-B825-8EE5-7709-E5E1D3DD896B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98C2B36C-E7D7-518A-CEBA-F4DE4D559CA0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Inspect before debugging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99FBF320-127B-7775-C648-0C8BED471F11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Source Jazzy in every terminal. Run these scripts directly.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812285-D6D3-FC2A-A189-B72FC1AE637F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3E279AC0-B761-7E06-9CB6-7EA6836FC644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B5AB2AE4-0D1D-C23C-C8D8-90AD38DADAD7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9B5368-9152-3DC1-6D3B-5D944ACB3CF9}"/>
              </a:ext>
            </a:extLst>
          </p:cNvPr>
          <p:cNvSpPr/>
          <p:nvPr/>
        </p:nvSpPr>
        <p:spPr>
          <a:xfrm>
            <a:off x="685800" y="25781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B4157D14-3E43-307A-D2D9-3AD203B39B7E}"/>
              </a:ext>
            </a:extLst>
          </p:cNvPr>
          <p:cNvSpPr txBox="1"/>
          <p:nvPr/>
        </p:nvSpPr>
        <p:spPr>
          <a:xfrm>
            <a:off x="863600" y="26796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node list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532848EA-3919-5D5E-2A9F-A6601E5DCCD3}"/>
              </a:ext>
            </a:extLst>
          </p:cNvPr>
          <p:cNvSpPr txBox="1"/>
          <p:nvPr/>
        </p:nvSpPr>
        <p:spPr>
          <a:xfrm>
            <a:off x="9017000" y="26796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Find nodes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10B196-0FDA-288D-8E07-9EF48C7B70E6}"/>
              </a:ext>
            </a:extLst>
          </p:cNvPr>
          <p:cNvSpPr/>
          <p:nvPr/>
        </p:nvSpPr>
        <p:spPr>
          <a:xfrm>
            <a:off x="685800" y="32385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D159D13A-F73F-B445-62DA-FC5369CF1125}"/>
              </a:ext>
            </a:extLst>
          </p:cNvPr>
          <p:cNvSpPr txBox="1"/>
          <p:nvPr/>
        </p:nvSpPr>
        <p:spPr>
          <a:xfrm>
            <a:off x="863600" y="33400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topic list</a:t>
            </a:r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2583E552-B6BF-0118-5B9D-3455D973A3C9}"/>
              </a:ext>
            </a:extLst>
          </p:cNvPr>
          <p:cNvSpPr txBox="1"/>
          <p:nvPr/>
        </p:nvSpPr>
        <p:spPr>
          <a:xfrm>
            <a:off x="9017000" y="33400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Find topics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1BCC48-DD9E-0E89-357E-0702649D9D3D}"/>
              </a:ext>
            </a:extLst>
          </p:cNvPr>
          <p:cNvSpPr/>
          <p:nvPr/>
        </p:nvSpPr>
        <p:spPr>
          <a:xfrm>
            <a:off x="685800" y="38989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328D9515-B413-8A17-69D3-FA840DF15897}"/>
              </a:ext>
            </a:extLst>
          </p:cNvPr>
          <p:cNvSpPr txBox="1"/>
          <p:nvPr/>
        </p:nvSpPr>
        <p:spPr>
          <a:xfrm>
            <a:off x="863600" y="40004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topic info /chatter --verbose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F5ACA8FB-1C73-FE77-6929-74C1F8D1AF71}"/>
              </a:ext>
            </a:extLst>
          </p:cNvPr>
          <p:cNvSpPr txBox="1"/>
          <p:nvPr/>
        </p:nvSpPr>
        <p:spPr>
          <a:xfrm>
            <a:off x="9017000" y="40004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Type + QoS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74A163-78F3-43AA-B1DF-A726DF23FEE7}"/>
              </a:ext>
            </a:extLst>
          </p:cNvPr>
          <p:cNvSpPr/>
          <p:nvPr/>
        </p:nvSpPr>
        <p:spPr>
          <a:xfrm>
            <a:off x="685800" y="45593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1BB56AB4-7A13-CBDB-B134-08DADF178D84}"/>
              </a:ext>
            </a:extLst>
          </p:cNvPr>
          <p:cNvSpPr txBox="1"/>
          <p:nvPr/>
        </p:nvSpPr>
        <p:spPr>
          <a:xfrm>
            <a:off x="863600" y="46608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5283B"/>
                </a:solidFill>
                <a:latin typeface="Consolas" panose="020B0609020204030204" pitchFamily="49" charset="0"/>
              </a:rPr>
              <a:t>ros2 interface show std_msgs/msg/String</a:t>
            </a:r>
            <a:endParaRPr lang="en-IL" sz="2400">
              <a:solidFill>
                <a:srgbClr val="15283B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0EFB32FF-CB91-C740-46BE-73F797570D9C}"/>
              </a:ext>
            </a:extLst>
          </p:cNvPr>
          <p:cNvSpPr txBox="1"/>
          <p:nvPr/>
        </p:nvSpPr>
        <p:spPr>
          <a:xfrm>
            <a:off x="9017000" y="46608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Read fields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D39587-EB6E-3E28-BD86-6FF5345E5086}"/>
              </a:ext>
            </a:extLst>
          </p:cNvPr>
          <p:cNvSpPr/>
          <p:nvPr/>
        </p:nvSpPr>
        <p:spPr>
          <a:xfrm>
            <a:off x="685800" y="52197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F5D12F5A-344E-A605-CA0C-338D7E7F7DD5}"/>
              </a:ext>
            </a:extLst>
          </p:cNvPr>
          <p:cNvSpPr txBox="1"/>
          <p:nvPr/>
        </p:nvSpPr>
        <p:spPr>
          <a:xfrm>
            <a:off x="863600" y="53212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topic echo /chatter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1DFE88B0-89AD-40B1-9E50-83118992C723}"/>
              </a:ext>
            </a:extLst>
          </p:cNvPr>
          <p:cNvSpPr txBox="1"/>
          <p:nvPr/>
        </p:nvSpPr>
        <p:spPr>
          <a:xfrm>
            <a:off x="9017000" y="53212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Observe data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CF0DC85F-ED94-52DC-A30C-00EFAC6E859F}"/>
              </a:ext>
            </a:extLst>
          </p:cNvPr>
          <p:cNvSpPr txBox="1"/>
          <p:nvPr/>
        </p:nvSpPr>
        <p:spPr>
          <a:xfrm>
            <a:off x="685800" y="5867399"/>
            <a:ext cx="1082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topic echo becomes another subscriber.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28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71A7AB0A-20F4-3F3B-ABDE-0939B76499EC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5CB44CBC-69D7-9EBD-87D5-1B466CD6B190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Let's read it. Then run it.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FEA387D7-78D5-A55D-0B84-B5CDFDDEC2D8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Predict the behavior before changing the running system.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74BBE7-7D27-D5BC-63E2-59CE8E052154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610DC812-2388-1392-11FD-27F32E0D9501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90B044B7-AB06-494C-3BEB-DE48DD8AEB87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660D17-521F-D1F4-DB2C-AC7F6CA00694}"/>
              </a:ext>
            </a:extLst>
          </p:cNvPr>
          <p:cNvSpPr/>
          <p:nvPr/>
        </p:nvSpPr>
        <p:spPr>
          <a:xfrm>
            <a:off x="685800" y="26416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7E56BB02-B02D-71FD-B11F-2626D37528CD}"/>
              </a:ext>
            </a:extLst>
          </p:cNvPr>
          <p:cNvSpPr txBox="1"/>
          <p:nvPr/>
        </p:nvSpPr>
        <p:spPr>
          <a:xfrm>
            <a:off x="889000" y="2959099"/>
            <a:ext cx="3733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Consolas" panose="020B0609020204030204" pitchFamily="49" charset="0"/>
              </a:rPr>
              <a:t>/greeting_publisher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F5AC81-EF12-8A95-98B3-56991A67A377}"/>
              </a:ext>
            </a:extLst>
          </p:cNvPr>
          <p:cNvSpPr/>
          <p:nvPr/>
        </p:nvSpPr>
        <p:spPr>
          <a:xfrm>
            <a:off x="5207000" y="2641600"/>
            <a:ext cx="1778000" cy="1041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7C970879-5FC9-3686-CB61-44260BA98AFC}"/>
              </a:ext>
            </a:extLst>
          </p:cNvPr>
          <p:cNvSpPr txBox="1"/>
          <p:nvPr/>
        </p:nvSpPr>
        <p:spPr>
          <a:xfrm>
            <a:off x="5334000" y="2959099"/>
            <a:ext cx="1524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Consolas" panose="020B0609020204030204" pitchFamily="49" charset="0"/>
              </a:rPr>
              <a:t>/chatter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FA7EDCF-160A-DA53-0AB6-69C342AF4EEB}"/>
              </a:ext>
            </a:extLst>
          </p:cNvPr>
          <p:cNvSpPr/>
          <p:nvPr/>
        </p:nvSpPr>
        <p:spPr>
          <a:xfrm>
            <a:off x="7366000" y="26416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7493DA94-3813-CF30-BB7A-28904F5A195A}"/>
              </a:ext>
            </a:extLst>
          </p:cNvPr>
          <p:cNvSpPr txBox="1"/>
          <p:nvPr/>
        </p:nvSpPr>
        <p:spPr>
          <a:xfrm>
            <a:off x="7518400" y="2959099"/>
            <a:ext cx="3835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/greeting_subscriber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C49AE1-9069-E904-0B64-E63208DE1F9D}"/>
              </a:ext>
            </a:extLst>
          </p:cNvPr>
          <p:cNvCxnSpPr/>
          <p:nvPr/>
        </p:nvCxnSpPr>
        <p:spPr>
          <a:xfrm>
            <a:off x="4826000" y="3162300"/>
            <a:ext cx="3810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EA1796-99AD-099B-378D-6D96948D9A83}"/>
              </a:ext>
            </a:extLst>
          </p:cNvPr>
          <p:cNvCxnSpPr/>
          <p:nvPr/>
        </p:nvCxnSpPr>
        <p:spPr>
          <a:xfrm>
            <a:off x="6985000" y="3162300"/>
            <a:ext cx="3810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6559738F-6FFB-3FFA-A1CC-A1D9458074B8}"/>
              </a:ext>
            </a:extLst>
          </p:cNvPr>
          <p:cNvSpPr txBox="1"/>
          <p:nvPr/>
        </p:nvSpPr>
        <p:spPr>
          <a:xfrm>
            <a:off x="685800" y="3848099"/>
            <a:ext cx="4140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526477"/>
                </a:solidFill>
                <a:latin typeface="Consolas" panose="020B0609020204030204" pitchFamily="49" charset="0"/>
              </a:rPr>
              <a:t>std_msgs/msg/String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6123CB-EF6B-C8C0-EE71-F2FD3D24BC35}"/>
              </a:ext>
            </a:extLst>
          </p:cNvPr>
          <p:cNvSpPr/>
          <p:nvPr/>
        </p:nvSpPr>
        <p:spPr>
          <a:xfrm>
            <a:off x="685800" y="4749800"/>
            <a:ext cx="3403600" cy="11811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08B12D6C-0890-562D-CF9E-C2A1059DFA90}"/>
              </a:ext>
            </a:extLst>
          </p:cNvPr>
          <p:cNvSpPr txBox="1"/>
          <p:nvPr/>
        </p:nvSpPr>
        <p:spPr>
          <a:xfrm>
            <a:off x="889000" y="4864099"/>
            <a:ext cx="2997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56192598-5769-7331-A0BE-CE578503F403}"/>
              </a:ext>
            </a:extLst>
          </p:cNvPr>
          <p:cNvSpPr txBox="1"/>
          <p:nvPr/>
        </p:nvSpPr>
        <p:spPr>
          <a:xfrm>
            <a:off x="889000" y="5346699"/>
            <a:ext cx="2997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Subscriber stops?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F499AEA-58D7-D3E0-E0A2-372DF2F0546D}"/>
              </a:ext>
            </a:extLst>
          </p:cNvPr>
          <p:cNvSpPr/>
          <p:nvPr/>
        </p:nvSpPr>
        <p:spPr>
          <a:xfrm>
            <a:off x="4394200" y="4749800"/>
            <a:ext cx="3403600" cy="11811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AD3C15C4-3602-CB69-C5FD-EEFA12806E0F}"/>
              </a:ext>
            </a:extLst>
          </p:cNvPr>
          <p:cNvSpPr txBox="1"/>
          <p:nvPr/>
        </p:nvSpPr>
        <p:spPr>
          <a:xfrm>
            <a:off x="4597400" y="4864099"/>
            <a:ext cx="2997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A6D3AD03-54B3-CB87-3934-E83354E082FF}"/>
              </a:ext>
            </a:extLst>
          </p:cNvPr>
          <p:cNvSpPr txBox="1"/>
          <p:nvPr/>
        </p:nvSpPr>
        <p:spPr>
          <a:xfrm>
            <a:off x="4597400" y="5346699"/>
            <a:ext cx="2997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Subscriber restarts?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0DC7FB-7B46-3AAD-B3E7-D6099B58E3FB}"/>
              </a:ext>
            </a:extLst>
          </p:cNvPr>
          <p:cNvSpPr/>
          <p:nvPr/>
        </p:nvSpPr>
        <p:spPr>
          <a:xfrm>
            <a:off x="8102600" y="4749800"/>
            <a:ext cx="3403600" cy="11811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text_23">
            <a:extLst>
              <a:ext uri="{FF2B5EF4-FFF2-40B4-BE49-F238E27FC236}">
                <a16:creationId xmlns:a16="http://schemas.microsoft.com/office/drawing/2014/main" id="{63C68739-6F7E-5517-68F3-25B37CADD49B}"/>
              </a:ext>
            </a:extLst>
          </p:cNvPr>
          <p:cNvSpPr txBox="1"/>
          <p:nvPr/>
        </p:nvSpPr>
        <p:spPr>
          <a:xfrm>
            <a:off x="8305800" y="4864099"/>
            <a:ext cx="2997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0F6EC057-ACA3-595E-F97B-8D1663E4220E}"/>
              </a:ext>
            </a:extLst>
          </p:cNvPr>
          <p:cNvSpPr txBox="1"/>
          <p:nvPr/>
        </p:nvSpPr>
        <p:spPr>
          <a:xfrm>
            <a:off x="8305800" y="5346699"/>
            <a:ext cx="2997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Publisher restarts?</a:t>
            </a:r>
          </a:p>
        </p:txBody>
      </p:sp>
    </p:spTree>
    <p:extLst>
      <p:ext uri="{BB962C8B-B14F-4D97-AF65-F5344CB8AC3E}">
        <p14:creationId xmlns:p14="http://schemas.microsoft.com/office/powerpoint/2010/main" val="25960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D3E52036-DF15-178B-E375-27303B74CD2C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E911FE44-9B4E-B535-27AB-CD1D0FCB3B8E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DDS discovery and RTPS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D265CA13-0ED6-C93D-858E-9628EB8576E4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>
                <a:solidFill>
                  <a:srgbClr val="526477"/>
                </a:solidFill>
                <a:latin typeface="Aptos" panose="020B0004020202020204" pitchFamily="34" charset="0"/>
              </a:rPr>
              <a:t>Find participants. Match endpoints. Exchange application data.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2622AA-750A-1E94-47B1-B47327288A9C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35A113C6-7A30-4F2C-02C9-587DBD91C428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9A0949BD-1D68-7BF2-058B-C22FA106B7E5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98C469-120C-ACD8-1283-94629CEACC16}"/>
              </a:ext>
            </a:extLst>
          </p:cNvPr>
          <p:cNvSpPr/>
          <p:nvPr/>
        </p:nvSpPr>
        <p:spPr>
          <a:xfrm>
            <a:off x="685800" y="2603500"/>
            <a:ext cx="27686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A29BFF54-22E2-0ABF-8BA8-8671B32CB678}"/>
              </a:ext>
            </a:extLst>
          </p:cNvPr>
          <p:cNvSpPr txBox="1"/>
          <p:nvPr/>
        </p:nvSpPr>
        <p:spPr>
          <a:xfrm>
            <a:off x="838200" y="2692399"/>
            <a:ext cx="2463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Participants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A4F2D1-07EF-C520-3083-802DFFDB967F}"/>
              </a:ext>
            </a:extLst>
          </p:cNvPr>
          <p:cNvSpPr/>
          <p:nvPr/>
        </p:nvSpPr>
        <p:spPr>
          <a:xfrm>
            <a:off x="3987800" y="2603500"/>
            <a:ext cx="3149600" cy="533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EAECC3BF-F362-718A-5A67-D64149B97F57}"/>
              </a:ext>
            </a:extLst>
          </p:cNvPr>
          <p:cNvSpPr txBox="1"/>
          <p:nvPr/>
        </p:nvSpPr>
        <p:spPr>
          <a:xfrm>
            <a:off x="4140200" y="2692399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Endpoint discovery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211D30-4995-D3F9-72E9-63E6BE27BA96}"/>
              </a:ext>
            </a:extLst>
          </p:cNvPr>
          <p:cNvSpPr/>
          <p:nvPr/>
        </p:nvSpPr>
        <p:spPr>
          <a:xfrm>
            <a:off x="7670800" y="2603500"/>
            <a:ext cx="38354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DDD3FB2A-6A38-8D3D-93E9-90D505ACEDEF}"/>
              </a:ext>
            </a:extLst>
          </p:cNvPr>
          <p:cNvSpPr txBox="1"/>
          <p:nvPr/>
        </p:nvSpPr>
        <p:spPr>
          <a:xfrm>
            <a:off x="7823200" y="2692399"/>
            <a:ext cx="3530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Application 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8E457A-FE35-FB5A-C1F0-715D040A10BC}"/>
              </a:ext>
            </a:extLst>
          </p:cNvPr>
          <p:cNvCxnSpPr/>
          <p:nvPr/>
        </p:nvCxnSpPr>
        <p:spPr>
          <a:xfrm>
            <a:off x="3454400" y="2870200"/>
            <a:ext cx="533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6BCF0D-8CF2-C91D-C5AA-87DE47142D5E}"/>
              </a:ext>
            </a:extLst>
          </p:cNvPr>
          <p:cNvCxnSpPr/>
          <p:nvPr/>
        </p:nvCxnSpPr>
        <p:spPr>
          <a:xfrm>
            <a:off x="7137400" y="2870200"/>
            <a:ext cx="5334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A8A3155B-E781-9AD7-42CC-932BAC017E08}"/>
              </a:ext>
            </a:extLst>
          </p:cNvPr>
          <p:cNvSpPr txBox="1"/>
          <p:nvPr/>
        </p:nvSpPr>
        <p:spPr>
          <a:xfrm>
            <a:off x="685800" y="34924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SPDP → SEDP → matching writers and readers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33045B-C904-9E32-A465-273620D498BA}"/>
              </a:ext>
            </a:extLst>
          </p:cNvPr>
          <p:cNvSpPr/>
          <p:nvPr/>
        </p:nvSpPr>
        <p:spPr>
          <a:xfrm>
            <a:off x="685800" y="4254500"/>
            <a:ext cx="10820400" cy="1714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A9A7FD84-4356-CAA4-2BE9-F7EDFE29727F}"/>
              </a:ext>
            </a:extLst>
          </p:cNvPr>
          <p:cNvSpPr txBox="1"/>
          <p:nvPr/>
        </p:nvSpPr>
        <p:spPr>
          <a:xfrm>
            <a:off x="965200" y="4432299"/>
            <a:ext cx="1026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2459D3"/>
                </a:solidFill>
                <a:latin typeface="Aptos" panose="020B0004020202020204" pitchFamily="34" charset="0"/>
              </a:rPr>
              <a:t>Reliable delivery can recover missing samples.</a:t>
            </a:r>
            <a:endParaRPr lang="en-IL" sz="2800" b="1">
              <a:solidFill>
                <a:srgbClr val="2459D3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EC983ACB-2A82-EA71-88B3-A3B8C874AB32}"/>
              </a:ext>
            </a:extLst>
          </p:cNvPr>
          <p:cNvSpPr txBox="1"/>
          <p:nvPr/>
        </p:nvSpPr>
        <p:spPr>
          <a:xfrm>
            <a:off x="965200" y="5105399"/>
            <a:ext cx="1026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15283B"/>
                </a:solidFill>
                <a:latin typeface="Aptos" panose="020B0004020202020204" pitchFamily="34" charset="0"/>
              </a:rPr>
              <a:t>Sequence → heartbeat → ACK/NACK → retransmission</a:t>
            </a:r>
            <a:endParaRPr lang="en-IL" sz="2600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6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707177F2-A5E4-AFA8-DA2E-4F34BCD82D90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461FC6F2-5238-10FD-1097-1711955501AE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QoS compatibility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EAD7CF06-A295-2A64-7EA8-16E4694ADABC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The publisher must satisfy the subscriber's requested policy.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EAAC5-B0D2-8FA9-0D2B-E00BE545DAF8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E6341479-8FF9-C91C-F91B-1FB5E259E0F6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410F501F-C8EA-35D4-8FCE-4013813B4060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F867C2B9-624B-7C23-92A6-33B7B538EBFD}"/>
              </a:ext>
            </a:extLst>
          </p:cNvPr>
          <p:cNvSpPr txBox="1"/>
          <p:nvPr/>
        </p:nvSpPr>
        <p:spPr>
          <a:xfrm>
            <a:off x="838200" y="26288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 b="1">
                <a:solidFill>
                  <a:srgbClr val="2459D3"/>
                </a:solidFill>
                <a:latin typeface="Aptos" panose="020B0004020202020204" pitchFamily="34" charset="0"/>
              </a:rPr>
              <a:t>Publisher offers</a:t>
            </a:r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65A4BF47-1F75-1E5D-E88E-AA575E7E18E4}"/>
              </a:ext>
            </a:extLst>
          </p:cNvPr>
          <p:cNvSpPr txBox="1"/>
          <p:nvPr/>
        </p:nvSpPr>
        <p:spPr>
          <a:xfrm>
            <a:off x="4686300" y="26288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 b="1">
                <a:solidFill>
                  <a:srgbClr val="137F79"/>
                </a:solidFill>
                <a:latin typeface="Aptos" panose="020B0004020202020204" pitchFamily="34" charset="0"/>
              </a:rPr>
              <a:t>Reader requests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DAC8F8AD-0D7F-97D6-A928-35D550501213}"/>
              </a:ext>
            </a:extLst>
          </p:cNvPr>
          <p:cNvSpPr txBox="1"/>
          <p:nvPr/>
        </p:nvSpPr>
        <p:spPr>
          <a:xfrm>
            <a:off x="8534400" y="2628899"/>
            <a:ext cx="2819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 b="1">
                <a:solidFill>
                  <a:srgbClr val="15283B"/>
                </a:solidFill>
                <a:latin typeface="Aptos" panose="020B0004020202020204" pitchFamily="34" charset="0"/>
              </a:rPr>
              <a:t>Compatible?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497A57-1578-97F2-1AD0-B88A20E7B61F}"/>
              </a:ext>
            </a:extLst>
          </p:cNvPr>
          <p:cNvSpPr/>
          <p:nvPr/>
        </p:nvSpPr>
        <p:spPr>
          <a:xfrm>
            <a:off x="685800" y="31750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60E470BA-3174-F4F2-6926-ECCFE702E250}"/>
              </a:ext>
            </a:extLst>
          </p:cNvPr>
          <p:cNvSpPr txBox="1"/>
          <p:nvPr/>
        </p:nvSpPr>
        <p:spPr>
          <a:xfrm>
            <a:off x="838200" y="32384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886D61D3-F3AB-24EA-50A4-66F162674B8D}"/>
              </a:ext>
            </a:extLst>
          </p:cNvPr>
          <p:cNvSpPr txBox="1"/>
          <p:nvPr/>
        </p:nvSpPr>
        <p:spPr>
          <a:xfrm>
            <a:off x="4686300" y="32384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2104BEE1-9E13-B3F0-F8E9-0952A8639B13}"/>
              </a:ext>
            </a:extLst>
          </p:cNvPr>
          <p:cNvSpPr txBox="1"/>
          <p:nvPr/>
        </p:nvSpPr>
        <p:spPr>
          <a:xfrm>
            <a:off x="8534400" y="32384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6868EA-DB4F-0254-8BD3-FBE73522A9CF}"/>
              </a:ext>
            </a:extLst>
          </p:cNvPr>
          <p:cNvSpPr/>
          <p:nvPr/>
        </p:nvSpPr>
        <p:spPr>
          <a:xfrm>
            <a:off x="685800" y="37719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0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CE7E37F4-CA9A-2185-7ACE-7938BCDC0D0C}"/>
              </a:ext>
            </a:extLst>
          </p:cNvPr>
          <p:cNvSpPr txBox="1"/>
          <p:nvPr/>
        </p:nvSpPr>
        <p:spPr>
          <a:xfrm>
            <a:off x="838200" y="38353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AE651D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B08DE471-869F-209A-A599-9EBCF513D0A3}"/>
              </a:ext>
            </a:extLst>
          </p:cNvPr>
          <p:cNvSpPr txBox="1"/>
          <p:nvPr/>
        </p:nvSpPr>
        <p:spPr>
          <a:xfrm>
            <a:off x="4686300" y="38353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AE651D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21CE27E6-7A7C-BF99-4086-404A42745F4D}"/>
              </a:ext>
            </a:extLst>
          </p:cNvPr>
          <p:cNvSpPr txBox="1"/>
          <p:nvPr/>
        </p:nvSpPr>
        <p:spPr>
          <a:xfrm>
            <a:off x="8534400" y="38353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AE651D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0CA3A7-445A-EA18-1B59-53B983C6C6CA}"/>
              </a:ext>
            </a:extLst>
          </p:cNvPr>
          <p:cNvSpPr/>
          <p:nvPr/>
        </p:nvSpPr>
        <p:spPr>
          <a:xfrm>
            <a:off x="685800" y="43688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3D4E2746-5930-DA91-B99E-0E192C133587}"/>
              </a:ext>
            </a:extLst>
          </p:cNvPr>
          <p:cNvSpPr txBox="1"/>
          <p:nvPr/>
        </p:nvSpPr>
        <p:spPr>
          <a:xfrm>
            <a:off x="838200" y="44322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8930C1F8-9F2E-9DC1-593B-9631794FE077}"/>
              </a:ext>
            </a:extLst>
          </p:cNvPr>
          <p:cNvSpPr txBox="1"/>
          <p:nvPr/>
        </p:nvSpPr>
        <p:spPr>
          <a:xfrm>
            <a:off x="4686300" y="44322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5E5CE1B2-7940-C332-60C4-C96B4CD5493D}"/>
              </a:ext>
            </a:extLst>
          </p:cNvPr>
          <p:cNvSpPr txBox="1"/>
          <p:nvPr/>
        </p:nvSpPr>
        <p:spPr>
          <a:xfrm>
            <a:off x="8534400" y="44322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E76FF1-67DF-7820-4375-62027278719C}"/>
              </a:ext>
            </a:extLst>
          </p:cNvPr>
          <p:cNvSpPr/>
          <p:nvPr/>
        </p:nvSpPr>
        <p:spPr>
          <a:xfrm>
            <a:off x="685800" y="49657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text_23">
            <a:extLst>
              <a:ext uri="{FF2B5EF4-FFF2-40B4-BE49-F238E27FC236}">
                <a16:creationId xmlns:a16="http://schemas.microsoft.com/office/drawing/2014/main" id="{A3B050D6-3F67-949A-2AED-362A53A251AC}"/>
              </a:ext>
            </a:extLst>
          </p:cNvPr>
          <p:cNvSpPr txBox="1"/>
          <p:nvPr/>
        </p:nvSpPr>
        <p:spPr>
          <a:xfrm>
            <a:off x="838200" y="50291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D8C6BA3A-2CE1-8858-C1D6-CEBB8576F252}"/>
              </a:ext>
            </a:extLst>
          </p:cNvPr>
          <p:cNvSpPr txBox="1"/>
          <p:nvPr/>
        </p:nvSpPr>
        <p:spPr>
          <a:xfrm>
            <a:off x="4686300" y="50291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EB1FB63A-B6A2-1800-4E58-C8B26D3AED20}"/>
              </a:ext>
            </a:extLst>
          </p:cNvPr>
          <p:cNvSpPr txBox="1"/>
          <p:nvPr/>
        </p:nvSpPr>
        <p:spPr>
          <a:xfrm>
            <a:off x="8534400" y="50291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27" name="text_26">
            <a:extLst>
              <a:ext uri="{FF2B5EF4-FFF2-40B4-BE49-F238E27FC236}">
                <a16:creationId xmlns:a16="http://schemas.microsoft.com/office/drawing/2014/main" id="{9DB9B0EB-62D9-5BBB-1618-236DB80A1B5E}"/>
              </a:ext>
            </a:extLst>
          </p:cNvPr>
          <p:cNvSpPr txBox="1"/>
          <p:nvPr/>
        </p:nvSpPr>
        <p:spPr>
          <a:xfrm>
            <a:off x="685800" y="5727699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Reliability shown here; other policies must also be compatible.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03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B9FBC754-4F6C-9BD5-7C8E-BA76AC545DFB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4A733D07-6A8D-C584-EC13-7F1683E0A220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Executors and concurrency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56131DE6-7369-2D6E-A890-9858326167D8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Threads help only when callback groups allow work to overlap.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32402E-689F-0EE3-8529-3468AEE0AB4F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915DE9B1-9316-23FE-C4BF-1A6B71C94AF4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11F5E2ED-213F-4AB1-375A-5EA7D8563DB9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D5FCDD3D-5697-F99D-7DCF-10ADF186C354}"/>
              </a:ext>
            </a:extLst>
          </p:cNvPr>
          <p:cNvSpPr txBox="1"/>
          <p:nvPr/>
        </p:nvSpPr>
        <p:spPr>
          <a:xfrm>
            <a:off x="685800" y="2616199"/>
            <a:ext cx="10820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2459D3"/>
                </a:solidFill>
                <a:latin typeface="Aptos" panose="020B0004020202020204" pitchFamily="34" charset="0"/>
              </a:rPr>
              <a:t>Single-threaded: one callback at a time</a:t>
            </a:r>
            <a:endParaRPr lang="en-IL" sz="2800" b="1">
              <a:solidFill>
                <a:srgbClr val="2459D3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82C979-11CA-C499-E769-15A536D77308}"/>
              </a:ext>
            </a:extLst>
          </p:cNvPr>
          <p:cNvCxnSpPr/>
          <p:nvPr/>
        </p:nvCxnSpPr>
        <p:spPr>
          <a:xfrm>
            <a:off x="2794000" y="3606800"/>
            <a:ext cx="8534400" cy="0"/>
          </a:xfrm>
          <a:prstGeom prst="line">
            <a:avLst/>
          </a:prstGeom>
          <a:ln w="27940">
            <a:solidFill>
              <a:srgbClr val="D7E0E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C2326B-74E7-F987-D797-B6B4FA28A6D0}"/>
              </a:ext>
            </a:extLst>
          </p:cNvPr>
          <p:cNvSpPr/>
          <p:nvPr/>
        </p:nvSpPr>
        <p:spPr>
          <a:xfrm>
            <a:off x="3022600" y="3263900"/>
            <a:ext cx="4064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98F69230-4329-338E-C5EF-F558B7966FC8}"/>
              </a:ext>
            </a:extLst>
          </p:cNvPr>
          <p:cNvSpPr txBox="1"/>
          <p:nvPr/>
        </p:nvSpPr>
        <p:spPr>
          <a:xfrm>
            <a:off x="3200400" y="3390899"/>
            <a:ext cx="3708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Slow callback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518D2D-5C68-A76B-2D71-CC26FE44E8FC}"/>
              </a:ext>
            </a:extLst>
          </p:cNvPr>
          <p:cNvSpPr/>
          <p:nvPr/>
        </p:nvSpPr>
        <p:spPr>
          <a:xfrm>
            <a:off x="7289800" y="3263900"/>
            <a:ext cx="2413000" cy="6096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31B884BB-4A52-EFAD-D912-C27929666FF4}"/>
              </a:ext>
            </a:extLst>
          </p:cNvPr>
          <p:cNvSpPr txBox="1"/>
          <p:nvPr/>
        </p:nvSpPr>
        <p:spPr>
          <a:xfrm>
            <a:off x="7467600" y="3390899"/>
            <a:ext cx="2057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Next callback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9CE82964-E101-3106-50E3-6BDC9DB0DA4D}"/>
              </a:ext>
            </a:extLst>
          </p:cNvPr>
          <p:cNvSpPr txBox="1"/>
          <p:nvPr/>
        </p:nvSpPr>
        <p:spPr>
          <a:xfrm>
            <a:off x="685800" y="4178299"/>
            <a:ext cx="10820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37F79"/>
                </a:solidFill>
                <a:latin typeface="Aptos" panose="020B0004020202020204" pitchFamily="34" charset="0"/>
              </a:rPr>
              <a:t>Multithreaded: eligible callbacks can overlap</a:t>
            </a:r>
            <a:endParaRPr lang="en-IL" sz="2800" b="1">
              <a:solidFill>
                <a:srgbClr val="137F79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20F201A0-5E6B-00CD-315E-5523D66AF73F}"/>
              </a:ext>
            </a:extLst>
          </p:cNvPr>
          <p:cNvSpPr txBox="1"/>
          <p:nvPr/>
        </p:nvSpPr>
        <p:spPr>
          <a:xfrm>
            <a:off x="685800" y="4851399"/>
            <a:ext cx="198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Worker 1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3E9DE99D-B297-9E0A-7CDE-33DF1FFAA8C5}"/>
              </a:ext>
            </a:extLst>
          </p:cNvPr>
          <p:cNvSpPr txBox="1"/>
          <p:nvPr/>
        </p:nvSpPr>
        <p:spPr>
          <a:xfrm>
            <a:off x="685800" y="5499099"/>
            <a:ext cx="198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Worker 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E92A23-BA64-639A-D375-00D6D7913EC4}"/>
              </a:ext>
            </a:extLst>
          </p:cNvPr>
          <p:cNvSpPr/>
          <p:nvPr/>
        </p:nvSpPr>
        <p:spPr>
          <a:xfrm>
            <a:off x="3022600" y="4762500"/>
            <a:ext cx="4064000" cy="546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28F812AF-5206-9948-4526-6675A98C75A6}"/>
              </a:ext>
            </a:extLst>
          </p:cNvPr>
          <p:cNvSpPr txBox="1"/>
          <p:nvPr/>
        </p:nvSpPr>
        <p:spPr>
          <a:xfrm>
            <a:off x="3175000" y="4851399"/>
            <a:ext cx="3759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Callback 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F21FBA-D058-2A84-D9DF-D6ED7BE3E97D}"/>
              </a:ext>
            </a:extLst>
          </p:cNvPr>
          <p:cNvSpPr/>
          <p:nvPr/>
        </p:nvSpPr>
        <p:spPr>
          <a:xfrm>
            <a:off x="3022600" y="5410200"/>
            <a:ext cx="2413000" cy="5461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09FC2E45-B574-1060-B3D1-27BCF34C5CD0}"/>
              </a:ext>
            </a:extLst>
          </p:cNvPr>
          <p:cNvSpPr txBox="1"/>
          <p:nvPr/>
        </p:nvSpPr>
        <p:spPr>
          <a:xfrm>
            <a:off x="3149600" y="5486399"/>
            <a:ext cx="2159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Callback B</a:t>
            </a:r>
          </a:p>
        </p:txBody>
      </p:sp>
    </p:spTree>
    <p:extLst>
      <p:ext uri="{BB962C8B-B14F-4D97-AF65-F5344CB8AC3E}">
        <p14:creationId xmlns:p14="http://schemas.microsoft.com/office/powerpoint/2010/main" val="682379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FF6663DF-A29C-E6D0-717B-1753D8EC890F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F76AC79F-9D0C-1DA6-1C95-7D6B943C2655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Managed lifecycle transitions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96E1D7FE-795F-6C93-F2DC-303F942CBD23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A supervisor requests transitions; callbacks manage resources.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E360A7-00AC-6AB5-6D2C-48558AB91CF5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511F74C2-46A0-E611-C024-697718CF1435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6C523DA8-B697-5D21-ED3E-D9CB8BDC37B1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995B08-30F9-412A-513A-4224BBADC281}"/>
              </a:ext>
            </a:extLst>
          </p:cNvPr>
          <p:cNvSpPr/>
          <p:nvPr/>
        </p:nvSpPr>
        <p:spPr>
          <a:xfrm>
            <a:off x="685800" y="3009900"/>
            <a:ext cx="2743200" cy="812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B8610748-2379-8B14-BD76-B4B2DC9A3010}"/>
              </a:ext>
            </a:extLst>
          </p:cNvPr>
          <p:cNvSpPr txBox="1"/>
          <p:nvPr/>
        </p:nvSpPr>
        <p:spPr>
          <a:xfrm>
            <a:off x="787400" y="3213099"/>
            <a:ext cx="2540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Unconfigured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2D92F9-E831-23BC-5088-C19F81E78315}"/>
              </a:ext>
            </a:extLst>
          </p:cNvPr>
          <p:cNvSpPr/>
          <p:nvPr/>
        </p:nvSpPr>
        <p:spPr>
          <a:xfrm>
            <a:off x="4724400" y="3009900"/>
            <a:ext cx="2743200" cy="812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F60766D4-CA33-0A66-D79A-911F9CDC68C2}"/>
              </a:ext>
            </a:extLst>
          </p:cNvPr>
          <p:cNvSpPr txBox="1"/>
          <p:nvPr/>
        </p:nvSpPr>
        <p:spPr>
          <a:xfrm>
            <a:off x="4826000" y="3213099"/>
            <a:ext cx="2540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Inactive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60AC05-7AC2-8E5F-A85C-CA4700FB37E1}"/>
              </a:ext>
            </a:extLst>
          </p:cNvPr>
          <p:cNvSpPr/>
          <p:nvPr/>
        </p:nvSpPr>
        <p:spPr>
          <a:xfrm>
            <a:off x="8763000" y="3009900"/>
            <a:ext cx="2743200" cy="812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01363A9D-84E4-B56B-E178-6FC7D0DAF969}"/>
              </a:ext>
            </a:extLst>
          </p:cNvPr>
          <p:cNvSpPr txBox="1"/>
          <p:nvPr/>
        </p:nvSpPr>
        <p:spPr>
          <a:xfrm>
            <a:off x="8864600" y="3213099"/>
            <a:ext cx="2540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Active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7BA286-E536-985A-B6B4-20E8E849D680}"/>
              </a:ext>
            </a:extLst>
          </p:cNvPr>
          <p:cNvCxnSpPr/>
          <p:nvPr/>
        </p:nvCxnSpPr>
        <p:spPr>
          <a:xfrm>
            <a:off x="3429000" y="3263900"/>
            <a:ext cx="12954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_14">
            <a:extLst>
              <a:ext uri="{FF2B5EF4-FFF2-40B4-BE49-F238E27FC236}">
                <a16:creationId xmlns:a16="http://schemas.microsoft.com/office/drawing/2014/main" id="{A6BCE9F2-0903-EAD1-CD2C-56F24D98AF96}"/>
              </a:ext>
            </a:extLst>
          </p:cNvPr>
          <p:cNvSpPr txBox="1"/>
          <p:nvPr/>
        </p:nvSpPr>
        <p:spPr>
          <a:xfrm>
            <a:off x="3378200" y="2654299"/>
            <a:ext cx="144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configure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F4B7AD-5CEB-9CB0-5C1E-A61313D8FCD2}"/>
              </a:ext>
            </a:extLst>
          </p:cNvPr>
          <p:cNvCxnSpPr/>
          <p:nvPr/>
        </p:nvCxnSpPr>
        <p:spPr>
          <a:xfrm>
            <a:off x="7467600" y="3263900"/>
            <a:ext cx="12954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_16">
            <a:extLst>
              <a:ext uri="{FF2B5EF4-FFF2-40B4-BE49-F238E27FC236}">
                <a16:creationId xmlns:a16="http://schemas.microsoft.com/office/drawing/2014/main" id="{965CF6E2-1FBE-25BB-9B93-31EA474C1D84}"/>
              </a:ext>
            </a:extLst>
          </p:cNvPr>
          <p:cNvSpPr txBox="1"/>
          <p:nvPr/>
        </p:nvSpPr>
        <p:spPr>
          <a:xfrm>
            <a:off x="7467600" y="2654299"/>
            <a:ext cx="1320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activate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0C6D87-5446-808E-09B4-B05B0F664F1F}"/>
              </a:ext>
            </a:extLst>
          </p:cNvPr>
          <p:cNvCxnSpPr/>
          <p:nvPr/>
        </p:nvCxnSpPr>
        <p:spPr>
          <a:xfrm flipH="1">
            <a:off x="3429000" y="3644900"/>
            <a:ext cx="1295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18">
            <a:extLst>
              <a:ext uri="{FF2B5EF4-FFF2-40B4-BE49-F238E27FC236}">
                <a16:creationId xmlns:a16="http://schemas.microsoft.com/office/drawing/2014/main" id="{B1EBB9E1-7299-8FF7-0946-CB3B10CC838F}"/>
              </a:ext>
            </a:extLst>
          </p:cNvPr>
          <p:cNvSpPr txBox="1"/>
          <p:nvPr/>
        </p:nvSpPr>
        <p:spPr>
          <a:xfrm>
            <a:off x="3429000" y="3924299"/>
            <a:ext cx="1346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cleanup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9B0725-22AA-4CBE-D624-A845F455C0E4}"/>
              </a:ext>
            </a:extLst>
          </p:cNvPr>
          <p:cNvCxnSpPr/>
          <p:nvPr/>
        </p:nvCxnSpPr>
        <p:spPr>
          <a:xfrm flipH="1">
            <a:off x="7467600" y="3644900"/>
            <a:ext cx="1295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_20">
            <a:extLst>
              <a:ext uri="{FF2B5EF4-FFF2-40B4-BE49-F238E27FC236}">
                <a16:creationId xmlns:a16="http://schemas.microsoft.com/office/drawing/2014/main" id="{4D80BC02-9BC4-1583-A252-6EBEF168E252}"/>
              </a:ext>
            </a:extLst>
          </p:cNvPr>
          <p:cNvSpPr txBox="1"/>
          <p:nvPr/>
        </p:nvSpPr>
        <p:spPr>
          <a:xfrm>
            <a:off x="7150100" y="3924299"/>
            <a:ext cx="193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deactivate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F98E4A-DC64-9133-C882-CA257A389783}"/>
              </a:ext>
            </a:extLst>
          </p:cNvPr>
          <p:cNvCxnSpPr/>
          <p:nvPr/>
        </p:nvCxnSpPr>
        <p:spPr>
          <a:xfrm>
            <a:off x="2057400" y="4445000"/>
            <a:ext cx="0" cy="30480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A27F29-9234-CD25-DA59-F456251EB0E4}"/>
              </a:ext>
            </a:extLst>
          </p:cNvPr>
          <p:cNvCxnSpPr/>
          <p:nvPr/>
        </p:nvCxnSpPr>
        <p:spPr>
          <a:xfrm>
            <a:off x="2057400" y="4749800"/>
            <a:ext cx="40386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83A7BD-702A-D209-E6B6-06E49245291F}"/>
              </a:ext>
            </a:extLst>
          </p:cNvPr>
          <p:cNvCxnSpPr/>
          <p:nvPr/>
        </p:nvCxnSpPr>
        <p:spPr>
          <a:xfrm>
            <a:off x="6096000" y="4445000"/>
            <a:ext cx="0" cy="30480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4C526A-8009-10AB-93A6-5E198767882D}"/>
              </a:ext>
            </a:extLst>
          </p:cNvPr>
          <p:cNvCxnSpPr/>
          <p:nvPr/>
        </p:nvCxnSpPr>
        <p:spPr>
          <a:xfrm>
            <a:off x="6096000" y="4749800"/>
            <a:ext cx="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6C0394-BFB8-6036-D084-6712D5C6F4EB}"/>
              </a:ext>
            </a:extLst>
          </p:cNvPr>
          <p:cNvCxnSpPr/>
          <p:nvPr/>
        </p:nvCxnSpPr>
        <p:spPr>
          <a:xfrm>
            <a:off x="10134600" y="4445000"/>
            <a:ext cx="0" cy="30480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B74DE1-DCA4-255F-779C-B6C3175B6A93}"/>
              </a:ext>
            </a:extLst>
          </p:cNvPr>
          <p:cNvCxnSpPr/>
          <p:nvPr/>
        </p:nvCxnSpPr>
        <p:spPr>
          <a:xfrm flipH="1">
            <a:off x="6096000" y="4749800"/>
            <a:ext cx="40386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BFA46C-7691-6C7E-D947-F1478141364E}"/>
              </a:ext>
            </a:extLst>
          </p:cNvPr>
          <p:cNvCxnSpPr/>
          <p:nvPr/>
        </p:nvCxnSpPr>
        <p:spPr>
          <a:xfrm>
            <a:off x="6096000" y="4749800"/>
            <a:ext cx="0" cy="279400"/>
          </a:xfrm>
          <a:prstGeom prst="line">
            <a:avLst/>
          </a:prstGeom>
          <a:ln w="27940">
            <a:solidFill>
              <a:srgbClr val="52647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C4BE1D7-AF5F-D3B8-4E9E-8A63B7C228EA}"/>
              </a:ext>
            </a:extLst>
          </p:cNvPr>
          <p:cNvSpPr/>
          <p:nvPr/>
        </p:nvSpPr>
        <p:spPr>
          <a:xfrm>
            <a:off x="4724400" y="5054600"/>
            <a:ext cx="2743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0" name="text_29">
            <a:extLst>
              <a:ext uri="{FF2B5EF4-FFF2-40B4-BE49-F238E27FC236}">
                <a16:creationId xmlns:a16="http://schemas.microsoft.com/office/drawing/2014/main" id="{CE8254C4-8481-82D6-5DE9-9F54793DEEF4}"/>
              </a:ext>
            </a:extLst>
          </p:cNvPr>
          <p:cNvSpPr txBox="1"/>
          <p:nvPr/>
        </p:nvSpPr>
        <p:spPr>
          <a:xfrm>
            <a:off x="4876800" y="5168899"/>
            <a:ext cx="2438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526477"/>
                </a:solidFill>
                <a:latin typeface="Aptos" panose="020B0004020202020204" pitchFamily="34" charset="0"/>
              </a:rPr>
              <a:t>Finalized</a:t>
            </a:r>
          </a:p>
        </p:txBody>
      </p:sp>
      <p:sp>
        <p:nvSpPr>
          <p:cNvPr id="31" name="text_30">
            <a:extLst>
              <a:ext uri="{FF2B5EF4-FFF2-40B4-BE49-F238E27FC236}">
                <a16:creationId xmlns:a16="http://schemas.microsoft.com/office/drawing/2014/main" id="{E6C3198B-DA31-E17E-E616-B19C489EED30}"/>
              </a:ext>
            </a:extLst>
          </p:cNvPr>
          <p:cNvSpPr txBox="1"/>
          <p:nvPr/>
        </p:nvSpPr>
        <p:spPr>
          <a:xfrm>
            <a:off x="7721600" y="5092699"/>
            <a:ext cx="3784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shutdown</a:t>
            </a:r>
          </a:p>
        </p:txBody>
      </p:sp>
      <p:sp>
        <p:nvSpPr>
          <p:cNvPr id="32" name="text_31">
            <a:extLst>
              <a:ext uri="{FF2B5EF4-FFF2-40B4-BE49-F238E27FC236}">
                <a16:creationId xmlns:a16="http://schemas.microsoft.com/office/drawing/2014/main" id="{4E58601A-147A-B7C3-3B1D-135A754B78E7}"/>
              </a:ext>
            </a:extLst>
          </p:cNvPr>
          <p:cNvSpPr txBox="1"/>
          <p:nvPr/>
        </p:nvSpPr>
        <p:spPr>
          <a:xfrm>
            <a:off x="685800" y="5791199"/>
            <a:ext cx="1082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Callbacks: success / failure; errors → ErrorProcessing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914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236327F6-99A7-4010-34EE-5CEDD8213D3A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E8243D37-0906-B00E-9ECF-D8B1E1347DF3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Migrating from ROS 1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157ED2C7-23F9-F468-C435-83F9D403BAED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Keep the architectural ideas. Port the implementation.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862272-0305-3566-E9C6-F27CCE69A85B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C619557A-32E3-D54A-EF04-C5AC773B316B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0A495545-8AEA-AD80-8281-5C2F9C622382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F8756E-3E2A-09E2-E3EF-9BE47BEBAAB5}"/>
              </a:ext>
            </a:extLst>
          </p:cNvPr>
          <p:cNvSpPr/>
          <p:nvPr/>
        </p:nvSpPr>
        <p:spPr>
          <a:xfrm>
            <a:off x="685800" y="2768600"/>
            <a:ext cx="2895600" cy="11049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B922CEF8-32B7-30C5-22F3-EF0F5D8FE1BC}"/>
              </a:ext>
            </a:extLst>
          </p:cNvPr>
          <p:cNvSpPr txBox="1"/>
          <p:nvPr/>
        </p:nvSpPr>
        <p:spPr>
          <a:xfrm>
            <a:off x="939800" y="3124199"/>
            <a:ext cx="2387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ROS 1 graph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AAE3B6-0E08-DE40-18B1-16C636031A11}"/>
              </a:ext>
            </a:extLst>
          </p:cNvPr>
          <p:cNvSpPr/>
          <p:nvPr/>
        </p:nvSpPr>
        <p:spPr>
          <a:xfrm>
            <a:off x="4648200" y="2768600"/>
            <a:ext cx="2895600" cy="11049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7DF75C3D-736B-7EBC-0434-A1A9FA591DD6}"/>
              </a:ext>
            </a:extLst>
          </p:cNvPr>
          <p:cNvSpPr txBox="1"/>
          <p:nvPr/>
        </p:nvSpPr>
        <p:spPr>
          <a:xfrm>
            <a:off x="4902200" y="3124199"/>
            <a:ext cx="2387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15283B"/>
                </a:solidFill>
                <a:latin typeface="Aptos" panose="020B0004020202020204" pitchFamily="34" charset="0"/>
              </a:rPr>
              <a:t>Bridge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C65DC-C45E-BE77-F765-0D57BAF11F64}"/>
              </a:ext>
            </a:extLst>
          </p:cNvPr>
          <p:cNvSpPr/>
          <p:nvPr/>
        </p:nvSpPr>
        <p:spPr>
          <a:xfrm>
            <a:off x="8610600" y="2768600"/>
            <a:ext cx="2895600" cy="11049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5F85F1BE-AEAA-1AF6-9B35-972CD997FFE3}"/>
              </a:ext>
            </a:extLst>
          </p:cNvPr>
          <p:cNvSpPr txBox="1"/>
          <p:nvPr/>
        </p:nvSpPr>
        <p:spPr>
          <a:xfrm>
            <a:off x="8864600" y="3124199"/>
            <a:ext cx="2387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ROS 2 graph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160BA8-4B10-E904-789B-1C3876E33EC8}"/>
              </a:ext>
            </a:extLst>
          </p:cNvPr>
          <p:cNvCxnSpPr/>
          <p:nvPr/>
        </p:nvCxnSpPr>
        <p:spPr>
          <a:xfrm>
            <a:off x="3581400" y="3314700"/>
            <a:ext cx="1066800" cy="0"/>
          </a:xfrm>
          <a:prstGeom prst="line">
            <a:avLst/>
          </a:prstGeom>
          <a:ln w="27940">
            <a:solidFill>
              <a:srgbClr val="2459D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DE7700-D5B7-FFFA-8296-830654CACB59}"/>
              </a:ext>
            </a:extLst>
          </p:cNvPr>
          <p:cNvCxnSpPr/>
          <p:nvPr/>
        </p:nvCxnSpPr>
        <p:spPr>
          <a:xfrm>
            <a:off x="7543800" y="3314700"/>
            <a:ext cx="1066800" cy="0"/>
          </a:xfrm>
          <a:prstGeom prst="line">
            <a:avLst/>
          </a:prstGeom>
          <a:ln w="27940">
            <a:solidFill>
              <a:srgbClr val="137F79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55FD96D5-6C9D-C1A3-C290-C5F95808D199}"/>
              </a:ext>
            </a:extLst>
          </p:cNvPr>
          <p:cNvSpPr txBox="1"/>
          <p:nvPr/>
        </p:nvSpPr>
        <p:spPr>
          <a:xfrm>
            <a:off x="685800" y="4444999"/>
            <a:ext cx="10820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283B"/>
                </a:solidFill>
                <a:latin typeface="Aptos" panose="020B0004020202020204" pitchFamily="34" charset="0"/>
              </a:rPr>
              <a:t>APIs · build · parameters · launch · QoS</a:t>
            </a:r>
            <a:endParaRPr lang="en-IL" sz="28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FFE3E8A5-A1D4-2A78-1EB0-82DE27289010}"/>
              </a:ext>
            </a:extLst>
          </p:cNvPr>
          <p:cNvSpPr txBox="1"/>
          <p:nvPr/>
        </p:nvSpPr>
        <p:spPr>
          <a:xfrm>
            <a:off x="685800" y="5156199"/>
            <a:ext cx="108204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Bridge support depends on interfaces, distributions, and operating systems.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5986</Words>
  <Application>Microsoft Office PowerPoint</Application>
  <PresentationFormat>Custom</PresentationFormat>
  <Paragraphs>657</Paragraphs>
  <Slides>18</Slides>
  <Notes>18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גלעד ליפשיץ</dc:creator>
  <cp:lastModifiedBy>גלעד ליפשיץ</cp:lastModifiedBy>
  <cp:revision>1</cp:revision>
  <dcterms:created xsi:type="dcterms:W3CDTF">2026-10-04T14:54:56Z</dcterms:created>
  <dcterms:modified xsi:type="dcterms:W3CDTF">2026-10-04T14:54:56Z</dcterms:modified>
</cp:coreProperties>
</file>