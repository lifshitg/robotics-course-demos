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4" r:id="rId25"/>
    <p:sldId id="275" r:id="rId26"/>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936814-3E93-4131-8280-34ACB3B98C76}" type="datetimeFigureOut">
              <a:rPr lang="en-IL" smtClean="0"/>
              <a:t>04/10/2026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1C3F8C-A7E5-4ACB-A3E7-CBE3A8A8D559}" type="slidenum">
              <a:rPr lang="en-IL" smtClean="0"/>
              <a:t>‹#›</a:t>
            </a:fld>
            <a:endParaRPr lang="en-IL"/>
          </a:p>
        </p:txBody>
      </p:sp>
    </p:spTree>
    <p:extLst>
      <p:ext uri="{BB962C8B-B14F-4D97-AF65-F5344CB8AC3E}">
        <p14:creationId xmlns:p14="http://schemas.microsoft.com/office/powerpoint/2010/main" val="1653389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 — Robotics &amp; Autonomous Systems</a:t>
            </a:r>
          </a:p>
          <a:p>
            <a:r>
              <a:t>Timing: 0 minutes.</a:t>
            </a:r>
          </a:p>
          <a:p/>
          <a:p>
            <a:r>
              <a:t>Week 1 — Robotics &amp; Autonomous Systems</a:t>
            </a:r>
          </a:p>
          <a:p>
            <a:r>
              <a:t>Display the course title while students settle.</a:t>
            </a:r>
          </a:p>
          <a:p>
            <a:r>
              <a:t>Audience: Python familiarity; little networking knowledge.</a:t>
            </a:r>
          </a:p>
          <a:p>
            <a:r>
              <a:t>The final deck has 15 main slides and five hidden backup slides (16–20).</a:t>
            </a:r>
          </a:p>
          <a:p>
            <a:r>
              <a:t>The main session is 45 minutes: explanation/introduction 25; code 7; run/inspect 6; experiments 4; questions/recap 3.</a:t>
            </a:r>
          </a:p>
          <a:p>
            <a:r>
              <a:t>ROS 2 Jazzy is the teaching baseline, not a claim about the newest distribution.</a:t>
            </a:r>
          </a:p>
        </p:txBody>
      </p:sp>
      <p:sp>
        <p:nvSpPr>
          <p:cNvPr id="4" name="Slide Number Placeholder 3"/>
          <p:cNvSpPr>
            <a:spLocks noGrp="1"/>
          </p:cNvSpPr>
          <p:nvPr>
            <p:ph type="sldNum" sz="quarter" idx="5"/>
          </p:nvPr>
        </p:nvSpPr>
        <p:spPr/>
        <p:txBody>
          <a:bodyPr/>
          <a:lstStyle/>
          <a:p>
            <a:fld id="{D81C3F8C-A7E5-4ACB-A3E7-CBE3A8A8D559}" type="slidenum">
              <a:rPr lang="en-IL" smtClean="0"/>
              <a:t>1</a:t>
            </a:fld>
            <a:endParaRPr lang="en-IL"/>
          </a:p>
        </p:txBody>
      </p:sp>
    </p:spTree>
    <p:extLst>
      <p:ext uri="{BB962C8B-B14F-4D97-AF65-F5344CB8AC3E}">
        <p14:creationId xmlns:p14="http://schemas.microsoft.com/office/powerpoint/2010/main" val="3943048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4 — What is ROS, and why do we need it?</a:t>
            </a:r>
          </a:p>
          <a:p>
            <a:r>
              <a:t>Timing: 2 minutes.</a:t>
            </a:r>
          </a:p>
          <a:p/>
          <a:p>
            <a:r>
              <a:t>Purpose: Establish what students are learning and why it exists.</a:t>
            </a:r>
          </a:p>
          <a:p/>
          <a:p>
            <a:r>
              <a:t>- ROS means Robot Operating System: a software framework for building robotics</a:t>
            </a:r>
          </a:p>
          <a:p>
            <a:r>
              <a:t>  applications that runs on an operating system such as Linux.</a:t>
            </a:r>
          </a:p>
          <a:p>
            <a:r>
              <a:t>- It supplies communication libraries, development/debugging tools, and an ecosystem</a:t>
            </a:r>
          </a:p>
          <a:p>
            <a:r>
              <a:t>  of reusable packages, including drivers and robotics algorithms.</a:t>
            </a:r>
          </a:p>
          <a:p>
            <a:r>
              <a:t>- Robotics software combines components written by different people, often in different</a:t>
            </a:r>
          </a:p>
          <a:p>
            <a:r>
              <a:t>  languages and running on different computers. ROS supplies common interfaces to connect them.</a:t>
            </a:r>
          </a:p>
          <a:p/>
          <a:p>
            <a:r>
              <a:t>Visual: Three layers: robot application; ROS libraries/tools/packages; host OS/hardware.</a:t>
            </a:r>
          </a:p>
          <a:p/>
          <a:p>
            <a:r>
              <a:t>Speaker guidance: Start with “How do a camera, a planner, and a motor driver share</a:t>
            </a:r>
          </a:p>
          <a:p>
            <a:r>
              <a:t>information?” Define middleware as software handling communication between application</a:t>
            </a:r>
          </a:p>
          <a:p>
            <a:r>
              <a:t>components. Explain the purpose before introducing API names.</a:t>
            </a:r>
          </a:p>
          <a:p/>
          <a:p>
            <a:r>
              <a:t>Demo connection: Python supplies the application logic; rclpy supplies ROS</a:t>
            </a:r>
          </a:p>
          <a:p>
            <a:r>
              <a:t>interfaces; std_msgs supplies the message definition.</a:t>
            </a:r>
          </a:p>
          <a:p/>
          <a:p>
            <a:r>
              <a:t>Reference: Official ROS 2 overview: https://github.com/ros2/ros2_documentation/blob/jazzy/source/index.rst.</a:t>
            </a:r>
          </a:p>
        </p:txBody>
      </p:sp>
      <p:sp>
        <p:nvSpPr>
          <p:cNvPr id="4" name="Slide Number Placeholder 3"/>
          <p:cNvSpPr>
            <a:spLocks noGrp="1"/>
          </p:cNvSpPr>
          <p:nvPr>
            <p:ph type="sldNum" sz="quarter" idx="5"/>
          </p:nvPr>
        </p:nvSpPr>
        <p:spPr/>
        <p:txBody>
          <a:bodyPr/>
          <a:lstStyle/>
          <a:p>
            <a:fld id="{D81C3F8C-A7E5-4ACB-A3E7-CBE3A8A8D559}" type="slidenum">
              <a:rPr lang="en-IL" smtClean="0"/>
              <a:t>2</a:t>
            </a:fld>
            <a:endParaRPr lang="en-IL"/>
          </a:p>
        </p:txBody>
      </p:sp>
    </p:spTree>
    <p:extLst>
      <p:ext uri="{BB962C8B-B14F-4D97-AF65-F5344CB8AC3E}">
        <p14:creationId xmlns:p14="http://schemas.microsoft.com/office/powerpoint/2010/main" val="3212654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5 — What is ROS used for?</a:t>
            </a:r>
          </a:p>
          <a:p>
            <a:r>
              <a:t>Timing: 1.5 minutes.</a:t>
            </a:r>
          </a:p>
          <a:p/>
          <a:p>
            <a:r>
              <a:t>Purpose: Show three recognizable fields where ROS is used: autonomous vehicles, robotics, and drones. Explain the shared need to connect sensors, perception, planning, and control. These photographs illustrate application fields; they do not establish that a particular pictured product runs ROS.</a:t>
            </a:r>
          </a:p>
          <a:p/>
          <a:p>
            <a:r>
              <a:t>Retained teaching context from the updated deck:</a:t>
            </a:r>
          </a:p>
          <a:p>
            <a:r>
              <a:t>Timing: 2 minutes.</a:t>
            </a:r>
          </a:p>
          <a:p/>
          <a:p>
            <a:r>
              <a:t>Purpose: Connect the framework to complete robots and industrial applications.</a:t>
            </a:r>
          </a:p>
          <a:p/>
          <a:p>
            <a:r>
              <a:t>- Example robot: sensor drivers → perception/localization → planning → control →</a:t>
            </a:r>
          </a:p>
          <a:p>
            <a:r>
              <a:t>  actuator drivers. Localization also consumes motion feedback from the robot.</a:t>
            </a:r>
          </a:p>
          <a:p>
            <a:r>
              <a:t>- Teams can integrate modules, inspect data, and reuse existing drivers and algorithms.</a:t>
            </a:r>
          </a:p>
          <a:p>
            <a:r>
              <a:t>- Compatible interfaces allow simulated sensors/actuators to replace hardware during</a:t>
            </a:r>
          </a:p>
          <a:p>
            <a:r>
              <a:t>  development. Physical behavior and timing still need validation on the robot.</a:t>
            </a:r>
          </a:p>
          <a:p>
            <a:r>
              <a:t>- Industry examples: ROS-Industrial's work with BMW and Microsoft on logistics</a:t>
            </a:r>
          </a:p>
          <a:p>
            <a:r>
              <a:t>  interoperability, and robotic blending/scan-and-plan work for foundries. These are</a:t>
            </a:r>
          </a:p>
          <a:p>
            <a:r>
              <a:t>  documented ROS ecosystem applications; do not assume all use the same ROS generation.</a:t>
            </a:r>
          </a:p>
          <a:p/>
          <a:p>
            <a:r>
              <a:t>Visual: Robot software graph with sensor inputs, actuator outputs, and an alternative</a:t>
            </a:r>
          </a:p>
          <a:p>
            <a:r>
              <a:t>simulation boundary. Place the industrial examples beside the graph.</a:t>
            </a:r>
          </a:p>
          <a:p/>
          <a:p>
            <a:r>
              <a:t>Speaker guidance: Explain the benefit: interoperability for logistics; perception</a:t>
            </a:r>
          </a:p>
          <a:p>
            <a:r>
              <a:t>linked to motion planning for manufacturing. ROS adoption alone does not make a system</a:t>
            </a:r>
          </a:p>
          <a:p>
            <a:r>
              <a:t>safety certified or guarantee hard real-time control; these require system-level design.</a:t>
            </a:r>
          </a:p>
          <a:p/>
          <a:p>
            <a:r>
              <a:t>Demo connection: The greeting producer and consumer represent two software modules;</a:t>
            </a:r>
          </a:p>
          <a:p>
            <a:r>
              <a:t>a real sensor publishes structured measurements rather than greetings.</a:t>
            </a:r>
          </a:p>
          <a:p/>
          <a:p>
            <a:r>
              <a:t>Reference: ROS-Industrial applications and project overview: https://rosindustrial.org/.</a:t>
            </a:r>
          </a:p>
          <a:p/>
          <a:p>
            <a:r>
              <a:t>IMAGE CREDITS</a:t>
            </a:r>
          </a:p>
          <a:p>
            <a:r>
              <a:t>Google self-driving car in Mountain View.jpg</a:t>
            </a:r>
          </a:p>
          <a:p>
            <a:r>
              <a:t>Author: Mark Doliner</a:t>
            </a:r>
          </a:p>
          <a:p>
            <a:r>
              <a:t>License: CC BY 2.0</a:t>
            </a:r>
          </a:p>
          <a:p>
            <a:r>
              <a:t>License URL: https://creativecommons.org/licenses/by/2.0</a:t>
            </a:r>
          </a:p>
          <a:p>
            <a:r>
              <a:t>Source: https://commons.wikimedia.org/wiki/File:Google_self-driving_car_in_Mountain_View.jpg</a:t>
            </a:r>
          </a:p>
          <a:p>
            <a:r>
              <a:t>Changes: Displayed with a rectangular crop; original downloaded image retained.</a:t>
            </a:r>
          </a:p>
          <a:p/>
          <a:p>
            <a:r>
              <a:t>Cobot.jpg</a:t>
            </a:r>
          </a:p>
          <a:p>
            <a:r>
              <a:t>Author: GrowSkills Robotics</a:t>
            </a:r>
          </a:p>
          <a:p>
            <a:r>
              <a:t>License: CC BY-SA 4.0</a:t>
            </a:r>
          </a:p>
          <a:p>
            <a:r>
              <a:t>License URL: https://creativecommons.org/licenses/by-sa/4.0</a:t>
            </a:r>
          </a:p>
          <a:p>
            <a:r>
              <a:t>Source: https://commons.wikimedia.org/wiki/File:Cobot.jpg</a:t>
            </a:r>
          </a:p>
          <a:p>
            <a:r>
              <a:t>Changes: Displayed with a rectangular crop; original downloaded image retained.</a:t>
            </a:r>
          </a:p>
          <a:p/>
          <a:p>
            <a:r>
              <a:t>DJI Phantom 4Pro 04-2017 img3 in flight.jpg</a:t>
            </a:r>
          </a:p>
          <a:p>
            <a:r>
              <a:t>Author: A.Savin</a:t>
            </a:r>
          </a:p>
          <a:p>
            <a:r>
              <a:t>License: FAL</a:t>
            </a:r>
          </a:p>
          <a:p>
            <a:r>
              <a:t>License URL: http://artlibre.org/licence/lal/en</a:t>
            </a:r>
          </a:p>
          <a:p>
            <a:r>
              <a:t>Source: https://commons.wikimedia.org/wiki/File:DJI_Phantom_4Pro_04-2017_img3_in_flight.jpg</a:t>
            </a:r>
          </a:p>
          <a:p>
            <a:r>
              <a:t>Changes: Displayed with a rectangular crop; original downloaded image retained.</a:t>
            </a:r>
          </a:p>
        </p:txBody>
      </p:sp>
      <p:sp>
        <p:nvSpPr>
          <p:cNvPr id="4" name="Slide Number Placeholder 3"/>
          <p:cNvSpPr>
            <a:spLocks noGrp="1"/>
          </p:cNvSpPr>
          <p:nvPr>
            <p:ph type="sldNum" sz="quarter" idx="5"/>
          </p:nvPr>
        </p:nvSpPr>
        <p:spPr/>
        <p:txBody>
          <a:bodyPr/>
          <a:lstStyle/>
          <a:p>
            <a:fld id="{D81C3F8C-A7E5-4ACB-A3E7-CBE3A8A8D559}" type="slidenum">
              <a:rPr lang="en-IL" smtClean="0"/>
              <a:t>3</a:t>
            </a:fld>
            <a:endParaRPr lang="en-IL"/>
          </a:p>
        </p:txBody>
      </p:sp>
    </p:spTree>
    <p:extLst>
      <p:ext uri="{BB962C8B-B14F-4D97-AF65-F5344CB8AC3E}">
        <p14:creationId xmlns:p14="http://schemas.microsoft.com/office/powerpoint/2010/main" val="27954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6 — ROS 1 → ROS 2</a:t>
            </a:r>
          </a:p>
          <a:p>
            <a:r>
              <a:t>Timing: 2 minutes.</a:t>
            </a:r>
          </a:p>
          <a:p/>
          <a:p>
            <a:r>
              <a:t>Keep the timeline brief to allow 2 minutes for the whole-network overview.</a:t>
            </a:r>
          </a:p>
          <a:p/>
          <a:p>
            <a:r>
              <a:t>Purpose: Explain the redesign and establish which ROS students will use.</a:t>
            </a:r>
          </a:p>
          <a:p/>
          <a:p>
            <a:r>
              <a:t>- ROS development began in 2007 around Willow Garage's PR2 research platform.</a:t>
            </a:r>
          </a:p>
          <a:p>
            <a:r>
              <a:t>- ROS 2 addressed broader needs: multiple robots, embedded computers, unreliable</a:t>
            </a:r>
          </a:p>
          <a:p>
            <a:r>
              <a:t>  networks, production deployments, and more controlled execution.</a:t>
            </a:r>
          </a:p>
          <a:p>
            <a:r>
              <a:t>- ROS 2's first non-beta distribution was Ardent Apalone in 2017.</a:t>
            </a:r>
          </a:p>
          <a:p>
            <a:r>
              <a:t>- ROS 1's final official distribution, Noetic, reached end of life on May 31, 2025.</a:t>
            </a:r>
          </a:p>
          <a:p>
            <a:r>
              <a:t>  Existing ROS 1 systems remain, but this course uses ROS 2.</a:t>
            </a:r>
          </a:p>
          <a:p>
            <a:r>
              <a:t>- ROS 1/ROS 2 are framework generations; Jazzy is a ROS 2 distribution bundling</a:t>
            </a:r>
          </a:p>
          <a:p>
            <a:r>
              <a:t>  compatible package versions. Jazzy is the demo baseline, not a claim about the newest release.</a:t>
            </a:r>
          </a:p>
          <a:p/>
          <a:p>
            <a:r>
              <a:t>| Aspect | ROS 1 | ROS 2 |</a:t>
            </a:r>
          </a:p>
          <a:p>
            <a:r>
              <a:t>| --- | --- | --- |</a:t>
            </a:r>
          </a:p>
          <a:p>
            <a:r>
              <a:t>| Discovery | Nodes register with a ROS master | DDS-based discovery in the course setup; no ROS master |</a:t>
            </a:r>
          </a:p>
          <a:p>
            <a:r>
              <a:t>| Topic transport | Custom protocols, commonly TCPROS | Replaceable RMW layer; DDS/RTPS in this explanation |</a:t>
            </a:r>
          </a:p>
          <a:p>
            <a:r>
              <a:t>| Delivery policies | More limited options, including latching | Configurable QoS, including reliability/durability |</a:t>
            </a:r>
          </a:p>
          <a:p>
            <a:r>
              <a:t>| Node management | Application-specific coordination | Standard managed lifecycle interface available |</a:t>
            </a:r>
          </a:p>
          <a:p>
            <a:r>
              <a:t>| Application libraries | rospy, roscpp | rclpy, rclcpp |</a:t>
            </a:r>
          </a:p>
          <a:p/>
          <a:p>
            <a:r>
              <a:t>Visual: Timeline and comparison table. In a ROS 1 sketch, distinguish master discovery</a:t>
            </a:r>
          </a:p>
          <a:p>
            <a:r>
              <a:t>arrows from a direct data arrow between nodes.</a:t>
            </a:r>
          </a:p>
          <a:p/>
          <a:p>
            <a:r>
              <a:t>Speaker guidance: The ROS 1 master helps endpoints find each other; it does not</a:t>
            </a:r>
          </a:p>
          <a:p>
            <a:r>
              <a:t>relay every topic message. ROS 2 changes APIs/infrastructure while retaining concepts</a:t>
            </a:r>
          </a:p>
          <a:p>
            <a:r>
              <a:t>such as nodes and topics. Real-time capability depends on the full system.</a:t>
            </a:r>
          </a:p>
          <a:p/>
          <a:p>
            <a:r>
              <a:t>Demo connection: The scripts import rclpy; there is no roscore startup step.</a:t>
            </a:r>
          </a:p>
          <a:p/>
          <a:p>
            <a:r>
              <a:t>References: Origins and redesign motivations: https://design.ros2.org/articles/why_ros2.html,</a:t>
            </a:r>
          </a:p>
          <a:p>
            <a:r>
              <a:t>Ardent release: https://github.com/ros2/ros2_documentation/blob/jazzy/source/Releases/Release-Ardent-Apalone.rst,</a:t>
            </a:r>
          </a:p>
          <a:p>
            <a:r>
              <a:t>distribution dates: https://github.com/ros2/ros2_documentation/blob/jazzy/source/Releases.rst,</a:t>
            </a:r>
          </a:p>
          <a:p>
            <a:r>
              <a:t>official ROS 1 end-of-life announcement: https://discourse.ros.org/t/ros-noetic-end-of-life-may-31-2025/43160.</a:t>
            </a:r>
          </a:p>
        </p:txBody>
      </p:sp>
      <p:sp>
        <p:nvSpPr>
          <p:cNvPr id="4" name="Slide Number Placeholder 3"/>
          <p:cNvSpPr>
            <a:spLocks noGrp="1"/>
          </p:cNvSpPr>
          <p:nvPr>
            <p:ph type="sldNum" sz="quarter" idx="5"/>
          </p:nvPr>
        </p:nvSpPr>
        <p:spPr/>
        <p:txBody>
          <a:bodyPr/>
          <a:lstStyle/>
          <a:p>
            <a:fld id="{D81C3F8C-A7E5-4ACB-A3E7-CBE3A8A8D559}" type="slidenum">
              <a:rPr lang="en-IL" smtClean="0"/>
              <a:t>4</a:t>
            </a:fld>
            <a:endParaRPr lang="en-IL"/>
          </a:p>
        </p:txBody>
      </p:sp>
    </p:spTree>
    <p:extLst>
      <p:ext uri="{BB962C8B-B14F-4D97-AF65-F5344CB8AC3E}">
        <p14:creationId xmlns:p14="http://schemas.microsoft.com/office/powerpoint/2010/main" val="1090417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7 — Nodes and the ROS graph</a:t>
            </a:r>
          </a:p>
          <a:p>
            <a:r>
              <a:t>Timing: 2 minutes.</a:t>
            </a:r>
          </a:p>
          <a:p/>
          <a:p>
            <a:r>
              <a:t>Purpose: Explain how a robot application is decomposed.</a:t>
            </a:r>
          </a:p>
          <a:p/>
          <a:p>
            <a:r>
              <a:t>- A node is a logical component with a responsibility: camera driver, localization,</a:t>
            </a:r>
          </a:p>
          <a:p>
            <a:r>
              <a:t>  planner, or motor interface. It creates communication endpoints and performs work.</a:t>
            </a:r>
          </a:p>
          <a:p>
            <a:r>
              <a:t>- A process is a running OS program. One process can contain multiple ROS nodes;</a:t>
            </a:r>
          </a:p>
          <a:p>
            <a:r>
              <a:t>  this demo runs one node per Python process.</a:t>
            </a:r>
          </a:p>
          <a:p>
            <a:r>
              <a:t>- The ROS graph describes nodes and communication connections. Names and namespaces</a:t>
            </a:r>
          </a:p>
          <a:p>
            <a:r>
              <a:t>  help identify components. Our nodes are /greeting_publisher and /greeting_subscriber.</a:t>
            </a:r>
          </a:p>
          <a:p/>
          <a:p>
            <a:r>
              <a:t>Visual: Two process boxes containing the demo nodes; beside them, one process</a:t>
            </a:r>
          </a:p>
          <a:p>
            <a:r>
              <a:t>containing two nodes to distinguish the concepts.</a:t>
            </a:r>
          </a:p>
          <a:p/>
          <a:p>
            <a:r>
              <a:t>Speaker guidance: Point to super().__init__('greeting_publisher'). The class name,</a:t>
            </a:r>
          </a:p>
          <a:p>
            <a:r>
              <a:t>script filename, and ROS node name are different identifiers.</a:t>
            </a:r>
          </a:p>
          <a:p/>
          <a:p>
            <a:r>
              <a:t>Demo connection: ros2 node list reports graph names, not Python class names.</a:t>
            </a:r>
          </a:p>
          <a:p/>
          <a:p>
            <a:r>
              <a:t>Reference: ROS 2 nodes: https://github.com/ros2/ros2_documentation/blob/jazzy/source/Concepts/Basic/About-Nodes.rst.</a:t>
            </a:r>
          </a:p>
        </p:txBody>
      </p:sp>
      <p:sp>
        <p:nvSpPr>
          <p:cNvPr id="4" name="Slide Number Placeholder 3"/>
          <p:cNvSpPr>
            <a:spLocks noGrp="1"/>
          </p:cNvSpPr>
          <p:nvPr>
            <p:ph type="sldNum" sz="quarter" idx="5"/>
          </p:nvPr>
        </p:nvSpPr>
        <p:spPr/>
        <p:txBody>
          <a:bodyPr/>
          <a:lstStyle/>
          <a:p>
            <a:fld id="{D81C3F8C-A7E5-4ACB-A3E7-CBE3A8A8D559}" type="slidenum">
              <a:rPr lang="en-IL" smtClean="0"/>
              <a:t>5</a:t>
            </a:fld>
            <a:endParaRPr lang="en-IL"/>
          </a:p>
        </p:txBody>
      </p:sp>
    </p:spTree>
    <p:extLst>
      <p:ext uri="{BB962C8B-B14F-4D97-AF65-F5344CB8AC3E}">
        <p14:creationId xmlns:p14="http://schemas.microsoft.com/office/powerpoint/2010/main" val="1110257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8 — Topics carry typed messages</a:t>
            </a:r>
          </a:p>
          <a:p>
            <a:r>
              <a:t>Timing: 2 minutes.</a:t>
            </a:r>
          </a:p>
          <a:p/>
          <a:p>
            <a:r>
              <a:t>Save the detailed code explanation for the live walkthrough.</a:t>
            </a:r>
          </a:p>
          <a:p/>
          <a:p>
            <a:r>
              <a:t>Purpose: Teach the communication pattern used in the demo.</a:t>
            </a:r>
          </a:p>
          <a:p/>
          <a:p>
            <a:r>
              <a:t>- A topic names a channel carrying data of a defined message type.</a:t>
            </a:r>
          </a:p>
          <a:p>
            <a:r>
              <a:t>- A publisher sends messages; a subscription receives them and registers a</a:t>
            </a:r>
          </a:p>
          <a:p>
            <a:r>
              <a:t>  callback. Multiple publishers and subscribers can use the same topic.</a:t>
            </a:r>
          </a:p>
          <a:p>
            <a:r>
              <a:t>- Endpoints need the same resolved topic name, compatible type, and compatible QoS.</a:t>
            </a:r>
          </a:p>
          <a:p>
            <a:r>
              <a:t>  A shared name alone is insufficient.</a:t>
            </a:r>
          </a:p>
          <a:p>
            <a:r>
              <a:t>- Message definitions describe fields; generated language bindings let Python and</a:t>
            </a:r>
          </a:p>
          <a:p>
            <a:r>
              <a:t>  C++ code use the same interface.</a:t>
            </a:r>
          </a:p>
          <a:p/>
          <a:p>
            <a:r>
              <a:t>text</a:t>
            </a:r>
          </a:p>
          <a:p>
            <a:r>
              <a:t>/greeting_publisher → /chatter (std_msgs/msg/String) → /greeting_subscriber</a:t>
            </a:r>
          </a:p>
          <a:p/>
          <a:p>
            <a:r>
              <a:t>Definition: string data       Python: message = String()</a:t>
            </a:r>
          </a:p>
          <a:p>
            <a:r>
              <a:t>                                     message.data = 'Hello, robotics! Message 0'</a:t>
            </a:r>
          </a:p>
          <a:p/>
          <a:p/>
          <a:p>
            <a:r>
              <a:t>Visual: The diagram above with a second subscriber branch; show the field definition</a:t>
            </a:r>
          </a:p>
          <a:p>
            <a:r>
              <a:t>beside the Python assignment.</a:t>
            </a:r>
          </a:p>
          <a:p/>
          <a:p>
            <a:r>
              <a:t>Speaker guidance: A topic is a name and contract, not a separate broker process or</a:t>
            </a:r>
          </a:p>
          <a:p>
            <a:r>
              <a:t>storage service. String keeps the example small; actual sensors use richer types.</a:t>
            </a:r>
          </a:p>
          <a:p/>
          <a:p>
            <a:r>
              <a:t>Demo connection: Both constructors use String and /chatter. Show the definition</a:t>
            </a:r>
          </a:p>
          <a:p>
            <a:r>
              <a:t>with ros2 interface show std_msgs/msg/String live.</a:t>
            </a:r>
          </a:p>
          <a:p/>
          <a:p>
            <a:r>
              <a:t>Reference: Interface definitions: https://github.com/ros2/ros2_documentation/blob/jazzy/source/Concepts/Basic/About-Interfaces.rst.</a:t>
            </a:r>
          </a:p>
        </p:txBody>
      </p:sp>
      <p:sp>
        <p:nvSpPr>
          <p:cNvPr id="4" name="Slide Number Placeholder 3"/>
          <p:cNvSpPr>
            <a:spLocks noGrp="1"/>
          </p:cNvSpPr>
          <p:nvPr>
            <p:ph type="sldNum" sz="quarter" idx="5"/>
          </p:nvPr>
        </p:nvSpPr>
        <p:spPr/>
        <p:txBody>
          <a:bodyPr/>
          <a:lstStyle/>
          <a:p>
            <a:fld id="{D81C3F8C-A7E5-4ACB-A3E7-CBE3A8A8D559}" type="slidenum">
              <a:rPr lang="en-IL" smtClean="0"/>
              <a:t>6</a:t>
            </a:fld>
            <a:endParaRPr lang="en-IL"/>
          </a:p>
        </p:txBody>
      </p:sp>
    </p:spTree>
    <p:extLst>
      <p:ext uri="{BB962C8B-B14F-4D97-AF65-F5344CB8AC3E}">
        <p14:creationId xmlns:p14="http://schemas.microsoft.com/office/powerpoint/2010/main" val="3020872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9 — Choose the right interface</a:t>
            </a:r>
          </a:p>
          <a:p>
            <a:r>
              <a:t>Timing: 2 minutes.</a:t>
            </a:r>
          </a:p>
          <a:p/>
          <a:p>
            <a:r>
              <a:t>Purpose: Choose the right interface for a task.</a:t>
            </a:r>
          </a:p>
          <a:p/>
          <a:p>
            <a:r>
              <a:t>| Concept | Interaction | Example |</a:t>
            </a:r>
          </a:p>
          <a:p>
            <a:r>
              <a:t>| --- | --- | --- |</a:t>
            </a:r>
          </a:p>
          <a:p>
            <a:r>
              <a:t>| Topic | Stream of typed messages | Sensor readings |</a:t>
            </a:r>
          </a:p>
          <a:p>
            <a:r>
              <a:t>| Service | Client request → server response | Reset odometry and return success |</a:t>
            </a:r>
          </a:p>
          <a:p>
            <a:r>
              <a:t>| Action | Goal → feedback → result; cancellation can be requested | Navigate to a waypoint |</a:t>
            </a:r>
          </a:p>
          <a:p>
            <a:r>
              <a:t>| Parameter | Named, typed configuration belonging to a node | Sensor exposure or frame name |</a:t>
            </a:r>
          </a:p>
          <a:p/>
          <a:p>
            <a:r>
              <a:t>- .srv defines request and response separated by ---; .action defines goal,</a:t>
            </a:r>
          </a:p>
          <a:p>
            <a:r>
              <a:t>  result, and feedback. Cancellation is handled by the server and need not be immediate.</a:t>
            </a:r>
          </a:p>
          <a:p>
            <a:r>
              <a:t>- ROS 2 parameters belong to nodes, rather than a ROS 1-style global parameter server.</a:t>
            </a:r>
          </a:p>
          <a:p>
            <a:r>
              <a:t>  Whether a parameter can change at runtime depends on the node.</a:t>
            </a:r>
          </a:p>
          <a:p/>
          <a:p>
            <a:r>
              <a:t>Visual: Three communication diagrams plus a configuration box attached to a node.</a:t>
            </a:r>
          </a:p>
          <a:p/>
          <a:p>
            <a:r>
              <a:t>Speaker guidance: Ask which pattern fits camera frames, reset, and drive to a goal.</a:t>
            </a:r>
          </a:p>
          <a:p/>
          <a:p>
            <a:r>
              <a:t>Demo connection: These scripts exercise topics. Their interval and greeting are</a:t>
            </a:r>
          </a:p>
          <a:p>
            <a:r>
              <a:t>hardcoded; they have not been exposed as custom parameters.</a:t>
            </a:r>
          </a:p>
          <a:p/>
          <a:p>
            <a:r>
              <a:t>References: Interfaces: https://github.com/ros2/ros2_documentation/blob/jazzy/source/Concepts/Basic/About-Interfaces.rst,</a:t>
            </a:r>
          </a:p>
          <a:p>
            <a:r>
              <a:t>parameters: https://github.com/ros2/ros2_documentation/blob/jazzy/source/Concepts/Basic/About-Parameters.rst.</a:t>
            </a:r>
          </a:p>
        </p:txBody>
      </p:sp>
      <p:sp>
        <p:nvSpPr>
          <p:cNvPr id="4" name="Slide Number Placeholder 3"/>
          <p:cNvSpPr>
            <a:spLocks noGrp="1"/>
          </p:cNvSpPr>
          <p:nvPr>
            <p:ph type="sldNum" sz="quarter" idx="5"/>
          </p:nvPr>
        </p:nvSpPr>
        <p:spPr/>
        <p:txBody>
          <a:bodyPr/>
          <a:lstStyle/>
          <a:p>
            <a:fld id="{D81C3F8C-A7E5-4ACB-A3E7-CBE3A8A8D559}" type="slidenum">
              <a:rPr lang="en-IL" smtClean="0"/>
              <a:t>7</a:t>
            </a:fld>
            <a:endParaRPr lang="en-IL"/>
          </a:p>
        </p:txBody>
      </p:sp>
    </p:spTree>
    <p:extLst>
      <p:ext uri="{BB962C8B-B14F-4D97-AF65-F5344CB8AC3E}">
        <p14:creationId xmlns:p14="http://schemas.microsoft.com/office/powerpoint/2010/main" val="1029166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10 — ROS domain</a:t>
            </a:r>
          </a:p>
          <a:p>
            <a:r>
              <a:t>Timing: 2 minutes.</a:t>
            </a:r>
          </a:p>
          <a:p/>
          <a:p>
            <a:r>
              <a:t>This is the high-level overview after introducing topics, services, actions, and parameters.</a:t>
            </a:r>
          </a:p>
          <a:p/>
          <a:p>
            <a:r>
              <a:t>Explain the nesting from the outside inward: the outer boundary is one logical ROS domain (ROS_DOMAIN_ID=42); the two inner boxes are physical computers; the smaller boxes are ROS nodes. A computer can host several processes, and a process can contain several nodes, as the earlier node/process slide showed. The diagram does not assign one process per node.</a:t>
            </a:r>
          </a:p>
          <a:p/>
          <a:p>
            <a:r>
              <a:t>Read the connections:</a:t>
            </a:r>
          </a:p>
          <a:p>
            <a:r>
              <a:t>TOPIC: the Camera node on the robot publishes images; the Perception node on the operator computer subscribes. Topics support multiple publishers and readers; only one reader is drawn for clarity.</a:t>
            </a:r>
          </a:p>
          <a:p>
            <a:r>
              <a:t>SERVICE: the Diagnostics node is a client requesting a reset from the Motor node's service server. The response travels back to Diagnostics. The double arrow represents request and response, not a continuously bidirectional stream.</a:t>
            </a:r>
          </a:p>
          <a:p>
            <a:r>
              <a:t>ACTION: the Mission node sends a navigation goal to the Navigation node's action server. Feedback and the final result return to Mission; Mission can request cancellation. The double arrow summarizes these interactions.</a:t>
            </a:r>
          </a:p>
          <a:p>
            <a:r>
              <a:t>LOCAL CONNECTION: Navigation publishes velocity commands to Motor on the robot computer. Point to the short upward arrow between those two nodes. The same graph supports communication within a computer and across computers.</a:t>
            </a:r>
          </a:p>
          <a:p/>
          <a:p>
            <a:r>
              <a:t>Nodes can combine roles. Motor subscribes to commands and offers a reset service; Navigation offers an action and publishes commands. Nodes connect through named, typed interfaces rather than needing the consumer's physical location. A topic is not a separate broker process. Services and actions do not require a central ROS master. Parameters belong to individual nodes and are configuration, so they were introduced on the previous slide rather than drawn as another network-wide bus.</a:t>
            </a:r>
          </a:p>
          <a:p/>
          <a:p>
            <a:r>
              <a:t>The ROS domain groups discoverable participants; it is neither a computer nor a subnet nor a security boundary. Several domains can coexist on the same physical network. In the ordinary DDS setup, different domain IDs do not communicate directly; bridging/routing is outside this overview. The same ID alone is insufficient: discovery must be allowed across machines, transport must be reachable (including firewall/network configuration), and endpoint names/types and topic QoS must be compatible. Nodes need not all connect to one another.</a:t>
            </a:r>
          </a:p>
          <a:p/>
          <a:p>
            <a:r>
              <a:t>This diagram is a conceptual two-computer deployment. The existing demo stays on one machine because ROS_AUTOMATIC_DISCOVERY_RANGE=LOCALHOST. Do not change the demo or its README; briefly contrast that setup with this larger deployment.</a:t>
            </a:r>
          </a:p>
          <a:p/>
          <a:p>
            <a:r>
              <a:t>Quick comprehension check: Can Mission stay on the laptop while Navigation runs on the robot? Yes, with the matching action interface and working middleware/network configuration. Does joining domain 42 mean every node exchanges data with every other node? No; interfaces and matching determine connections.</a:t>
            </a:r>
          </a:p>
          <a:p/>
          <a:p>
            <a:r>
              <a:t>References:</a:t>
            </a:r>
          </a:p>
          <a:p>
            <a:r>
              <a:t>ROS domain ID: https://github.com/ros2/ros2_documentation/blob/jazzy/source/Concepts/Intermediate/About-Domain-ID.rst</a:t>
            </a:r>
          </a:p>
          <a:p>
            <a:r>
              <a:t>Discovery range: https://github.com/ros2/ros2_documentation/blob/jazzy/source/Tutorials/Advanced/Improved-Dynamic-Discovery.rst</a:t>
            </a:r>
          </a:p>
          <a:p>
            <a:r>
              <a:t>Actions and client/server roles: https://github.com/ros2/ros2_documentation/blob/jazzy/source/Concepts/Basic/About-Actions.rst</a:t>
            </a:r>
          </a:p>
          <a:p>
            <a:r>
              <a:t>Nodes: https://github.com/ros2/ros2_documentation/blob/jazzy/source/Concepts/Basic/About-Nodes.rst</a:t>
            </a:r>
          </a:p>
          <a:p>
            <a:r>
              <a:t>Interfaces: https://github.com/ros2/ros2_documentation/blob/jazzy/source/Concepts/Basic/About-Interfaces.rst</a:t>
            </a:r>
          </a:p>
        </p:txBody>
      </p:sp>
      <p:sp>
        <p:nvSpPr>
          <p:cNvPr id="4" name="Slide Number Placeholder 3"/>
          <p:cNvSpPr>
            <a:spLocks noGrp="1"/>
          </p:cNvSpPr>
          <p:nvPr>
            <p:ph type="sldNum" sz="quarter" idx="5"/>
          </p:nvPr>
        </p:nvSpPr>
        <p:spPr/>
        <p:txBody>
          <a:bodyPr/>
          <a:lstStyle/>
          <a:p>
            <a:fld id="{D81C3F8C-A7E5-4ACB-A3E7-CBE3A8A8D559}" type="slidenum">
              <a:rPr lang="en-IL" smtClean="0"/>
              <a:t>8</a:t>
            </a:fld>
            <a:endParaRPr lang="en-IL"/>
          </a:p>
        </p:txBody>
      </p:sp>
    </p:spTree>
    <p:extLst>
      <p:ext uri="{BB962C8B-B14F-4D97-AF65-F5344CB8AC3E}">
        <p14:creationId xmlns:p14="http://schemas.microsoft.com/office/powerpoint/2010/main" val="1062022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11 — ROS 2 communication behind the scenes</a:t>
            </a:r>
          </a:p>
          <a:p>
            <a:r>
              <a:t>Timing: 3 minutes.</a:t>
            </a:r>
          </a:p>
          <a:p/>
          <a:p>
            <a:r>
              <a:t>Purpose: Explain what sits underneath the ROS API.</a:t>
            </a:r>
          </a:p>
          <a:p/>
          <a:p>
            <a:r>
              <a:t>text</a:t>
            </a:r>
          </a:p>
          <a:p>
            <a:r>
              <a:t>Application: GreetingPublisher / GreetingSubscriber</a:t>
            </a:r>
          </a:p>
          <a:p>
            <a:r>
              <a:t>                      ↓</a:t>
            </a:r>
          </a:p>
          <a:p>
            <a:r>
              <a:t>Client library: rclpy (Python) / rclcpp (C++)</a:t>
            </a:r>
          </a:p>
          <a:p>
            <a:r>
              <a:t>                      ↓</a:t>
            </a:r>
          </a:p>
          <a:p>
            <a:r>
              <a:t>rcl: shared C client-library core</a:t>
            </a:r>
          </a:p>
          <a:p>
            <a:r>
              <a:t>                      ↓</a:t>
            </a:r>
          </a:p>
          <a:p>
            <a:r>
              <a:t>rmw: ROS middleware interface and selected adapter</a:t>
            </a:r>
          </a:p>
          <a:p>
            <a:r>
              <a:t>                      ↓</a:t>
            </a:r>
          </a:p>
          <a:p>
            <a:r>
              <a:t>DDS implementation: for example Fast DDS or Cyclone DDS</a:t>
            </a:r>
          </a:p>
          <a:p>
            <a:r>
              <a:t>                      ↓</a:t>
            </a:r>
          </a:p>
          <a:p>
            <a:r>
              <a:t>Transport: for example UDP/IP; local delivery may use shared memory</a:t>
            </a:r>
          </a:p>
          <a:p/>
          <a:p/>
          <a:p>
            <a:r>
              <a:t>- DDS (Data Distribution Service) is industry-standard middleware for typed</a:t>
            </a:r>
          </a:p>
          <a:p>
            <a:r>
              <a:t>  publish/subscribe exchange. ROS supplies robotics-facing APIs above it.</a:t>
            </a:r>
          </a:p>
          <a:p>
            <a:r>
              <a:t>- A DomainParticipant joins a DDS domain. DataWriters and DataReaders are</a:t>
            </a:r>
          </a:p>
          <a:p>
            <a:r>
              <a:t>  sending/receiving endpoints underlying topic communication. ROS nodes do not</a:t>
            </a:r>
          </a:p>
          <a:p>
            <a:r>
              <a:t>  necessarily map one-to-one to DDS participants.</a:t>
            </a:r>
          </a:p>
          <a:p>
            <a:r>
              <a:t>- Discovery: participants find one another and exchange endpoint information.</a:t>
            </a:r>
          </a:p>
          <a:p>
            <a:r>
              <a:t>  Compatible topic/type/QoS endpoints match, then exchange application data.</a:t>
            </a:r>
          </a:p>
          <a:p>
            <a:r>
              <a:t>- Serialization: convert fields into bytes for transport; deserialize on receipt.</a:t>
            </a:r>
          </a:p>
          <a:p>
            <a:r>
              <a:t>- RTPS is the interoperability wire protocol used by DDS implementations. DDS</a:t>
            </a:r>
          </a:p>
          <a:p>
            <a:r>
              <a:t>  describes middleware behavior/API; RTPS describes protocol-level communication.</a:t>
            </a:r>
          </a:p>
          <a:p>
            <a:r>
              <a:t>- RMW allows different middleware implementations. Use DDS for this Jazzy explanation</a:t>
            </a:r>
          </a:p>
          <a:p>
            <a:r>
              <a:t>  without claiming every ROS 2 deployment must use DDS.</a:t>
            </a:r>
          </a:p>
          <a:p/>
          <a:p>
            <a:r>
              <a:t>Visual: Layer stack plus two peers with dashed discovery and solid data arrows.</a:t>
            </a:r>
          </a:p>
          <a:p>
            <a:r>
              <a:t>Label their writer/reader; do not insert a central topic broker.</a:t>
            </a:r>
          </a:p>
          <a:p/>
          <a:p>
            <a:r>
              <a:t>Speaker guidance: Introduce terms one at a time. ROS_DOMAIN_ID=42 groups the demo's</a:t>
            </a:r>
          </a:p>
          <a:p>
            <a:r>
              <a:t>participants; LOCALHOST restricts discovery to this machine. The same domain is</a:t>
            </a:r>
          </a:p>
          <a:p>
            <a:r>
              <a:t>necessary here, but topic/type/QoS and network checks still matter. A domain ID does</a:t>
            </a:r>
          </a:p>
          <a:p>
            <a:r>
              <a:t>not authenticate participants.</a:t>
            </a:r>
          </a:p>
          <a:p/>
          <a:p>
            <a:r>
              <a:t>Demo connection: publish(message) enters the stack without application socket</a:t>
            </a:r>
          </a:p>
          <a:p>
            <a:r>
              <a:t>code. Middleware receives data; the executor schedules the Python callback.</a:t>
            </a:r>
          </a:p>
          <a:p/>
          <a:p>
            <a:r>
              <a:t>References: Middleware interface: https://design.ros2.org/articles/ros_middleware_interface.html,</a:t>
            </a:r>
          </a:p>
          <a:p>
            <a:r>
              <a:t>client libraries: https://github.com/ros2/ros2_documentation/blob/jazzy/source/Concepts/Basic/About-Client-Libraries.rst,</a:t>
            </a:r>
          </a:p>
          <a:p>
            <a:r>
              <a:t>DDS implementations and RTPS: https://github.com/ros2/ros2_documentation/blob/jazzy/source/Concepts/Intermediate/About-Different-Middleware-Vendors.rst.</a:t>
            </a:r>
          </a:p>
          <a:p/>
          <a:p>
            <a:r>
              <a:t>Point to the dashed discovery arrow and solid data arrow. Serializing converts typed fields into bytes; the receiving side reconstructs the message. DomainParticipant joins a domain; it need not equal one ROS node. Discovery uses endpoint metadata before application data can flow.</a:t>
            </a:r>
          </a:p>
          <a:p/>
          <a:p>
            <a:r>
              <a:t>CONFIGURATION (speaker reference; no live setup change required):</a:t>
            </a:r>
          </a:p>
          <a:p>
            <a:r>
              <a:t>The course setup uses DDS through ROS 2's replaceable RMW interface. RMW_IMPLEMENTATION selects an installed middleware implementation, for example rmw_fastrtps_cpp or rmw_cyclonedds_cpp. Configure matching discovery/domain settings in each terminal and compatible QoS on endpoints. DDS vendor profiles can tune transports and discovery when needed; profile syntax is vendor-specific. Do not imply that every ROS 2 deployment must use DDS. DDS handles network discovery/data exchange; the executor schedules application callbacks.</a:t>
            </a:r>
          </a:p>
          <a:p>
            <a:r>
              <a:t>Reference: https://github.com/ros2/ros2_documentation/blob/jazzy/source/How-To-Guides/Working-with-multiple-RMW-implementations.rst</a:t>
            </a:r>
          </a:p>
        </p:txBody>
      </p:sp>
      <p:sp>
        <p:nvSpPr>
          <p:cNvPr id="4" name="Slide Number Placeholder 3"/>
          <p:cNvSpPr>
            <a:spLocks noGrp="1"/>
          </p:cNvSpPr>
          <p:nvPr>
            <p:ph type="sldNum" sz="quarter" idx="5"/>
          </p:nvPr>
        </p:nvSpPr>
        <p:spPr/>
        <p:txBody>
          <a:bodyPr/>
          <a:lstStyle/>
          <a:p>
            <a:fld id="{D81C3F8C-A7E5-4ACB-A3E7-CBE3A8A8D559}" type="slidenum">
              <a:rPr lang="en-IL" smtClean="0"/>
              <a:t>9</a:t>
            </a:fld>
            <a:endParaRPr lang="en-IL"/>
          </a:p>
        </p:txBody>
      </p:sp>
    </p:spTree>
    <p:extLst>
      <p:ext uri="{BB962C8B-B14F-4D97-AF65-F5344CB8AC3E}">
        <p14:creationId xmlns:p14="http://schemas.microsoft.com/office/powerpoint/2010/main" val="582876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12 — QoS shapes delivery</a:t>
            </a:r>
          </a:p>
          <a:p>
            <a:r>
              <a:t>Timing: 2 minutes.</a:t>
            </a:r>
          </a:p>
          <a:p/>
          <a:p>
            <a:r>
              <a:t>Purpose: Explain why delivery behavior is configurable.</a:t>
            </a:r>
          </a:p>
          <a:p/>
          <a:p>
            <a:r>
              <a:t>| Policy | Meaning | Demo setting |</a:t>
            </a:r>
          </a:p>
          <a:p>
            <a:r>
              <a:t>| --- | --- | --- |</a:t>
            </a:r>
          </a:p>
          <a:p>
            <a:r>
              <a:t>| Reliability | Best effort may lose samples; reliable delivery retries as needed | Reliable |</a:t>
            </a:r>
          </a:p>
          <a:p>
            <a:r>
              <a:t>| Durability | Volatile serves current readers; transient local can retain samples for late joiners | Volatile |</a:t>
            </a:r>
          </a:p>
          <a:p>
            <a:r>
              <a:t>| History/depth | KEEP_LAST retains up to a configured sample count per endpoint history | KEEP_LAST, depth 10 |</a:t>
            </a:r>
          </a:p>
          <a:p/>
          <a:p>
            <a:r>
              <a:t>- Passing 10 to the rclpy constructors sets depth with other policies at their</a:t>
            </a:r>
          </a:p>
          <a:p>
            <a:r>
              <a:t>  defaults. create_timer(1.0, ...) sets a one-second interval.</a:t>
            </a:r>
          </a:p>
          <a:p>
            <a:r>
              <a:t>- Restarting the subscriber gives new greetings after matching, not replay of all</a:t>
            </a:r>
          </a:p>
          <a:p>
            <a:r>
              <a:t>  missed greetings. Depth 10 does not change volatile durability.</a:t>
            </a:r>
          </a:p>
          <a:p>
            <a:r>
              <a:t>- QoS must be compatible: a best-effort publisher cannot satisfy a reader requesting reliable delivery.</a:t>
            </a:r>
          </a:p>
          <a:p/>
          <a:p>
            <a:r>
              <a:t>Visual: Bounded history beside a timeline marking subscriber stop/restart.</a:t>
            </a:r>
          </a:p>
          <a:p/>
          <a:p>
            <a:r>
              <a:t>Speaker guidance: Distinguish history, late joining, and reliability. Reliable</a:t>
            </a:r>
          </a:p>
          <a:p>
            <a:r>
              <a:t>transport does not guarantee callback processing by a deadline.</a:t>
            </a:r>
          </a:p>
          <a:p/>
          <a:p>
            <a:r>
              <a:t>Demo connection: Inspect QoS with ros2 topic info /chatter --verbose.</a:t>
            </a:r>
          </a:p>
          <a:p/>
          <a:p>
            <a:r>
              <a:t>References: QoS policies: https://github.com/ros2/ros2_documentation/blob/jazzy/source/Concepts/Intermediate/About-Quality-of-Service-Settings.rst,</a:t>
            </a:r>
          </a:p>
          <a:p>
            <a:r>
              <a:t>rclpy endpoint depth handling: https://github.com/ros2/rclpy/blob/jazzy/rclpy/rclpy/node.py.</a:t>
            </a:r>
          </a:p>
          <a:p/>
          <a:p>
            <a:r>
              <a:t>ADDITIONAL POLICIES: Deadline describes the expected interval between messages; lifespan limits how long a sample remains valid; liveliness helps detect whether publishers are still alive. Mention that these exist without expanding the three-policy overview. Official Jazzy reference: https://github.com/ros2/ros2_documentation/blob/jazzy/source/Concepts/Intermediate/About-Quality-of-Service-Settings.rst</a:t>
            </a:r>
          </a:p>
        </p:txBody>
      </p:sp>
      <p:sp>
        <p:nvSpPr>
          <p:cNvPr id="4" name="Slide Number Placeholder 3"/>
          <p:cNvSpPr>
            <a:spLocks noGrp="1"/>
          </p:cNvSpPr>
          <p:nvPr>
            <p:ph type="sldNum" sz="quarter" idx="5"/>
          </p:nvPr>
        </p:nvSpPr>
        <p:spPr/>
        <p:txBody>
          <a:bodyPr/>
          <a:lstStyle/>
          <a:p>
            <a:fld id="{D81C3F8C-A7E5-4ACB-A3E7-CBE3A8A8D559}" type="slidenum">
              <a:rPr lang="en-IL" smtClean="0"/>
              <a:t>10</a:t>
            </a:fld>
            <a:endParaRPr lang="en-IL"/>
          </a:p>
        </p:txBody>
      </p:sp>
    </p:spTree>
    <p:extLst>
      <p:ext uri="{BB962C8B-B14F-4D97-AF65-F5344CB8AC3E}">
        <p14:creationId xmlns:p14="http://schemas.microsoft.com/office/powerpoint/2010/main" val="3048274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13 — Lifecycle of a node</a:t>
            </a:r>
          </a:p>
          <a:p>
            <a:r>
              <a:t>Timing: 3 minutes.</a:t>
            </a:r>
          </a:p>
          <a:p/>
          <a:p>
            <a:r>
              <a:t>Purpose: Explain the lifecycle of the ordinary Node used in this demo.</a:t>
            </a:r>
          </a:p>
          <a:p/>
          <a:p>
            <a:r>
              <a:t>rclpy.init() → construct node/endpoints/timer → rclpy.spin(node)</a:t>
            </a:r>
          </a:p>
          <a:p>
            <a:r>
              <a:t>The executor waits for ready work and runs timer/subscription callbacks.</a:t>
            </a:r>
          </a:p>
          <a:p>
            <a:r>
              <a:t>Ctrl+C ends spinning; finally destroys the node and shuts down the context.</a:t>
            </a:r>
          </a:p>
          <a:p>
            <a:r>
              <a:t>DDS delivers data; the executor runs your callbacks.</a:t>
            </a:r>
          </a:p>
          <a:p>
            <a:r>
              <a:t>These are application startup/runtime/cleanup steps, rather than managed lifecycle states. The optional managed lifecycle diagram is backup slide 19.</a:t>
            </a:r>
          </a:p>
          <a:p/>
          <a:p>
            <a:r>
              <a:t>Retained ordinary-node teaching notes:</a:t>
            </a:r>
          </a:p>
          <a:p>
            <a:r>
              <a:t>Timing: 3 minutes.</a:t>
            </a:r>
          </a:p>
          <a:p/>
          <a:p>
            <a:r>
              <a:t>Purpose: Connect ROS concepts to execution and lifecycle management.</a:t>
            </a:r>
          </a:p>
          <a:p/>
          <a:p>
            <a:r>
              <a:t>text</a:t>
            </a:r>
          </a:p>
          <a:p>
            <a:r>
              <a:t>rclpy.init() → construct node/endpoints/timer → rclpy.spin(node)</a:t>
            </a:r>
          </a:p>
          <a:p>
            <a:r>
              <a:t>                                                   ↓</a:t>
            </a:r>
          </a:p>
          <a:p>
            <a:r>
              <a:t>                               Ctrl+C / context shutdown</a:t>
            </a:r>
          </a:p>
          <a:p>
            <a:r>
              <a:t>                                                   ↓</a:t>
            </a:r>
          </a:p>
          <a:p>
            <a:r>
              <a:t>                             destroy_node() → try_shutdown()</a:t>
            </a:r>
          </a:p>
          <a:p/>
          <a:p/>
          <a:p>
            <a:r>
              <a:t>- An executor waits for ready work and runs callbacks. These scripts use the</a:t>
            </a:r>
          </a:p>
          <a:p>
            <a:r>
              <a:t>  default single-threaded executor through rclpy.spin(node).</a:t>
            </a:r>
          </a:p>
          <a:p>
            <a:r>
              <a:t>- Publisher: timer ready → publish_greeting → construct/fill String → publish.</a:t>
            </a:r>
          </a:p>
          <a:p>
            <a:r>
              <a:t>  Subscriber: data available → executor takes message → receive_greeting → log.</a:t>
            </a:r>
          </a:p>
          <a:p>
            <a:r>
              <a:t>- The timer sets an intended period, not a hard deadline. A long callback delays</a:t>
            </a:r>
          </a:p>
          <a:p>
            <a:r>
              <a:t>  other work on that single-threaded executor. Middleware receipt and callback</a:t>
            </a:r>
          </a:p>
          <a:p>
            <a:r>
              <a:t>  execution are separate stages.</a:t>
            </a:r>
          </a:p>
          <a:p>
            <a:r>
              <a:t>- The scripts catch keyboard/external shutdown and clean up in finally, releasing</a:t>
            </a:r>
          </a:p>
          <a:p>
            <a:r>
              <a:t>  node resources and shutting down the context if needed.</a:t>
            </a:r>
          </a:p>
          <a:p/>
        </p:txBody>
      </p:sp>
      <p:sp>
        <p:nvSpPr>
          <p:cNvPr id="4" name="Slide Number Placeholder 3"/>
          <p:cNvSpPr>
            <a:spLocks noGrp="1"/>
          </p:cNvSpPr>
          <p:nvPr>
            <p:ph type="sldNum" sz="quarter" idx="5"/>
          </p:nvPr>
        </p:nvSpPr>
        <p:spPr/>
        <p:txBody>
          <a:bodyPr/>
          <a:lstStyle/>
          <a:p>
            <a:fld id="{D81C3F8C-A7E5-4ACB-A3E7-CBE3A8A8D559}" type="slidenum">
              <a:rPr lang="en-IL" smtClean="0"/>
              <a:t>11</a:t>
            </a:fld>
            <a:endParaRPr lang="en-IL"/>
          </a:p>
        </p:txBody>
      </p:sp>
    </p:spTree>
    <p:extLst>
      <p:ext uri="{BB962C8B-B14F-4D97-AF65-F5344CB8AC3E}">
        <p14:creationId xmlns:p14="http://schemas.microsoft.com/office/powerpoint/2010/main" val="3133786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14 — Inspect before debugging</a:t>
            </a:r>
          </a:p>
          <a:p>
            <a:r>
              <a:t>Timing: 2 minutes.</a:t>
            </a:r>
          </a:p>
          <a:p/>
          <a:p>
            <a:r>
              <a:t>Purpose: Give students a practical starting point for inspecting ROS.</a:t>
            </a:r>
          </a:p>
          <a:p/>
          <a:p>
            <a:r>
              <a:t>| Command | What to look for |</a:t>
            </a:r>
          </a:p>
          <a:p>
            <a:r>
              <a:t>| --- | --- |</a:t>
            </a:r>
          </a:p>
          <a:p>
            <a:r>
              <a:t>| ros2 node list | The two node names |</a:t>
            </a:r>
          </a:p>
          <a:p>
            <a:r>
              <a:t>| ros2 topic list | /chatter and infrastructure topics |</a:t>
            </a:r>
          </a:p>
          <a:p>
            <a:r>
              <a:t>| ros2 topic info /chatter --verbose | Type, endpoint counts, and QoS |</a:t>
            </a:r>
          </a:p>
          <a:p>
            <a:r>
              <a:t>| ros2 interface show std_msgs/msg/String | string data |</a:t>
            </a:r>
          </a:p>
          <a:p>
            <a:r>
              <a:t>| ros2 topic echo /chatter | Live data; echo adds another subscription |</a:t>
            </a:r>
          </a:p>
          <a:p/>
          <a:p>
            <a:r>
              <a:t>- A package groups code/resources and declares dependencies. A workspace</a:t>
            </a:r>
          </a:p>
          <a:p>
            <a:r>
              <a:t>  groups packages for building; ROS 2 commonly uses ament and colcon.</a:t>
            </a:r>
          </a:p>
          <a:p>
            <a:r>
              <a:t>- Sourcing a setup script makes an installation available in that shell; a built</a:t>
            </a:r>
          </a:p>
          <a:p>
            <a:r>
              <a:t>  workspace can overlay that installation.</a:t>
            </a:r>
          </a:p>
          <a:p>
            <a:r>
              <a:t>- This demo uses installed rclpy and std_msgs. Run directly without creating or</a:t>
            </a:r>
          </a:p>
          <a:p>
            <a:r>
              <a:t>  building a package; source Jazzy in every terminal.</a:t>
            </a:r>
          </a:p>
          <a:p/>
          <a:p>
            <a:r>
              <a:t>Visual: Three terminal panes plus the publisher/topic/subscriber diagram.</a:t>
            </a:r>
          </a:p>
          <a:p/>
          <a:p>
            <a:r>
              <a:t>Speaker guidance: Ask students to find the names, type, depth, and interval in</a:t>
            </a:r>
          </a:p>
          <a:p>
            <a:r>
              <a:t>code before running it. Predict what an extra subscriber changes.</a:t>
            </a:r>
          </a:p>
          <a:p/>
          <a:p>
            <a:r>
              <a:t>Demo connection: Open both scripts, then use the prepared terminals to connect</a:t>
            </a:r>
          </a:p>
          <a:p>
            <a:r>
              <a:t>each inspection command to the running greeting graph.</a:t>
            </a:r>
          </a:p>
          <a:p/>
          <a:p>
            <a:r>
              <a:t>References: Topic tutorial: https://github.com/ros2/ros2_documentation/blob/jazzy/source/Tutorials/Beginner-CLI-Tools/Understanding-ROS2-Topics/Understanding-ROS2-Topics.rst,</a:t>
            </a:r>
          </a:p>
          <a:p>
            <a:r>
              <a:t>workspace tutorial: https://github.com/ros2/ros2_documentation/blob/jazzy/source/Tutorials/Beginner-Client-Libraries/Creating-A-Workspace/Creating-A-Workspace.rst,</a:t>
            </a:r>
          </a:p>
          <a:p>
            <a:r>
              <a:t>verbose topic-info implementation: https://github.com/ros2/ros2cli/blob/jazzy/ros2topic/ros2topic/verb/info.py.</a:t>
            </a:r>
          </a:p>
        </p:txBody>
      </p:sp>
      <p:sp>
        <p:nvSpPr>
          <p:cNvPr id="4" name="Slide Number Placeholder 3"/>
          <p:cNvSpPr>
            <a:spLocks noGrp="1"/>
          </p:cNvSpPr>
          <p:nvPr>
            <p:ph type="sldNum" sz="quarter" idx="5"/>
          </p:nvPr>
        </p:nvSpPr>
        <p:spPr/>
        <p:txBody>
          <a:bodyPr/>
          <a:lstStyle/>
          <a:p>
            <a:fld id="{D81C3F8C-A7E5-4ACB-A3E7-CBE3A8A8D559}" type="slidenum">
              <a:rPr lang="en-IL" smtClean="0"/>
              <a:t>12</a:t>
            </a:fld>
            <a:endParaRPr lang="en-IL"/>
          </a:p>
        </p:txBody>
      </p:sp>
    </p:spTree>
    <p:extLst>
      <p:ext uri="{BB962C8B-B14F-4D97-AF65-F5344CB8AC3E}">
        <p14:creationId xmlns:p14="http://schemas.microsoft.com/office/powerpoint/2010/main" val="2502713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15 — Demo time</a:t>
            </a:r>
          </a:p>
          <a:p>
            <a:r>
              <a:t>Timing: 20 minutes.</a:t>
            </a:r>
          </a:p>
          <a:p/>
          <a:p>
            <a:r>
              <a:t>Demo block: code 7; run/inspect 6; experiments 4; recap 3.</a:t>
            </a:r>
          </a:p>
          <a:p/>
          <a:p>
            <a:r>
              <a:t>Follow the demo instructions: demo/README.md; keep the greeting graph visible.</a:t>
            </a:r>
          </a:p>
          <a:p/>
          <a:p>
            <a:r>
              <a:t>- 7 minutes — code: Imports/inheritance, node names, matching topic/type, depth,</a:t>
            </a:r>
          </a:p>
          <a:p>
            <a:r>
              <a:t>  timer, message construction/publication, subscriber callback/logging, init,</a:t>
            </a:r>
          </a:p>
          <a:p>
            <a:r>
              <a:t>  executor spin, and cleanup. Read both scripts before running them.</a:t>
            </a:r>
          </a:p>
          <a:p>
            <a:r>
              <a:t>- 6 minutes — run and inspect: Start nodes; identify names, type, endpoint counts,</a:t>
            </a:r>
          </a:p>
          <a:p>
            <a:r>
              <a:t>  QoS, field definition, and data. Explain echo's subscription; stop it before</a:t>
            </a:r>
          </a:p>
          <a:p>
            <a:r>
              <a:t>  interpreting endpoint counts again.</a:t>
            </a:r>
          </a:p>
          <a:p>
            <a:r>
              <a:t>- 4 minutes — experiments: Predict, then stop/restart the subscriber (publisher</a:t>
            </a:r>
          </a:p>
          <a:p>
            <a:r>
              <a:t>  continues; no replay) and publisher (reception stops; counter resets). The subscriber</a:t>
            </a:r>
          </a:p>
          <a:p>
            <a:r>
              <a:t>  may miss early restarted messages while discovery completes.</a:t>
            </a:r>
          </a:p>
          <a:p>
            <a:r>
              <a:t>- 3 minutes — recap: Identify components; choose topic/service/action; distinguish</a:t>
            </a:r>
          </a:p>
          <a:p>
            <a:r>
              <a:t>  10 from 1.0; explain DDS versus executor roles and ordinary versus managed nodes.</a:t>
            </a:r>
          </a:p>
          <a:p/>
          <a:p>
            <a:r>
              <a:t>CODE: Identify imports, class/base class, super().__init__ names, String and /chatter, queue depth, count initialization, create_timer, publish_greeting, receive_greeting, rclpy.init, spin, and finally cleanup. Read actual publisher.py and subscriber.py outside the deck.</a:t>
            </a:r>
          </a:p>
          <a:p>
            <a:r>
              <a:t>RUN: Use three terminals sourced with /opt/ros/jazzy/setup.bash, ROS_DOMAIN_ID=42, and ROS_AUTOMATIC_DISCOVERY_RANGE=LOCALHOST. Run both scripts and inspect before echo. Echo adds a reader; stop it before rechecking counts.</a:t>
            </a:r>
          </a:p>
          <a:p>
            <a:r>
              <a:t>PREDICTIONS: Subscriber stops: publisher continues. Subscriber restarts: new messages, no replay, possible discovery delay. Publisher restarts: publisher counter resets to zero; reader may first see a later number.</a:t>
            </a:r>
          </a:p>
          <a:p>
            <a:r>
              <a:t>RECAP: Ask which patterns fit sensor data, reset, and navigation; identify DDS versus executor responsibilities; distinguish 10 from 1.0 and ordinary runtime from managed lifecycle. Stop scripts with Ctrl+C.</a:t>
            </a:r>
          </a:p>
        </p:txBody>
      </p:sp>
      <p:sp>
        <p:nvSpPr>
          <p:cNvPr id="4" name="Slide Number Placeholder 3"/>
          <p:cNvSpPr>
            <a:spLocks noGrp="1"/>
          </p:cNvSpPr>
          <p:nvPr>
            <p:ph type="sldNum" sz="quarter" idx="5"/>
          </p:nvPr>
        </p:nvSpPr>
        <p:spPr/>
        <p:txBody>
          <a:bodyPr/>
          <a:lstStyle/>
          <a:p>
            <a:fld id="{D81C3F8C-A7E5-4ACB-A3E7-CBE3A8A8D559}" type="slidenum">
              <a:rPr lang="en-IL" smtClean="0"/>
              <a:t>13</a:t>
            </a:fld>
            <a:endParaRPr lang="en-IL"/>
          </a:p>
        </p:txBody>
      </p:sp>
    </p:spTree>
    <p:extLst>
      <p:ext uri="{BB962C8B-B14F-4D97-AF65-F5344CB8AC3E}">
        <p14:creationId xmlns:p14="http://schemas.microsoft.com/office/powerpoint/2010/main" val="1908938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16 — DDS discovery and RTPS</a:t>
            </a:r>
          </a:p>
          <a:p>
            <a:r>
              <a:t>Optional backup — hidden during normal slideshow playback.</a:t>
            </a:r>
          </a:p>
          <a:p/>
          <a:p>
            <a:r>
              <a:t>Optional backup — outside the timed core.</a:t>
            </a:r>
          </a:p>
          <a:p/>
          <a:p>
            <a:r>
              <a:t>Expand participant discovery followed by endpoint discovery (SPDP/SEDP in standard</a:t>
            </a:r>
          </a:p>
          <a:p>
            <a:r>
              <a:t>RTPS discovery). Explain sequence numbers, heartbeats, acknowledgments/negative</a:t>
            </a:r>
          </a:p>
          <a:p>
            <a:r>
              <a:t>acknowledgments, and retransmission for reliability; reliable DDS does not imply TCP.</a:t>
            </a:r>
          </a:p>
          <a:p>
            <a:r>
              <a:t>UDP multicast is commonly used for discovery, but discovery servers and transport</a:t>
            </a:r>
          </a:p>
          <a:p>
            <a:r>
              <a:t>configurations vary. Local delivery can use implementation-specific optimizations.</a:t>
            </a:r>
          </a:p>
          <a:p/>
          <a:p>
            <a:r>
              <a:t>Visual: Discovery sequence beside a missing-sample/retransmission sequence.</a:t>
            </a:r>
          </a:p>
          <a:p>
            <a:r>
              <a:t>Reference: Fast DDS discovery: https://fast-dds.docs.eprosima.com/en/stable/fastdds/discovery/discovery.html</a:t>
            </a:r>
          </a:p>
          <a:p>
            <a:r>
              <a:t>and RTPS writer behavior: https://fast-dds.docs.eprosima.com/en/stable/fastdds/rtps_layer/rtps_layer.html.</a:t>
            </a:r>
          </a:p>
        </p:txBody>
      </p:sp>
      <p:sp>
        <p:nvSpPr>
          <p:cNvPr id="4" name="Slide Number Placeholder 3"/>
          <p:cNvSpPr>
            <a:spLocks noGrp="1"/>
          </p:cNvSpPr>
          <p:nvPr>
            <p:ph type="sldNum" sz="quarter" idx="5"/>
          </p:nvPr>
        </p:nvSpPr>
        <p:spPr/>
        <p:txBody>
          <a:bodyPr/>
          <a:lstStyle/>
          <a:p>
            <a:fld id="{D81C3F8C-A7E5-4ACB-A3E7-CBE3A8A8D559}" type="slidenum">
              <a:rPr lang="en-IL" smtClean="0"/>
              <a:t>14</a:t>
            </a:fld>
            <a:endParaRPr lang="en-IL"/>
          </a:p>
        </p:txBody>
      </p:sp>
    </p:spTree>
    <p:extLst>
      <p:ext uri="{BB962C8B-B14F-4D97-AF65-F5344CB8AC3E}">
        <p14:creationId xmlns:p14="http://schemas.microsoft.com/office/powerpoint/2010/main" val="3810624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17 — QoS compatibility</a:t>
            </a:r>
          </a:p>
          <a:p>
            <a:r>
              <a:t>Optional backup — hidden during normal slideshow playback.</a:t>
            </a:r>
          </a:p>
          <a:p/>
          <a:p>
            <a:r>
              <a:t>Optional backup — outside the timed core.</a:t>
            </a:r>
          </a:p>
          <a:p/>
          <a:p>
            <a:r>
              <a:t>| Publisher offers | Subscriber requests | Reliability compatible? |</a:t>
            </a:r>
          </a:p>
          <a:p>
            <a:r>
              <a:t>| --- | --- | --- |</a:t>
            </a:r>
          </a:p>
          <a:p>
            <a:r>
              <a:t>| Best effort | Best effort | Yes |</a:t>
            </a:r>
          </a:p>
          <a:p>
            <a:r>
              <a:t>| Best effort | Reliable | No |</a:t>
            </a:r>
          </a:p>
          <a:p>
            <a:r>
              <a:t>| Reliable | Best effort | Yes |</a:t>
            </a:r>
          </a:p>
          <a:p>
            <a:r>
              <a:t>| Reliable | Reliable | Yes |</a:t>
            </a:r>
          </a:p>
          <a:p/>
          <a:p>
            <a:r>
              <a:t>Assume other policies are compatible. Transient-local retention needs a live writer</a:t>
            </a:r>
          </a:p>
          <a:p>
            <a:r>
              <a:t>and compatible late-joining reader; it is not an indefinite archive. Deadline and</a:t>
            </a:r>
          </a:p>
          <a:p>
            <a:r>
              <a:t>liveliness policies expose timing/availability expectations and events, not hard</a:t>
            </a:r>
          </a:p>
          <a:p>
            <a:r>
              <a:t>callback timing guarantees.</a:t>
            </a:r>
          </a:p>
          <a:p/>
          <a:p>
            <a:r>
              <a:t>Visual: Compatibility table and retained-data timeline.</a:t>
            </a:r>
          </a:p>
          <a:p>
            <a:r>
              <a:t>Reference: QoS documentation: https://github.com/ros2/ros2_documentation/blob/jazzy/source/Concepts/Intermediate/About-Quality-of-Service-Settings.rst.</a:t>
            </a:r>
          </a:p>
        </p:txBody>
      </p:sp>
      <p:sp>
        <p:nvSpPr>
          <p:cNvPr id="4" name="Slide Number Placeholder 3"/>
          <p:cNvSpPr>
            <a:spLocks noGrp="1"/>
          </p:cNvSpPr>
          <p:nvPr>
            <p:ph type="sldNum" sz="quarter" idx="5"/>
          </p:nvPr>
        </p:nvSpPr>
        <p:spPr/>
        <p:txBody>
          <a:bodyPr/>
          <a:lstStyle/>
          <a:p>
            <a:fld id="{D81C3F8C-A7E5-4ACB-A3E7-CBE3A8A8D559}" type="slidenum">
              <a:rPr lang="en-IL" smtClean="0"/>
              <a:t>15</a:t>
            </a:fld>
            <a:endParaRPr lang="en-IL"/>
          </a:p>
        </p:txBody>
      </p:sp>
    </p:spTree>
    <p:extLst>
      <p:ext uri="{BB962C8B-B14F-4D97-AF65-F5344CB8AC3E}">
        <p14:creationId xmlns:p14="http://schemas.microsoft.com/office/powerpoint/2010/main" val="553656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18 — Executors and concurrency</a:t>
            </a:r>
          </a:p>
          <a:p>
            <a:r>
              <a:t>Optional backup — hidden during normal slideshow playback.</a:t>
            </a:r>
          </a:p>
          <a:p/>
          <a:p>
            <a:r>
              <a:t>Optional backup — outside the timed core.</a:t>
            </a:r>
          </a:p>
          <a:p/>
          <a:p>
            <a:r>
              <a:t>Compare one execution thread with a multithreaded worker pool. Callback groups control</a:t>
            </a:r>
          </a:p>
          <a:p>
            <a:r>
              <a:t>which callbacks may overlap; additional threads alone do not make callbacks in the</a:t>
            </a:r>
          </a:p>
          <a:p>
            <a:r>
              <a:t>default mutually exclusive group concurrent. Discuss slow callbacks and blocking</a:t>
            </a:r>
          </a:p>
          <a:p>
            <a:r>
              <a:t>service calls as sources of delay/deadlock; favor short callbacks and asynchronous interactions.</a:t>
            </a:r>
          </a:p>
          <a:p/>
          <a:p>
            <a:r>
              <a:t>Visual: Single-worker versus multiple-worker callback timelines.</a:t>
            </a:r>
          </a:p>
          <a:p>
            <a:r>
              <a:t>Reference: Callback-group guide: https://github.com/ros2/ros2_documentation/blob/jazzy/source/How-To-Guides/Using-callback-groups.rst.</a:t>
            </a:r>
          </a:p>
        </p:txBody>
      </p:sp>
      <p:sp>
        <p:nvSpPr>
          <p:cNvPr id="4" name="Slide Number Placeholder 3"/>
          <p:cNvSpPr>
            <a:spLocks noGrp="1"/>
          </p:cNvSpPr>
          <p:nvPr>
            <p:ph type="sldNum" sz="quarter" idx="5"/>
          </p:nvPr>
        </p:nvSpPr>
        <p:spPr/>
        <p:txBody>
          <a:bodyPr/>
          <a:lstStyle/>
          <a:p>
            <a:fld id="{D81C3F8C-A7E5-4ACB-A3E7-CBE3A8A8D559}" type="slidenum">
              <a:rPr lang="en-IL" smtClean="0"/>
              <a:t>16</a:t>
            </a:fld>
            <a:endParaRPr lang="en-IL"/>
          </a:p>
        </p:txBody>
      </p:sp>
    </p:spTree>
    <p:extLst>
      <p:ext uri="{BB962C8B-B14F-4D97-AF65-F5344CB8AC3E}">
        <p14:creationId xmlns:p14="http://schemas.microsoft.com/office/powerpoint/2010/main" val="10898248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19 — Managed lifecycle transitions</a:t>
            </a:r>
          </a:p>
          <a:p>
            <a:r>
              <a:t>Optional backup — hidden during normal slideshow playback.</a:t>
            </a:r>
          </a:p>
          <a:p/>
          <a:p>
            <a:r>
              <a:t>Optional backup — outside the timed core.</a:t>
            </a:r>
          </a:p>
          <a:p/>
          <a:p>
            <a:r>
              <a:t>Expand the diagram with Configuring, Activating, Deactivating, CleaningUp, ShuttingDown,</a:t>
            </a:r>
          </a:p>
          <a:p>
            <a:r>
              <a:t>and ErrorProcessing. Lifecycle callbacks report success/failure/error; resulting</a:t>
            </a:r>
          </a:p>
          <a:p>
            <a:r>
              <a:t>states depend on the transition and error handling. Supervisors inspect states and</a:t>
            </a:r>
          </a:p>
          <a:p>
            <a:r>
              <a:t>request transitions. Lifecycle publishers gate managed publication when inactive;</a:t>
            </a:r>
          </a:p>
          <a:p>
            <a:r>
              <a:t>application code must still implement suitable behavior for other callbacks/resources.</a:t>
            </a:r>
          </a:p>
          <a:p>
            <a:r>
              <a:t>Use a sensor-startup example separate from the ordinary-node demo.</a:t>
            </a:r>
          </a:p>
          <a:p/>
          <a:p>
            <a:r>
              <a:t>Visual: Full state machine with success, failure, and error paths distinguished.</a:t>
            </a:r>
          </a:p>
          <a:p>
            <a:r>
              <a:t>Reference: Managed-node design: https://design.ros2.org/articles/node_lifecycle.html.</a:t>
            </a:r>
          </a:p>
          <a:p/>
          <a:p>
            <a:r>
              <a:t>Diagram shows the normal path and reversals. Shutdown is possible from primary operational states. Transition callbacks can return success, failure, or error; failure normally returns to the previous primary state, while error handling uses ErrorProcessing with transition-specific results. Finalized retains the node for introspection until destruction. Managed lifecycle requires appropriate application behavior; arbitrary subscribers/services are not automatically disabled.</a:t>
            </a:r>
          </a:p>
        </p:txBody>
      </p:sp>
      <p:sp>
        <p:nvSpPr>
          <p:cNvPr id="4" name="Slide Number Placeholder 3"/>
          <p:cNvSpPr>
            <a:spLocks noGrp="1"/>
          </p:cNvSpPr>
          <p:nvPr>
            <p:ph type="sldNum" sz="quarter" idx="5"/>
          </p:nvPr>
        </p:nvSpPr>
        <p:spPr/>
        <p:txBody>
          <a:bodyPr/>
          <a:lstStyle/>
          <a:p>
            <a:fld id="{D81C3F8C-A7E5-4ACB-A3E7-CBE3A8A8D559}" type="slidenum">
              <a:rPr lang="en-IL" smtClean="0"/>
              <a:t>17</a:t>
            </a:fld>
            <a:endParaRPr lang="en-IL"/>
          </a:p>
        </p:txBody>
      </p:sp>
    </p:spTree>
    <p:extLst>
      <p:ext uri="{BB962C8B-B14F-4D97-AF65-F5344CB8AC3E}">
        <p14:creationId xmlns:p14="http://schemas.microsoft.com/office/powerpoint/2010/main" val="2764149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slide 20 — Migrating from ROS 1</a:t>
            </a:r>
          </a:p>
          <a:p>
            <a:r>
              <a:t>Optional backup — hidden during normal slideshow playback.</a:t>
            </a:r>
          </a:p>
          <a:p/>
          <a:p>
            <a:r>
              <a:t>Optional backup — outside the timed core.</a:t>
            </a:r>
          </a:p>
          <a:p/>
          <a:p>
            <a:r>
              <a:t>Port APIs, package/build configuration, parameters, launch files, and delivery policies;</a:t>
            </a:r>
          </a:p>
          <a:p>
            <a:r>
              <a:t>rospy code does not run unchanged as rclpy. A ROS 1/ROS 2 bridge can connect supported</a:t>
            </a:r>
          </a:p>
          <a:p>
            <a:r>
              <a:t>topic/service interfaces when built with required types. Check distribution/OS support</a:t>
            </a:r>
          </a:p>
          <a:p>
            <a:r>
              <a:t>before planning a mixed deployment. The course demo needs no bridge.</a:t>
            </a:r>
          </a:p>
          <a:p/>
          <a:p>
            <a:r>
              <a:t>Visual: ROS 1 graph → interface bridge → ROS 2 graph.</a:t>
            </a:r>
          </a:p>
          <a:p>
            <a:r>
              <a:t>Reference: Official ROS 1 bridge documentation: https://github.com/ros2/ros1_bridge.</a:t>
            </a:r>
          </a:p>
        </p:txBody>
      </p:sp>
      <p:sp>
        <p:nvSpPr>
          <p:cNvPr id="4" name="Slide Number Placeholder 3"/>
          <p:cNvSpPr>
            <a:spLocks noGrp="1"/>
          </p:cNvSpPr>
          <p:nvPr>
            <p:ph type="sldNum" sz="quarter" idx="5"/>
          </p:nvPr>
        </p:nvSpPr>
        <p:spPr/>
        <p:txBody>
          <a:bodyPr/>
          <a:lstStyle/>
          <a:p>
            <a:fld id="{D81C3F8C-A7E5-4ACB-A3E7-CBE3A8A8D559}" type="slidenum">
              <a:rPr lang="en-IL" smtClean="0"/>
              <a:t>18</a:t>
            </a:fld>
            <a:endParaRPr lang="en-IL"/>
          </a:p>
        </p:txBody>
      </p:sp>
    </p:spTree>
    <p:extLst>
      <p:ext uri="{BB962C8B-B14F-4D97-AF65-F5344CB8AC3E}">
        <p14:creationId xmlns:p14="http://schemas.microsoft.com/office/powerpoint/2010/main" val="1885339833"/>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2 — About me</a:t>
            </a:r>
          </a:p>
          <a:p>
            <a:r>
              <a:t>Timing: 1 minutes.</a:t>
            </a:r>
          </a:p>
          <a:p/>
          <a:p>
            <a:r>
              <a:t>Introduce yourself as Gilad Lifshitz, a master’s student under Ronen. Describe your experience working with robots and drones during army service. Do not add an unconfirmed surname, degree specialization, or military role.</a:t>
            </a:r>
          </a:p>
          <a:p/>
          <a:p>
            <a:r>
              <a:t>This is the first time we’re running this course, and all the tutorials are new. I’d love your feedback—what works well and what needs improvement. Invite both positive and critical feedback throughout the semester.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3 — ROS basics</a:t>
            </a:r>
          </a:p>
          <a:p>
            <a:r>
              <a:t>Timing: 0.5 minutes.</a:t>
            </a:r>
          </a:p>
          <a:p/>
          <a:p>
            <a:r>
              <a:t>Today we will learn what ROS provides at a high level, watch a live publisher/subscriber demonstration, and read the Python code that makes it work. The demonstration and code walkthrough share the dedicated Demo time block. Assume Python familiarity and little networking knowledge.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78DA0-440A-841B-AC2E-2BF21BA6B1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24F247D3-7798-A699-2890-166F05F60A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DEA6811-9711-EE44-ADDF-83FE1018937E}"/>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5" name="Footer Placeholder 4">
            <a:extLst>
              <a:ext uri="{FF2B5EF4-FFF2-40B4-BE49-F238E27FC236}">
                <a16:creationId xmlns:a16="http://schemas.microsoft.com/office/drawing/2014/main" id="{592290A5-8F32-7936-BA23-27D3907F713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E15AE7E-ABD4-2BAB-4FEB-B438C5A2910E}"/>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2605403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565BB-5376-5D97-1E0E-04EDFAAC9A87}"/>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9B9F44F-9E28-EF4C-758D-FF3C2F4BCD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2322248-D33E-B03F-BEFC-D33E3157CCF1}"/>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5" name="Footer Placeholder 4">
            <a:extLst>
              <a:ext uri="{FF2B5EF4-FFF2-40B4-BE49-F238E27FC236}">
                <a16:creationId xmlns:a16="http://schemas.microsoft.com/office/drawing/2014/main" id="{95B0878C-EE4D-CE2C-B585-7A6BB3EDFCD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73C67A0-8C28-6020-0EB7-E8DAB161A580}"/>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536291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CF6B-F498-9F09-5FEF-341D6FF7F7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4BC4FAD1-049C-1D5B-4996-EAEBB5C5A4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933D4D-B8A6-83F5-2F58-AA49AD526969}"/>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5" name="Footer Placeholder 4">
            <a:extLst>
              <a:ext uri="{FF2B5EF4-FFF2-40B4-BE49-F238E27FC236}">
                <a16:creationId xmlns:a16="http://schemas.microsoft.com/office/drawing/2014/main" id="{6A75F3A6-DCB6-EC40-5604-BDFBE3AF5A7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1EE075E-83B2-1F9C-DFBF-63A88A246FA7}"/>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2906713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92BAD-3672-D1A5-AFFD-E0BA0A1125C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3F9CF59-4FB9-EFF3-6307-32BEBA515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CD69B2A9-E9BA-F11A-5BD0-CA702BC3CA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97CA191-E53F-965C-8C60-54392F520AA4}"/>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6" name="Footer Placeholder 5">
            <a:extLst>
              <a:ext uri="{FF2B5EF4-FFF2-40B4-BE49-F238E27FC236}">
                <a16:creationId xmlns:a16="http://schemas.microsoft.com/office/drawing/2014/main" id="{207302A7-B624-1E00-CA6F-0E6BB2FAE59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9D6054D-ABE2-B548-BE88-998F7375925C}"/>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3597155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3787-31B8-6DB4-1B0F-5EA3F30A8444}"/>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15A277C5-2B29-28AC-9845-89177E4295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EE62A-0224-9393-4191-DEB9CF324B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B1B201C9-A94F-9C5C-541E-118676E3A7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4A5985-1B0E-CE27-959F-928D7A7061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233645CF-5321-50E0-18D7-1F5BA950B6C8}"/>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8" name="Footer Placeholder 7">
            <a:extLst>
              <a:ext uri="{FF2B5EF4-FFF2-40B4-BE49-F238E27FC236}">
                <a16:creationId xmlns:a16="http://schemas.microsoft.com/office/drawing/2014/main" id="{5E385E87-8BAE-1257-2C8D-CBF4F26E7892}"/>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34909754-D4E0-8684-5E3B-F3AA4D4B305E}"/>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247600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88A4F-DCB4-EC0F-E928-057E970B63A6}"/>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3CC31F7F-8003-0D27-82A6-9A62F918061B}"/>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4" name="Footer Placeholder 3">
            <a:extLst>
              <a:ext uri="{FF2B5EF4-FFF2-40B4-BE49-F238E27FC236}">
                <a16:creationId xmlns:a16="http://schemas.microsoft.com/office/drawing/2014/main" id="{25144987-AE9B-31E7-8665-C6B07D401B91}"/>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4658977B-7297-CF32-FA99-14980D8FFB33}"/>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1224599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32A6B2-6D8B-2B50-FECE-DB6353A4EEA2}"/>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3" name="Footer Placeholder 2">
            <a:extLst>
              <a:ext uri="{FF2B5EF4-FFF2-40B4-BE49-F238E27FC236}">
                <a16:creationId xmlns:a16="http://schemas.microsoft.com/office/drawing/2014/main" id="{FE672908-FCD2-BF01-477C-F31AD4CF6559}"/>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20DBC638-D440-6177-7BDB-51700CA39434}"/>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3327220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2E0C3-9819-4682-AD3D-CB0C4AE349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C84FDEB8-28D3-9799-E3C6-080FA2D34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5C70022E-59C8-27BD-731A-BD6C328AD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FFDDB-AD8C-0FCC-C2CA-0B0C51EA1269}"/>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6" name="Footer Placeholder 5">
            <a:extLst>
              <a:ext uri="{FF2B5EF4-FFF2-40B4-BE49-F238E27FC236}">
                <a16:creationId xmlns:a16="http://schemas.microsoft.com/office/drawing/2014/main" id="{6039FFC8-4633-75A4-13E0-63FFAFDAC1A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0EC5B60-41BB-388A-844B-702BF38350FB}"/>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46418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3572-EFDB-832C-BD36-D2DAA0B311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10CF5B65-0B52-3FBF-74F6-BEB5419110E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10C9399-E149-AEE5-B2F9-BD53E5CB4C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D4EB74-F678-D996-4C31-279B882833B8}"/>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6" name="Footer Placeholder 5">
            <a:extLst>
              <a:ext uri="{FF2B5EF4-FFF2-40B4-BE49-F238E27FC236}">
                <a16:creationId xmlns:a16="http://schemas.microsoft.com/office/drawing/2014/main" id="{488BD194-1003-D03C-3C25-F87FB836545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7A88116F-B436-D86C-8C20-2ADB17D64DA9}"/>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2239181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C527-8A8D-8CA9-E7E3-8918E87992AA}"/>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CFF98BB1-63C6-6D6B-7E0E-2CECE8760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4172120-79D4-0088-751B-C534EE4D7C2C}"/>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5" name="Footer Placeholder 4">
            <a:extLst>
              <a:ext uri="{FF2B5EF4-FFF2-40B4-BE49-F238E27FC236}">
                <a16:creationId xmlns:a16="http://schemas.microsoft.com/office/drawing/2014/main" id="{A928BBC7-5B74-683E-51D8-0FB2551F174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104AE65-55A8-F383-CB4D-747E7974A370}"/>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2939818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9F8D96-0AB2-F703-1D46-42BC5D507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289195A-8C43-5D1D-5323-D149651A21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D3EE954-C588-7F3F-71FB-62C33CFA8259}"/>
              </a:ext>
            </a:extLst>
          </p:cNvPr>
          <p:cNvSpPr>
            <a:spLocks noGrp="1"/>
          </p:cNvSpPr>
          <p:nvPr>
            <p:ph type="dt" sz="half" idx="10"/>
          </p:nvPr>
        </p:nvSpPr>
        <p:spPr/>
        <p:txBody>
          <a:bodyPr/>
          <a:lstStyle/>
          <a:p>
            <a:fld id="{877DB7A3-88EB-4C98-BB0A-899F8DD27437}" type="datetimeFigureOut">
              <a:rPr lang="en-IL" smtClean="0"/>
              <a:t>04/10/2026</a:t>
            </a:fld>
            <a:endParaRPr lang="en-IL"/>
          </a:p>
        </p:txBody>
      </p:sp>
      <p:sp>
        <p:nvSpPr>
          <p:cNvPr id="5" name="Footer Placeholder 4">
            <a:extLst>
              <a:ext uri="{FF2B5EF4-FFF2-40B4-BE49-F238E27FC236}">
                <a16:creationId xmlns:a16="http://schemas.microsoft.com/office/drawing/2014/main" id="{E05B1388-9413-C005-42AD-0C01D9A0F72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E9F0027-4973-3F87-C1EC-CFEA5E2172F0}"/>
              </a:ext>
            </a:extLst>
          </p:cNvPr>
          <p:cNvSpPr>
            <a:spLocks noGrp="1"/>
          </p:cNvSpPr>
          <p:nvPr>
            <p:ph type="sldNum" sz="quarter" idx="12"/>
          </p:nvPr>
        </p:nvSpPr>
        <p:spPr/>
        <p:txBody>
          <a:bodyPr/>
          <a:lstStyle/>
          <a:p>
            <a:fld id="{8D2BEA71-72C7-44F4-A0F7-4D4FB15EA975}" type="slidenum">
              <a:rPr lang="en-IL" smtClean="0"/>
              <a:t>‹#›</a:t>
            </a:fld>
            <a:endParaRPr lang="en-IL"/>
          </a:p>
        </p:txBody>
      </p:sp>
    </p:spTree>
    <p:extLst>
      <p:ext uri="{BB962C8B-B14F-4D97-AF65-F5344CB8AC3E}">
        <p14:creationId xmlns:p14="http://schemas.microsoft.com/office/powerpoint/2010/main" val="14385194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4BEB49-70F4-4C63-3209-EB84052711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BA26F06-939B-F90E-7E08-1AEA6A5CAB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02B760A-9EFA-A919-555D-0262E84BD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7DB7A3-88EB-4C98-BB0A-899F8DD27437}" type="datetimeFigureOut">
              <a:rPr lang="en-IL" smtClean="0"/>
              <a:t>04/10/2026</a:t>
            </a:fld>
            <a:endParaRPr lang="en-IL"/>
          </a:p>
        </p:txBody>
      </p:sp>
      <p:sp>
        <p:nvSpPr>
          <p:cNvPr id="5" name="Footer Placeholder 4">
            <a:extLst>
              <a:ext uri="{FF2B5EF4-FFF2-40B4-BE49-F238E27FC236}">
                <a16:creationId xmlns:a16="http://schemas.microsoft.com/office/drawing/2014/main" id="{151DF189-7E24-14EC-1A00-4D5742B0DA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F738E344-13C9-D666-FA70-F111B673EE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2BEA71-72C7-44F4-A0F7-4D4FB15EA975}" type="slidenum">
              <a:rPr lang="en-IL" smtClean="0"/>
              <a:t>‹#›</a:t>
            </a:fld>
            <a:endParaRPr lang="en-IL"/>
          </a:p>
        </p:txBody>
      </p:sp>
    </p:spTree>
    <p:extLst>
      <p:ext uri="{BB962C8B-B14F-4D97-AF65-F5344CB8AC3E}">
        <p14:creationId xmlns:p14="http://schemas.microsoft.com/office/powerpoint/2010/main" val="13584586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87A2D6B-1B9B-9E01-5682-D8A75020D6B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WELCOME TO THE COURSE</a:t>
            </a:r>
          </a:p>
        </p:txBody>
      </p:sp>
      <p:sp>
        <p:nvSpPr>
          <p:cNvPr id="3" name="text_2">
            <a:extLst>
              <a:ext uri="{FF2B5EF4-FFF2-40B4-BE49-F238E27FC236}">
                <a16:creationId xmlns:a16="http://schemas.microsoft.com/office/drawing/2014/main" id="{89A31426-2903-B54B-CAA9-4544BAEF841A}"/>
              </a:ext>
            </a:extLst>
          </p:cNvPr>
          <p:cNvSpPr txBox="1"/>
          <p:nvPr/>
        </p:nvSpPr>
        <p:spPr>
          <a:xfrm>
            <a:off x="685800" y="2120900"/>
            <a:ext cx="10820400" cy="1816100"/>
          </a:xfrm>
          <a:prstGeom prst="rect">
            <a:avLst/>
          </a:prstGeom>
          <a:noFill/>
        </p:spPr>
        <p:txBody>
          <a:bodyPr vert="horz" wrap="square" lIns="0" tIns="0" rIns="0" bIns="0" rtlCol="0" anchor="t">
            <a:noAutofit/>
          </a:bodyPr>
          <a:lstStyle/>
          <a:p>
            <a:r>
              <a:rPr lang="en-IL" sz="5400" b="1">
                <a:solidFill>
                  <a:srgbClr val="15283B"/>
                </a:solidFill>
                <a:latin typeface="Aptos" panose="020B0004020202020204" pitchFamily="34" charset="0"/>
              </a:rPr>
              <a:t>Robotics &amp;</a:t>
            </a:r>
          </a:p>
          <a:p>
            <a:r>
              <a:rPr lang="en-IL" sz="5400" b="1">
                <a:solidFill>
                  <a:srgbClr val="15283B"/>
                </a:solidFill>
                <a:latin typeface="Aptos" panose="020B0004020202020204" pitchFamily="34" charset="0"/>
              </a:rPr>
              <a:t>Autonomous Systems</a:t>
            </a:r>
          </a:p>
        </p:txBody>
      </p:sp>
      <p:cxnSp>
        <p:nvCxnSpPr>
          <p:cNvPr id="4" name="Straight Connector 3">
            <a:extLst>
              <a:ext uri="{FF2B5EF4-FFF2-40B4-BE49-F238E27FC236}">
                <a16:creationId xmlns:a16="http://schemas.microsoft.com/office/drawing/2014/main" id="{5232DC4C-1EF9-1ECE-34F3-95EDA38F354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5" name="text_4">
            <a:extLst>
              <a:ext uri="{FF2B5EF4-FFF2-40B4-BE49-F238E27FC236}">
                <a16:creationId xmlns:a16="http://schemas.microsoft.com/office/drawing/2014/main" id="{D2C2DEC0-2B87-F690-1EFC-A3C6CB0F72E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6" name="text_5">
            <a:extLst>
              <a:ext uri="{FF2B5EF4-FFF2-40B4-BE49-F238E27FC236}">
                <a16:creationId xmlns:a16="http://schemas.microsoft.com/office/drawing/2014/main" id="{6508183D-C071-E7CE-3309-F05957FDBBD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7" name="TextBox 6"/>
          <p:cNvSpPr txBox="1"/>
          <p:nvPr/>
        </p:nvSpPr>
        <p:spPr>
          <a:xfrm>
            <a:off x="685800" y="4191000"/>
            <a:ext cx="10820400" cy="60960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37F79"/>
                </a:solidFill>
                <a:latin typeface="Aptos"/>
              </a:rPr>
              <a:t>Week 1</a:t>
            </a:r>
          </a:p>
        </p:txBody>
      </p:sp>
    </p:spTree>
    <p:extLst>
      <p:ext uri="{BB962C8B-B14F-4D97-AF65-F5344CB8AC3E}">
        <p14:creationId xmlns:p14="http://schemas.microsoft.com/office/powerpoint/2010/main" val="202840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506A522-E45E-09A2-53BE-7A252572C1C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95072CC8-0AF2-E4F3-D7EF-98236D70FD0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3800" b="1">
                <a:solidFill>
                  <a:srgbClr val="15283B"/>
                </a:solidFill>
                <a:latin typeface="Aptos" panose="020B0004020202020204" pitchFamily="34" charset="0"/>
              </a:rPr>
              <a:t>What is ROS, and why do we need it?</a:t>
            </a:r>
          </a:p>
        </p:txBody>
      </p:sp>
      <p:sp>
        <p:nvSpPr>
          <p:cNvPr id="4" name="text_3">
            <a:extLst>
              <a:ext uri="{FF2B5EF4-FFF2-40B4-BE49-F238E27FC236}">
                <a16:creationId xmlns:a16="http://schemas.microsoft.com/office/drawing/2014/main" id="{A32482E5-F1C0-604B-5A95-21ED1BF712C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Despite its name, ROS is a software framework</a:t>
            </a:r>
            <a:endParaRPr lang="en-IL" sz="2600">
              <a:solidFill>
                <a:srgbClr val="526477"/>
              </a:solidFill>
              <a:latin typeface="Aptos" panose="020B0004020202020204" pitchFamily="34" charset="0"/>
            </a:endParaRPr>
          </a:p>
          <a:p>
            <a:r>
              <a:rPr lang="en-US" sz="2500">
                <a:solidFill>
                  <a:srgbClr val="526477"/>
                </a:solidFill>
                <a:latin typeface="Aptos" panose="020B0004020202020204" pitchFamily="34" charset="0"/>
              </a:rPr>
              <a:t>that runs on an operating system.</a:t>
            </a:r>
          </a:p>
        </p:txBody>
      </p:sp>
      <p:cxnSp>
        <p:nvCxnSpPr>
          <p:cNvPr id="5" name="Straight Connector 4">
            <a:extLst>
              <a:ext uri="{FF2B5EF4-FFF2-40B4-BE49-F238E27FC236}">
                <a16:creationId xmlns:a16="http://schemas.microsoft.com/office/drawing/2014/main" id="{C1D7D8AE-92AC-D2CF-2261-C33EF554DC3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FAF78AE-70CB-6A41-04C9-138CAAAB2D1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227EC56-47D4-7C67-CF2D-4350A11909B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text_7">
            <a:extLst>
              <a:ext uri="{FF2B5EF4-FFF2-40B4-BE49-F238E27FC236}">
                <a16:creationId xmlns:a16="http://schemas.microsoft.com/office/drawing/2014/main" id="{DA0D6569-238B-6E8D-2135-024EAB5B6F27}"/>
              </a:ext>
            </a:extLst>
          </p:cNvPr>
          <p:cNvSpPr txBox="1"/>
          <p:nvPr/>
        </p:nvSpPr>
        <p:spPr>
          <a:xfrm>
            <a:off x="685800" y="2692399"/>
            <a:ext cx="4470400" cy="711200"/>
          </a:xfrm>
          <a:prstGeom prst="rect">
            <a:avLst/>
          </a:prstGeom>
          <a:noFill/>
        </p:spPr>
        <p:txBody>
          <a:bodyPr vert="horz" wrap="square" lIns="0" tIns="0" rIns="0" bIns="0" rtlCol="0" anchor="t">
            <a:noAutofit/>
          </a:bodyPr>
          <a:lstStyle/>
          <a:p>
            <a:r>
              <a:rPr lang="en-IL" sz="3000" b="1">
                <a:solidFill>
                  <a:srgbClr val="2459D3"/>
                </a:solidFill>
                <a:latin typeface="Aptos" panose="020B0004020202020204" pitchFamily="34" charset="0"/>
              </a:rPr>
              <a:t>Robot Operating System</a:t>
            </a:r>
          </a:p>
        </p:txBody>
      </p:sp>
      <p:sp>
        <p:nvSpPr>
          <p:cNvPr id="9" name="text_8">
            <a:extLst>
              <a:ext uri="{FF2B5EF4-FFF2-40B4-BE49-F238E27FC236}">
                <a16:creationId xmlns:a16="http://schemas.microsoft.com/office/drawing/2014/main" id="{9AF0036F-C35D-A0FC-B14C-A8A6B399BA41}"/>
              </a:ext>
            </a:extLst>
          </p:cNvPr>
          <p:cNvSpPr txBox="1"/>
          <p:nvPr/>
        </p:nvSpPr>
        <p:spPr>
          <a:xfrm>
            <a:off x="685800" y="3505199"/>
            <a:ext cx="4470400" cy="1854200"/>
          </a:xfrm>
          <a:prstGeom prst="rect">
            <a:avLst/>
          </a:prstGeom>
          <a:noFill/>
        </p:spPr>
        <p:txBody>
          <a:bodyPr vert="horz" wrap="square" lIns="0" tIns="0" rIns="0" bIns="0" rtlCol="0" anchor="t">
            <a:noAutofit/>
          </a:bodyPr>
          <a:lstStyle/>
          <a:p>
            <a:r>
              <a:rPr lang="en-US" sz="2800">
                <a:solidFill>
                  <a:srgbClr val="15283B"/>
                </a:solidFill>
                <a:latin typeface="Aptos" panose="020B0004020202020204" pitchFamily="34" charset="0"/>
              </a:rPr>
              <a:t>Connect software across
languages and machines.
Share common interfaces.</a:t>
            </a:r>
            <a:endParaRPr lang="en-IL" sz="2800">
              <a:solidFill>
                <a:srgbClr val="15283B"/>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D5B7FD0D-F807-81FF-8196-805F4635DED0}"/>
              </a:ext>
            </a:extLst>
          </p:cNvPr>
          <p:cNvSpPr/>
          <p:nvPr/>
        </p:nvSpPr>
        <p:spPr>
          <a:xfrm>
            <a:off x="5638800" y="2616200"/>
            <a:ext cx="5867400" cy="812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2617F38-D72F-9A14-A5CE-B7EC6322DD5F}"/>
              </a:ext>
            </a:extLst>
          </p:cNvPr>
          <p:cNvSpPr txBox="1"/>
          <p:nvPr/>
        </p:nvSpPr>
        <p:spPr>
          <a:xfrm>
            <a:off x="5842000" y="2832099"/>
            <a:ext cx="5461000" cy="508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Robot application</a:t>
            </a:r>
          </a:p>
        </p:txBody>
      </p:sp>
      <p:sp>
        <p:nvSpPr>
          <p:cNvPr id="12" name="Rectangle: Rounded Corners 11">
            <a:extLst>
              <a:ext uri="{FF2B5EF4-FFF2-40B4-BE49-F238E27FC236}">
                <a16:creationId xmlns:a16="http://schemas.microsoft.com/office/drawing/2014/main" id="{3CBA6BED-B397-7AD4-9249-5219A6AC99C2}"/>
              </a:ext>
            </a:extLst>
          </p:cNvPr>
          <p:cNvSpPr/>
          <p:nvPr/>
        </p:nvSpPr>
        <p:spPr>
          <a:xfrm>
            <a:off x="5638800" y="3556000"/>
            <a:ext cx="5867400" cy="812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2CFE8FDD-F771-EA54-2B3C-6465036437E5}"/>
              </a:ext>
            </a:extLst>
          </p:cNvPr>
          <p:cNvSpPr txBox="1"/>
          <p:nvPr/>
        </p:nvSpPr>
        <p:spPr>
          <a:xfrm>
            <a:off x="5842000" y="3771899"/>
            <a:ext cx="5461000" cy="508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ROS libraries + tools + packages</a:t>
            </a:r>
          </a:p>
        </p:txBody>
      </p:sp>
      <p:sp>
        <p:nvSpPr>
          <p:cNvPr id="14" name="Rectangle: Rounded Corners 13">
            <a:extLst>
              <a:ext uri="{FF2B5EF4-FFF2-40B4-BE49-F238E27FC236}">
                <a16:creationId xmlns:a16="http://schemas.microsoft.com/office/drawing/2014/main" id="{ACAC6399-C5A1-C37F-3735-BF33A21FDB10}"/>
              </a:ext>
            </a:extLst>
          </p:cNvPr>
          <p:cNvSpPr/>
          <p:nvPr/>
        </p:nvSpPr>
        <p:spPr>
          <a:xfrm>
            <a:off x="5638800" y="4495800"/>
            <a:ext cx="5867400" cy="812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D969B39F-1920-7D22-7494-33D0AEE562E5}"/>
              </a:ext>
            </a:extLst>
          </p:cNvPr>
          <p:cNvSpPr txBox="1"/>
          <p:nvPr/>
        </p:nvSpPr>
        <p:spPr>
          <a:xfrm>
            <a:off x="5842000" y="4711699"/>
            <a:ext cx="5461000" cy="508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Host OS + hardware</a:t>
            </a:r>
          </a:p>
        </p:txBody>
      </p:sp>
      <p:sp>
        <p:nvSpPr>
          <p:cNvPr id="16" name="text_15">
            <a:extLst>
              <a:ext uri="{FF2B5EF4-FFF2-40B4-BE49-F238E27FC236}">
                <a16:creationId xmlns:a16="http://schemas.microsoft.com/office/drawing/2014/main" id="{F0BF3B32-BE1A-5201-FF7B-C61564C6963C}"/>
              </a:ext>
            </a:extLst>
          </p:cNvPr>
          <p:cNvSpPr txBox="1"/>
          <p:nvPr/>
        </p:nvSpPr>
        <p:spPr>
          <a:xfrm>
            <a:off x="685800" y="5626099"/>
            <a:ext cx="10820400" cy="4318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Reuse drivers and algorithms. Focus on your robot's behavior.</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893647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CB41D38-B973-C1E9-3B26-E1EC7B20F79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07AE4007-17E1-5257-CF7F-B6FFAA5D852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is ROS used for?</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E182D09-2B74-2EF0-7967-E9B8BE31365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framework. Many kinds of autonomous systems.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E2D1867-DE8A-D754-55BB-ED28B9848F1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A9ED84C-9812-C36E-AC33-691A481A565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F791A45-E484-C4D9-35B4-CF67A868E19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ounded Rectangle 7"/>
          <p:cNvSpPr/>
          <p:nvPr/>
        </p:nvSpPr>
        <p:spPr>
          <a:xfrm>
            <a:off x="685800" y="2641600"/>
            <a:ext cx="3403600" cy="32766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utonomous_vehicle.jpg"/>
          <p:cNvPicPr>
            <a:picLocks noChangeAspect="1"/>
          </p:cNvPicPr>
          <p:nvPr/>
        </p:nvPicPr>
        <p:blipFill>
          <a:blip r:embed="rId3"/>
          <a:srcRect t="746" b="746"/>
          <a:stretch>
            <a:fillRect/>
          </a:stretch>
        </p:blipFill>
        <p:spPr>
          <a:xfrm>
            <a:off x="685800" y="2641600"/>
            <a:ext cx="3403600" cy="2514600"/>
          </a:xfrm>
          <a:prstGeom prst="rect">
            <a:avLst/>
          </a:prstGeom>
        </p:spPr>
      </p:pic>
      <p:sp>
        <p:nvSpPr>
          <p:cNvPr id="10" name="TextBox 9"/>
          <p:cNvSpPr txBox="1"/>
          <p:nvPr/>
        </p:nvSpPr>
        <p:spPr>
          <a:xfrm>
            <a:off x="787400" y="5410200"/>
            <a:ext cx="3200400" cy="431800"/>
          </a:xfrm>
          <a:prstGeom prst="rect">
            <a:avLst/>
          </a:prstGeom>
          <a:noFill/>
        </p:spPr>
        <p:txBody>
          <a:bodyPr wrap="square" lIns="0" rIns="0" tIns="0" bIns="0" anchor="t">
            <a:noAutofit/>
          </a:bodyPr>
          <a:lstStyle/>
          <a:p>
            <a:pPr algn="ctr">
              <a:lnSpc>
                <a:spcPct val="100000"/>
              </a:lnSpc>
              <a:spcBef>
                <a:spcPts val="0"/>
              </a:spcBef>
              <a:spcAft>
                <a:spcPts val="0"/>
              </a:spcAft>
            </a:pPr>
            <a:r>
              <a:rPr sz="2500" b="1">
                <a:solidFill>
                  <a:srgbClr val="2459D3"/>
                </a:solidFill>
                <a:latin typeface="Aptos"/>
              </a:rPr>
              <a:t>Autonomous vehicles</a:t>
            </a:r>
          </a:p>
        </p:txBody>
      </p:sp>
      <p:sp>
        <p:nvSpPr>
          <p:cNvPr id="11" name="Rounded Rectangle 10"/>
          <p:cNvSpPr/>
          <p:nvPr/>
        </p:nvSpPr>
        <p:spPr>
          <a:xfrm>
            <a:off x="4394200" y="2641600"/>
            <a:ext cx="3403600" cy="32766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obotics.jpg"/>
          <p:cNvPicPr>
            <a:picLocks noChangeAspect="1"/>
          </p:cNvPicPr>
          <p:nvPr/>
        </p:nvPicPr>
        <p:blipFill>
          <a:blip r:embed="rId4"/>
          <a:srcRect l="17102" r="17102"/>
          <a:stretch>
            <a:fillRect/>
          </a:stretch>
        </p:blipFill>
        <p:spPr>
          <a:xfrm>
            <a:off x="4394200" y="2641600"/>
            <a:ext cx="3403600" cy="2514600"/>
          </a:xfrm>
          <a:prstGeom prst="rect">
            <a:avLst/>
          </a:prstGeom>
        </p:spPr>
      </p:pic>
      <p:sp>
        <p:nvSpPr>
          <p:cNvPr id="13" name="TextBox 12"/>
          <p:cNvSpPr txBox="1"/>
          <p:nvPr/>
        </p:nvSpPr>
        <p:spPr>
          <a:xfrm>
            <a:off x="4495800" y="5410200"/>
            <a:ext cx="3200400" cy="431800"/>
          </a:xfrm>
          <a:prstGeom prst="rect">
            <a:avLst/>
          </a:prstGeom>
          <a:noFill/>
        </p:spPr>
        <p:txBody>
          <a:bodyPr wrap="square" lIns="0" rIns="0" tIns="0" bIns="0" anchor="t">
            <a:noAutofit/>
          </a:bodyPr>
          <a:lstStyle/>
          <a:p>
            <a:pPr algn="ctr">
              <a:lnSpc>
                <a:spcPct val="100000"/>
              </a:lnSpc>
              <a:spcBef>
                <a:spcPts val="0"/>
              </a:spcBef>
              <a:spcAft>
                <a:spcPts val="0"/>
              </a:spcAft>
            </a:pPr>
            <a:r>
              <a:rPr sz="2500" b="1">
                <a:solidFill>
                  <a:srgbClr val="137F79"/>
                </a:solidFill>
                <a:latin typeface="Aptos"/>
              </a:rPr>
              <a:t>Robotics</a:t>
            </a:r>
          </a:p>
        </p:txBody>
      </p:sp>
      <p:sp>
        <p:nvSpPr>
          <p:cNvPr id="14" name="Rounded Rectangle 13"/>
          <p:cNvSpPr/>
          <p:nvPr/>
        </p:nvSpPr>
        <p:spPr>
          <a:xfrm>
            <a:off x="8102600" y="2641600"/>
            <a:ext cx="3403600" cy="32766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rone.jpg"/>
          <p:cNvPicPr>
            <a:picLocks noChangeAspect="1"/>
          </p:cNvPicPr>
          <p:nvPr/>
        </p:nvPicPr>
        <p:blipFill>
          <a:blip r:embed="rId5"/>
          <a:srcRect l="4893" r="4893"/>
          <a:stretch>
            <a:fillRect/>
          </a:stretch>
        </p:blipFill>
        <p:spPr>
          <a:xfrm>
            <a:off x="8102600" y="2641600"/>
            <a:ext cx="3403600" cy="2514600"/>
          </a:xfrm>
          <a:prstGeom prst="rect">
            <a:avLst/>
          </a:prstGeom>
        </p:spPr>
      </p:pic>
      <p:sp>
        <p:nvSpPr>
          <p:cNvPr id="16" name="TextBox 15"/>
          <p:cNvSpPr txBox="1"/>
          <p:nvPr/>
        </p:nvSpPr>
        <p:spPr>
          <a:xfrm>
            <a:off x="8204200" y="5410200"/>
            <a:ext cx="3200400" cy="431800"/>
          </a:xfrm>
          <a:prstGeom prst="rect">
            <a:avLst/>
          </a:prstGeom>
          <a:noFill/>
        </p:spPr>
        <p:txBody>
          <a:bodyPr wrap="square" lIns="0" rIns="0" tIns="0" bIns="0" anchor="t">
            <a:noAutofit/>
          </a:bodyPr>
          <a:lstStyle/>
          <a:p>
            <a:pPr algn="ctr">
              <a:lnSpc>
                <a:spcPct val="100000"/>
              </a:lnSpc>
              <a:spcBef>
                <a:spcPts val="0"/>
              </a:spcBef>
              <a:spcAft>
                <a:spcPts val="0"/>
              </a:spcAft>
            </a:pPr>
            <a:r>
              <a:rPr sz="2500" b="1">
                <a:solidFill>
                  <a:srgbClr val="2459D3"/>
                </a:solidFill>
                <a:latin typeface="Aptos"/>
              </a:rPr>
              <a:t>Drones</a:t>
            </a:r>
          </a:p>
        </p:txBody>
      </p:sp>
    </p:spTree>
    <p:extLst>
      <p:ext uri="{BB962C8B-B14F-4D97-AF65-F5344CB8AC3E}">
        <p14:creationId xmlns:p14="http://schemas.microsoft.com/office/powerpoint/2010/main" val="3614419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8919A3E-74C5-FCEE-8CB3-11091E0B16B4}"/>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8853439F-D5F3-9E9F-B272-981FA1AC74E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ROS 1 → ROS 2</a:t>
            </a:r>
          </a:p>
        </p:txBody>
      </p:sp>
      <p:sp>
        <p:nvSpPr>
          <p:cNvPr id="4" name="text_3">
            <a:extLst>
              <a:ext uri="{FF2B5EF4-FFF2-40B4-BE49-F238E27FC236}">
                <a16:creationId xmlns:a16="http://schemas.microsoft.com/office/drawing/2014/main" id="{05613216-2FB9-709E-1363-DC6FA478BD0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Familiar concepts. A redesigned foundation.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7CF1C7E-4696-5FB0-ADDB-912E8B621D6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1606141-86AD-ECFF-117A-68B36B77C0F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8078018-5AC0-3D28-960A-612AE0D4E2E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cxnSp>
        <p:nvCxnSpPr>
          <p:cNvPr id="8" name="Straight Connector 7">
            <a:extLst>
              <a:ext uri="{FF2B5EF4-FFF2-40B4-BE49-F238E27FC236}">
                <a16:creationId xmlns:a16="http://schemas.microsoft.com/office/drawing/2014/main" id="{E510467C-7A8D-8CB5-C031-E0C160FCE165}"/>
              </a:ext>
            </a:extLst>
          </p:cNvPr>
          <p:cNvCxnSpPr/>
          <p:nvPr/>
        </p:nvCxnSpPr>
        <p:spPr>
          <a:xfrm>
            <a:off x="1600200" y="2590800"/>
            <a:ext cx="9042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F0F22EE7-5F3B-878D-3090-3433C70676F9}"/>
              </a:ext>
            </a:extLst>
          </p:cNvPr>
          <p:cNvSpPr/>
          <p:nvPr/>
        </p:nvSpPr>
        <p:spPr>
          <a:xfrm>
            <a:off x="1524000" y="2514600"/>
            <a:ext cx="152400" cy="152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193F0A11-D849-704E-1370-F00FA0BD6155}"/>
              </a:ext>
            </a:extLst>
          </p:cNvPr>
          <p:cNvSpPr txBox="1"/>
          <p:nvPr/>
        </p:nvSpPr>
        <p:spPr>
          <a:xfrm>
            <a:off x="457200" y="2781299"/>
            <a:ext cx="2286000" cy="457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2007</a:t>
            </a:r>
          </a:p>
        </p:txBody>
      </p:sp>
      <p:sp>
        <p:nvSpPr>
          <p:cNvPr id="11" name="text_10">
            <a:extLst>
              <a:ext uri="{FF2B5EF4-FFF2-40B4-BE49-F238E27FC236}">
                <a16:creationId xmlns:a16="http://schemas.microsoft.com/office/drawing/2014/main" id="{EAFA99A6-872B-072B-B34E-2F663EDDCB12}"/>
              </a:ext>
            </a:extLst>
          </p:cNvPr>
          <p:cNvSpPr txBox="1"/>
          <p:nvPr/>
        </p:nvSpPr>
        <p:spPr>
          <a:xfrm>
            <a:off x="279400" y="3225799"/>
            <a:ext cx="2641600" cy="4318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ROS begins</a:t>
            </a:r>
          </a:p>
        </p:txBody>
      </p:sp>
      <p:sp>
        <p:nvSpPr>
          <p:cNvPr id="12" name="Oval 11">
            <a:extLst>
              <a:ext uri="{FF2B5EF4-FFF2-40B4-BE49-F238E27FC236}">
                <a16:creationId xmlns:a16="http://schemas.microsoft.com/office/drawing/2014/main" id="{10D6DAE6-EE79-F6BC-BDFA-F81C07AEE71A}"/>
              </a:ext>
            </a:extLst>
          </p:cNvPr>
          <p:cNvSpPr/>
          <p:nvPr/>
        </p:nvSpPr>
        <p:spPr>
          <a:xfrm>
            <a:off x="4495800" y="2514600"/>
            <a:ext cx="152400" cy="152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5BBBD78E-D2B2-4E61-4718-CEF6CD59DC3A}"/>
              </a:ext>
            </a:extLst>
          </p:cNvPr>
          <p:cNvSpPr txBox="1"/>
          <p:nvPr/>
        </p:nvSpPr>
        <p:spPr>
          <a:xfrm>
            <a:off x="3429000" y="2781299"/>
            <a:ext cx="2286000" cy="457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2017</a:t>
            </a:r>
          </a:p>
        </p:txBody>
      </p:sp>
      <p:sp>
        <p:nvSpPr>
          <p:cNvPr id="14" name="text_13">
            <a:extLst>
              <a:ext uri="{FF2B5EF4-FFF2-40B4-BE49-F238E27FC236}">
                <a16:creationId xmlns:a16="http://schemas.microsoft.com/office/drawing/2014/main" id="{A7C48AFE-4316-1910-1C93-B378063C42EB}"/>
              </a:ext>
            </a:extLst>
          </p:cNvPr>
          <p:cNvSpPr txBox="1"/>
          <p:nvPr/>
        </p:nvSpPr>
        <p:spPr>
          <a:xfrm>
            <a:off x="3251200" y="3225799"/>
            <a:ext cx="2641600" cy="4318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ROS 2 Ardent</a:t>
            </a:r>
          </a:p>
        </p:txBody>
      </p:sp>
      <p:sp>
        <p:nvSpPr>
          <p:cNvPr id="15" name="Oval 14">
            <a:extLst>
              <a:ext uri="{FF2B5EF4-FFF2-40B4-BE49-F238E27FC236}">
                <a16:creationId xmlns:a16="http://schemas.microsoft.com/office/drawing/2014/main" id="{7533EAB2-548F-2D11-DE7F-27B2D1A24C8F}"/>
              </a:ext>
            </a:extLst>
          </p:cNvPr>
          <p:cNvSpPr/>
          <p:nvPr/>
        </p:nvSpPr>
        <p:spPr>
          <a:xfrm>
            <a:off x="7543800" y="2514600"/>
            <a:ext cx="152400" cy="152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C42CE16D-030F-2C12-CEBB-80B9592680D4}"/>
              </a:ext>
            </a:extLst>
          </p:cNvPr>
          <p:cNvSpPr txBox="1"/>
          <p:nvPr/>
        </p:nvSpPr>
        <p:spPr>
          <a:xfrm>
            <a:off x="6477000" y="2781299"/>
            <a:ext cx="2286000" cy="457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2024</a:t>
            </a:r>
          </a:p>
        </p:txBody>
      </p:sp>
      <p:sp>
        <p:nvSpPr>
          <p:cNvPr id="17" name="text_16">
            <a:extLst>
              <a:ext uri="{FF2B5EF4-FFF2-40B4-BE49-F238E27FC236}">
                <a16:creationId xmlns:a16="http://schemas.microsoft.com/office/drawing/2014/main" id="{C3645088-D54D-F3A5-A630-137DBBFE394D}"/>
              </a:ext>
            </a:extLst>
          </p:cNvPr>
          <p:cNvSpPr txBox="1"/>
          <p:nvPr/>
        </p:nvSpPr>
        <p:spPr>
          <a:xfrm>
            <a:off x="6299200" y="3225799"/>
            <a:ext cx="2641600" cy="4318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Jazzy</a:t>
            </a:r>
          </a:p>
        </p:txBody>
      </p:sp>
      <p:sp>
        <p:nvSpPr>
          <p:cNvPr id="18" name="Oval 17">
            <a:extLst>
              <a:ext uri="{FF2B5EF4-FFF2-40B4-BE49-F238E27FC236}">
                <a16:creationId xmlns:a16="http://schemas.microsoft.com/office/drawing/2014/main" id="{BFC0F8B1-FDD1-1080-9DB6-E9D7178D9759}"/>
              </a:ext>
            </a:extLst>
          </p:cNvPr>
          <p:cNvSpPr/>
          <p:nvPr/>
        </p:nvSpPr>
        <p:spPr>
          <a:xfrm>
            <a:off x="10566400" y="2514600"/>
            <a:ext cx="152400" cy="152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4AF7706A-0DC9-1028-CF43-864A1240F374}"/>
              </a:ext>
            </a:extLst>
          </p:cNvPr>
          <p:cNvSpPr txBox="1"/>
          <p:nvPr/>
        </p:nvSpPr>
        <p:spPr>
          <a:xfrm>
            <a:off x="9499600" y="2781299"/>
            <a:ext cx="2286000" cy="457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2025</a:t>
            </a:r>
          </a:p>
        </p:txBody>
      </p:sp>
      <p:sp>
        <p:nvSpPr>
          <p:cNvPr id="20" name="text_19">
            <a:extLst>
              <a:ext uri="{FF2B5EF4-FFF2-40B4-BE49-F238E27FC236}">
                <a16:creationId xmlns:a16="http://schemas.microsoft.com/office/drawing/2014/main" id="{417A911C-B932-1FF5-5DBE-023577773F2E}"/>
              </a:ext>
            </a:extLst>
          </p:cNvPr>
          <p:cNvSpPr txBox="1"/>
          <p:nvPr/>
        </p:nvSpPr>
        <p:spPr>
          <a:xfrm>
            <a:off x="9321800" y="3225799"/>
            <a:ext cx="2641600" cy="4318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ROS 1 EOL</a:t>
            </a:r>
          </a:p>
        </p:txBody>
      </p:sp>
      <p:sp>
        <p:nvSpPr>
          <p:cNvPr id="21" name="Rectangle: Rounded Corners 20">
            <a:extLst>
              <a:ext uri="{FF2B5EF4-FFF2-40B4-BE49-F238E27FC236}">
                <a16:creationId xmlns:a16="http://schemas.microsoft.com/office/drawing/2014/main" id="{3E136CA5-DA21-5CDD-6538-197E103880C5}"/>
              </a:ext>
            </a:extLst>
          </p:cNvPr>
          <p:cNvSpPr/>
          <p:nvPr/>
        </p:nvSpPr>
        <p:spPr>
          <a:xfrm>
            <a:off x="685800" y="3937000"/>
            <a:ext cx="5257800" cy="1447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00E4230E-1CF1-9210-E399-2BA2D311654E}"/>
              </a:ext>
            </a:extLst>
          </p:cNvPr>
          <p:cNvSpPr txBox="1"/>
          <p:nvPr/>
        </p:nvSpPr>
        <p:spPr>
          <a:xfrm>
            <a:off x="939800" y="4114799"/>
            <a:ext cx="4749800" cy="4572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ROS 1</a:t>
            </a:r>
          </a:p>
        </p:txBody>
      </p:sp>
      <p:sp>
        <p:nvSpPr>
          <p:cNvPr id="23" name="text_22">
            <a:extLst>
              <a:ext uri="{FF2B5EF4-FFF2-40B4-BE49-F238E27FC236}">
                <a16:creationId xmlns:a16="http://schemas.microsoft.com/office/drawing/2014/main" id="{5A43B8A6-2C24-5911-78D4-5E836522709F}"/>
              </a:ext>
            </a:extLst>
          </p:cNvPr>
          <p:cNvSpPr txBox="1"/>
          <p:nvPr/>
        </p:nvSpPr>
        <p:spPr>
          <a:xfrm>
            <a:off x="939800" y="4635499"/>
            <a:ext cx="4749800" cy="609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Master discovery · TCPROS</a:t>
            </a:r>
          </a:p>
        </p:txBody>
      </p:sp>
      <p:sp>
        <p:nvSpPr>
          <p:cNvPr id="24" name="Rectangle: Rounded Corners 23">
            <a:extLst>
              <a:ext uri="{FF2B5EF4-FFF2-40B4-BE49-F238E27FC236}">
                <a16:creationId xmlns:a16="http://schemas.microsoft.com/office/drawing/2014/main" id="{BBDD80CE-88A9-2557-8685-27EF50A42BFD}"/>
              </a:ext>
            </a:extLst>
          </p:cNvPr>
          <p:cNvSpPr/>
          <p:nvPr/>
        </p:nvSpPr>
        <p:spPr>
          <a:xfrm>
            <a:off x="6248400" y="3937000"/>
            <a:ext cx="5257800" cy="1447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E5B1800F-95A5-E7AA-85B8-68640D1D4071}"/>
              </a:ext>
            </a:extLst>
          </p:cNvPr>
          <p:cNvSpPr txBox="1"/>
          <p:nvPr/>
        </p:nvSpPr>
        <p:spPr>
          <a:xfrm>
            <a:off x="6502400" y="4114799"/>
            <a:ext cx="4749800" cy="4572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ROS 2</a:t>
            </a:r>
          </a:p>
        </p:txBody>
      </p:sp>
      <p:sp>
        <p:nvSpPr>
          <p:cNvPr id="26" name="text_25">
            <a:extLst>
              <a:ext uri="{FF2B5EF4-FFF2-40B4-BE49-F238E27FC236}">
                <a16:creationId xmlns:a16="http://schemas.microsoft.com/office/drawing/2014/main" id="{8C21604F-FB20-A0CE-DBB9-75115A5CD366}"/>
              </a:ext>
            </a:extLst>
          </p:cNvPr>
          <p:cNvSpPr txBox="1"/>
          <p:nvPr/>
        </p:nvSpPr>
        <p:spPr>
          <a:xfrm>
            <a:off x="6502400" y="4635499"/>
            <a:ext cx="4749800" cy="609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DDS discovery · QoS · lifecycle</a:t>
            </a:r>
          </a:p>
        </p:txBody>
      </p:sp>
      <p:sp>
        <p:nvSpPr>
          <p:cNvPr id="27" name="text_26">
            <a:extLst>
              <a:ext uri="{FF2B5EF4-FFF2-40B4-BE49-F238E27FC236}">
                <a16:creationId xmlns:a16="http://schemas.microsoft.com/office/drawing/2014/main" id="{F3EA7301-0A3A-F7A1-0DD6-E11CA3860572}"/>
              </a:ext>
            </a:extLst>
          </p:cNvPr>
          <p:cNvSpPr txBox="1"/>
          <p:nvPr/>
        </p:nvSpPr>
        <p:spPr>
          <a:xfrm>
            <a:off x="685800" y="5575299"/>
            <a:ext cx="10820400" cy="4826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ROS 2 = generation. Jazzy = distribution.</a:t>
            </a:r>
          </a:p>
        </p:txBody>
      </p:sp>
    </p:spTree>
    <p:extLst>
      <p:ext uri="{BB962C8B-B14F-4D97-AF65-F5344CB8AC3E}">
        <p14:creationId xmlns:p14="http://schemas.microsoft.com/office/powerpoint/2010/main" val="3857757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D2BFABC-AA67-0A0B-7BE5-7C52E69B39B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44C9F572-9AD2-1CAB-22D1-256957D3738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Nodes and the ROS graph</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DB03062-C0D2-9222-916D-23A6B0E814F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node has a responsibility. A process hosts running code.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67D52AD-C473-527C-0225-8EED05771C2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7822F45-960F-77A0-FF1A-22C58ECD22C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C52618B-6B24-CF1F-EBD7-6646694CAA1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Rectangle: Rounded Corners 7">
            <a:extLst>
              <a:ext uri="{FF2B5EF4-FFF2-40B4-BE49-F238E27FC236}">
                <a16:creationId xmlns:a16="http://schemas.microsoft.com/office/drawing/2014/main" id="{DC5B1F00-FC04-8C11-4FC1-0C1F12F8B2BC}"/>
              </a:ext>
            </a:extLst>
          </p:cNvPr>
          <p:cNvSpPr/>
          <p:nvPr/>
        </p:nvSpPr>
        <p:spPr>
          <a:xfrm>
            <a:off x="685800" y="2616200"/>
            <a:ext cx="5257800" cy="29845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DBFE804-A8CD-BB92-34F6-9DED4176522C}"/>
              </a:ext>
            </a:extLst>
          </p:cNvPr>
          <p:cNvSpPr txBox="1"/>
          <p:nvPr/>
        </p:nvSpPr>
        <p:spPr>
          <a:xfrm>
            <a:off x="965200" y="2806699"/>
            <a:ext cx="4699000" cy="4572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THIS DEMO: TWO PROCESSES</a:t>
            </a:r>
          </a:p>
        </p:txBody>
      </p:sp>
      <p:sp>
        <p:nvSpPr>
          <p:cNvPr id="10" name="Rectangle: Rounded Corners 9">
            <a:extLst>
              <a:ext uri="{FF2B5EF4-FFF2-40B4-BE49-F238E27FC236}">
                <a16:creationId xmlns:a16="http://schemas.microsoft.com/office/drawing/2014/main" id="{4D4B3C43-72B9-0E5E-8689-E09E624F9C22}"/>
              </a:ext>
            </a:extLst>
          </p:cNvPr>
          <p:cNvSpPr/>
          <p:nvPr/>
        </p:nvSpPr>
        <p:spPr>
          <a:xfrm>
            <a:off x="965200" y="3467100"/>
            <a:ext cx="4699000" cy="774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752B3786-61E7-D73A-C061-34CDEA5E1D6B}"/>
              </a:ext>
            </a:extLst>
          </p:cNvPr>
          <p:cNvSpPr txBox="1"/>
          <p:nvPr/>
        </p:nvSpPr>
        <p:spPr>
          <a:xfrm>
            <a:off x="1117600" y="3670299"/>
            <a:ext cx="4394200" cy="457200"/>
          </a:xfrm>
          <a:prstGeom prst="rect">
            <a:avLst/>
          </a:prstGeom>
          <a:noFill/>
        </p:spPr>
        <p:txBody>
          <a:bodyPr vert="horz" wrap="square" lIns="0" tIns="0" rIns="0" bIns="0" rtlCol="0" anchor="t">
            <a:noAutofit/>
          </a:bodyPr>
          <a:lstStyle/>
          <a:p>
            <a:pPr algn="ctr"/>
            <a:r>
              <a:rPr lang="en-IL" sz="2400" b="1">
                <a:solidFill>
                  <a:srgbClr val="2459D3"/>
                </a:solidFill>
                <a:latin typeface="Consolas" panose="020B0609020204030204" pitchFamily="49" charset="0"/>
              </a:rPr>
              <a:t>/greeting_publisher</a:t>
            </a:r>
          </a:p>
        </p:txBody>
      </p:sp>
      <p:sp>
        <p:nvSpPr>
          <p:cNvPr id="12" name="Rectangle: Rounded Corners 11">
            <a:extLst>
              <a:ext uri="{FF2B5EF4-FFF2-40B4-BE49-F238E27FC236}">
                <a16:creationId xmlns:a16="http://schemas.microsoft.com/office/drawing/2014/main" id="{B0163DD4-0F2E-330D-15FB-099952BF67EB}"/>
              </a:ext>
            </a:extLst>
          </p:cNvPr>
          <p:cNvSpPr/>
          <p:nvPr/>
        </p:nvSpPr>
        <p:spPr>
          <a:xfrm>
            <a:off x="965200" y="4546600"/>
            <a:ext cx="4699000" cy="774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D6280DCA-C7EF-EBAE-DD2C-DB7B1EE8368E}"/>
              </a:ext>
            </a:extLst>
          </p:cNvPr>
          <p:cNvSpPr txBox="1"/>
          <p:nvPr/>
        </p:nvSpPr>
        <p:spPr>
          <a:xfrm>
            <a:off x="1117600" y="4749799"/>
            <a:ext cx="4394200" cy="457200"/>
          </a:xfrm>
          <a:prstGeom prst="rect">
            <a:avLst/>
          </a:prstGeom>
          <a:noFill/>
        </p:spPr>
        <p:txBody>
          <a:bodyPr vert="horz" wrap="square" lIns="0" tIns="0" rIns="0" bIns="0" rtlCol="0" anchor="t">
            <a:noAutofit/>
          </a:bodyPr>
          <a:lstStyle/>
          <a:p>
            <a:pPr algn="ctr"/>
            <a:r>
              <a:rPr lang="en-IL" sz="2400" b="1">
                <a:solidFill>
                  <a:srgbClr val="137F79"/>
                </a:solidFill>
                <a:latin typeface="Consolas" panose="020B0609020204030204" pitchFamily="49" charset="0"/>
              </a:rPr>
              <a:t>/greeting_subscriber</a:t>
            </a:r>
          </a:p>
        </p:txBody>
      </p:sp>
      <p:cxnSp>
        <p:nvCxnSpPr>
          <p:cNvPr id="14" name="Straight Connector 13">
            <a:extLst>
              <a:ext uri="{FF2B5EF4-FFF2-40B4-BE49-F238E27FC236}">
                <a16:creationId xmlns:a16="http://schemas.microsoft.com/office/drawing/2014/main" id="{D7E885C2-303C-FDFA-5DC6-56478ED74704}"/>
              </a:ext>
            </a:extLst>
          </p:cNvPr>
          <p:cNvCxnSpPr/>
          <p:nvPr/>
        </p:nvCxnSpPr>
        <p:spPr>
          <a:xfrm>
            <a:off x="3314700" y="4241800"/>
            <a:ext cx="0" cy="3048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DB3411F7-31F4-D251-B7DE-E1768EF37E4B}"/>
              </a:ext>
            </a:extLst>
          </p:cNvPr>
          <p:cNvSpPr/>
          <p:nvPr/>
        </p:nvSpPr>
        <p:spPr>
          <a:xfrm>
            <a:off x="6248400" y="2616200"/>
            <a:ext cx="5257800" cy="29845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00E06371-DB0A-2391-A3EE-6087AAE668CD}"/>
              </a:ext>
            </a:extLst>
          </p:cNvPr>
          <p:cNvSpPr txBox="1"/>
          <p:nvPr/>
        </p:nvSpPr>
        <p:spPr>
          <a:xfrm>
            <a:off x="6527800" y="2806699"/>
            <a:ext cx="4699000" cy="4572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ALSO VALID: ONE PROCESS</a:t>
            </a:r>
          </a:p>
        </p:txBody>
      </p:sp>
      <p:sp>
        <p:nvSpPr>
          <p:cNvPr id="17" name="Rectangle: Rounded Corners 16">
            <a:extLst>
              <a:ext uri="{FF2B5EF4-FFF2-40B4-BE49-F238E27FC236}">
                <a16:creationId xmlns:a16="http://schemas.microsoft.com/office/drawing/2014/main" id="{9BCC4108-3315-E391-B547-99CB58936F48}"/>
              </a:ext>
            </a:extLst>
          </p:cNvPr>
          <p:cNvSpPr/>
          <p:nvPr/>
        </p:nvSpPr>
        <p:spPr>
          <a:xfrm>
            <a:off x="6553200" y="3733800"/>
            <a:ext cx="2057400" cy="1181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1EBBA260-8A9E-3EAC-C7CA-B3D7D5B6BEA5}"/>
              </a:ext>
            </a:extLst>
          </p:cNvPr>
          <p:cNvSpPr txBox="1"/>
          <p:nvPr/>
        </p:nvSpPr>
        <p:spPr>
          <a:xfrm>
            <a:off x="6680200" y="4025899"/>
            <a:ext cx="1803400" cy="635000"/>
          </a:xfrm>
          <a:prstGeom prst="rect">
            <a:avLst/>
          </a:prstGeom>
          <a:noFill/>
        </p:spPr>
        <p:txBody>
          <a:bodyPr vert="horz" wrap="square" lIns="0" tIns="0" rIns="0" bIns="0" rtlCol="0" anchor="t">
            <a:noAutofit/>
          </a:bodyPr>
          <a:lstStyle/>
          <a:p>
            <a:pPr algn="ctr"/>
            <a:r>
              <a:rPr lang="en-IL" sz="2800" b="1">
                <a:solidFill>
                  <a:srgbClr val="2459D3"/>
                </a:solidFill>
                <a:latin typeface="Aptos" panose="020B0004020202020204" pitchFamily="34" charset="0"/>
              </a:rPr>
              <a:t>Node A</a:t>
            </a:r>
          </a:p>
        </p:txBody>
      </p:sp>
      <p:sp>
        <p:nvSpPr>
          <p:cNvPr id="19" name="Rectangle: Rounded Corners 18">
            <a:extLst>
              <a:ext uri="{FF2B5EF4-FFF2-40B4-BE49-F238E27FC236}">
                <a16:creationId xmlns:a16="http://schemas.microsoft.com/office/drawing/2014/main" id="{BCAD8B5F-FC35-183C-F95E-68D56CE43F89}"/>
              </a:ext>
            </a:extLst>
          </p:cNvPr>
          <p:cNvSpPr/>
          <p:nvPr/>
        </p:nvSpPr>
        <p:spPr>
          <a:xfrm>
            <a:off x="9144000" y="3733800"/>
            <a:ext cx="2057400" cy="1181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965EB31C-C128-8400-19CA-2073FB7E0C84}"/>
              </a:ext>
            </a:extLst>
          </p:cNvPr>
          <p:cNvSpPr txBox="1"/>
          <p:nvPr/>
        </p:nvSpPr>
        <p:spPr>
          <a:xfrm>
            <a:off x="9271000" y="4025899"/>
            <a:ext cx="1803400" cy="6350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Node B</a:t>
            </a:r>
          </a:p>
        </p:txBody>
      </p:sp>
      <p:cxnSp>
        <p:nvCxnSpPr>
          <p:cNvPr id="21" name="Straight Connector 20">
            <a:extLst>
              <a:ext uri="{FF2B5EF4-FFF2-40B4-BE49-F238E27FC236}">
                <a16:creationId xmlns:a16="http://schemas.microsoft.com/office/drawing/2014/main" id="{EF1FF153-E1C1-FBD2-4526-71BE96F39035}"/>
              </a:ext>
            </a:extLst>
          </p:cNvPr>
          <p:cNvCxnSpPr/>
          <p:nvPr/>
        </p:nvCxnSpPr>
        <p:spPr>
          <a:xfrm>
            <a:off x="8610600" y="4318000"/>
            <a:ext cx="533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2" name="text_21">
            <a:extLst>
              <a:ext uri="{FF2B5EF4-FFF2-40B4-BE49-F238E27FC236}">
                <a16:creationId xmlns:a16="http://schemas.microsoft.com/office/drawing/2014/main" id="{41F27D20-05C0-D56D-D409-69E7F4AB085D}"/>
              </a:ext>
            </a:extLst>
          </p:cNvPr>
          <p:cNvSpPr txBox="1"/>
          <p:nvPr/>
        </p:nvSpPr>
        <p:spPr>
          <a:xfrm>
            <a:off x="685800" y="5740399"/>
            <a:ext cx="10820400" cy="4064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The graph describes nodes and their communication connections.</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71504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2C4B55D-3F2B-4620-1B1C-A0CCD4C89203}"/>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3C5E3BCA-0D8B-55AD-92A1-292FA57CFEC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Topics carry typed messages</a:t>
            </a:r>
          </a:p>
        </p:txBody>
      </p:sp>
      <p:sp>
        <p:nvSpPr>
          <p:cNvPr id="4" name="text_3">
            <a:extLst>
              <a:ext uri="{FF2B5EF4-FFF2-40B4-BE49-F238E27FC236}">
                <a16:creationId xmlns:a16="http://schemas.microsoft.com/office/drawing/2014/main" id="{06479526-AA22-01C2-C3E0-B2E691B3E5C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Publishers send. Subscribers receive. One topic can connect many.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E515480-D641-551D-9E32-0759B84FF88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60EFF34-4955-4912-97E2-598E8A9EF84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5647207-7154-0F95-50BB-30DF6169043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Rounded Corners 7">
            <a:extLst>
              <a:ext uri="{FF2B5EF4-FFF2-40B4-BE49-F238E27FC236}">
                <a16:creationId xmlns:a16="http://schemas.microsoft.com/office/drawing/2014/main" id="{D292A966-839A-F161-18D9-F9395D8FF7F2}"/>
              </a:ext>
            </a:extLst>
          </p:cNvPr>
          <p:cNvSpPr/>
          <p:nvPr/>
        </p:nvSpPr>
        <p:spPr>
          <a:xfrm>
            <a:off x="685800" y="2667000"/>
            <a:ext cx="4140200" cy="1041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9DBEA592-F18C-6076-2D6D-089D79BE78F6}"/>
              </a:ext>
            </a:extLst>
          </p:cNvPr>
          <p:cNvSpPr txBox="1"/>
          <p:nvPr/>
        </p:nvSpPr>
        <p:spPr>
          <a:xfrm>
            <a:off x="889000" y="2984499"/>
            <a:ext cx="3733800" cy="533400"/>
          </a:xfrm>
          <a:prstGeom prst="rect">
            <a:avLst/>
          </a:prstGeom>
          <a:noFill/>
        </p:spPr>
        <p:txBody>
          <a:bodyPr vert="horz" wrap="square" lIns="0" tIns="0" rIns="0" bIns="0" rtlCol="0" anchor="t">
            <a:noAutofit/>
          </a:bodyPr>
          <a:lstStyle/>
          <a:p>
            <a:pPr algn="ctr"/>
            <a:r>
              <a:rPr lang="en-IL" sz="2400" b="1">
                <a:solidFill>
                  <a:srgbClr val="2459D3"/>
                </a:solidFill>
                <a:latin typeface="Consolas" panose="020B0609020204030204" pitchFamily="49" charset="0"/>
              </a:rPr>
              <a:t>/greeting_publisher</a:t>
            </a:r>
          </a:p>
        </p:txBody>
      </p:sp>
      <p:sp>
        <p:nvSpPr>
          <p:cNvPr id="10" name="Rectangle: Rounded Corners 9">
            <a:extLst>
              <a:ext uri="{FF2B5EF4-FFF2-40B4-BE49-F238E27FC236}">
                <a16:creationId xmlns:a16="http://schemas.microsoft.com/office/drawing/2014/main" id="{EA80AABB-56DE-D4D6-19CE-8A3F58201DD9}"/>
              </a:ext>
            </a:extLst>
          </p:cNvPr>
          <p:cNvSpPr/>
          <p:nvPr/>
        </p:nvSpPr>
        <p:spPr>
          <a:xfrm>
            <a:off x="5207000" y="2667000"/>
            <a:ext cx="1778000" cy="10414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66553450-96BF-D317-CECA-88217485C9C3}"/>
              </a:ext>
            </a:extLst>
          </p:cNvPr>
          <p:cNvSpPr txBox="1"/>
          <p:nvPr/>
        </p:nvSpPr>
        <p:spPr>
          <a:xfrm>
            <a:off x="5334000" y="2984499"/>
            <a:ext cx="1524000" cy="533400"/>
          </a:xfrm>
          <a:prstGeom prst="rect">
            <a:avLst/>
          </a:prstGeom>
          <a:noFill/>
        </p:spPr>
        <p:txBody>
          <a:bodyPr vert="horz" wrap="square" lIns="0" tIns="0" rIns="0" bIns="0" rtlCol="0" anchor="t">
            <a:noAutofit/>
          </a:bodyPr>
          <a:lstStyle/>
          <a:p>
            <a:pPr algn="ctr"/>
            <a:r>
              <a:rPr lang="en-IL" sz="2400" b="1">
                <a:solidFill>
                  <a:srgbClr val="15283B"/>
                </a:solidFill>
                <a:latin typeface="Consolas" panose="020B0609020204030204" pitchFamily="49" charset="0"/>
              </a:rPr>
              <a:t>/chatter</a:t>
            </a:r>
          </a:p>
        </p:txBody>
      </p:sp>
      <p:sp>
        <p:nvSpPr>
          <p:cNvPr id="12" name="Rectangle: Rounded Corners 11">
            <a:extLst>
              <a:ext uri="{FF2B5EF4-FFF2-40B4-BE49-F238E27FC236}">
                <a16:creationId xmlns:a16="http://schemas.microsoft.com/office/drawing/2014/main" id="{D7B894BD-C745-4AA3-295E-C719A03555DD}"/>
              </a:ext>
            </a:extLst>
          </p:cNvPr>
          <p:cNvSpPr/>
          <p:nvPr/>
        </p:nvSpPr>
        <p:spPr>
          <a:xfrm>
            <a:off x="7366000" y="2667000"/>
            <a:ext cx="4140200" cy="1041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79496C12-B3BE-88DF-C340-8BAAD45C9676}"/>
              </a:ext>
            </a:extLst>
          </p:cNvPr>
          <p:cNvSpPr txBox="1"/>
          <p:nvPr/>
        </p:nvSpPr>
        <p:spPr>
          <a:xfrm>
            <a:off x="7518400" y="2984499"/>
            <a:ext cx="3835400" cy="533400"/>
          </a:xfrm>
          <a:prstGeom prst="rect">
            <a:avLst/>
          </a:prstGeom>
          <a:noFill/>
        </p:spPr>
        <p:txBody>
          <a:bodyPr vert="horz" wrap="square" lIns="0" tIns="0" rIns="0" bIns="0" rtlCol="0" anchor="t">
            <a:noAutofit/>
          </a:bodyPr>
          <a:lstStyle/>
          <a:p>
            <a:pPr algn="ctr"/>
            <a:r>
              <a:rPr lang="en-IL" sz="2400" b="1">
                <a:solidFill>
                  <a:srgbClr val="137F79"/>
                </a:solidFill>
                <a:latin typeface="Consolas" panose="020B0609020204030204" pitchFamily="49" charset="0"/>
              </a:rPr>
              <a:t>/greeting_subscriber</a:t>
            </a:r>
          </a:p>
        </p:txBody>
      </p:sp>
      <p:cxnSp>
        <p:nvCxnSpPr>
          <p:cNvPr id="14" name="Straight Connector 13">
            <a:extLst>
              <a:ext uri="{FF2B5EF4-FFF2-40B4-BE49-F238E27FC236}">
                <a16:creationId xmlns:a16="http://schemas.microsoft.com/office/drawing/2014/main" id="{6B5CE871-DFA8-D4B5-8896-9093DED48686}"/>
              </a:ext>
            </a:extLst>
          </p:cNvPr>
          <p:cNvCxnSpPr/>
          <p:nvPr/>
        </p:nvCxnSpPr>
        <p:spPr>
          <a:xfrm>
            <a:off x="4826000" y="3187700"/>
            <a:ext cx="381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6D2A41D-8495-28FC-4F64-F3C195DBF9E8}"/>
              </a:ext>
            </a:extLst>
          </p:cNvPr>
          <p:cNvCxnSpPr/>
          <p:nvPr/>
        </p:nvCxnSpPr>
        <p:spPr>
          <a:xfrm>
            <a:off x="6985000" y="3187700"/>
            <a:ext cx="3810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BE7D552A-07A4-4F77-6983-DBE977789234}"/>
              </a:ext>
            </a:extLst>
          </p:cNvPr>
          <p:cNvSpPr txBox="1"/>
          <p:nvPr/>
        </p:nvSpPr>
        <p:spPr>
          <a:xfrm>
            <a:off x="685800" y="3873499"/>
            <a:ext cx="4140200" cy="457200"/>
          </a:xfrm>
          <a:prstGeom prst="rect">
            <a:avLst/>
          </a:prstGeom>
          <a:noFill/>
        </p:spPr>
        <p:txBody>
          <a:bodyPr vert="horz" wrap="square" lIns="0" tIns="0" rIns="0" bIns="0" rtlCol="0" anchor="t">
            <a:noAutofit/>
          </a:bodyPr>
          <a:lstStyle/>
          <a:p>
            <a:pPr algn="ctr"/>
            <a:r>
              <a:rPr lang="en-IL" sz="2400">
                <a:solidFill>
                  <a:srgbClr val="526477"/>
                </a:solidFill>
                <a:latin typeface="Consolas" panose="020B0609020204030204" pitchFamily="49" charset="0"/>
              </a:rPr>
              <a:t>std_msgs/msg/String</a:t>
            </a:r>
          </a:p>
        </p:txBody>
      </p:sp>
      <p:cxnSp>
        <p:nvCxnSpPr>
          <p:cNvPr id="17" name="Straight Connector 16">
            <a:extLst>
              <a:ext uri="{FF2B5EF4-FFF2-40B4-BE49-F238E27FC236}">
                <a16:creationId xmlns:a16="http://schemas.microsoft.com/office/drawing/2014/main" id="{F37684A2-467D-108D-B3C8-A74E042FD769}"/>
              </a:ext>
            </a:extLst>
          </p:cNvPr>
          <p:cNvCxnSpPr/>
          <p:nvPr/>
        </p:nvCxnSpPr>
        <p:spPr>
          <a:xfrm>
            <a:off x="6096000" y="3708400"/>
            <a:ext cx="0" cy="6477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B7BA8C2-05A9-F89F-0C6A-00BA6C02F848}"/>
              </a:ext>
            </a:extLst>
          </p:cNvPr>
          <p:cNvCxnSpPr/>
          <p:nvPr/>
        </p:nvCxnSpPr>
        <p:spPr>
          <a:xfrm>
            <a:off x="6096000" y="4356100"/>
            <a:ext cx="31115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59D4B3F0-BF5D-1182-95F3-CBFF3CC23312}"/>
              </a:ext>
            </a:extLst>
          </p:cNvPr>
          <p:cNvSpPr txBox="1"/>
          <p:nvPr/>
        </p:nvSpPr>
        <p:spPr>
          <a:xfrm>
            <a:off x="9423400" y="4190999"/>
            <a:ext cx="2082800" cy="4572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Another reader</a:t>
            </a:r>
          </a:p>
        </p:txBody>
      </p:sp>
      <p:sp>
        <p:nvSpPr>
          <p:cNvPr id="20" name="Rectangle: Rounded Corners 19">
            <a:extLst>
              <a:ext uri="{FF2B5EF4-FFF2-40B4-BE49-F238E27FC236}">
                <a16:creationId xmlns:a16="http://schemas.microsoft.com/office/drawing/2014/main" id="{6255F467-0EA1-4AC3-22DA-51E6FA3CBF3F}"/>
              </a:ext>
            </a:extLst>
          </p:cNvPr>
          <p:cNvSpPr/>
          <p:nvPr/>
        </p:nvSpPr>
        <p:spPr>
          <a:xfrm>
            <a:off x="685800" y="4889500"/>
            <a:ext cx="10820400" cy="1155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3E3975CE-9081-F3C4-BFC7-31301DE0DBC7}"/>
              </a:ext>
            </a:extLst>
          </p:cNvPr>
          <p:cNvSpPr txBox="1"/>
          <p:nvPr/>
        </p:nvSpPr>
        <p:spPr>
          <a:xfrm>
            <a:off x="939800" y="5079999"/>
            <a:ext cx="3048000" cy="4318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String interface</a:t>
            </a:r>
          </a:p>
        </p:txBody>
      </p:sp>
      <p:sp>
        <p:nvSpPr>
          <p:cNvPr id="22" name="text_21">
            <a:extLst>
              <a:ext uri="{FF2B5EF4-FFF2-40B4-BE49-F238E27FC236}">
                <a16:creationId xmlns:a16="http://schemas.microsoft.com/office/drawing/2014/main" id="{9BE6771D-98D5-A9FD-ED3B-52C66C1067A0}"/>
              </a:ext>
            </a:extLst>
          </p:cNvPr>
          <p:cNvSpPr txBox="1"/>
          <p:nvPr/>
        </p:nvSpPr>
        <p:spPr>
          <a:xfrm>
            <a:off x="939800" y="5562599"/>
            <a:ext cx="3048000" cy="3810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string data</a:t>
            </a:r>
          </a:p>
        </p:txBody>
      </p:sp>
      <p:sp>
        <p:nvSpPr>
          <p:cNvPr id="23" name="text_22">
            <a:extLst>
              <a:ext uri="{FF2B5EF4-FFF2-40B4-BE49-F238E27FC236}">
                <a16:creationId xmlns:a16="http://schemas.microsoft.com/office/drawing/2014/main" id="{FB273E40-CF2D-E4D8-FC57-EBB7A05B68EC}"/>
              </a:ext>
            </a:extLst>
          </p:cNvPr>
          <p:cNvSpPr txBox="1"/>
          <p:nvPr/>
        </p:nvSpPr>
        <p:spPr>
          <a:xfrm>
            <a:off x="4495800" y="5079999"/>
            <a:ext cx="6756400" cy="7874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message = String()
message.data = 'Hello, robotics!'</a:t>
            </a:r>
          </a:p>
        </p:txBody>
      </p:sp>
    </p:spTree>
    <p:extLst>
      <p:ext uri="{BB962C8B-B14F-4D97-AF65-F5344CB8AC3E}">
        <p14:creationId xmlns:p14="http://schemas.microsoft.com/office/powerpoint/2010/main" val="120851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2C48E28-76C3-A79B-5CF3-CAE00F5F61B4}"/>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579D5E35-7C6C-9C59-94E7-0DD5F70C2E8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Choose the right interface</a:t>
            </a:r>
          </a:p>
        </p:txBody>
      </p:sp>
      <p:sp>
        <p:nvSpPr>
          <p:cNvPr id="4" name="text_3">
            <a:extLst>
              <a:ext uri="{FF2B5EF4-FFF2-40B4-BE49-F238E27FC236}">
                <a16:creationId xmlns:a16="http://schemas.microsoft.com/office/drawing/2014/main" id="{1F975042-25E1-84B7-A8B3-AF8047F7313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Match the communication pattern to the task.</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5D801CB-EF66-38AD-CAB4-D3CF1C6E721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FED64CF-10B3-FE75-9689-D34EF9BDE51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7519DCC-AA6F-F840-89EF-8B8779A6376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Rectangle: Rounded Corners 7">
            <a:extLst>
              <a:ext uri="{FF2B5EF4-FFF2-40B4-BE49-F238E27FC236}">
                <a16:creationId xmlns:a16="http://schemas.microsoft.com/office/drawing/2014/main" id="{9503D996-DB29-E87E-3321-B0D3A26215B7}"/>
              </a:ext>
            </a:extLst>
          </p:cNvPr>
          <p:cNvSpPr/>
          <p:nvPr/>
        </p:nvSpPr>
        <p:spPr>
          <a:xfrm>
            <a:off x="685800" y="2565400"/>
            <a:ext cx="5257800" cy="1524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CBE2A0F-4982-AC6C-60B1-60FDBB2597AB}"/>
              </a:ext>
            </a:extLst>
          </p:cNvPr>
          <p:cNvSpPr txBox="1"/>
          <p:nvPr/>
        </p:nvSpPr>
        <p:spPr>
          <a:xfrm>
            <a:off x="939800" y="2692399"/>
            <a:ext cx="4749800" cy="4572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Topic</a:t>
            </a:r>
          </a:p>
        </p:txBody>
      </p:sp>
      <p:sp>
        <p:nvSpPr>
          <p:cNvPr id="10" name="text_9">
            <a:extLst>
              <a:ext uri="{FF2B5EF4-FFF2-40B4-BE49-F238E27FC236}">
                <a16:creationId xmlns:a16="http://schemas.microsoft.com/office/drawing/2014/main" id="{C49A2C50-B922-041C-36A6-4E5C40E5EB48}"/>
              </a:ext>
            </a:extLst>
          </p:cNvPr>
          <p:cNvSpPr txBox="1"/>
          <p:nvPr/>
        </p:nvSpPr>
        <p:spPr>
          <a:xfrm>
            <a:off x="939800" y="3187699"/>
            <a:ext cx="47498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data → data → data</a:t>
            </a:r>
          </a:p>
        </p:txBody>
      </p:sp>
      <p:sp>
        <p:nvSpPr>
          <p:cNvPr id="11" name="text_10">
            <a:extLst>
              <a:ext uri="{FF2B5EF4-FFF2-40B4-BE49-F238E27FC236}">
                <a16:creationId xmlns:a16="http://schemas.microsoft.com/office/drawing/2014/main" id="{C0BA8941-C0E7-F2B7-284B-D5516065793D}"/>
              </a:ext>
            </a:extLst>
          </p:cNvPr>
          <p:cNvSpPr txBox="1"/>
          <p:nvPr/>
        </p:nvSpPr>
        <p:spPr>
          <a:xfrm>
            <a:off x="939800" y="3619499"/>
            <a:ext cx="4749800" cy="381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Sensor readings</a:t>
            </a:r>
          </a:p>
        </p:txBody>
      </p:sp>
      <p:sp>
        <p:nvSpPr>
          <p:cNvPr id="12" name="Rectangle: Rounded Corners 11">
            <a:extLst>
              <a:ext uri="{FF2B5EF4-FFF2-40B4-BE49-F238E27FC236}">
                <a16:creationId xmlns:a16="http://schemas.microsoft.com/office/drawing/2014/main" id="{8D0F41BC-88E5-5651-105A-9D7AD2E581A6}"/>
              </a:ext>
            </a:extLst>
          </p:cNvPr>
          <p:cNvSpPr/>
          <p:nvPr/>
        </p:nvSpPr>
        <p:spPr>
          <a:xfrm>
            <a:off x="6248400" y="2565400"/>
            <a:ext cx="5257800" cy="1524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64209104-874E-33FC-73A4-D1CB68CDA5DE}"/>
              </a:ext>
            </a:extLst>
          </p:cNvPr>
          <p:cNvSpPr txBox="1"/>
          <p:nvPr/>
        </p:nvSpPr>
        <p:spPr>
          <a:xfrm>
            <a:off x="6502400" y="2692399"/>
            <a:ext cx="4749800" cy="4572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Service</a:t>
            </a:r>
          </a:p>
        </p:txBody>
      </p:sp>
      <p:sp>
        <p:nvSpPr>
          <p:cNvPr id="14" name="text_13">
            <a:extLst>
              <a:ext uri="{FF2B5EF4-FFF2-40B4-BE49-F238E27FC236}">
                <a16:creationId xmlns:a16="http://schemas.microsoft.com/office/drawing/2014/main" id="{E2D20E56-4ABB-8747-6B4A-7EB792846E01}"/>
              </a:ext>
            </a:extLst>
          </p:cNvPr>
          <p:cNvSpPr txBox="1"/>
          <p:nvPr/>
        </p:nvSpPr>
        <p:spPr>
          <a:xfrm>
            <a:off x="6502400" y="3187699"/>
            <a:ext cx="47498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request → response</a:t>
            </a:r>
          </a:p>
        </p:txBody>
      </p:sp>
      <p:sp>
        <p:nvSpPr>
          <p:cNvPr id="15" name="text_14">
            <a:extLst>
              <a:ext uri="{FF2B5EF4-FFF2-40B4-BE49-F238E27FC236}">
                <a16:creationId xmlns:a16="http://schemas.microsoft.com/office/drawing/2014/main" id="{2063A3B4-87FE-624A-845A-585681B26BAC}"/>
              </a:ext>
            </a:extLst>
          </p:cNvPr>
          <p:cNvSpPr txBox="1"/>
          <p:nvPr/>
        </p:nvSpPr>
        <p:spPr>
          <a:xfrm>
            <a:off x="6502400" y="3619499"/>
            <a:ext cx="4749800" cy="381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Reset odometry</a:t>
            </a:r>
          </a:p>
        </p:txBody>
      </p:sp>
      <p:sp>
        <p:nvSpPr>
          <p:cNvPr id="16" name="Rectangle: Rounded Corners 15">
            <a:extLst>
              <a:ext uri="{FF2B5EF4-FFF2-40B4-BE49-F238E27FC236}">
                <a16:creationId xmlns:a16="http://schemas.microsoft.com/office/drawing/2014/main" id="{D9E12D0E-8171-76B5-80B2-2BC28668CC35}"/>
              </a:ext>
            </a:extLst>
          </p:cNvPr>
          <p:cNvSpPr/>
          <p:nvPr/>
        </p:nvSpPr>
        <p:spPr>
          <a:xfrm>
            <a:off x="685800" y="4292600"/>
            <a:ext cx="5257800" cy="1524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9D74F196-B0BA-F740-0478-F20A5AA2D615}"/>
              </a:ext>
            </a:extLst>
          </p:cNvPr>
          <p:cNvSpPr txBox="1"/>
          <p:nvPr/>
        </p:nvSpPr>
        <p:spPr>
          <a:xfrm>
            <a:off x="939800" y="4419599"/>
            <a:ext cx="4749800" cy="4572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Action</a:t>
            </a:r>
          </a:p>
        </p:txBody>
      </p:sp>
      <p:sp>
        <p:nvSpPr>
          <p:cNvPr id="18" name="text_17">
            <a:extLst>
              <a:ext uri="{FF2B5EF4-FFF2-40B4-BE49-F238E27FC236}">
                <a16:creationId xmlns:a16="http://schemas.microsoft.com/office/drawing/2014/main" id="{E7D57BBC-FE86-412E-9E5F-36C146949602}"/>
              </a:ext>
            </a:extLst>
          </p:cNvPr>
          <p:cNvSpPr txBox="1"/>
          <p:nvPr/>
        </p:nvSpPr>
        <p:spPr>
          <a:xfrm>
            <a:off x="939800" y="4914899"/>
            <a:ext cx="47498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goal → feedback → result</a:t>
            </a:r>
          </a:p>
        </p:txBody>
      </p:sp>
      <p:sp>
        <p:nvSpPr>
          <p:cNvPr id="19" name="text_18">
            <a:extLst>
              <a:ext uri="{FF2B5EF4-FFF2-40B4-BE49-F238E27FC236}">
                <a16:creationId xmlns:a16="http://schemas.microsoft.com/office/drawing/2014/main" id="{CBC476A3-FE96-06CF-7E8E-5FC73468E57E}"/>
              </a:ext>
            </a:extLst>
          </p:cNvPr>
          <p:cNvSpPr txBox="1"/>
          <p:nvPr/>
        </p:nvSpPr>
        <p:spPr>
          <a:xfrm>
            <a:off x="939800" y="5346699"/>
            <a:ext cx="4749800" cy="381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Navigate + cancel</a:t>
            </a:r>
          </a:p>
        </p:txBody>
      </p:sp>
      <p:sp>
        <p:nvSpPr>
          <p:cNvPr id="20" name="Rectangle: Rounded Corners 19">
            <a:extLst>
              <a:ext uri="{FF2B5EF4-FFF2-40B4-BE49-F238E27FC236}">
                <a16:creationId xmlns:a16="http://schemas.microsoft.com/office/drawing/2014/main" id="{CBD840F0-08F2-709D-FEB4-ADBF374F91AB}"/>
              </a:ext>
            </a:extLst>
          </p:cNvPr>
          <p:cNvSpPr/>
          <p:nvPr/>
        </p:nvSpPr>
        <p:spPr>
          <a:xfrm>
            <a:off x="6248400" y="4292600"/>
            <a:ext cx="5257800" cy="1524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AB0AD87A-26F9-74D0-AE69-7FB5222226D5}"/>
              </a:ext>
            </a:extLst>
          </p:cNvPr>
          <p:cNvSpPr txBox="1"/>
          <p:nvPr/>
        </p:nvSpPr>
        <p:spPr>
          <a:xfrm>
            <a:off x="6502400" y="4419599"/>
            <a:ext cx="4749800" cy="4572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Parameter</a:t>
            </a:r>
          </a:p>
        </p:txBody>
      </p:sp>
      <p:sp>
        <p:nvSpPr>
          <p:cNvPr id="22" name="text_21">
            <a:extLst>
              <a:ext uri="{FF2B5EF4-FFF2-40B4-BE49-F238E27FC236}">
                <a16:creationId xmlns:a16="http://schemas.microsoft.com/office/drawing/2014/main" id="{2CCE19EB-1C3C-B9EE-B961-6D25A9DE001E}"/>
              </a:ext>
            </a:extLst>
          </p:cNvPr>
          <p:cNvSpPr txBox="1"/>
          <p:nvPr/>
        </p:nvSpPr>
        <p:spPr>
          <a:xfrm>
            <a:off x="6502400" y="4914899"/>
            <a:ext cx="47498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node configuration</a:t>
            </a:r>
          </a:p>
        </p:txBody>
      </p:sp>
      <p:sp>
        <p:nvSpPr>
          <p:cNvPr id="23" name="text_22">
            <a:extLst>
              <a:ext uri="{FF2B5EF4-FFF2-40B4-BE49-F238E27FC236}">
                <a16:creationId xmlns:a16="http://schemas.microsoft.com/office/drawing/2014/main" id="{19017D60-82FE-7FDF-172F-F763FADDD56B}"/>
              </a:ext>
            </a:extLst>
          </p:cNvPr>
          <p:cNvSpPr txBox="1"/>
          <p:nvPr/>
        </p:nvSpPr>
        <p:spPr>
          <a:xfrm>
            <a:off x="6502400" y="5346699"/>
            <a:ext cx="4749800" cy="381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Exposure / frame name</a:t>
            </a:r>
          </a:p>
        </p:txBody>
      </p:sp>
    </p:spTree>
    <p:extLst>
      <p:ext uri="{BB962C8B-B14F-4D97-AF65-F5344CB8AC3E}">
        <p14:creationId xmlns:p14="http://schemas.microsoft.com/office/powerpoint/2010/main" val="4098709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E071177-0CC6-C778-B859-321CF77DC0E3}"/>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9D94925A-B967-4F54-CEC8-FA080D0D924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ROS domain</a:t>
            </a:r>
          </a:p>
        </p:txBody>
      </p:sp>
      <p:sp>
        <p:nvSpPr>
          <p:cNvPr id="4" name="text_3">
            <a:extLst>
              <a:ext uri="{FF2B5EF4-FFF2-40B4-BE49-F238E27FC236}">
                <a16:creationId xmlns:a16="http://schemas.microsoft.com/office/drawing/2014/main" id="{C16F01C4-142E-695A-2C05-7888171F4C3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Nodes communicate locally or across computers in one ROS domain.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049B0B0-1642-4938-EA13-794C27C24BB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17AF361-6657-203F-D6B1-496B127D512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6C92099-F982-2080-982E-AD1CADD65F9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Rectangle: Rounded Corners 7">
            <a:extLst>
              <a:ext uri="{FF2B5EF4-FFF2-40B4-BE49-F238E27FC236}">
                <a16:creationId xmlns:a16="http://schemas.microsoft.com/office/drawing/2014/main" id="{849BE639-26FE-C2FE-F532-5CDD98ED8FD3}"/>
              </a:ext>
            </a:extLst>
          </p:cNvPr>
          <p:cNvSpPr/>
          <p:nvPr/>
        </p:nvSpPr>
        <p:spPr>
          <a:xfrm>
            <a:off x="685800" y="2451100"/>
            <a:ext cx="10820400" cy="3238500"/>
          </a:xfrm>
          <a:prstGeom prst="roundRect">
            <a:avLst>
              <a:gd name="adj" fmla="val 9000"/>
            </a:avLst>
          </a:prstGeom>
          <a:solidFill>
            <a:srgbClr val="FFFFFF"/>
          </a:solidFill>
          <a:ln w="16510">
            <a:solidFill>
              <a:srgbClr val="137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DE9D352-40B8-9171-B955-40B1030E62AB}"/>
              </a:ext>
            </a:extLst>
          </p:cNvPr>
          <p:cNvSpPr txBox="1"/>
          <p:nvPr/>
        </p:nvSpPr>
        <p:spPr>
          <a:xfrm>
            <a:off x="939800" y="2578099"/>
            <a:ext cx="7620000" cy="431800"/>
          </a:xfrm>
          <a:prstGeom prst="rect">
            <a:avLst/>
          </a:prstGeom>
          <a:noFill/>
        </p:spPr>
        <p:txBody>
          <a:bodyPr vert="horz" wrap="square" lIns="0" tIns="0" rIns="0" bIns="0" rtlCol="0" anchor="t">
            <a:noAutofit/>
          </a:bodyPr>
          <a:lstStyle/>
          <a:p>
            <a:r>
              <a:rPr lang="en-IL" sz="2400" b="1">
                <a:solidFill>
                  <a:srgbClr val="137F79"/>
                </a:solidFill>
                <a:latin typeface="Consolas" panose="020B0609020204030204" pitchFamily="49" charset="0"/>
              </a:rPr>
              <a:t>ROS_DOMAIN_ID = 42</a:t>
            </a:r>
          </a:p>
        </p:txBody>
      </p:sp>
      <p:sp>
        <p:nvSpPr>
          <p:cNvPr id="10" name="Rectangle: Rounded Corners 9">
            <a:extLst>
              <a:ext uri="{FF2B5EF4-FFF2-40B4-BE49-F238E27FC236}">
                <a16:creationId xmlns:a16="http://schemas.microsoft.com/office/drawing/2014/main" id="{9AC53B0A-F510-6294-7209-AC8FC755F540}"/>
              </a:ext>
            </a:extLst>
          </p:cNvPr>
          <p:cNvSpPr/>
          <p:nvPr/>
        </p:nvSpPr>
        <p:spPr>
          <a:xfrm>
            <a:off x="939800" y="3124200"/>
            <a:ext cx="3124200" cy="2413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Rounded Corners 10">
            <a:extLst>
              <a:ext uri="{FF2B5EF4-FFF2-40B4-BE49-F238E27FC236}">
                <a16:creationId xmlns:a16="http://schemas.microsoft.com/office/drawing/2014/main" id="{22118D81-8DAA-B9A7-9A0B-268E2CF3E9F4}"/>
              </a:ext>
            </a:extLst>
          </p:cNvPr>
          <p:cNvSpPr/>
          <p:nvPr/>
        </p:nvSpPr>
        <p:spPr>
          <a:xfrm>
            <a:off x="8128000" y="3124200"/>
            <a:ext cx="3124200" cy="2413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C930F72-854E-D269-DFE4-1A6BDB0941E4}"/>
              </a:ext>
            </a:extLst>
          </p:cNvPr>
          <p:cNvSpPr txBox="1"/>
          <p:nvPr/>
        </p:nvSpPr>
        <p:spPr>
          <a:xfrm>
            <a:off x="1143000" y="3200399"/>
            <a:ext cx="2717800" cy="4318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Robot computer</a:t>
            </a:r>
          </a:p>
        </p:txBody>
      </p:sp>
      <p:sp>
        <p:nvSpPr>
          <p:cNvPr id="13" name="text_12">
            <a:extLst>
              <a:ext uri="{FF2B5EF4-FFF2-40B4-BE49-F238E27FC236}">
                <a16:creationId xmlns:a16="http://schemas.microsoft.com/office/drawing/2014/main" id="{B1AF7F33-173F-17C9-6F88-96DE8DA133C2}"/>
              </a:ext>
            </a:extLst>
          </p:cNvPr>
          <p:cNvSpPr txBox="1"/>
          <p:nvPr/>
        </p:nvSpPr>
        <p:spPr>
          <a:xfrm>
            <a:off x="8331200" y="3200399"/>
            <a:ext cx="2717800" cy="4318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Operator computer</a:t>
            </a:r>
          </a:p>
        </p:txBody>
      </p:sp>
      <p:sp>
        <p:nvSpPr>
          <p:cNvPr id="14" name="Rectangle: Rounded Corners 13">
            <a:extLst>
              <a:ext uri="{FF2B5EF4-FFF2-40B4-BE49-F238E27FC236}">
                <a16:creationId xmlns:a16="http://schemas.microsoft.com/office/drawing/2014/main" id="{C1C75378-D9E6-488D-BB20-0DB6E038EB9B}"/>
              </a:ext>
            </a:extLst>
          </p:cNvPr>
          <p:cNvSpPr/>
          <p:nvPr/>
        </p:nvSpPr>
        <p:spPr>
          <a:xfrm>
            <a:off x="1143000" y="3632200"/>
            <a:ext cx="2717800" cy="431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Rounded Corners 14">
            <a:extLst>
              <a:ext uri="{FF2B5EF4-FFF2-40B4-BE49-F238E27FC236}">
                <a16:creationId xmlns:a16="http://schemas.microsoft.com/office/drawing/2014/main" id="{D6812619-EF89-BE30-B937-A815996949F8}"/>
              </a:ext>
            </a:extLst>
          </p:cNvPr>
          <p:cNvSpPr/>
          <p:nvPr/>
        </p:nvSpPr>
        <p:spPr>
          <a:xfrm>
            <a:off x="8331200" y="3632200"/>
            <a:ext cx="2717800" cy="431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4A0C2019-4040-4C70-613C-868654C18A8F}"/>
              </a:ext>
            </a:extLst>
          </p:cNvPr>
          <p:cNvSpPr txBox="1"/>
          <p:nvPr/>
        </p:nvSpPr>
        <p:spPr>
          <a:xfrm>
            <a:off x="1244600" y="3670299"/>
            <a:ext cx="2514600" cy="381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Camera node</a:t>
            </a:r>
          </a:p>
        </p:txBody>
      </p:sp>
      <p:sp>
        <p:nvSpPr>
          <p:cNvPr id="17" name="text_16">
            <a:extLst>
              <a:ext uri="{FF2B5EF4-FFF2-40B4-BE49-F238E27FC236}">
                <a16:creationId xmlns:a16="http://schemas.microsoft.com/office/drawing/2014/main" id="{B785A89A-007C-449D-DA4C-6CFDAA328DDF}"/>
              </a:ext>
            </a:extLst>
          </p:cNvPr>
          <p:cNvSpPr txBox="1"/>
          <p:nvPr/>
        </p:nvSpPr>
        <p:spPr>
          <a:xfrm>
            <a:off x="8432800" y="3670299"/>
            <a:ext cx="2514600" cy="381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Perception node</a:t>
            </a:r>
          </a:p>
        </p:txBody>
      </p:sp>
      <p:cxnSp>
        <p:nvCxnSpPr>
          <p:cNvPr id="18" name="Straight Connector 17">
            <a:extLst>
              <a:ext uri="{FF2B5EF4-FFF2-40B4-BE49-F238E27FC236}">
                <a16:creationId xmlns:a16="http://schemas.microsoft.com/office/drawing/2014/main" id="{31BE9135-7E52-179C-A306-C12AB4F8808D}"/>
              </a:ext>
            </a:extLst>
          </p:cNvPr>
          <p:cNvCxnSpPr/>
          <p:nvPr/>
        </p:nvCxnSpPr>
        <p:spPr>
          <a:xfrm>
            <a:off x="3860800" y="3848100"/>
            <a:ext cx="4470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3580E970-51E9-253A-F3F1-69A958740021}"/>
              </a:ext>
            </a:extLst>
          </p:cNvPr>
          <p:cNvSpPr txBox="1"/>
          <p:nvPr/>
        </p:nvSpPr>
        <p:spPr>
          <a:xfrm>
            <a:off x="4191000" y="3416299"/>
            <a:ext cx="3810000" cy="3810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Topic: images</a:t>
            </a:r>
          </a:p>
        </p:txBody>
      </p:sp>
      <p:sp>
        <p:nvSpPr>
          <p:cNvPr id="20" name="Rectangle: Rounded Corners 19">
            <a:extLst>
              <a:ext uri="{FF2B5EF4-FFF2-40B4-BE49-F238E27FC236}">
                <a16:creationId xmlns:a16="http://schemas.microsoft.com/office/drawing/2014/main" id="{5AF880CF-0075-632C-7818-F43022772BF3}"/>
              </a:ext>
            </a:extLst>
          </p:cNvPr>
          <p:cNvSpPr/>
          <p:nvPr/>
        </p:nvSpPr>
        <p:spPr>
          <a:xfrm>
            <a:off x="1143000" y="4343400"/>
            <a:ext cx="2717800" cy="431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Rounded Corners 20">
            <a:extLst>
              <a:ext uri="{FF2B5EF4-FFF2-40B4-BE49-F238E27FC236}">
                <a16:creationId xmlns:a16="http://schemas.microsoft.com/office/drawing/2014/main" id="{6401BECC-3C62-CD95-263A-E7ABDEA0B010}"/>
              </a:ext>
            </a:extLst>
          </p:cNvPr>
          <p:cNvSpPr/>
          <p:nvPr/>
        </p:nvSpPr>
        <p:spPr>
          <a:xfrm>
            <a:off x="8331200" y="4343400"/>
            <a:ext cx="2717800" cy="431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399110FA-8949-A790-1635-A6EB4B1A3C53}"/>
              </a:ext>
            </a:extLst>
          </p:cNvPr>
          <p:cNvSpPr txBox="1"/>
          <p:nvPr/>
        </p:nvSpPr>
        <p:spPr>
          <a:xfrm>
            <a:off x="1244600" y="4381499"/>
            <a:ext cx="2514600" cy="381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Motor node</a:t>
            </a:r>
          </a:p>
        </p:txBody>
      </p:sp>
      <p:sp>
        <p:nvSpPr>
          <p:cNvPr id="23" name="text_22">
            <a:extLst>
              <a:ext uri="{FF2B5EF4-FFF2-40B4-BE49-F238E27FC236}">
                <a16:creationId xmlns:a16="http://schemas.microsoft.com/office/drawing/2014/main" id="{03463AA8-489C-F048-888A-020206F790F0}"/>
              </a:ext>
            </a:extLst>
          </p:cNvPr>
          <p:cNvSpPr txBox="1"/>
          <p:nvPr/>
        </p:nvSpPr>
        <p:spPr>
          <a:xfrm>
            <a:off x="8432800" y="4381499"/>
            <a:ext cx="2514600" cy="381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Diagnostics node</a:t>
            </a:r>
          </a:p>
        </p:txBody>
      </p:sp>
      <p:cxnSp>
        <p:nvCxnSpPr>
          <p:cNvPr id="24" name="Straight Connector 23">
            <a:extLst>
              <a:ext uri="{FF2B5EF4-FFF2-40B4-BE49-F238E27FC236}">
                <a16:creationId xmlns:a16="http://schemas.microsoft.com/office/drawing/2014/main" id="{412CA66A-6C46-A2BF-3962-9E7250C44BC3}"/>
              </a:ext>
            </a:extLst>
          </p:cNvPr>
          <p:cNvCxnSpPr/>
          <p:nvPr/>
        </p:nvCxnSpPr>
        <p:spPr>
          <a:xfrm>
            <a:off x="3860800" y="4559300"/>
            <a:ext cx="4470400" cy="0"/>
          </a:xfrm>
          <a:prstGeom prst="line">
            <a:avLst/>
          </a:prstGeom>
          <a:ln w="27940">
            <a:solidFill>
              <a:srgbClr val="137F79"/>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5" name="text_24">
            <a:extLst>
              <a:ext uri="{FF2B5EF4-FFF2-40B4-BE49-F238E27FC236}">
                <a16:creationId xmlns:a16="http://schemas.microsoft.com/office/drawing/2014/main" id="{2545FD7A-553B-E650-7101-443764982939}"/>
              </a:ext>
            </a:extLst>
          </p:cNvPr>
          <p:cNvSpPr txBox="1"/>
          <p:nvPr/>
        </p:nvSpPr>
        <p:spPr>
          <a:xfrm>
            <a:off x="4191000" y="4127499"/>
            <a:ext cx="3810000" cy="3810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Service: reset</a:t>
            </a:r>
          </a:p>
        </p:txBody>
      </p:sp>
      <p:sp>
        <p:nvSpPr>
          <p:cNvPr id="26" name="Rectangle: Rounded Corners 25">
            <a:extLst>
              <a:ext uri="{FF2B5EF4-FFF2-40B4-BE49-F238E27FC236}">
                <a16:creationId xmlns:a16="http://schemas.microsoft.com/office/drawing/2014/main" id="{3F4B3AAD-804B-AD9C-6759-A52E2AE6F8CE}"/>
              </a:ext>
            </a:extLst>
          </p:cNvPr>
          <p:cNvSpPr/>
          <p:nvPr/>
        </p:nvSpPr>
        <p:spPr>
          <a:xfrm>
            <a:off x="1143000" y="5054600"/>
            <a:ext cx="2717800" cy="431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Rounded Corners 26">
            <a:extLst>
              <a:ext uri="{FF2B5EF4-FFF2-40B4-BE49-F238E27FC236}">
                <a16:creationId xmlns:a16="http://schemas.microsoft.com/office/drawing/2014/main" id="{E5894AC9-10EE-81A5-946C-4834F38F6B4F}"/>
              </a:ext>
            </a:extLst>
          </p:cNvPr>
          <p:cNvSpPr/>
          <p:nvPr/>
        </p:nvSpPr>
        <p:spPr>
          <a:xfrm>
            <a:off x="8331200" y="5054600"/>
            <a:ext cx="2717800" cy="431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text_27">
            <a:extLst>
              <a:ext uri="{FF2B5EF4-FFF2-40B4-BE49-F238E27FC236}">
                <a16:creationId xmlns:a16="http://schemas.microsoft.com/office/drawing/2014/main" id="{B43B9705-7B53-C2D4-6142-D73158464CAD}"/>
              </a:ext>
            </a:extLst>
          </p:cNvPr>
          <p:cNvSpPr txBox="1"/>
          <p:nvPr/>
        </p:nvSpPr>
        <p:spPr>
          <a:xfrm>
            <a:off x="1244600" y="5092699"/>
            <a:ext cx="2514600" cy="381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Navigation node</a:t>
            </a:r>
          </a:p>
        </p:txBody>
      </p:sp>
      <p:sp>
        <p:nvSpPr>
          <p:cNvPr id="29" name="text_28">
            <a:extLst>
              <a:ext uri="{FF2B5EF4-FFF2-40B4-BE49-F238E27FC236}">
                <a16:creationId xmlns:a16="http://schemas.microsoft.com/office/drawing/2014/main" id="{91365FF3-82F0-3142-BEC2-254351979176}"/>
              </a:ext>
            </a:extLst>
          </p:cNvPr>
          <p:cNvSpPr txBox="1"/>
          <p:nvPr/>
        </p:nvSpPr>
        <p:spPr>
          <a:xfrm>
            <a:off x="8432800" y="5092699"/>
            <a:ext cx="2514600" cy="381000"/>
          </a:xfrm>
          <a:prstGeom prst="rect">
            <a:avLst/>
          </a:prstGeom>
          <a:noFill/>
        </p:spPr>
        <p:txBody>
          <a:bodyPr vert="horz" wrap="square" lIns="0" tIns="0" rIns="0" bIns="0" rtlCol="0" anchor="t">
            <a:noAutofit/>
          </a:bodyPr>
          <a:lstStyle/>
          <a:p>
            <a:pPr algn="ctr"/>
            <a:r>
              <a:rPr lang="en-IL" sz="2400" b="1">
                <a:solidFill>
                  <a:srgbClr val="15283B"/>
                </a:solidFill>
                <a:latin typeface="Aptos" panose="020B0004020202020204" pitchFamily="34" charset="0"/>
              </a:rPr>
              <a:t>Mission node</a:t>
            </a:r>
          </a:p>
        </p:txBody>
      </p:sp>
      <p:cxnSp>
        <p:nvCxnSpPr>
          <p:cNvPr id="30" name="Straight Connector 29">
            <a:extLst>
              <a:ext uri="{FF2B5EF4-FFF2-40B4-BE49-F238E27FC236}">
                <a16:creationId xmlns:a16="http://schemas.microsoft.com/office/drawing/2014/main" id="{EA0A8FD3-499A-E87D-3D90-FCA105FC1875}"/>
              </a:ext>
            </a:extLst>
          </p:cNvPr>
          <p:cNvCxnSpPr/>
          <p:nvPr/>
        </p:nvCxnSpPr>
        <p:spPr>
          <a:xfrm>
            <a:off x="3860800" y="5270500"/>
            <a:ext cx="4470400" cy="0"/>
          </a:xfrm>
          <a:prstGeom prst="line">
            <a:avLst/>
          </a:prstGeom>
          <a:ln w="27940">
            <a:solidFill>
              <a:srgbClr val="2459D3"/>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1" name="text_30">
            <a:extLst>
              <a:ext uri="{FF2B5EF4-FFF2-40B4-BE49-F238E27FC236}">
                <a16:creationId xmlns:a16="http://schemas.microsoft.com/office/drawing/2014/main" id="{6AE96998-EF4A-A96A-B0C3-65614B575704}"/>
              </a:ext>
            </a:extLst>
          </p:cNvPr>
          <p:cNvSpPr txBox="1"/>
          <p:nvPr/>
        </p:nvSpPr>
        <p:spPr>
          <a:xfrm>
            <a:off x="4191000" y="4838699"/>
            <a:ext cx="3810000" cy="3810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Action: navigate</a:t>
            </a:r>
          </a:p>
        </p:txBody>
      </p:sp>
      <p:cxnSp>
        <p:nvCxnSpPr>
          <p:cNvPr id="32" name="Straight Connector 31">
            <a:extLst>
              <a:ext uri="{FF2B5EF4-FFF2-40B4-BE49-F238E27FC236}">
                <a16:creationId xmlns:a16="http://schemas.microsoft.com/office/drawing/2014/main" id="{559CA4E5-4D95-9432-6999-944CB364C8F2}"/>
              </a:ext>
            </a:extLst>
          </p:cNvPr>
          <p:cNvCxnSpPr/>
          <p:nvPr/>
        </p:nvCxnSpPr>
        <p:spPr>
          <a:xfrm flipV="1">
            <a:off x="2501900" y="4775200"/>
            <a:ext cx="0" cy="2794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33" name="text_32">
            <a:extLst>
              <a:ext uri="{FF2B5EF4-FFF2-40B4-BE49-F238E27FC236}">
                <a16:creationId xmlns:a16="http://schemas.microsoft.com/office/drawing/2014/main" id="{23AAA93F-47AC-AFEF-7AEF-055E371D663E}"/>
              </a:ext>
            </a:extLst>
          </p:cNvPr>
          <p:cNvSpPr txBox="1"/>
          <p:nvPr/>
        </p:nvSpPr>
        <p:spPr>
          <a:xfrm>
            <a:off x="685800" y="5829299"/>
            <a:ext cx="108204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Same domain + reachable network + compatible interfaces.</a:t>
            </a:r>
          </a:p>
        </p:txBody>
      </p:sp>
    </p:spTree>
    <p:extLst>
      <p:ext uri="{BB962C8B-B14F-4D97-AF65-F5344CB8AC3E}">
        <p14:creationId xmlns:p14="http://schemas.microsoft.com/office/powerpoint/2010/main" val="2577547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7414B32-DB47-0867-3E70-C630234D28B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37E8A3C5-60ED-7F71-B54B-EF74431C880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3800" b="1">
                <a:solidFill>
                  <a:srgbClr val="15283B"/>
                </a:solidFill>
                <a:latin typeface="Aptos" panose="020B0004020202020204" pitchFamily="34" charset="0"/>
              </a:rPr>
              <a:t>ROS 2 communication behind the scenes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0166E08-725D-6F16-8900-5324A38C2F5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500">
                <a:solidFill>
                  <a:srgbClr val="526477"/>
                </a:solidFill>
                <a:latin typeface="Aptos" panose="020B0004020202020204" pitchFamily="34" charset="0"/>
              </a:rPr>
              <a:t>DDS = Data Distribution Service: discovery and message exchange.</a:t>
            </a:r>
          </a:p>
        </p:txBody>
      </p:sp>
      <p:cxnSp>
        <p:nvCxnSpPr>
          <p:cNvPr id="5" name="Straight Connector 4">
            <a:extLst>
              <a:ext uri="{FF2B5EF4-FFF2-40B4-BE49-F238E27FC236}">
                <a16:creationId xmlns:a16="http://schemas.microsoft.com/office/drawing/2014/main" id="{60CCFF35-D189-32BB-BD95-551BFEC89B8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C206835-27A8-D161-9513-9DE24F46F5F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363F286-C54E-A645-0CBE-22FBC76BA34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Rectangle: Rounded Corners 7">
            <a:extLst>
              <a:ext uri="{FF2B5EF4-FFF2-40B4-BE49-F238E27FC236}">
                <a16:creationId xmlns:a16="http://schemas.microsoft.com/office/drawing/2014/main" id="{3FDA8E70-13EB-4DE2-66CB-4EC24B6D7B7C}"/>
              </a:ext>
            </a:extLst>
          </p:cNvPr>
          <p:cNvSpPr/>
          <p:nvPr/>
        </p:nvSpPr>
        <p:spPr>
          <a:xfrm>
            <a:off x="685800" y="2463800"/>
            <a:ext cx="4368800" cy="4826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F97A018F-5D9B-0FFC-D782-6381B55274F3}"/>
              </a:ext>
            </a:extLst>
          </p:cNvPr>
          <p:cNvSpPr txBox="1"/>
          <p:nvPr/>
        </p:nvSpPr>
        <p:spPr>
          <a:xfrm>
            <a:off x="838200" y="2501899"/>
            <a:ext cx="40640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Application</a:t>
            </a:r>
          </a:p>
        </p:txBody>
      </p:sp>
      <p:cxnSp>
        <p:nvCxnSpPr>
          <p:cNvPr id="10" name="Straight Connector 9">
            <a:extLst>
              <a:ext uri="{FF2B5EF4-FFF2-40B4-BE49-F238E27FC236}">
                <a16:creationId xmlns:a16="http://schemas.microsoft.com/office/drawing/2014/main" id="{C9E3E2E4-C1F4-5B2A-D932-3651BF3AB1A2}"/>
              </a:ext>
            </a:extLst>
          </p:cNvPr>
          <p:cNvCxnSpPr/>
          <p:nvPr/>
        </p:nvCxnSpPr>
        <p:spPr>
          <a:xfrm>
            <a:off x="2870200" y="2946400"/>
            <a:ext cx="0" cy="88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082313E2-6E23-9CBF-EAF0-8C8830AC24EB}"/>
              </a:ext>
            </a:extLst>
          </p:cNvPr>
          <p:cNvSpPr/>
          <p:nvPr/>
        </p:nvSpPr>
        <p:spPr>
          <a:xfrm>
            <a:off x="685800" y="3035300"/>
            <a:ext cx="4368800" cy="482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1E96A1C7-9891-E2E5-5803-6A4099792047}"/>
              </a:ext>
            </a:extLst>
          </p:cNvPr>
          <p:cNvSpPr txBox="1"/>
          <p:nvPr/>
        </p:nvSpPr>
        <p:spPr>
          <a:xfrm>
            <a:off x="838200" y="3073399"/>
            <a:ext cx="40640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rclpy / rclcpp</a:t>
            </a:r>
          </a:p>
        </p:txBody>
      </p:sp>
      <p:cxnSp>
        <p:nvCxnSpPr>
          <p:cNvPr id="13" name="Straight Connector 12">
            <a:extLst>
              <a:ext uri="{FF2B5EF4-FFF2-40B4-BE49-F238E27FC236}">
                <a16:creationId xmlns:a16="http://schemas.microsoft.com/office/drawing/2014/main" id="{0E95B540-7263-FA56-7752-D6539A0CC776}"/>
              </a:ext>
            </a:extLst>
          </p:cNvPr>
          <p:cNvCxnSpPr/>
          <p:nvPr/>
        </p:nvCxnSpPr>
        <p:spPr>
          <a:xfrm>
            <a:off x="2870200" y="3517900"/>
            <a:ext cx="0" cy="88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47189B92-B382-9923-F135-5EFD09537ECB}"/>
              </a:ext>
            </a:extLst>
          </p:cNvPr>
          <p:cNvSpPr/>
          <p:nvPr/>
        </p:nvSpPr>
        <p:spPr>
          <a:xfrm>
            <a:off x="685800" y="3606800"/>
            <a:ext cx="4368800" cy="4826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4C3E1048-19AA-11CC-D05C-88530B4D74BE}"/>
              </a:ext>
            </a:extLst>
          </p:cNvPr>
          <p:cNvSpPr txBox="1"/>
          <p:nvPr/>
        </p:nvSpPr>
        <p:spPr>
          <a:xfrm>
            <a:off x="838200" y="3644899"/>
            <a:ext cx="40640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rcl: shared C core</a:t>
            </a:r>
          </a:p>
        </p:txBody>
      </p:sp>
      <p:cxnSp>
        <p:nvCxnSpPr>
          <p:cNvPr id="16" name="Straight Connector 15">
            <a:extLst>
              <a:ext uri="{FF2B5EF4-FFF2-40B4-BE49-F238E27FC236}">
                <a16:creationId xmlns:a16="http://schemas.microsoft.com/office/drawing/2014/main" id="{F2F2A8FE-92BC-29AF-3790-927739ABD11A}"/>
              </a:ext>
            </a:extLst>
          </p:cNvPr>
          <p:cNvCxnSpPr/>
          <p:nvPr/>
        </p:nvCxnSpPr>
        <p:spPr>
          <a:xfrm>
            <a:off x="2870200" y="4089400"/>
            <a:ext cx="0" cy="88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9AFEBAA5-17F4-3AE2-36CA-D9D135121610}"/>
              </a:ext>
            </a:extLst>
          </p:cNvPr>
          <p:cNvSpPr/>
          <p:nvPr/>
        </p:nvSpPr>
        <p:spPr>
          <a:xfrm>
            <a:off x="685800" y="4178300"/>
            <a:ext cx="4368800" cy="482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600FC002-8D29-ED99-D638-D65132133470}"/>
              </a:ext>
            </a:extLst>
          </p:cNvPr>
          <p:cNvSpPr txBox="1"/>
          <p:nvPr/>
        </p:nvSpPr>
        <p:spPr>
          <a:xfrm>
            <a:off x="838200" y="4216399"/>
            <a:ext cx="40640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rmw: adapter interface</a:t>
            </a:r>
          </a:p>
        </p:txBody>
      </p:sp>
      <p:cxnSp>
        <p:nvCxnSpPr>
          <p:cNvPr id="19" name="Straight Connector 18">
            <a:extLst>
              <a:ext uri="{FF2B5EF4-FFF2-40B4-BE49-F238E27FC236}">
                <a16:creationId xmlns:a16="http://schemas.microsoft.com/office/drawing/2014/main" id="{599557A6-A200-2EFD-20FB-C56A673BB1ED}"/>
              </a:ext>
            </a:extLst>
          </p:cNvPr>
          <p:cNvCxnSpPr/>
          <p:nvPr/>
        </p:nvCxnSpPr>
        <p:spPr>
          <a:xfrm>
            <a:off x="2870200" y="4660900"/>
            <a:ext cx="0" cy="88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6543CDF3-F87E-4989-4DE8-282DB66B9BC4}"/>
              </a:ext>
            </a:extLst>
          </p:cNvPr>
          <p:cNvSpPr/>
          <p:nvPr/>
        </p:nvSpPr>
        <p:spPr>
          <a:xfrm>
            <a:off x="685800" y="4749800"/>
            <a:ext cx="4368800" cy="4826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B4108994-EC4B-3266-82F1-E72D04E46372}"/>
              </a:ext>
            </a:extLst>
          </p:cNvPr>
          <p:cNvSpPr txBox="1"/>
          <p:nvPr/>
        </p:nvSpPr>
        <p:spPr>
          <a:xfrm>
            <a:off x="838200" y="4787899"/>
            <a:ext cx="40640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DDS implementation</a:t>
            </a:r>
          </a:p>
        </p:txBody>
      </p:sp>
      <p:cxnSp>
        <p:nvCxnSpPr>
          <p:cNvPr id="22" name="Straight Connector 21">
            <a:extLst>
              <a:ext uri="{FF2B5EF4-FFF2-40B4-BE49-F238E27FC236}">
                <a16:creationId xmlns:a16="http://schemas.microsoft.com/office/drawing/2014/main" id="{D2AA5C60-A093-7C5C-5301-938A67B2FE6E}"/>
              </a:ext>
            </a:extLst>
          </p:cNvPr>
          <p:cNvCxnSpPr/>
          <p:nvPr/>
        </p:nvCxnSpPr>
        <p:spPr>
          <a:xfrm>
            <a:off x="2870200" y="5232400"/>
            <a:ext cx="0" cy="88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4A7B5859-9218-AE68-7F74-0C8AF24CE5CB}"/>
              </a:ext>
            </a:extLst>
          </p:cNvPr>
          <p:cNvSpPr/>
          <p:nvPr/>
        </p:nvSpPr>
        <p:spPr>
          <a:xfrm>
            <a:off x="685800" y="5321300"/>
            <a:ext cx="4368800" cy="482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5BA0FF99-7201-3E52-AE3B-E88A2BE21CCA}"/>
              </a:ext>
            </a:extLst>
          </p:cNvPr>
          <p:cNvSpPr txBox="1"/>
          <p:nvPr/>
        </p:nvSpPr>
        <p:spPr>
          <a:xfrm>
            <a:off x="838200" y="5359399"/>
            <a:ext cx="40640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Transport</a:t>
            </a:r>
          </a:p>
        </p:txBody>
      </p:sp>
      <p:sp>
        <p:nvSpPr>
          <p:cNvPr id="25" name="Rectangle: Rounded Corners 24">
            <a:extLst>
              <a:ext uri="{FF2B5EF4-FFF2-40B4-BE49-F238E27FC236}">
                <a16:creationId xmlns:a16="http://schemas.microsoft.com/office/drawing/2014/main" id="{1D6BE671-26C3-DC42-89E9-67BA89136911}"/>
              </a:ext>
            </a:extLst>
          </p:cNvPr>
          <p:cNvSpPr/>
          <p:nvPr/>
        </p:nvSpPr>
        <p:spPr>
          <a:xfrm>
            <a:off x="5562600" y="2667000"/>
            <a:ext cx="2540000" cy="939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_25">
            <a:extLst>
              <a:ext uri="{FF2B5EF4-FFF2-40B4-BE49-F238E27FC236}">
                <a16:creationId xmlns:a16="http://schemas.microsoft.com/office/drawing/2014/main" id="{5B30A216-F9A1-06A7-9C36-E355F7378483}"/>
              </a:ext>
            </a:extLst>
          </p:cNvPr>
          <p:cNvSpPr txBox="1"/>
          <p:nvPr/>
        </p:nvSpPr>
        <p:spPr>
          <a:xfrm>
            <a:off x="5689600" y="2857499"/>
            <a:ext cx="2286000" cy="571500"/>
          </a:xfrm>
          <a:prstGeom prst="rect">
            <a:avLst/>
          </a:prstGeom>
          <a:noFill/>
        </p:spPr>
        <p:txBody>
          <a:bodyPr vert="horz" wrap="square" lIns="0" tIns="0" rIns="0" bIns="0" rtlCol="0" anchor="t">
            <a:noAutofit/>
          </a:bodyPr>
          <a:lstStyle/>
          <a:p>
            <a:pPr algn="ctr"/>
            <a:r>
              <a:rPr lang="en-IL" sz="2600" b="1">
                <a:solidFill>
                  <a:srgbClr val="2459D3"/>
                </a:solidFill>
                <a:latin typeface="Aptos" panose="020B0004020202020204" pitchFamily="34" charset="0"/>
              </a:rPr>
              <a:t>DataWriter</a:t>
            </a:r>
          </a:p>
        </p:txBody>
      </p:sp>
      <p:sp>
        <p:nvSpPr>
          <p:cNvPr id="27" name="Rectangle: Rounded Corners 26">
            <a:extLst>
              <a:ext uri="{FF2B5EF4-FFF2-40B4-BE49-F238E27FC236}">
                <a16:creationId xmlns:a16="http://schemas.microsoft.com/office/drawing/2014/main" id="{D5E12E40-345B-A2EA-E18C-2690EAC0D15B}"/>
              </a:ext>
            </a:extLst>
          </p:cNvPr>
          <p:cNvSpPr/>
          <p:nvPr/>
        </p:nvSpPr>
        <p:spPr>
          <a:xfrm>
            <a:off x="8966200" y="2667000"/>
            <a:ext cx="2540000" cy="939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text_27">
            <a:extLst>
              <a:ext uri="{FF2B5EF4-FFF2-40B4-BE49-F238E27FC236}">
                <a16:creationId xmlns:a16="http://schemas.microsoft.com/office/drawing/2014/main" id="{3C8B0D92-DAC4-75E3-4DF9-BF0AAB62C79B}"/>
              </a:ext>
            </a:extLst>
          </p:cNvPr>
          <p:cNvSpPr txBox="1"/>
          <p:nvPr/>
        </p:nvSpPr>
        <p:spPr>
          <a:xfrm>
            <a:off x="9093200" y="2857499"/>
            <a:ext cx="2286000" cy="571500"/>
          </a:xfrm>
          <a:prstGeom prst="rect">
            <a:avLst/>
          </a:prstGeom>
          <a:noFill/>
        </p:spPr>
        <p:txBody>
          <a:bodyPr vert="horz" wrap="square" lIns="0" tIns="0" rIns="0" bIns="0" rtlCol="0" anchor="t">
            <a:noAutofit/>
          </a:bodyPr>
          <a:lstStyle/>
          <a:p>
            <a:pPr algn="ctr"/>
            <a:r>
              <a:rPr lang="en-IL" sz="2600" b="1">
                <a:solidFill>
                  <a:srgbClr val="137F79"/>
                </a:solidFill>
                <a:latin typeface="Aptos" panose="020B0004020202020204" pitchFamily="34" charset="0"/>
              </a:rPr>
              <a:t>DataReader</a:t>
            </a:r>
          </a:p>
        </p:txBody>
      </p:sp>
      <p:cxnSp>
        <p:nvCxnSpPr>
          <p:cNvPr id="29" name="Straight Connector 28">
            <a:extLst>
              <a:ext uri="{FF2B5EF4-FFF2-40B4-BE49-F238E27FC236}">
                <a16:creationId xmlns:a16="http://schemas.microsoft.com/office/drawing/2014/main" id="{29881F51-6D9A-F9E6-A437-4155EA4BB77C}"/>
              </a:ext>
            </a:extLst>
          </p:cNvPr>
          <p:cNvCxnSpPr/>
          <p:nvPr/>
        </p:nvCxnSpPr>
        <p:spPr>
          <a:xfrm>
            <a:off x="6832600" y="3937000"/>
            <a:ext cx="3403600" cy="0"/>
          </a:xfrm>
          <a:prstGeom prst="line">
            <a:avLst/>
          </a:prstGeom>
          <a:ln w="27940">
            <a:solidFill>
              <a:srgbClr val="137F79"/>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30" name="text_29">
            <a:extLst>
              <a:ext uri="{FF2B5EF4-FFF2-40B4-BE49-F238E27FC236}">
                <a16:creationId xmlns:a16="http://schemas.microsoft.com/office/drawing/2014/main" id="{40507DE4-6254-4037-E627-691B7FFF56AA}"/>
              </a:ext>
            </a:extLst>
          </p:cNvPr>
          <p:cNvSpPr txBox="1"/>
          <p:nvPr/>
        </p:nvSpPr>
        <p:spPr>
          <a:xfrm>
            <a:off x="6794500" y="4063999"/>
            <a:ext cx="3479800" cy="4318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Discover + match</a:t>
            </a:r>
          </a:p>
        </p:txBody>
      </p:sp>
      <p:cxnSp>
        <p:nvCxnSpPr>
          <p:cNvPr id="31" name="Straight Connector 30">
            <a:extLst>
              <a:ext uri="{FF2B5EF4-FFF2-40B4-BE49-F238E27FC236}">
                <a16:creationId xmlns:a16="http://schemas.microsoft.com/office/drawing/2014/main" id="{4822DCA7-D76B-066F-8818-05A20AA63F68}"/>
              </a:ext>
            </a:extLst>
          </p:cNvPr>
          <p:cNvCxnSpPr/>
          <p:nvPr/>
        </p:nvCxnSpPr>
        <p:spPr>
          <a:xfrm>
            <a:off x="6832600" y="4800600"/>
            <a:ext cx="34036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32" name="text_31">
            <a:extLst>
              <a:ext uri="{FF2B5EF4-FFF2-40B4-BE49-F238E27FC236}">
                <a16:creationId xmlns:a16="http://schemas.microsoft.com/office/drawing/2014/main" id="{7C203DE2-49DC-A9EC-AB9D-288113B9017F}"/>
              </a:ext>
            </a:extLst>
          </p:cNvPr>
          <p:cNvSpPr txBox="1"/>
          <p:nvPr/>
        </p:nvSpPr>
        <p:spPr>
          <a:xfrm>
            <a:off x="6731000" y="4940299"/>
            <a:ext cx="3657600" cy="4318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Serialize → deliver</a:t>
            </a:r>
          </a:p>
        </p:txBody>
      </p:sp>
      <p:sp>
        <p:nvSpPr>
          <p:cNvPr id="33" name="text_32">
            <a:extLst>
              <a:ext uri="{FF2B5EF4-FFF2-40B4-BE49-F238E27FC236}">
                <a16:creationId xmlns:a16="http://schemas.microsoft.com/office/drawing/2014/main" id="{053D5A44-E376-1B13-93A6-1C7E0A3EAB17}"/>
              </a:ext>
            </a:extLst>
          </p:cNvPr>
          <p:cNvSpPr txBox="1"/>
          <p:nvPr/>
        </p:nvSpPr>
        <p:spPr>
          <a:xfrm>
            <a:off x="5562600" y="5410200"/>
            <a:ext cx="5943600" cy="4445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Shared domain · type · compatible QoS</a:t>
            </a:r>
            <a:endParaRPr lang="en-IL" sz="2400">
              <a:solidFill>
                <a:srgbClr val="526477"/>
              </a:solidFill>
              <a:latin typeface="Aptos" panose="020B0004020202020204" pitchFamily="34" charset="0"/>
            </a:endParaRPr>
          </a:p>
        </p:txBody>
      </p:sp>
      <p:sp>
        <p:nvSpPr>
          <p:cNvPr id="34" name="TextBox 33"/>
          <p:cNvSpPr txBox="1"/>
          <p:nvPr/>
        </p:nvSpPr>
        <p:spPr>
          <a:xfrm>
            <a:off x="685800" y="5892800"/>
            <a:ext cx="10820400" cy="35560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526477"/>
                </a:solidFill>
                <a:latin typeface="Aptos"/>
              </a:rPr>
              <a:t>Middleware and communication settings can be configured when needed.</a:t>
            </a:r>
          </a:p>
        </p:txBody>
      </p:sp>
    </p:spTree>
    <p:extLst>
      <p:ext uri="{BB962C8B-B14F-4D97-AF65-F5344CB8AC3E}">
        <p14:creationId xmlns:p14="http://schemas.microsoft.com/office/powerpoint/2010/main" val="2753054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4186374-7D2C-C12E-3E82-E0A212FEAA1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4C3C784B-9BD7-F5F7-E97B-E48EEDC51D5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QoS shapes delivery</a:t>
            </a:r>
          </a:p>
        </p:txBody>
      </p:sp>
      <p:sp>
        <p:nvSpPr>
          <p:cNvPr id="4" name="text_3">
            <a:extLst>
              <a:ext uri="{FF2B5EF4-FFF2-40B4-BE49-F238E27FC236}">
                <a16:creationId xmlns:a16="http://schemas.microsoft.com/office/drawing/2014/main" id="{6A628719-253E-8820-9DEA-0D646494DF1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Quality of Service sets the contract between endpoints.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8E85584-D193-F55E-EFC7-81E6D90FC47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1DFBF78-F21D-2C9B-A49B-8A20B513FB7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A18F92E-C2F1-B58B-267A-6F11A206304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Rounded Corners 7">
            <a:extLst>
              <a:ext uri="{FF2B5EF4-FFF2-40B4-BE49-F238E27FC236}">
                <a16:creationId xmlns:a16="http://schemas.microsoft.com/office/drawing/2014/main" id="{0CB3C657-2A0E-0D41-3D9C-AE7FC7F288B5}"/>
              </a:ext>
            </a:extLst>
          </p:cNvPr>
          <p:cNvSpPr/>
          <p:nvPr/>
        </p:nvSpPr>
        <p:spPr>
          <a:xfrm>
            <a:off x="685800" y="2692400"/>
            <a:ext cx="3403600" cy="2197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9013231-714C-93F1-F465-921CF0F4F95E}"/>
              </a:ext>
            </a:extLst>
          </p:cNvPr>
          <p:cNvSpPr txBox="1"/>
          <p:nvPr/>
        </p:nvSpPr>
        <p:spPr>
          <a:xfrm>
            <a:off x="889000" y="2870199"/>
            <a:ext cx="2997200" cy="4445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Reliability</a:t>
            </a:r>
          </a:p>
        </p:txBody>
      </p:sp>
      <p:sp>
        <p:nvSpPr>
          <p:cNvPr id="10" name="text_9">
            <a:extLst>
              <a:ext uri="{FF2B5EF4-FFF2-40B4-BE49-F238E27FC236}">
                <a16:creationId xmlns:a16="http://schemas.microsoft.com/office/drawing/2014/main" id="{6DA84DC5-96D6-E7C6-2A52-615D4AFF0F70}"/>
              </a:ext>
            </a:extLst>
          </p:cNvPr>
          <p:cNvSpPr txBox="1"/>
          <p:nvPr/>
        </p:nvSpPr>
        <p:spPr>
          <a:xfrm>
            <a:off x="889000" y="3581399"/>
            <a:ext cx="29972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RELIABLE</a:t>
            </a:r>
          </a:p>
        </p:txBody>
      </p:sp>
      <p:sp>
        <p:nvSpPr>
          <p:cNvPr id="11" name="text_10">
            <a:extLst>
              <a:ext uri="{FF2B5EF4-FFF2-40B4-BE49-F238E27FC236}">
                <a16:creationId xmlns:a16="http://schemas.microsoft.com/office/drawing/2014/main" id="{FA7CB2C6-D44E-033A-B5C6-EF746942F4A9}"/>
              </a:ext>
            </a:extLst>
          </p:cNvPr>
          <p:cNvSpPr txBox="1"/>
          <p:nvPr/>
        </p:nvSpPr>
        <p:spPr>
          <a:xfrm>
            <a:off x="889000" y="4254499"/>
            <a:ext cx="2997200" cy="508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Retry lost samples</a:t>
            </a:r>
          </a:p>
        </p:txBody>
      </p:sp>
      <p:sp>
        <p:nvSpPr>
          <p:cNvPr id="12" name="Rectangle: Rounded Corners 11">
            <a:extLst>
              <a:ext uri="{FF2B5EF4-FFF2-40B4-BE49-F238E27FC236}">
                <a16:creationId xmlns:a16="http://schemas.microsoft.com/office/drawing/2014/main" id="{B9695239-0623-6EE5-76D0-5039D6E5F5F7}"/>
              </a:ext>
            </a:extLst>
          </p:cNvPr>
          <p:cNvSpPr/>
          <p:nvPr/>
        </p:nvSpPr>
        <p:spPr>
          <a:xfrm>
            <a:off x="4394200" y="2692400"/>
            <a:ext cx="3403600" cy="2197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056AB06F-DF11-63C6-D0C1-1E358C92DA3D}"/>
              </a:ext>
            </a:extLst>
          </p:cNvPr>
          <p:cNvSpPr txBox="1"/>
          <p:nvPr/>
        </p:nvSpPr>
        <p:spPr>
          <a:xfrm>
            <a:off x="4597400" y="2870199"/>
            <a:ext cx="2997200" cy="4445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Durability</a:t>
            </a:r>
          </a:p>
        </p:txBody>
      </p:sp>
      <p:sp>
        <p:nvSpPr>
          <p:cNvPr id="14" name="text_13">
            <a:extLst>
              <a:ext uri="{FF2B5EF4-FFF2-40B4-BE49-F238E27FC236}">
                <a16:creationId xmlns:a16="http://schemas.microsoft.com/office/drawing/2014/main" id="{8E8B2E36-45A3-89C5-7A46-7BCFB6E411FE}"/>
              </a:ext>
            </a:extLst>
          </p:cNvPr>
          <p:cNvSpPr txBox="1"/>
          <p:nvPr/>
        </p:nvSpPr>
        <p:spPr>
          <a:xfrm>
            <a:off x="4597400" y="3581399"/>
            <a:ext cx="29972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VOLATILE</a:t>
            </a:r>
          </a:p>
        </p:txBody>
      </p:sp>
      <p:sp>
        <p:nvSpPr>
          <p:cNvPr id="15" name="text_14">
            <a:extLst>
              <a:ext uri="{FF2B5EF4-FFF2-40B4-BE49-F238E27FC236}">
                <a16:creationId xmlns:a16="http://schemas.microsoft.com/office/drawing/2014/main" id="{960C3F87-5A42-1DC2-8836-D9DE4302991F}"/>
              </a:ext>
            </a:extLst>
          </p:cNvPr>
          <p:cNvSpPr txBox="1"/>
          <p:nvPr/>
        </p:nvSpPr>
        <p:spPr>
          <a:xfrm>
            <a:off x="4597400" y="4254499"/>
            <a:ext cx="2997200" cy="508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New data after joining</a:t>
            </a:r>
          </a:p>
        </p:txBody>
      </p:sp>
      <p:sp>
        <p:nvSpPr>
          <p:cNvPr id="16" name="Rectangle: Rounded Corners 15">
            <a:extLst>
              <a:ext uri="{FF2B5EF4-FFF2-40B4-BE49-F238E27FC236}">
                <a16:creationId xmlns:a16="http://schemas.microsoft.com/office/drawing/2014/main" id="{88754D97-7117-3486-A9ED-A593ADAD12A5}"/>
              </a:ext>
            </a:extLst>
          </p:cNvPr>
          <p:cNvSpPr/>
          <p:nvPr/>
        </p:nvSpPr>
        <p:spPr>
          <a:xfrm>
            <a:off x="8102600" y="2692400"/>
            <a:ext cx="3403600" cy="2197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436C5ABB-F761-57A8-CF14-9012289DF0A7}"/>
              </a:ext>
            </a:extLst>
          </p:cNvPr>
          <p:cNvSpPr txBox="1"/>
          <p:nvPr/>
        </p:nvSpPr>
        <p:spPr>
          <a:xfrm>
            <a:off x="8305800" y="2870199"/>
            <a:ext cx="2997200" cy="4445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History</a:t>
            </a:r>
          </a:p>
        </p:txBody>
      </p:sp>
      <p:sp>
        <p:nvSpPr>
          <p:cNvPr id="18" name="text_17">
            <a:extLst>
              <a:ext uri="{FF2B5EF4-FFF2-40B4-BE49-F238E27FC236}">
                <a16:creationId xmlns:a16="http://schemas.microsoft.com/office/drawing/2014/main" id="{98B029A7-7052-BE9F-BC5D-6F21CE71B955}"/>
              </a:ext>
            </a:extLst>
          </p:cNvPr>
          <p:cNvSpPr txBox="1"/>
          <p:nvPr/>
        </p:nvSpPr>
        <p:spPr>
          <a:xfrm>
            <a:off x="8305800" y="3581399"/>
            <a:ext cx="29972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KEEP_LAST: 10</a:t>
            </a:r>
          </a:p>
        </p:txBody>
      </p:sp>
      <p:sp>
        <p:nvSpPr>
          <p:cNvPr id="19" name="text_18">
            <a:extLst>
              <a:ext uri="{FF2B5EF4-FFF2-40B4-BE49-F238E27FC236}">
                <a16:creationId xmlns:a16="http://schemas.microsoft.com/office/drawing/2014/main" id="{A09820D7-094C-1743-2099-84FAB73DC515}"/>
              </a:ext>
            </a:extLst>
          </p:cNvPr>
          <p:cNvSpPr txBox="1"/>
          <p:nvPr/>
        </p:nvSpPr>
        <p:spPr>
          <a:xfrm>
            <a:off x="8305800" y="4254499"/>
            <a:ext cx="2997200" cy="5080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Keep 10 samples</a:t>
            </a:r>
          </a:p>
        </p:txBody>
      </p:sp>
      <p:sp>
        <p:nvSpPr>
          <p:cNvPr id="20" name="text_19">
            <a:extLst>
              <a:ext uri="{FF2B5EF4-FFF2-40B4-BE49-F238E27FC236}">
                <a16:creationId xmlns:a16="http://schemas.microsoft.com/office/drawing/2014/main" id="{F0C9C632-2318-D629-92F7-110A2EFB77B3}"/>
              </a:ext>
            </a:extLst>
          </p:cNvPr>
          <p:cNvSpPr txBox="1"/>
          <p:nvPr/>
        </p:nvSpPr>
        <p:spPr>
          <a:xfrm>
            <a:off x="685800" y="5270499"/>
            <a:ext cx="5257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10 = history depth</a:t>
            </a:r>
          </a:p>
        </p:txBody>
      </p:sp>
      <p:sp>
        <p:nvSpPr>
          <p:cNvPr id="21" name="text_20">
            <a:extLst>
              <a:ext uri="{FF2B5EF4-FFF2-40B4-BE49-F238E27FC236}">
                <a16:creationId xmlns:a16="http://schemas.microsoft.com/office/drawing/2014/main" id="{790568B4-65DC-C9E6-DC0D-6A0884F970A8}"/>
              </a:ext>
            </a:extLst>
          </p:cNvPr>
          <p:cNvSpPr txBox="1"/>
          <p:nvPr/>
        </p:nvSpPr>
        <p:spPr>
          <a:xfrm>
            <a:off x="6248400" y="5270499"/>
            <a:ext cx="5257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1.0 = timer interval (s)</a:t>
            </a:r>
          </a:p>
        </p:txBody>
      </p:sp>
      <p:sp>
        <p:nvSpPr>
          <p:cNvPr id="22" name="text_21">
            <a:extLst>
              <a:ext uri="{FF2B5EF4-FFF2-40B4-BE49-F238E27FC236}">
                <a16:creationId xmlns:a16="http://schemas.microsoft.com/office/drawing/2014/main" id="{9F18C367-A334-69AC-4D96-4817E28D5819}"/>
              </a:ext>
            </a:extLst>
          </p:cNvPr>
          <p:cNvSpPr txBox="1"/>
          <p:nvPr/>
        </p:nvSpPr>
        <p:spPr>
          <a:xfrm>
            <a:off x="685800" y="5791199"/>
            <a:ext cx="10820400" cy="3810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A restarted subscriber does not replay missed greetings.</a:t>
            </a:r>
            <a:endParaRPr lang="en-IL" sz="2400">
              <a:solidFill>
                <a:srgbClr val="526477"/>
              </a:solidFill>
              <a:latin typeface="Aptos" panose="020B0004020202020204" pitchFamily="34" charset="0"/>
            </a:endParaRPr>
          </a:p>
        </p:txBody>
      </p:sp>
      <p:sp>
        <p:nvSpPr>
          <p:cNvPr id="23" name="TextBox 22"/>
          <p:cNvSpPr txBox="1"/>
          <p:nvPr/>
        </p:nvSpPr>
        <p:spPr>
          <a:xfrm>
            <a:off x="685800" y="2197100"/>
            <a:ext cx="10820400" cy="3683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526477"/>
                </a:solidFill>
                <a:latin typeface="Aptos"/>
              </a:rPr>
              <a:t>More QoS policies are available, including deadline, lifespan, and liveliness.</a:t>
            </a:r>
          </a:p>
        </p:txBody>
      </p:sp>
    </p:spTree>
    <p:extLst>
      <p:ext uri="{BB962C8B-B14F-4D97-AF65-F5344CB8AC3E}">
        <p14:creationId xmlns:p14="http://schemas.microsoft.com/office/powerpoint/2010/main" val="2640691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E35C04B-C035-ED2F-7449-A5ED56D8402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1DA1CC2E-7715-FEA9-ABDF-E3F6E80EAEF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Lifecycle of a node</a:t>
            </a:r>
          </a:p>
        </p:txBody>
      </p:sp>
      <p:sp>
        <p:nvSpPr>
          <p:cNvPr id="4" name="text_3">
            <a:extLst>
              <a:ext uri="{FF2B5EF4-FFF2-40B4-BE49-F238E27FC236}">
                <a16:creationId xmlns:a16="http://schemas.microsoft.com/office/drawing/2014/main" id="{EA11ACAF-F879-29BB-7E0B-5D38E45E927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DDS delivers data. The executor runs your callbacks.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D668FF6-4C46-BC5F-0488-8261E2E2F6B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594DC7C-0619-E25B-51D3-0205BAB66AF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296A1DC-E7AB-145A-A2AF-E0D980941C1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6CE34BB2-7F5D-C33B-14B1-D5E86578FAE0}"/>
              </a:ext>
            </a:extLst>
          </p:cNvPr>
          <p:cNvSpPr/>
          <p:nvPr/>
        </p:nvSpPr>
        <p:spPr>
          <a:xfrm>
            <a:off x="2159000" y="2565400"/>
            <a:ext cx="7874000" cy="33782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61ABDCE-A0C1-4942-1543-F2B250071F46}"/>
              </a:ext>
            </a:extLst>
          </p:cNvPr>
          <p:cNvSpPr txBox="1"/>
          <p:nvPr/>
        </p:nvSpPr>
        <p:spPr>
          <a:xfrm>
            <a:off x="2463800" y="2768599"/>
            <a:ext cx="7264400" cy="482600"/>
          </a:xfrm>
          <a:prstGeom prst="rect">
            <a:avLst/>
          </a:prstGeom>
          <a:noFill/>
        </p:spPr>
        <p:txBody>
          <a:bodyPr vert="horz" wrap="square" lIns="0" tIns="0" rIns="0" bIns="0" rtlCol="0" anchor="t">
            <a:noAutofit/>
          </a:bodyPr>
          <a:lstStyle/>
          <a:p>
            <a:pPr algn="ctr"/>
            <a:r>
              <a:rPr lang="en-IL" sz="2600" b="1">
                <a:solidFill>
                  <a:srgbClr val="2459D3"/>
                </a:solidFill>
                <a:latin typeface="Aptos" panose="020B0004020202020204" pitchFamily="34" charset="0"/>
              </a:rPr>
              <a:t>ORDINARY NODE: OUR DEMO</a:t>
            </a:r>
          </a:p>
        </p:txBody>
      </p:sp>
      <p:sp>
        <p:nvSpPr>
          <p:cNvPr id="10" name="Rectangle: Rounded Corners 9">
            <a:extLst>
              <a:ext uri="{FF2B5EF4-FFF2-40B4-BE49-F238E27FC236}">
                <a16:creationId xmlns:a16="http://schemas.microsoft.com/office/drawing/2014/main" id="{10E50B3F-37D0-7E32-BF87-8C0F68E3C094}"/>
              </a:ext>
            </a:extLst>
          </p:cNvPr>
          <p:cNvSpPr/>
          <p:nvPr/>
        </p:nvSpPr>
        <p:spPr>
          <a:xfrm>
            <a:off x="2463800" y="3429000"/>
            <a:ext cx="72644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DC9A6653-C74B-65C8-24AD-01B84FEFA306}"/>
              </a:ext>
            </a:extLst>
          </p:cNvPr>
          <p:cNvSpPr txBox="1"/>
          <p:nvPr/>
        </p:nvSpPr>
        <p:spPr>
          <a:xfrm>
            <a:off x="2616200" y="3543299"/>
            <a:ext cx="6959600" cy="469900"/>
          </a:xfrm>
          <a:prstGeom prst="rect">
            <a:avLst/>
          </a:prstGeom>
          <a:noFill/>
        </p:spPr>
        <p:txBody>
          <a:bodyPr vert="horz" wrap="square" lIns="0" tIns="0" rIns="0" bIns="0" rtlCol="0" anchor="t">
            <a:noAutofit/>
          </a:bodyPr>
          <a:lstStyle/>
          <a:p>
            <a:pPr algn="ctr"/>
            <a:r>
              <a:rPr lang="en-IL" sz="2800">
                <a:solidFill>
                  <a:srgbClr val="2459D3"/>
                </a:solidFill>
                <a:latin typeface="Aptos" panose="020B0004020202020204" pitchFamily="34" charset="0"/>
              </a:rPr>
              <a:t>init → construct node</a:t>
            </a:r>
          </a:p>
        </p:txBody>
      </p:sp>
      <p:cxnSp>
        <p:nvCxnSpPr>
          <p:cNvPr id="12" name="Straight Connector 11">
            <a:extLst>
              <a:ext uri="{FF2B5EF4-FFF2-40B4-BE49-F238E27FC236}">
                <a16:creationId xmlns:a16="http://schemas.microsoft.com/office/drawing/2014/main" id="{C6E2779A-4A38-DE22-10FE-4E1E596D59B3}"/>
              </a:ext>
            </a:extLst>
          </p:cNvPr>
          <p:cNvCxnSpPr/>
          <p:nvPr/>
        </p:nvCxnSpPr>
        <p:spPr>
          <a:xfrm>
            <a:off x="6096000" y="4038600"/>
            <a:ext cx="0" cy="152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6CF4E53E-33D7-B39E-FA60-4FBF827DCD30}"/>
              </a:ext>
            </a:extLst>
          </p:cNvPr>
          <p:cNvSpPr/>
          <p:nvPr/>
        </p:nvSpPr>
        <p:spPr>
          <a:xfrm>
            <a:off x="2463800" y="4191000"/>
            <a:ext cx="72644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A74550B5-804E-419C-F664-BCFE1F7BC2BB}"/>
              </a:ext>
            </a:extLst>
          </p:cNvPr>
          <p:cNvSpPr txBox="1"/>
          <p:nvPr/>
        </p:nvSpPr>
        <p:spPr>
          <a:xfrm>
            <a:off x="2616200" y="4305299"/>
            <a:ext cx="6959600" cy="469900"/>
          </a:xfrm>
          <a:prstGeom prst="rect">
            <a:avLst/>
          </a:prstGeom>
          <a:noFill/>
        </p:spPr>
        <p:txBody>
          <a:bodyPr vert="horz" wrap="square" lIns="0" tIns="0" rIns="0" bIns="0" rtlCol="0" anchor="t">
            <a:noAutofit/>
          </a:bodyPr>
          <a:lstStyle/>
          <a:p>
            <a:pPr algn="ctr"/>
            <a:r>
              <a:rPr lang="en-IL" sz="2800">
                <a:solidFill>
                  <a:srgbClr val="2459D3"/>
                </a:solidFill>
                <a:latin typeface="Aptos" panose="020B0004020202020204" pitchFamily="34" charset="0"/>
              </a:rPr>
              <a:t>spin → ready callbacks</a:t>
            </a:r>
          </a:p>
        </p:txBody>
      </p:sp>
      <p:cxnSp>
        <p:nvCxnSpPr>
          <p:cNvPr id="15" name="Straight Connector 14">
            <a:extLst>
              <a:ext uri="{FF2B5EF4-FFF2-40B4-BE49-F238E27FC236}">
                <a16:creationId xmlns:a16="http://schemas.microsoft.com/office/drawing/2014/main" id="{E115D6E7-2F01-8A80-ED42-9C858098627C}"/>
              </a:ext>
            </a:extLst>
          </p:cNvPr>
          <p:cNvCxnSpPr/>
          <p:nvPr/>
        </p:nvCxnSpPr>
        <p:spPr>
          <a:xfrm>
            <a:off x="6096000" y="4800600"/>
            <a:ext cx="0" cy="1524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FD6D8861-2D81-493B-85B6-3C62812387DF}"/>
              </a:ext>
            </a:extLst>
          </p:cNvPr>
          <p:cNvSpPr/>
          <p:nvPr/>
        </p:nvSpPr>
        <p:spPr>
          <a:xfrm>
            <a:off x="2463800" y="4953000"/>
            <a:ext cx="72644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0909CD80-BEF5-CC43-8022-ABDC2A7A5F80}"/>
              </a:ext>
            </a:extLst>
          </p:cNvPr>
          <p:cNvSpPr txBox="1"/>
          <p:nvPr/>
        </p:nvSpPr>
        <p:spPr>
          <a:xfrm>
            <a:off x="2616200" y="5067299"/>
            <a:ext cx="6959600" cy="469900"/>
          </a:xfrm>
          <a:prstGeom prst="rect">
            <a:avLst/>
          </a:prstGeom>
          <a:noFill/>
        </p:spPr>
        <p:txBody>
          <a:bodyPr vert="horz" wrap="square" lIns="0" tIns="0" rIns="0" bIns="0" rtlCol="0" anchor="t">
            <a:noAutofit/>
          </a:bodyPr>
          <a:lstStyle/>
          <a:p>
            <a:pPr algn="ctr"/>
            <a:r>
              <a:rPr lang="en-IL" sz="2800">
                <a:solidFill>
                  <a:srgbClr val="2459D3"/>
                </a:solidFill>
                <a:latin typeface="Aptos" panose="020B0004020202020204" pitchFamily="34" charset="0"/>
              </a:rPr>
              <a:t>Ctrl+C → cleanup</a:t>
            </a:r>
          </a:p>
        </p:txBody>
      </p:sp>
    </p:spTree>
    <p:extLst>
      <p:ext uri="{BB962C8B-B14F-4D97-AF65-F5344CB8AC3E}">
        <p14:creationId xmlns:p14="http://schemas.microsoft.com/office/powerpoint/2010/main" val="91104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728CE38-B825-8EE5-7709-E5E1D3DD896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98C2B36C-E7D7-518A-CEBA-F4DE4D559CA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Inspect before debugging</a:t>
            </a:r>
          </a:p>
        </p:txBody>
      </p:sp>
      <p:sp>
        <p:nvSpPr>
          <p:cNvPr id="4" name="text_3">
            <a:extLst>
              <a:ext uri="{FF2B5EF4-FFF2-40B4-BE49-F238E27FC236}">
                <a16:creationId xmlns:a16="http://schemas.microsoft.com/office/drawing/2014/main" id="{99FBF320-127B-7775-C648-0C8BED471F1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Source Jazzy in every terminal. Run these scripts directly.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F812285-D6D3-FC2A-A189-B72FC1AE637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E279AC0-B761-7E06-9CB6-7EA6836FC64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5AB2AE4-0D1D-C23C-C8D8-90AD38DADAD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Rectangle: Rounded Corners 7">
            <a:extLst>
              <a:ext uri="{FF2B5EF4-FFF2-40B4-BE49-F238E27FC236}">
                <a16:creationId xmlns:a16="http://schemas.microsoft.com/office/drawing/2014/main" id="{529B5368-9152-3DC1-6D3B-5D944ACB3CF9}"/>
              </a:ext>
            </a:extLst>
          </p:cNvPr>
          <p:cNvSpPr/>
          <p:nvPr/>
        </p:nvSpPr>
        <p:spPr>
          <a:xfrm>
            <a:off x="685800" y="2578100"/>
            <a:ext cx="10820400" cy="558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4157D14-3E43-307A-D2D9-3AD203B39B7E}"/>
              </a:ext>
            </a:extLst>
          </p:cNvPr>
          <p:cNvSpPr txBox="1"/>
          <p:nvPr/>
        </p:nvSpPr>
        <p:spPr>
          <a:xfrm>
            <a:off x="863600" y="2679699"/>
            <a:ext cx="7924800" cy="4318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ros2 node list</a:t>
            </a:r>
          </a:p>
        </p:txBody>
      </p:sp>
      <p:sp>
        <p:nvSpPr>
          <p:cNvPr id="10" name="text_9">
            <a:extLst>
              <a:ext uri="{FF2B5EF4-FFF2-40B4-BE49-F238E27FC236}">
                <a16:creationId xmlns:a16="http://schemas.microsoft.com/office/drawing/2014/main" id="{532848EA-3919-5D5E-2A9F-A6601E5DCCD3}"/>
              </a:ext>
            </a:extLst>
          </p:cNvPr>
          <p:cNvSpPr txBox="1"/>
          <p:nvPr/>
        </p:nvSpPr>
        <p:spPr>
          <a:xfrm>
            <a:off x="9017000" y="2679699"/>
            <a:ext cx="2311400" cy="4318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Find nodes</a:t>
            </a:r>
          </a:p>
        </p:txBody>
      </p:sp>
      <p:sp>
        <p:nvSpPr>
          <p:cNvPr id="11" name="Rectangle: Rounded Corners 10">
            <a:extLst>
              <a:ext uri="{FF2B5EF4-FFF2-40B4-BE49-F238E27FC236}">
                <a16:creationId xmlns:a16="http://schemas.microsoft.com/office/drawing/2014/main" id="{0010B196-0FDA-288D-8E07-9EF48C7B70E6}"/>
              </a:ext>
            </a:extLst>
          </p:cNvPr>
          <p:cNvSpPr/>
          <p:nvPr/>
        </p:nvSpPr>
        <p:spPr>
          <a:xfrm>
            <a:off x="685800" y="3238500"/>
            <a:ext cx="10820400" cy="558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159D13A-F73F-B445-62DA-FC5369CF1125}"/>
              </a:ext>
            </a:extLst>
          </p:cNvPr>
          <p:cNvSpPr txBox="1"/>
          <p:nvPr/>
        </p:nvSpPr>
        <p:spPr>
          <a:xfrm>
            <a:off x="863600" y="3340099"/>
            <a:ext cx="7924800" cy="4318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ros2 topic list</a:t>
            </a:r>
          </a:p>
        </p:txBody>
      </p:sp>
      <p:sp>
        <p:nvSpPr>
          <p:cNvPr id="13" name="text_12">
            <a:extLst>
              <a:ext uri="{FF2B5EF4-FFF2-40B4-BE49-F238E27FC236}">
                <a16:creationId xmlns:a16="http://schemas.microsoft.com/office/drawing/2014/main" id="{2583E552-B6BF-0118-5B9D-3455D973A3C9}"/>
              </a:ext>
            </a:extLst>
          </p:cNvPr>
          <p:cNvSpPr txBox="1"/>
          <p:nvPr/>
        </p:nvSpPr>
        <p:spPr>
          <a:xfrm>
            <a:off x="9017000" y="3340099"/>
            <a:ext cx="2311400" cy="4318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Find topics</a:t>
            </a:r>
          </a:p>
        </p:txBody>
      </p:sp>
      <p:sp>
        <p:nvSpPr>
          <p:cNvPr id="14" name="Rectangle: Rounded Corners 13">
            <a:extLst>
              <a:ext uri="{FF2B5EF4-FFF2-40B4-BE49-F238E27FC236}">
                <a16:creationId xmlns:a16="http://schemas.microsoft.com/office/drawing/2014/main" id="{971BCC48-DD9E-0E89-357E-0702649D9D3D}"/>
              </a:ext>
            </a:extLst>
          </p:cNvPr>
          <p:cNvSpPr/>
          <p:nvPr/>
        </p:nvSpPr>
        <p:spPr>
          <a:xfrm>
            <a:off x="685800" y="3898900"/>
            <a:ext cx="10820400" cy="558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328D9515-B413-8A17-69D3-FA840DF15897}"/>
              </a:ext>
            </a:extLst>
          </p:cNvPr>
          <p:cNvSpPr txBox="1"/>
          <p:nvPr/>
        </p:nvSpPr>
        <p:spPr>
          <a:xfrm>
            <a:off x="863600" y="4000499"/>
            <a:ext cx="7924800" cy="4318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ros2 topic info /chatter --verbose</a:t>
            </a:r>
          </a:p>
        </p:txBody>
      </p:sp>
      <p:sp>
        <p:nvSpPr>
          <p:cNvPr id="16" name="text_15">
            <a:extLst>
              <a:ext uri="{FF2B5EF4-FFF2-40B4-BE49-F238E27FC236}">
                <a16:creationId xmlns:a16="http://schemas.microsoft.com/office/drawing/2014/main" id="{F5ACA8FB-1C73-FE77-6929-74C1F8D1AF71}"/>
              </a:ext>
            </a:extLst>
          </p:cNvPr>
          <p:cNvSpPr txBox="1"/>
          <p:nvPr/>
        </p:nvSpPr>
        <p:spPr>
          <a:xfrm>
            <a:off x="9017000" y="4000499"/>
            <a:ext cx="2311400" cy="4318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Type + QoS</a:t>
            </a:r>
          </a:p>
        </p:txBody>
      </p:sp>
      <p:sp>
        <p:nvSpPr>
          <p:cNvPr id="17" name="Rectangle: Rounded Corners 16">
            <a:extLst>
              <a:ext uri="{FF2B5EF4-FFF2-40B4-BE49-F238E27FC236}">
                <a16:creationId xmlns:a16="http://schemas.microsoft.com/office/drawing/2014/main" id="{3374A163-78F3-43AA-B1DF-A726DF23FEE7}"/>
              </a:ext>
            </a:extLst>
          </p:cNvPr>
          <p:cNvSpPr/>
          <p:nvPr/>
        </p:nvSpPr>
        <p:spPr>
          <a:xfrm>
            <a:off x="685800" y="4559300"/>
            <a:ext cx="10820400" cy="558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1BB56AB4-7A13-CBDB-B134-08DADF178D84}"/>
              </a:ext>
            </a:extLst>
          </p:cNvPr>
          <p:cNvSpPr txBox="1"/>
          <p:nvPr/>
        </p:nvSpPr>
        <p:spPr>
          <a:xfrm>
            <a:off x="863600" y="4660899"/>
            <a:ext cx="7924800" cy="4318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ros2 interface show std_msgs/msg/String</a:t>
            </a:r>
            <a:endParaRPr lang="en-IL" sz="2400">
              <a:solidFill>
                <a:srgbClr val="15283B"/>
              </a:solidFill>
              <a:latin typeface="Consolas" panose="020B0609020204030204" pitchFamily="49" charset="0"/>
            </a:endParaRPr>
          </a:p>
        </p:txBody>
      </p:sp>
      <p:sp>
        <p:nvSpPr>
          <p:cNvPr id="19" name="text_18">
            <a:extLst>
              <a:ext uri="{FF2B5EF4-FFF2-40B4-BE49-F238E27FC236}">
                <a16:creationId xmlns:a16="http://schemas.microsoft.com/office/drawing/2014/main" id="{0EFB32FF-CB91-C740-46BE-73F797570D9C}"/>
              </a:ext>
            </a:extLst>
          </p:cNvPr>
          <p:cNvSpPr txBox="1"/>
          <p:nvPr/>
        </p:nvSpPr>
        <p:spPr>
          <a:xfrm>
            <a:off x="9017000" y="4660899"/>
            <a:ext cx="2311400" cy="4318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Read fields</a:t>
            </a:r>
          </a:p>
        </p:txBody>
      </p:sp>
      <p:sp>
        <p:nvSpPr>
          <p:cNvPr id="20" name="Rectangle: Rounded Corners 19">
            <a:extLst>
              <a:ext uri="{FF2B5EF4-FFF2-40B4-BE49-F238E27FC236}">
                <a16:creationId xmlns:a16="http://schemas.microsoft.com/office/drawing/2014/main" id="{43D39587-EB6E-3E28-BD86-6FF5345E5086}"/>
              </a:ext>
            </a:extLst>
          </p:cNvPr>
          <p:cNvSpPr/>
          <p:nvPr/>
        </p:nvSpPr>
        <p:spPr>
          <a:xfrm>
            <a:off x="685800" y="5219700"/>
            <a:ext cx="10820400" cy="5588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F5D12F5A-344E-A605-CA0C-338D7E7F7DD5}"/>
              </a:ext>
            </a:extLst>
          </p:cNvPr>
          <p:cNvSpPr txBox="1"/>
          <p:nvPr/>
        </p:nvSpPr>
        <p:spPr>
          <a:xfrm>
            <a:off x="863600" y="5321299"/>
            <a:ext cx="7924800" cy="4318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ros2 topic echo /chatter</a:t>
            </a:r>
          </a:p>
        </p:txBody>
      </p:sp>
      <p:sp>
        <p:nvSpPr>
          <p:cNvPr id="22" name="text_21">
            <a:extLst>
              <a:ext uri="{FF2B5EF4-FFF2-40B4-BE49-F238E27FC236}">
                <a16:creationId xmlns:a16="http://schemas.microsoft.com/office/drawing/2014/main" id="{1DFE88B0-89AD-40B1-9E50-83118992C723}"/>
              </a:ext>
            </a:extLst>
          </p:cNvPr>
          <p:cNvSpPr txBox="1"/>
          <p:nvPr/>
        </p:nvSpPr>
        <p:spPr>
          <a:xfrm>
            <a:off x="9017000" y="5321299"/>
            <a:ext cx="2311400" cy="4318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Observe data</a:t>
            </a:r>
          </a:p>
        </p:txBody>
      </p:sp>
      <p:sp>
        <p:nvSpPr>
          <p:cNvPr id="23" name="text_22">
            <a:extLst>
              <a:ext uri="{FF2B5EF4-FFF2-40B4-BE49-F238E27FC236}">
                <a16:creationId xmlns:a16="http://schemas.microsoft.com/office/drawing/2014/main" id="{CF0DC85F-ED94-52DC-A30C-00EFAC6E859F}"/>
              </a:ext>
            </a:extLst>
          </p:cNvPr>
          <p:cNvSpPr txBox="1"/>
          <p:nvPr/>
        </p:nvSpPr>
        <p:spPr>
          <a:xfrm>
            <a:off x="685800" y="5867399"/>
            <a:ext cx="10820400" cy="3810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topic echo becomes another subscriber.</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687287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1A7AB0A-20F4-3F3B-ABDE-0939B76499E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5CB44CBC-69D7-9EBD-87D5-1B466CD6B19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Demo time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EA387D7-78D5-A55D-0B84-B5CDFDDEC2D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Predict the behavior before changing the running system.</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274BBE7-7D27-D5BC-63E2-59CE8E05215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10DC812-2388-1392-11FD-27F32E0D950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0B044B7-AB06-494C-3BEB-DE48DD8AEB8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Rounded Corners 7">
            <a:extLst>
              <a:ext uri="{FF2B5EF4-FFF2-40B4-BE49-F238E27FC236}">
                <a16:creationId xmlns:a16="http://schemas.microsoft.com/office/drawing/2014/main" id="{F6660D17-521F-D1F4-DB2C-AC7F6CA00694}"/>
              </a:ext>
            </a:extLst>
          </p:cNvPr>
          <p:cNvSpPr/>
          <p:nvPr/>
        </p:nvSpPr>
        <p:spPr>
          <a:xfrm>
            <a:off x="685800" y="2641600"/>
            <a:ext cx="4140200" cy="1041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E56BB02-B02D-71FD-B11F-2626D37528CD}"/>
              </a:ext>
            </a:extLst>
          </p:cNvPr>
          <p:cNvSpPr txBox="1"/>
          <p:nvPr/>
        </p:nvSpPr>
        <p:spPr>
          <a:xfrm>
            <a:off x="889000" y="2959099"/>
            <a:ext cx="3733800" cy="533400"/>
          </a:xfrm>
          <a:prstGeom prst="rect">
            <a:avLst/>
          </a:prstGeom>
          <a:noFill/>
        </p:spPr>
        <p:txBody>
          <a:bodyPr vert="horz" wrap="square" lIns="0" tIns="0" rIns="0" bIns="0" rtlCol="0" anchor="t">
            <a:noAutofit/>
          </a:bodyPr>
          <a:lstStyle/>
          <a:p>
            <a:pPr algn="ctr"/>
            <a:r>
              <a:rPr lang="en-IL" sz="2400" b="1">
                <a:solidFill>
                  <a:srgbClr val="2459D3"/>
                </a:solidFill>
                <a:latin typeface="Consolas" panose="020B0609020204030204" pitchFamily="49" charset="0"/>
              </a:rPr>
              <a:t>/greeting_publisher</a:t>
            </a:r>
          </a:p>
        </p:txBody>
      </p:sp>
      <p:sp>
        <p:nvSpPr>
          <p:cNvPr id="10" name="Rectangle: Rounded Corners 9">
            <a:extLst>
              <a:ext uri="{FF2B5EF4-FFF2-40B4-BE49-F238E27FC236}">
                <a16:creationId xmlns:a16="http://schemas.microsoft.com/office/drawing/2014/main" id="{64F5AC81-EF12-8A95-98B3-56991A67A377}"/>
              </a:ext>
            </a:extLst>
          </p:cNvPr>
          <p:cNvSpPr/>
          <p:nvPr/>
        </p:nvSpPr>
        <p:spPr>
          <a:xfrm>
            <a:off x="5207000" y="2641600"/>
            <a:ext cx="1778000" cy="10414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7C970879-5FC9-3686-CB61-44260BA98AFC}"/>
              </a:ext>
            </a:extLst>
          </p:cNvPr>
          <p:cNvSpPr txBox="1"/>
          <p:nvPr/>
        </p:nvSpPr>
        <p:spPr>
          <a:xfrm>
            <a:off x="5334000" y="2959099"/>
            <a:ext cx="1524000" cy="533400"/>
          </a:xfrm>
          <a:prstGeom prst="rect">
            <a:avLst/>
          </a:prstGeom>
          <a:noFill/>
        </p:spPr>
        <p:txBody>
          <a:bodyPr vert="horz" wrap="square" lIns="0" tIns="0" rIns="0" bIns="0" rtlCol="0" anchor="t">
            <a:noAutofit/>
          </a:bodyPr>
          <a:lstStyle/>
          <a:p>
            <a:pPr algn="ctr"/>
            <a:r>
              <a:rPr lang="en-IL" sz="2400" b="1">
                <a:solidFill>
                  <a:srgbClr val="15283B"/>
                </a:solidFill>
                <a:latin typeface="Consolas" panose="020B0609020204030204" pitchFamily="49" charset="0"/>
              </a:rPr>
              <a:t>/chatter</a:t>
            </a:r>
          </a:p>
        </p:txBody>
      </p:sp>
      <p:sp>
        <p:nvSpPr>
          <p:cNvPr id="12" name="Rectangle: Rounded Corners 11">
            <a:extLst>
              <a:ext uri="{FF2B5EF4-FFF2-40B4-BE49-F238E27FC236}">
                <a16:creationId xmlns:a16="http://schemas.microsoft.com/office/drawing/2014/main" id="{DFA7EDCF-160A-DA53-0AB6-69C342AF4EEB}"/>
              </a:ext>
            </a:extLst>
          </p:cNvPr>
          <p:cNvSpPr/>
          <p:nvPr/>
        </p:nvSpPr>
        <p:spPr>
          <a:xfrm>
            <a:off x="7366000" y="2641600"/>
            <a:ext cx="4140200" cy="1041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7493DA94-3813-CF30-BB7A-28904F5A195A}"/>
              </a:ext>
            </a:extLst>
          </p:cNvPr>
          <p:cNvSpPr txBox="1"/>
          <p:nvPr/>
        </p:nvSpPr>
        <p:spPr>
          <a:xfrm>
            <a:off x="7518400" y="2959099"/>
            <a:ext cx="3835400" cy="533400"/>
          </a:xfrm>
          <a:prstGeom prst="rect">
            <a:avLst/>
          </a:prstGeom>
          <a:noFill/>
        </p:spPr>
        <p:txBody>
          <a:bodyPr vert="horz" wrap="square" lIns="0" tIns="0" rIns="0" bIns="0" rtlCol="0" anchor="t">
            <a:noAutofit/>
          </a:bodyPr>
          <a:lstStyle/>
          <a:p>
            <a:pPr algn="ctr"/>
            <a:r>
              <a:rPr lang="en-IL" sz="2400" b="1">
                <a:solidFill>
                  <a:srgbClr val="137F79"/>
                </a:solidFill>
                <a:latin typeface="Consolas" panose="020B0609020204030204" pitchFamily="49" charset="0"/>
              </a:rPr>
              <a:t>/greeting_subscriber</a:t>
            </a:r>
          </a:p>
        </p:txBody>
      </p:sp>
      <p:cxnSp>
        <p:nvCxnSpPr>
          <p:cNvPr id="14" name="Straight Connector 13">
            <a:extLst>
              <a:ext uri="{FF2B5EF4-FFF2-40B4-BE49-F238E27FC236}">
                <a16:creationId xmlns:a16="http://schemas.microsoft.com/office/drawing/2014/main" id="{DBC49AE1-9069-E904-0B64-E63208DE1F9D}"/>
              </a:ext>
            </a:extLst>
          </p:cNvPr>
          <p:cNvCxnSpPr/>
          <p:nvPr/>
        </p:nvCxnSpPr>
        <p:spPr>
          <a:xfrm>
            <a:off x="4826000" y="3162300"/>
            <a:ext cx="381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EEA1796-99AD-099B-378D-6D96948D9A83}"/>
              </a:ext>
            </a:extLst>
          </p:cNvPr>
          <p:cNvCxnSpPr/>
          <p:nvPr/>
        </p:nvCxnSpPr>
        <p:spPr>
          <a:xfrm>
            <a:off x="6985000" y="3162300"/>
            <a:ext cx="3810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6559738F-6FFB-3FFA-A1CC-A1D9458074B8}"/>
              </a:ext>
            </a:extLst>
          </p:cNvPr>
          <p:cNvSpPr txBox="1"/>
          <p:nvPr/>
        </p:nvSpPr>
        <p:spPr>
          <a:xfrm>
            <a:off x="685800" y="3848099"/>
            <a:ext cx="4140200" cy="457200"/>
          </a:xfrm>
          <a:prstGeom prst="rect">
            <a:avLst/>
          </a:prstGeom>
          <a:noFill/>
        </p:spPr>
        <p:txBody>
          <a:bodyPr vert="horz" wrap="square" lIns="0" tIns="0" rIns="0" bIns="0" rtlCol="0" anchor="t">
            <a:noAutofit/>
          </a:bodyPr>
          <a:lstStyle/>
          <a:p>
            <a:pPr algn="ctr"/>
            <a:r>
              <a:rPr lang="en-IL" sz="2400">
                <a:solidFill>
                  <a:srgbClr val="526477"/>
                </a:solidFill>
                <a:latin typeface="Consolas" panose="020B0609020204030204" pitchFamily="49" charset="0"/>
              </a:rPr>
              <a:t>std_msgs/msg/String</a:t>
            </a:r>
          </a:p>
        </p:txBody>
      </p:sp>
      <p:sp>
        <p:nvSpPr>
          <p:cNvPr id="17" name="Rectangle: Rounded Corners 16">
            <a:extLst>
              <a:ext uri="{FF2B5EF4-FFF2-40B4-BE49-F238E27FC236}">
                <a16:creationId xmlns:a16="http://schemas.microsoft.com/office/drawing/2014/main" id="{D46123CB-EF6B-C8C0-EE71-F2FD3D24BC35}"/>
              </a:ext>
            </a:extLst>
          </p:cNvPr>
          <p:cNvSpPr/>
          <p:nvPr/>
        </p:nvSpPr>
        <p:spPr>
          <a:xfrm>
            <a:off x="685800" y="4749800"/>
            <a:ext cx="3403600" cy="1181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08B12D6C-0890-562D-CF9E-C2A1059DFA90}"/>
              </a:ext>
            </a:extLst>
          </p:cNvPr>
          <p:cNvSpPr txBox="1"/>
          <p:nvPr/>
        </p:nvSpPr>
        <p:spPr>
          <a:xfrm>
            <a:off x="889000" y="4864099"/>
            <a:ext cx="2997200" cy="4064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01</a:t>
            </a:r>
          </a:p>
        </p:txBody>
      </p:sp>
      <p:sp>
        <p:nvSpPr>
          <p:cNvPr id="19" name="text_18">
            <a:extLst>
              <a:ext uri="{FF2B5EF4-FFF2-40B4-BE49-F238E27FC236}">
                <a16:creationId xmlns:a16="http://schemas.microsoft.com/office/drawing/2014/main" id="{56192598-5769-7331-A0BE-CE578503F403}"/>
              </a:ext>
            </a:extLst>
          </p:cNvPr>
          <p:cNvSpPr txBox="1"/>
          <p:nvPr/>
        </p:nvSpPr>
        <p:spPr>
          <a:xfrm>
            <a:off x="889000" y="5346699"/>
            <a:ext cx="2997200" cy="4826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Subscriber stops?</a:t>
            </a:r>
          </a:p>
        </p:txBody>
      </p:sp>
      <p:sp>
        <p:nvSpPr>
          <p:cNvPr id="20" name="Rectangle: Rounded Corners 19">
            <a:extLst>
              <a:ext uri="{FF2B5EF4-FFF2-40B4-BE49-F238E27FC236}">
                <a16:creationId xmlns:a16="http://schemas.microsoft.com/office/drawing/2014/main" id="{2F499AEA-58D7-D3E0-E0A2-372DF2F0546D}"/>
              </a:ext>
            </a:extLst>
          </p:cNvPr>
          <p:cNvSpPr/>
          <p:nvPr/>
        </p:nvSpPr>
        <p:spPr>
          <a:xfrm>
            <a:off x="4394200" y="4749800"/>
            <a:ext cx="3403600" cy="1181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AD3C15C4-3602-CB69-C5FD-EEFA12806E0F}"/>
              </a:ext>
            </a:extLst>
          </p:cNvPr>
          <p:cNvSpPr txBox="1"/>
          <p:nvPr/>
        </p:nvSpPr>
        <p:spPr>
          <a:xfrm>
            <a:off x="4597400" y="4864099"/>
            <a:ext cx="2997200" cy="4064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02</a:t>
            </a:r>
          </a:p>
        </p:txBody>
      </p:sp>
      <p:sp>
        <p:nvSpPr>
          <p:cNvPr id="22" name="text_21">
            <a:extLst>
              <a:ext uri="{FF2B5EF4-FFF2-40B4-BE49-F238E27FC236}">
                <a16:creationId xmlns:a16="http://schemas.microsoft.com/office/drawing/2014/main" id="{A6D3AD03-54B3-CB87-3934-E83354E082FF}"/>
              </a:ext>
            </a:extLst>
          </p:cNvPr>
          <p:cNvSpPr txBox="1"/>
          <p:nvPr/>
        </p:nvSpPr>
        <p:spPr>
          <a:xfrm>
            <a:off x="4597400" y="5346699"/>
            <a:ext cx="2997200" cy="4826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Subscriber restarts?</a:t>
            </a:r>
          </a:p>
        </p:txBody>
      </p:sp>
      <p:sp>
        <p:nvSpPr>
          <p:cNvPr id="23" name="Rectangle: Rounded Corners 22">
            <a:extLst>
              <a:ext uri="{FF2B5EF4-FFF2-40B4-BE49-F238E27FC236}">
                <a16:creationId xmlns:a16="http://schemas.microsoft.com/office/drawing/2014/main" id="{240DC7FB-7B46-3AAD-B3E7-D6099B58E3FB}"/>
              </a:ext>
            </a:extLst>
          </p:cNvPr>
          <p:cNvSpPr/>
          <p:nvPr/>
        </p:nvSpPr>
        <p:spPr>
          <a:xfrm>
            <a:off x="8102600" y="4749800"/>
            <a:ext cx="3403600" cy="1181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63C68739-6F7E-5517-68F3-25B37CADD49B}"/>
              </a:ext>
            </a:extLst>
          </p:cNvPr>
          <p:cNvSpPr txBox="1"/>
          <p:nvPr/>
        </p:nvSpPr>
        <p:spPr>
          <a:xfrm>
            <a:off x="8305800" y="4864099"/>
            <a:ext cx="2997200" cy="4064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03</a:t>
            </a:r>
          </a:p>
        </p:txBody>
      </p:sp>
      <p:sp>
        <p:nvSpPr>
          <p:cNvPr id="25" name="text_24">
            <a:extLst>
              <a:ext uri="{FF2B5EF4-FFF2-40B4-BE49-F238E27FC236}">
                <a16:creationId xmlns:a16="http://schemas.microsoft.com/office/drawing/2014/main" id="{0F6EC057-ACA3-595E-F97B-8D1663E4220E}"/>
              </a:ext>
            </a:extLst>
          </p:cNvPr>
          <p:cNvSpPr txBox="1"/>
          <p:nvPr/>
        </p:nvSpPr>
        <p:spPr>
          <a:xfrm>
            <a:off x="8305800" y="5346699"/>
            <a:ext cx="2997200" cy="4826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Publisher restarts?</a:t>
            </a:r>
          </a:p>
        </p:txBody>
      </p:sp>
    </p:spTree>
    <p:extLst>
      <p:ext uri="{BB962C8B-B14F-4D97-AF65-F5344CB8AC3E}">
        <p14:creationId xmlns:p14="http://schemas.microsoft.com/office/powerpoint/2010/main" val="259600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3E52036-DF15-178B-E375-27303B74CD2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E911FE44-9B4E-B535-27AB-CD1D0FCB3B8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DDS discovery and RTPS</a:t>
            </a:r>
          </a:p>
        </p:txBody>
      </p:sp>
      <p:sp>
        <p:nvSpPr>
          <p:cNvPr id="4" name="text_3">
            <a:extLst>
              <a:ext uri="{FF2B5EF4-FFF2-40B4-BE49-F238E27FC236}">
                <a16:creationId xmlns:a16="http://schemas.microsoft.com/office/drawing/2014/main" id="{D265CA13-0ED6-C93D-858E-9628EB8576E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Find participants. Match endpoints. Exchange application data.</a:t>
            </a:r>
          </a:p>
        </p:txBody>
      </p:sp>
      <p:cxnSp>
        <p:nvCxnSpPr>
          <p:cNvPr id="5" name="Straight Connector 4">
            <a:extLst>
              <a:ext uri="{FF2B5EF4-FFF2-40B4-BE49-F238E27FC236}">
                <a16:creationId xmlns:a16="http://schemas.microsoft.com/office/drawing/2014/main" id="{E92622AA-750A-1E94-47B1-B47327288A9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5A113C6-7A30-4F2C-02C9-587DBD91C42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A0949BD-1D68-7BF2-058B-C22FA106B7E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Rectangle: Rounded Corners 7">
            <a:extLst>
              <a:ext uri="{FF2B5EF4-FFF2-40B4-BE49-F238E27FC236}">
                <a16:creationId xmlns:a16="http://schemas.microsoft.com/office/drawing/2014/main" id="{BF98C469-120C-ACD8-1283-94629CEACC16}"/>
              </a:ext>
            </a:extLst>
          </p:cNvPr>
          <p:cNvSpPr/>
          <p:nvPr/>
        </p:nvSpPr>
        <p:spPr>
          <a:xfrm>
            <a:off x="685800" y="2603500"/>
            <a:ext cx="27686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29BFF54-22E2-0ABF-8BA8-8671B32CB678}"/>
              </a:ext>
            </a:extLst>
          </p:cNvPr>
          <p:cNvSpPr txBox="1"/>
          <p:nvPr/>
        </p:nvSpPr>
        <p:spPr>
          <a:xfrm>
            <a:off x="838200" y="2692399"/>
            <a:ext cx="24638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Participants</a:t>
            </a:r>
          </a:p>
        </p:txBody>
      </p:sp>
      <p:sp>
        <p:nvSpPr>
          <p:cNvPr id="10" name="Rectangle: Rounded Corners 9">
            <a:extLst>
              <a:ext uri="{FF2B5EF4-FFF2-40B4-BE49-F238E27FC236}">
                <a16:creationId xmlns:a16="http://schemas.microsoft.com/office/drawing/2014/main" id="{54A4F2D1-07EF-C520-3083-802DFFDB967F}"/>
              </a:ext>
            </a:extLst>
          </p:cNvPr>
          <p:cNvSpPr/>
          <p:nvPr/>
        </p:nvSpPr>
        <p:spPr>
          <a:xfrm>
            <a:off x="3987800" y="2603500"/>
            <a:ext cx="31496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EAECC3BF-F362-718A-5A67-D64149B97F57}"/>
              </a:ext>
            </a:extLst>
          </p:cNvPr>
          <p:cNvSpPr txBox="1"/>
          <p:nvPr/>
        </p:nvSpPr>
        <p:spPr>
          <a:xfrm>
            <a:off x="4140200" y="2692399"/>
            <a:ext cx="28448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Endpoint discovery</a:t>
            </a:r>
          </a:p>
        </p:txBody>
      </p:sp>
      <p:sp>
        <p:nvSpPr>
          <p:cNvPr id="12" name="Rectangle: Rounded Corners 11">
            <a:extLst>
              <a:ext uri="{FF2B5EF4-FFF2-40B4-BE49-F238E27FC236}">
                <a16:creationId xmlns:a16="http://schemas.microsoft.com/office/drawing/2014/main" id="{02211D30-4995-D3F9-72E9-63E6BE27BA96}"/>
              </a:ext>
            </a:extLst>
          </p:cNvPr>
          <p:cNvSpPr/>
          <p:nvPr/>
        </p:nvSpPr>
        <p:spPr>
          <a:xfrm>
            <a:off x="7670800" y="2603500"/>
            <a:ext cx="38354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DDD3FB2A-6A38-8D3D-93E9-90D505ACEDEF}"/>
              </a:ext>
            </a:extLst>
          </p:cNvPr>
          <p:cNvSpPr txBox="1"/>
          <p:nvPr/>
        </p:nvSpPr>
        <p:spPr>
          <a:xfrm>
            <a:off x="7823200" y="2692399"/>
            <a:ext cx="35306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Application data</a:t>
            </a:r>
          </a:p>
        </p:txBody>
      </p:sp>
      <p:cxnSp>
        <p:nvCxnSpPr>
          <p:cNvPr id="14" name="Straight Connector 13">
            <a:extLst>
              <a:ext uri="{FF2B5EF4-FFF2-40B4-BE49-F238E27FC236}">
                <a16:creationId xmlns:a16="http://schemas.microsoft.com/office/drawing/2014/main" id="{6B8E457A-FE35-FB5A-C1F0-715D040A10BC}"/>
              </a:ext>
            </a:extLst>
          </p:cNvPr>
          <p:cNvCxnSpPr/>
          <p:nvPr/>
        </p:nvCxnSpPr>
        <p:spPr>
          <a:xfrm>
            <a:off x="3454400" y="2870200"/>
            <a:ext cx="533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46BCF0D-8CF2-C91D-C5AA-87DE47142D5E}"/>
              </a:ext>
            </a:extLst>
          </p:cNvPr>
          <p:cNvCxnSpPr/>
          <p:nvPr/>
        </p:nvCxnSpPr>
        <p:spPr>
          <a:xfrm>
            <a:off x="7137400" y="2870200"/>
            <a:ext cx="533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A8A3155B-E781-9AD7-42CC-932BAC017E08}"/>
              </a:ext>
            </a:extLst>
          </p:cNvPr>
          <p:cNvSpPr txBox="1"/>
          <p:nvPr/>
        </p:nvSpPr>
        <p:spPr>
          <a:xfrm>
            <a:off x="685800" y="3492499"/>
            <a:ext cx="10820400" cy="4572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SPDP → SEDP → matching writers and readers</a:t>
            </a:r>
            <a:endParaRPr lang="en-IL" sz="2600">
              <a:solidFill>
                <a:srgbClr val="526477"/>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1033045B-C904-9E32-A465-273620D498BA}"/>
              </a:ext>
            </a:extLst>
          </p:cNvPr>
          <p:cNvSpPr/>
          <p:nvPr/>
        </p:nvSpPr>
        <p:spPr>
          <a:xfrm>
            <a:off x="685800" y="4254500"/>
            <a:ext cx="10820400" cy="17145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A9A7FD84-4356-CAA4-2BE9-F7EDFE29727F}"/>
              </a:ext>
            </a:extLst>
          </p:cNvPr>
          <p:cNvSpPr txBox="1"/>
          <p:nvPr/>
        </p:nvSpPr>
        <p:spPr>
          <a:xfrm>
            <a:off x="965200" y="4432299"/>
            <a:ext cx="10261600" cy="457200"/>
          </a:xfrm>
          <a:prstGeom prst="rect">
            <a:avLst/>
          </a:prstGeom>
          <a:noFill/>
        </p:spPr>
        <p:txBody>
          <a:bodyPr vert="horz" wrap="square" lIns="0" tIns="0" rIns="0" bIns="0" rtlCol="0" anchor="t">
            <a:noAutofit/>
          </a:bodyPr>
          <a:lstStyle/>
          <a:p>
            <a:r>
              <a:rPr lang="en-US" sz="2800" b="1">
                <a:solidFill>
                  <a:srgbClr val="2459D3"/>
                </a:solidFill>
                <a:latin typeface="Aptos" panose="020B0004020202020204" pitchFamily="34" charset="0"/>
              </a:rPr>
              <a:t>Reliable delivery can recover missing samples.</a:t>
            </a:r>
            <a:endParaRPr lang="en-IL" sz="2800" b="1">
              <a:solidFill>
                <a:srgbClr val="2459D3"/>
              </a:solidFill>
              <a:latin typeface="Aptos" panose="020B0004020202020204" pitchFamily="34" charset="0"/>
            </a:endParaRPr>
          </a:p>
        </p:txBody>
      </p:sp>
      <p:sp>
        <p:nvSpPr>
          <p:cNvPr id="19" name="text_18">
            <a:extLst>
              <a:ext uri="{FF2B5EF4-FFF2-40B4-BE49-F238E27FC236}">
                <a16:creationId xmlns:a16="http://schemas.microsoft.com/office/drawing/2014/main" id="{EC983ACB-2A82-EA71-88B3-A3B8C874AB32}"/>
              </a:ext>
            </a:extLst>
          </p:cNvPr>
          <p:cNvSpPr txBox="1"/>
          <p:nvPr/>
        </p:nvSpPr>
        <p:spPr>
          <a:xfrm>
            <a:off x="965200" y="5105399"/>
            <a:ext cx="10261600" cy="5715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Sequence → heartbeat → ACK/NACK → retransmission</a:t>
            </a:r>
            <a:endParaRPr lang="en-IL" sz="2600">
              <a:solidFill>
                <a:srgbClr val="15283B"/>
              </a:solidFill>
              <a:latin typeface="Aptos" panose="020B0004020202020204" pitchFamily="34" charset="0"/>
            </a:endParaRPr>
          </a:p>
        </p:txBody>
      </p:sp>
    </p:spTree>
    <p:extLst>
      <p:ext uri="{BB962C8B-B14F-4D97-AF65-F5344CB8AC3E}">
        <p14:creationId xmlns:p14="http://schemas.microsoft.com/office/powerpoint/2010/main" val="2310468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07177F2-A5E4-AFA8-DA2E-4F34BCD82D90}"/>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461FC6F2-5238-10FD-1097-1711955501A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QoS compatibility</a:t>
            </a:r>
          </a:p>
        </p:txBody>
      </p:sp>
      <p:sp>
        <p:nvSpPr>
          <p:cNvPr id="4" name="text_3">
            <a:extLst>
              <a:ext uri="{FF2B5EF4-FFF2-40B4-BE49-F238E27FC236}">
                <a16:creationId xmlns:a16="http://schemas.microsoft.com/office/drawing/2014/main" id="{EAD7CF06-A295-2A64-7EA8-16E4694ADAB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publisher must satisfy the subscriber's requested policy.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66EAAC5-B0D2-8FA9-0D2B-E00BE545DAF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6341479-8FF9-C91C-F91B-1FB5E259E0F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10F501F-C8EA-35D4-8FCE-4013813B406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text_7">
            <a:extLst>
              <a:ext uri="{FF2B5EF4-FFF2-40B4-BE49-F238E27FC236}">
                <a16:creationId xmlns:a16="http://schemas.microsoft.com/office/drawing/2014/main" id="{F867C2B9-624B-7C23-92A6-33B7B538EBFD}"/>
              </a:ext>
            </a:extLst>
          </p:cNvPr>
          <p:cNvSpPr txBox="1"/>
          <p:nvPr/>
        </p:nvSpPr>
        <p:spPr>
          <a:xfrm>
            <a:off x="838200" y="2628899"/>
            <a:ext cx="3429000" cy="457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Publisher offers</a:t>
            </a:r>
          </a:p>
        </p:txBody>
      </p:sp>
      <p:sp>
        <p:nvSpPr>
          <p:cNvPr id="9" name="text_8">
            <a:extLst>
              <a:ext uri="{FF2B5EF4-FFF2-40B4-BE49-F238E27FC236}">
                <a16:creationId xmlns:a16="http://schemas.microsoft.com/office/drawing/2014/main" id="{65A4BF47-1F75-1E5D-E88E-AA575E7E18E4}"/>
              </a:ext>
            </a:extLst>
          </p:cNvPr>
          <p:cNvSpPr txBox="1"/>
          <p:nvPr/>
        </p:nvSpPr>
        <p:spPr>
          <a:xfrm>
            <a:off x="4686300" y="2628899"/>
            <a:ext cx="3429000" cy="4572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Reader requests</a:t>
            </a:r>
          </a:p>
        </p:txBody>
      </p:sp>
      <p:sp>
        <p:nvSpPr>
          <p:cNvPr id="10" name="text_9">
            <a:extLst>
              <a:ext uri="{FF2B5EF4-FFF2-40B4-BE49-F238E27FC236}">
                <a16:creationId xmlns:a16="http://schemas.microsoft.com/office/drawing/2014/main" id="{DAC8F8AD-0D7F-97D6-A928-35D550501213}"/>
              </a:ext>
            </a:extLst>
          </p:cNvPr>
          <p:cNvSpPr txBox="1"/>
          <p:nvPr/>
        </p:nvSpPr>
        <p:spPr>
          <a:xfrm>
            <a:off x="8534400" y="2628899"/>
            <a:ext cx="2819400" cy="457200"/>
          </a:xfrm>
          <a:prstGeom prst="rect">
            <a:avLst/>
          </a:prstGeom>
          <a:noFill/>
        </p:spPr>
        <p:txBody>
          <a:bodyPr vert="horz" wrap="square" lIns="0" tIns="0" rIns="0" bIns="0" rtlCol="0" anchor="t">
            <a:noAutofit/>
          </a:bodyPr>
          <a:lstStyle/>
          <a:p>
            <a:r>
              <a:rPr lang="en-IL" sz="2600" b="1">
                <a:solidFill>
                  <a:srgbClr val="15283B"/>
                </a:solidFill>
                <a:latin typeface="Aptos" panose="020B0004020202020204" pitchFamily="34" charset="0"/>
              </a:rPr>
              <a:t>Compatible?</a:t>
            </a:r>
          </a:p>
        </p:txBody>
      </p:sp>
      <p:sp>
        <p:nvSpPr>
          <p:cNvPr id="11" name="Rectangle: Rounded Corners 10">
            <a:extLst>
              <a:ext uri="{FF2B5EF4-FFF2-40B4-BE49-F238E27FC236}">
                <a16:creationId xmlns:a16="http://schemas.microsoft.com/office/drawing/2014/main" id="{71497A57-1578-97F2-1AD0-B88A20E7B61F}"/>
              </a:ext>
            </a:extLst>
          </p:cNvPr>
          <p:cNvSpPr/>
          <p:nvPr/>
        </p:nvSpPr>
        <p:spPr>
          <a:xfrm>
            <a:off x="685800" y="3175000"/>
            <a:ext cx="10820400" cy="5080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0E470BA-3174-F4F2-6926-ECCFE702E250}"/>
              </a:ext>
            </a:extLst>
          </p:cNvPr>
          <p:cNvSpPr txBox="1"/>
          <p:nvPr/>
        </p:nvSpPr>
        <p:spPr>
          <a:xfrm>
            <a:off x="838200" y="3238499"/>
            <a:ext cx="32766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Best effort</a:t>
            </a:r>
          </a:p>
        </p:txBody>
      </p:sp>
      <p:sp>
        <p:nvSpPr>
          <p:cNvPr id="13" name="text_12">
            <a:extLst>
              <a:ext uri="{FF2B5EF4-FFF2-40B4-BE49-F238E27FC236}">
                <a16:creationId xmlns:a16="http://schemas.microsoft.com/office/drawing/2014/main" id="{886D61D3-F3AB-24EA-50A4-66F162674B8D}"/>
              </a:ext>
            </a:extLst>
          </p:cNvPr>
          <p:cNvSpPr txBox="1"/>
          <p:nvPr/>
        </p:nvSpPr>
        <p:spPr>
          <a:xfrm>
            <a:off x="4686300" y="3238499"/>
            <a:ext cx="32766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Best effort</a:t>
            </a:r>
          </a:p>
        </p:txBody>
      </p:sp>
      <p:sp>
        <p:nvSpPr>
          <p:cNvPr id="14" name="text_13">
            <a:extLst>
              <a:ext uri="{FF2B5EF4-FFF2-40B4-BE49-F238E27FC236}">
                <a16:creationId xmlns:a16="http://schemas.microsoft.com/office/drawing/2014/main" id="{2104BEE1-9E13-B3F0-F8E9-0952A8639B13}"/>
              </a:ext>
            </a:extLst>
          </p:cNvPr>
          <p:cNvSpPr txBox="1"/>
          <p:nvPr/>
        </p:nvSpPr>
        <p:spPr>
          <a:xfrm>
            <a:off x="8534400" y="3238499"/>
            <a:ext cx="28194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Yes</a:t>
            </a:r>
          </a:p>
        </p:txBody>
      </p:sp>
      <p:sp>
        <p:nvSpPr>
          <p:cNvPr id="15" name="Rectangle: Rounded Corners 14">
            <a:extLst>
              <a:ext uri="{FF2B5EF4-FFF2-40B4-BE49-F238E27FC236}">
                <a16:creationId xmlns:a16="http://schemas.microsoft.com/office/drawing/2014/main" id="{D06868EA-DB4F-0254-8BD3-FBE73522A9CF}"/>
              </a:ext>
            </a:extLst>
          </p:cNvPr>
          <p:cNvSpPr/>
          <p:nvPr/>
        </p:nvSpPr>
        <p:spPr>
          <a:xfrm>
            <a:off x="685800" y="3771900"/>
            <a:ext cx="10820400" cy="508000"/>
          </a:xfrm>
          <a:prstGeom prst="roundRect">
            <a:avLst>
              <a:gd name="adj" fmla="val 9000"/>
            </a:avLst>
          </a:prstGeom>
          <a:solidFill>
            <a:srgbClr val="FFF0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CE7E37F4-CA9A-2185-7ACE-7938BCDC0D0C}"/>
              </a:ext>
            </a:extLst>
          </p:cNvPr>
          <p:cNvSpPr txBox="1"/>
          <p:nvPr/>
        </p:nvSpPr>
        <p:spPr>
          <a:xfrm>
            <a:off x="838200" y="3835399"/>
            <a:ext cx="3276600" cy="444500"/>
          </a:xfrm>
          <a:prstGeom prst="rect">
            <a:avLst/>
          </a:prstGeom>
          <a:noFill/>
        </p:spPr>
        <p:txBody>
          <a:bodyPr vert="horz" wrap="square" lIns="0" tIns="0" rIns="0" bIns="0" rtlCol="0" anchor="t">
            <a:noAutofit/>
          </a:bodyPr>
          <a:lstStyle/>
          <a:p>
            <a:r>
              <a:rPr lang="en-IL" sz="2400">
                <a:solidFill>
                  <a:srgbClr val="AE651D"/>
                </a:solidFill>
                <a:latin typeface="Aptos" panose="020B0004020202020204" pitchFamily="34" charset="0"/>
              </a:rPr>
              <a:t>Best effort</a:t>
            </a:r>
          </a:p>
        </p:txBody>
      </p:sp>
      <p:sp>
        <p:nvSpPr>
          <p:cNvPr id="17" name="text_16">
            <a:extLst>
              <a:ext uri="{FF2B5EF4-FFF2-40B4-BE49-F238E27FC236}">
                <a16:creationId xmlns:a16="http://schemas.microsoft.com/office/drawing/2014/main" id="{B08DE471-869F-209A-A599-9EBCF513D0A3}"/>
              </a:ext>
            </a:extLst>
          </p:cNvPr>
          <p:cNvSpPr txBox="1"/>
          <p:nvPr/>
        </p:nvSpPr>
        <p:spPr>
          <a:xfrm>
            <a:off x="4686300" y="3835399"/>
            <a:ext cx="3276600" cy="444500"/>
          </a:xfrm>
          <a:prstGeom prst="rect">
            <a:avLst/>
          </a:prstGeom>
          <a:noFill/>
        </p:spPr>
        <p:txBody>
          <a:bodyPr vert="horz" wrap="square" lIns="0" tIns="0" rIns="0" bIns="0" rtlCol="0" anchor="t">
            <a:noAutofit/>
          </a:bodyPr>
          <a:lstStyle/>
          <a:p>
            <a:r>
              <a:rPr lang="en-IL" sz="2400">
                <a:solidFill>
                  <a:srgbClr val="AE651D"/>
                </a:solidFill>
                <a:latin typeface="Aptos" panose="020B0004020202020204" pitchFamily="34" charset="0"/>
              </a:rPr>
              <a:t>Reliable</a:t>
            </a:r>
          </a:p>
        </p:txBody>
      </p:sp>
      <p:sp>
        <p:nvSpPr>
          <p:cNvPr id="18" name="text_17">
            <a:extLst>
              <a:ext uri="{FF2B5EF4-FFF2-40B4-BE49-F238E27FC236}">
                <a16:creationId xmlns:a16="http://schemas.microsoft.com/office/drawing/2014/main" id="{21CE27E6-7A7C-BF99-4086-404A42745F4D}"/>
              </a:ext>
            </a:extLst>
          </p:cNvPr>
          <p:cNvSpPr txBox="1"/>
          <p:nvPr/>
        </p:nvSpPr>
        <p:spPr>
          <a:xfrm>
            <a:off x="8534400" y="3835399"/>
            <a:ext cx="2819400" cy="444500"/>
          </a:xfrm>
          <a:prstGeom prst="rect">
            <a:avLst/>
          </a:prstGeom>
          <a:noFill/>
        </p:spPr>
        <p:txBody>
          <a:bodyPr vert="horz" wrap="square" lIns="0" tIns="0" rIns="0" bIns="0" rtlCol="0" anchor="t">
            <a:noAutofit/>
          </a:bodyPr>
          <a:lstStyle/>
          <a:p>
            <a:r>
              <a:rPr lang="en-IL" sz="2400">
                <a:solidFill>
                  <a:srgbClr val="AE651D"/>
                </a:solidFill>
                <a:latin typeface="Aptos" panose="020B0004020202020204" pitchFamily="34" charset="0"/>
              </a:rPr>
              <a:t>No</a:t>
            </a:r>
          </a:p>
        </p:txBody>
      </p:sp>
      <p:sp>
        <p:nvSpPr>
          <p:cNvPr id="19" name="Rectangle: Rounded Corners 18">
            <a:extLst>
              <a:ext uri="{FF2B5EF4-FFF2-40B4-BE49-F238E27FC236}">
                <a16:creationId xmlns:a16="http://schemas.microsoft.com/office/drawing/2014/main" id="{070CA3A7-445A-EA18-1B59-53B983C6C6CA}"/>
              </a:ext>
            </a:extLst>
          </p:cNvPr>
          <p:cNvSpPr/>
          <p:nvPr/>
        </p:nvSpPr>
        <p:spPr>
          <a:xfrm>
            <a:off x="685800" y="4368800"/>
            <a:ext cx="10820400" cy="5080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3D4E2746-5930-DA91-B99E-0E192C133587}"/>
              </a:ext>
            </a:extLst>
          </p:cNvPr>
          <p:cNvSpPr txBox="1"/>
          <p:nvPr/>
        </p:nvSpPr>
        <p:spPr>
          <a:xfrm>
            <a:off x="838200" y="4432299"/>
            <a:ext cx="32766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Reliable</a:t>
            </a:r>
          </a:p>
        </p:txBody>
      </p:sp>
      <p:sp>
        <p:nvSpPr>
          <p:cNvPr id="21" name="text_20">
            <a:extLst>
              <a:ext uri="{FF2B5EF4-FFF2-40B4-BE49-F238E27FC236}">
                <a16:creationId xmlns:a16="http://schemas.microsoft.com/office/drawing/2014/main" id="{8930C1F8-9F2E-9DC1-593B-9631794FE077}"/>
              </a:ext>
            </a:extLst>
          </p:cNvPr>
          <p:cNvSpPr txBox="1"/>
          <p:nvPr/>
        </p:nvSpPr>
        <p:spPr>
          <a:xfrm>
            <a:off x="4686300" y="4432299"/>
            <a:ext cx="32766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Best effort</a:t>
            </a:r>
          </a:p>
        </p:txBody>
      </p:sp>
      <p:sp>
        <p:nvSpPr>
          <p:cNvPr id="22" name="text_21">
            <a:extLst>
              <a:ext uri="{FF2B5EF4-FFF2-40B4-BE49-F238E27FC236}">
                <a16:creationId xmlns:a16="http://schemas.microsoft.com/office/drawing/2014/main" id="{5E5CE1B2-7940-C332-60C4-C96B4CD5493D}"/>
              </a:ext>
            </a:extLst>
          </p:cNvPr>
          <p:cNvSpPr txBox="1"/>
          <p:nvPr/>
        </p:nvSpPr>
        <p:spPr>
          <a:xfrm>
            <a:off x="8534400" y="4432299"/>
            <a:ext cx="28194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Yes</a:t>
            </a:r>
          </a:p>
        </p:txBody>
      </p:sp>
      <p:sp>
        <p:nvSpPr>
          <p:cNvPr id="23" name="Rectangle: Rounded Corners 22">
            <a:extLst>
              <a:ext uri="{FF2B5EF4-FFF2-40B4-BE49-F238E27FC236}">
                <a16:creationId xmlns:a16="http://schemas.microsoft.com/office/drawing/2014/main" id="{79E76FF1-67DF-7820-4375-62027278719C}"/>
              </a:ext>
            </a:extLst>
          </p:cNvPr>
          <p:cNvSpPr/>
          <p:nvPr/>
        </p:nvSpPr>
        <p:spPr>
          <a:xfrm>
            <a:off x="685800" y="4965700"/>
            <a:ext cx="10820400" cy="5080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A3B050D6-3F67-949A-2AED-362A53A251AC}"/>
              </a:ext>
            </a:extLst>
          </p:cNvPr>
          <p:cNvSpPr txBox="1"/>
          <p:nvPr/>
        </p:nvSpPr>
        <p:spPr>
          <a:xfrm>
            <a:off x="838200" y="5029199"/>
            <a:ext cx="32766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Reliable</a:t>
            </a:r>
          </a:p>
        </p:txBody>
      </p:sp>
      <p:sp>
        <p:nvSpPr>
          <p:cNvPr id="25" name="text_24">
            <a:extLst>
              <a:ext uri="{FF2B5EF4-FFF2-40B4-BE49-F238E27FC236}">
                <a16:creationId xmlns:a16="http://schemas.microsoft.com/office/drawing/2014/main" id="{D8C6BA3A-2CE1-8858-C1D6-CEBB8576F252}"/>
              </a:ext>
            </a:extLst>
          </p:cNvPr>
          <p:cNvSpPr txBox="1"/>
          <p:nvPr/>
        </p:nvSpPr>
        <p:spPr>
          <a:xfrm>
            <a:off x="4686300" y="5029199"/>
            <a:ext cx="32766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Reliable</a:t>
            </a:r>
          </a:p>
        </p:txBody>
      </p:sp>
      <p:sp>
        <p:nvSpPr>
          <p:cNvPr id="26" name="text_25">
            <a:extLst>
              <a:ext uri="{FF2B5EF4-FFF2-40B4-BE49-F238E27FC236}">
                <a16:creationId xmlns:a16="http://schemas.microsoft.com/office/drawing/2014/main" id="{EB1FB63A-B6A2-1800-4E58-C8B26D3AED20}"/>
              </a:ext>
            </a:extLst>
          </p:cNvPr>
          <p:cNvSpPr txBox="1"/>
          <p:nvPr/>
        </p:nvSpPr>
        <p:spPr>
          <a:xfrm>
            <a:off x="8534400" y="5029199"/>
            <a:ext cx="28194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Yes</a:t>
            </a:r>
          </a:p>
        </p:txBody>
      </p:sp>
      <p:sp>
        <p:nvSpPr>
          <p:cNvPr id="27" name="text_26">
            <a:extLst>
              <a:ext uri="{FF2B5EF4-FFF2-40B4-BE49-F238E27FC236}">
                <a16:creationId xmlns:a16="http://schemas.microsoft.com/office/drawing/2014/main" id="{9DB9B0EB-62D9-5BBB-1618-236DB80A1B5E}"/>
              </a:ext>
            </a:extLst>
          </p:cNvPr>
          <p:cNvSpPr txBox="1"/>
          <p:nvPr/>
        </p:nvSpPr>
        <p:spPr>
          <a:xfrm>
            <a:off x="685800" y="5727699"/>
            <a:ext cx="10820400" cy="4318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Reliability shown here; other policies must also be compatible.</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90120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9FBC754-4F6C-9BD5-7C8E-BA76AC545DF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4A733D07-6A8D-C584-EC13-7F1683E0A22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Executors and concurrency</a:t>
            </a:r>
          </a:p>
        </p:txBody>
      </p:sp>
      <p:sp>
        <p:nvSpPr>
          <p:cNvPr id="4" name="text_3">
            <a:extLst>
              <a:ext uri="{FF2B5EF4-FFF2-40B4-BE49-F238E27FC236}">
                <a16:creationId xmlns:a16="http://schemas.microsoft.com/office/drawing/2014/main" id="{56131DE6-7369-2D6E-A890-9858326167D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Threads help only when callback groups allow work to overlap.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332402E-689F-0EE3-8529-3468AEE0AB4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15DE9B1-9316-23FE-C4BF-1A6B71C94AF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1F5E2ED-213F-4AB1-375A-5EA7D8563DB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text_7">
            <a:extLst>
              <a:ext uri="{FF2B5EF4-FFF2-40B4-BE49-F238E27FC236}">
                <a16:creationId xmlns:a16="http://schemas.microsoft.com/office/drawing/2014/main" id="{D5FCDD3D-5697-F99D-7DCF-10ADF186C354}"/>
              </a:ext>
            </a:extLst>
          </p:cNvPr>
          <p:cNvSpPr txBox="1"/>
          <p:nvPr/>
        </p:nvSpPr>
        <p:spPr>
          <a:xfrm>
            <a:off x="685800" y="2616199"/>
            <a:ext cx="10820400" cy="482600"/>
          </a:xfrm>
          <a:prstGeom prst="rect">
            <a:avLst/>
          </a:prstGeom>
          <a:noFill/>
        </p:spPr>
        <p:txBody>
          <a:bodyPr vert="horz" wrap="square" lIns="0" tIns="0" rIns="0" bIns="0" rtlCol="0" anchor="t">
            <a:noAutofit/>
          </a:bodyPr>
          <a:lstStyle/>
          <a:p>
            <a:r>
              <a:rPr lang="en-US" sz="2800" b="1">
                <a:solidFill>
                  <a:srgbClr val="2459D3"/>
                </a:solidFill>
                <a:latin typeface="Aptos" panose="020B0004020202020204" pitchFamily="34" charset="0"/>
              </a:rPr>
              <a:t>Single-threaded: one callback at a time</a:t>
            </a:r>
            <a:endParaRPr lang="en-IL" sz="2800" b="1">
              <a:solidFill>
                <a:srgbClr val="2459D3"/>
              </a:solidFill>
              <a:latin typeface="Aptos" panose="020B0004020202020204" pitchFamily="34" charset="0"/>
            </a:endParaRPr>
          </a:p>
        </p:txBody>
      </p:sp>
      <p:cxnSp>
        <p:nvCxnSpPr>
          <p:cNvPr id="9" name="Straight Connector 8">
            <a:extLst>
              <a:ext uri="{FF2B5EF4-FFF2-40B4-BE49-F238E27FC236}">
                <a16:creationId xmlns:a16="http://schemas.microsoft.com/office/drawing/2014/main" id="{2382C979-11CA-C499-E769-15A536D77308}"/>
              </a:ext>
            </a:extLst>
          </p:cNvPr>
          <p:cNvCxnSpPr/>
          <p:nvPr/>
        </p:nvCxnSpPr>
        <p:spPr>
          <a:xfrm>
            <a:off x="2794000" y="3606800"/>
            <a:ext cx="85344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BCC2326B-74E7-F987-D797-B6B4FA28A6D0}"/>
              </a:ext>
            </a:extLst>
          </p:cNvPr>
          <p:cNvSpPr/>
          <p:nvPr/>
        </p:nvSpPr>
        <p:spPr>
          <a:xfrm>
            <a:off x="3022600" y="3263900"/>
            <a:ext cx="4064000" cy="609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98F69230-4329-338E-C5EF-F558B7966FC8}"/>
              </a:ext>
            </a:extLst>
          </p:cNvPr>
          <p:cNvSpPr txBox="1"/>
          <p:nvPr/>
        </p:nvSpPr>
        <p:spPr>
          <a:xfrm>
            <a:off x="3200400" y="3390899"/>
            <a:ext cx="3708400" cy="4318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Slow callback</a:t>
            </a:r>
          </a:p>
        </p:txBody>
      </p:sp>
      <p:sp>
        <p:nvSpPr>
          <p:cNvPr id="12" name="Rectangle: Rounded Corners 11">
            <a:extLst>
              <a:ext uri="{FF2B5EF4-FFF2-40B4-BE49-F238E27FC236}">
                <a16:creationId xmlns:a16="http://schemas.microsoft.com/office/drawing/2014/main" id="{AD518D2D-5C68-A76B-2D71-CC26FE44E8FC}"/>
              </a:ext>
            </a:extLst>
          </p:cNvPr>
          <p:cNvSpPr/>
          <p:nvPr/>
        </p:nvSpPr>
        <p:spPr>
          <a:xfrm>
            <a:off x="7289800" y="3263900"/>
            <a:ext cx="2413000" cy="609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31B884BB-4A52-EFAD-D912-C27929666FF4}"/>
              </a:ext>
            </a:extLst>
          </p:cNvPr>
          <p:cNvSpPr txBox="1"/>
          <p:nvPr/>
        </p:nvSpPr>
        <p:spPr>
          <a:xfrm>
            <a:off x="7467600" y="3390899"/>
            <a:ext cx="2057400" cy="4318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Next callback</a:t>
            </a:r>
          </a:p>
        </p:txBody>
      </p:sp>
      <p:sp>
        <p:nvSpPr>
          <p:cNvPr id="14" name="text_13">
            <a:extLst>
              <a:ext uri="{FF2B5EF4-FFF2-40B4-BE49-F238E27FC236}">
                <a16:creationId xmlns:a16="http://schemas.microsoft.com/office/drawing/2014/main" id="{9CE82964-E101-3106-50E3-6BDC9DB0DA4D}"/>
              </a:ext>
            </a:extLst>
          </p:cNvPr>
          <p:cNvSpPr txBox="1"/>
          <p:nvPr/>
        </p:nvSpPr>
        <p:spPr>
          <a:xfrm>
            <a:off x="685800" y="4178299"/>
            <a:ext cx="10820400" cy="482600"/>
          </a:xfrm>
          <a:prstGeom prst="rect">
            <a:avLst/>
          </a:prstGeom>
          <a:noFill/>
        </p:spPr>
        <p:txBody>
          <a:bodyPr vert="horz" wrap="square" lIns="0" tIns="0" rIns="0" bIns="0" rtlCol="0" anchor="t">
            <a:noAutofit/>
          </a:bodyPr>
          <a:lstStyle/>
          <a:p>
            <a:r>
              <a:rPr lang="en-US" sz="2800" b="1">
                <a:solidFill>
                  <a:srgbClr val="137F79"/>
                </a:solidFill>
                <a:latin typeface="Aptos" panose="020B0004020202020204" pitchFamily="34" charset="0"/>
              </a:rPr>
              <a:t>Multithreaded: eligible callbacks can overlap</a:t>
            </a:r>
            <a:endParaRPr lang="en-IL" sz="2800" b="1">
              <a:solidFill>
                <a:srgbClr val="137F79"/>
              </a:solidFill>
              <a:latin typeface="Aptos" panose="020B0004020202020204" pitchFamily="34" charset="0"/>
            </a:endParaRPr>
          </a:p>
        </p:txBody>
      </p:sp>
      <p:sp>
        <p:nvSpPr>
          <p:cNvPr id="15" name="text_14">
            <a:extLst>
              <a:ext uri="{FF2B5EF4-FFF2-40B4-BE49-F238E27FC236}">
                <a16:creationId xmlns:a16="http://schemas.microsoft.com/office/drawing/2014/main" id="{20F201A0-5E6B-00CD-315E-5523D66AF73F}"/>
              </a:ext>
            </a:extLst>
          </p:cNvPr>
          <p:cNvSpPr txBox="1"/>
          <p:nvPr/>
        </p:nvSpPr>
        <p:spPr>
          <a:xfrm>
            <a:off x="685800" y="4851399"/>
            <a:ext cx="1981200" cy="4572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Worker 1</a:t>
            </a:r>
          </a:p>
        </p:txBody>
      </p:sp>
      <p:sp>
        <p:nvSpPr>
          <p:cNvPr id="16" name="text_15">
            <a:extLst>
              <a:ext uri="{FF2B5EF4-FFF2-40B4-BE49-F238E27FC236}">
                <a16:creationId xmlns:a16="http://schemas.microsoft.com/office/drawing/2014/main" id="{3E9DE99D-B297-9E0A-7CDE-33DF1FFAA8C5}"/>
              </a:ext>
            </a:extLst>
          </p:cNvPr>
          <p:cNvSpPr txBox="1"/>
          <p:nvPr/>
        </p:nvSpPr>
        <p:spPr>
          <a:xfrm>
            <a:off x="685800" y="5499099"/>
            <a:ext cx="1981200" cy="4572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Worker 2</a:t>
            </a:r>
          </a:p>
        </p:txBody>
      </p:sp>
      <p:sp>
        <p:nvSpPr>
          <p:cNvPr id="17" name="Rectangle: Rounded Corners 16">
            <a:extLst>
              <a:ext uri="{FF2B5EF4-FFF2-40B4-BE49-F238E27FC236}">
                <a16:creationId xmlns:a16="http://schemas.microsoft.com/office/drawing/2014/main" id="{F5E92A23-BA64-639A-D375-00D6D7913EC4}"/>
              </a:ext>
            </a:extLst>
          </p:cNvPr>
          <p:cNvSpPr/>
          <p:nvPr/>
        </p:nvSpPr>
        <p:spPr>
          <a:xfrm>
            <a:off x="3022600" y="4762500"/>
            <a:ext cx="4064000" cy="546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28F812AF-5206-9948-4526-6675A98C75A6}"/>
              </a:ext>
            </a:extLst>
          </p:cNvPr>
          <p:cNvSpPr txBox="1"/>
          <p:nvPr/>
        </p:nvSpPr>
        <p:spPr>
          <a:xfrm>
            <a:off x="3175000" y="4851399"/>
            <a:ext cx="37592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Callback A</a:t>
            </a:r>
          </a:p>
        </p:txBody>
      </p:sp>
      <p:sp>
        <p:nvSpPr>
          <p:cNvPr id="19" name="Rectangle: Rounded Corners 18">
            <a:extLst>
              <a:ext uri="{FF2B5EF4-FFF2-40B4-BE49-F238E27FC236}">
                <a16:creationId xmlns:a16="http://schemas.microsoft.com/office/drawing/2014/main" id="{EAF21FBA-D058-2A84-D9DF-D6ED7BE3E97D}"/>
              </a:ext>
            </a:extLst>
          </p:cNvPr>
          <p:cNvSpPr/>
          <p:nvPr/>
        </p:nvSpPr>
        <p:spPr>
          <a:xfrm>
            <a:off x="3022600" y="5410200"/>
            <a:ext cx="2413000" cy="546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09FC2E45-B574-1060-B3D1-27BCF34C5CD0}"/>
              </a:ext>
            </a:extLst>
          </p:cNvPr>
          <p:cNvSpPr txBox="1"/>
          <p:nvPr/>
        </p:nvSpPr>
        <p:spPr>
          <a:xfrm>
            <a:off x="3149600" y="5486399"/>
            <a:ext cx="2159000" cy="4191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Callback B</a:t>
            </a:r>
          </a:p>
        </p:txBody>
      </p:sp>
    </p:spTree>
    <p:extLst>
      <p:ext uri="{BB962C8B-B14F-4D97-AF65-F5344CB8AC3E}">
        <p14:creationId xmlns:p14="http://schemas.microsoft.com/office/powerpoint/2010/main" val="68237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F6663DF-A29C-E6D0-717B-1753D8EC890F}"/>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F76AC79F-9D0C-1DA6-1C95-7D6B943C265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Managed lifecycle transitions</a:t>
            </a:r>
          </a:p>
        </p:txBody>
      </p:sp>
      <p:sp>
        <p:nvSpPr>
          <p:cNvPr id="4" name="text_3">
            <a:extLst>
              <a:ext uri="{FF2B5EF4-FFF2-40B4-BE49-F238E27FC236}">
                <a16:creationId xmlns:a16="http://schemas.microsoft.com/office/drawing/2014/main" id="{96E1D7FE-795F-6C93-F2DC-303F942CBD2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supervisor requests transitions; callbacks manage resources.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DE360A7-00AC-6AB5-6D2C-48558AB91CF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11F74C2-46A0-E611-C024-697718CF143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C523DA8-B697-5D21-ED3E-D9CB8BDC37B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Rectangle: Rounded Corners 7">
            <a:extLst>
              <a:ext uri="{FF2B5EF4-FFF2-40B4-BE49-F238E27FC236}">
                <a16:creationId xmlns:a16="http://schemas.microsoft.com/office/drawing/2014/main" id="{78995B08-30F9-412A-513A-4224BBADC281}"/>
              </a:ext>
            </a:extLst>
          </p:cNvPr>
          <p:cNvSpPr/>
          <p:nvPr/>
        </p:nvSpPr>
        <p:spPr>
          <a:xfrm>
            <a:off x="685800" y="3009900"/>
            <a:ext cx="2743200" cy="812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8610748-2379-8B14-BD76-B4B2DC9A3010}"/>
              </a:ext>
            </a:extLst>
          </p:cNvPr>
          <p:cNvSpPr txBox="1"/>
          <p:nvPr/>
        </p:nvSpPr>
        <p:spPr>
          <a:xfrm>
            <a:off x="787400" y="3213099"/>
            <a:ext cx="2540000" cy="4826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Unconfigured</a:t>
            </a:r>
          </a:p>
        </p:txBody>
      </p:sp>
      <p:sp>
        <p:nvSpPr>
          <p:cNvPr id="10" name="Rectangle: Rounded Corners 9">
            <a:extLst>
              <a:ext uri="{FF2B5EF4-FFF2-40B4-BE49-F238E27FC236}">
                <a16:creationId xmlns:a16="http://schemas.microsoft.com/office/drawing/2014/main" id="{D82D92F9-E831-23BC-5088-C19F81E78315}"/>
              </a:ext>
            </a:extLst>
          </p:cNvPr>
          <p:cNvSpPr/>
          <p:nvPr/>
        </p:nvSpPr>
        <p:spPr>
          <a:xfrm>
            <a:off x="4724400" y="3009900"/>
            <a:ext cx="2743200" cy="812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F60766D4-CA33-0A66-D79A-911F9CDC68C2}"/>
              </a:ext>
            </a:extLst>
          </p:cNvPr>
          <p:cNvSpPr txBox="1"/>
          <p:nvPr/>
        </p:nvSpPr>
        <p:spPr>
          <a:xfrm>
            <a:off x="4826000" y="3213099"/>
            <a:ext cx="2540000" cy="4826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Inactive</a:t>
            </a:r>
          </a:p>
        </p:txBody>
      </p:sp>
      <p:sp>
        <p:nvSpPr>
          <p:cNvPr id="12" name="Rectangle: Rounded Corners 11">
            <a:extLst>
              <a:ext uri="{FF2B5EF4-FFF2-40B4-BE49-F238E27FC236}">
                <a16:creationId xmlns:a16="http://schemas.microsoft.com/office/drawing/2014/main" id="{F660AC05-7AC2-8E5F-A85C-CA4700FB37E1}"/>
              </a:ext>
            </a:extLst>
          </p:cNvPr>
          <p:cNvSpPr/>
          <p:nvPr/>
        </p:nvSpPr>
        <p:spPr>
          <a:xfrm>
            <a:off x="8763000" y="3009900"/>
            <a:ext cx="2743200" cy="812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01363A9D-84E4-B56B-E178-6FC7D0DAF969}"/>
              </a:ext>
            </a:extLst>
          </p:cNvPr>
          <p:cNvSpPr txBox="1"/>
          <p:nvPr/>
        </p:nvSpPr>
        <p:spPr>
          <a:xfrm>
            <a:off x="8864600" y="3213099"/>
            <a:ext cx="2540000" cy="4826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Active</a:t>
            </a:r>
          </a:p>
        </p:txBody>
      </p:sp>
      <p:cxnSp>
        <p:nvCxnSpPr>
          <p:cNvPr id="14" name="Straight Connector 13">
            <a:extLst>
              <a:ext uri="{FF2B5EF4-FFF2-40B4-BE49-F238E27FC236}">
                <a16:creationId xmlns:a16="http://schemas.microsoft.com/office/drawing/2014/main" id="{107BA286-E536-985A-B6B4-20E8E849D680}"/>
              </a:ext>
            </a:extLst>
          </p:cNvPr>
          <p:cNvCxnSpPr/>
          <p:nvPr/>
        </p:nvCxnSpPr>
        <p:spPr>
          <a:xfrm>
            <a:off x="3429000" y="3263900"/>
            <a:ext cx="1295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A6BCE9F2-0903-EAD1-CD2C-56F24D98AF96}"/>
              </a:ext>
            </a:extLst>
          </p:cNvPr>
          <p:cNvSpPr txBox="1"/>
          <p:nvPr/>
        </p:nvSpPr>
        <p:spPr>
          <a:xfrm>
            <a:off x="3378200" y="2654299"/>
            <a:ext cx="1447800" cy="4318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configure</a:t>
            </a:r>
          </a:p>
        </p:txBody>
      </p:sp>
      <p:cxnSp>
        <p:nvCxnSpPr>
          <p:cNvPr id="16" name="Straight Connector 15">
            <a:extLst>
              <a:ext uri="{FF2B5EF4-FFF2-40B4-BE49-F238E27FC236}">
                <a16:creationId xmlns:a16="http://schemas.microsoft.com/office/drawing/2014/main" id="{28F4B7AD-5CEB-9CB0-5C1E-A61313D8FCD2}"/>
              </a:ext>
            </a:extLst>
          </p:cNvPr>
          <p:cNvCxnSpPr/>
          <p:nvPr/>
        </p:nvCxnSpPr>
        <p:spPr>
          <a:xfrm>
            <a:off x="7467600" y="3263900"/>
            <a:ext cx="1295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7" name="text_16">
            <a:extLst>
              <a:ext uri="{FF2B5EF4-FFF2-40B4-BE49-F238E27FC236}">
                <a16:creationId xmlns:a16="http://schemas.microsoft.com/office/drawing/2014/main" id="{965CF6E2-1FBE-25BB-9B93-31EA474C1D84}"/>
              </a:ext>
            </a:extLst>
          </p:cNvPr>
          <p:cNvSpPr txBox="1"/>
          <p:nvPr/>
        </p:nvSpPr>
        <p:spPr>
          <a:xfrm>
            <a:off x="7467600" y="2654299"/>
            <a:ext cx="1320800" cy="4318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activate</a:t>
            </a:r>
          </a:p>
        </p:txBody>
      </p:sp>
      <p:cxnSp>
        <p:nvCxnSpPr>
          <p:cNvPr id="18" name="Straight Connector 17">
            <a:extLst>
              <a:ext uri="{FF2B5EF4-FFF2-40B4-BE49-F238E27FC236}">
                <a16:creationId xmlns:a16="http://schemas.microsoft.com/office/drawing/2014/main" id="{AE0C6D87-5446-808E-09B4-B05B0F664F1F}"/>
              </a:ext>
            </a:extLst>
          </p:cNvPr>
          <p:cNvCxnSpPr/>
          <p:nvPr/>
        </p:nvCxnSpPr>
        <p:spPr>
          <a:xfrm flipH="1">
            <a:off x="3429000" y="3644900"/>
            <a:ext cx="1295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B1EBB9E1-7299-8FF7-0946-CB3B10CC838F}"/>
              </a:ext>
            </a:extLst>
          </p:cNvPr>
          <p:cNvSpPr txBox="1"/>
          <p:nvPr/>
        </p:nvSpPr>
        <p:spPr>
          <a:xfrm>
            <a:off x="3429000" y="3924299"/>
            <a:ext cx="1346200" cy="4318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cleanup</a:t>
            </a:r>
          </a:p>
        </p:txBody>
      </p:sp>
      <p:cxnSp>
        <p:nvCxnSpPr>
          <p:cNvPr id="20" name="Straight Connector 19">
            <a:extLst>
              <a:ext uri="{FF2B5EF4-FFF2-40B4-BE49-F238E27FC236}">
                <a16:creationId xmlns:a16="http://schemas.microsoft.com/office/drawing/2014/main" id="{699B0725-22AA-4CBE-D624-A845F455C0E4}"/>
              </a:ext>
            </a:extLst>
          </p:cNvPr>
          <p:cNvCxnSpPr/>
          <p:nvPr/>
        </p:nvCxnSpPr>
        <p:spPr>
          <a:xfrm flipH="1">
            <a:off x="7467600" y="3644900"/>
            <a:ext cx="1295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1" name="text_20">
            <a:extLst>
              <a:ext uri="{FF2B5EF4-FFF2-40B4-BE49-F238E27FC236}">
                <a16:creationId xmlns:a16="http://schemas.microsoft.com/office/drawing/2014/main" id="{4D80BC02-9BC4-1583-A252-6EBEF168E252}"/>
              </a:ext>
            </a:extLst>
          </p:cNvPr>
          <p:cNvSpPr txBox="1"/>
          <p:nvPr/>
        </p:nvSpPr>
        <p:spPr>
          <a:xfrm>
            <a:off x="7150100" y="3924299"/>
            <a:ext cx="1930400" cy="4318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deactivate</a:t>
            </a:r>
          </a:p>
        </p:txBody>
      </p:sp>
      <p:cxnSp>
        <p:nvCxnSpPr>
          <p:cNvPr id="22" name="Straight Connector 21">
            <a:extLst>
              <a:ext uri="{FF2B5EF4-FFF2-40B4-BE49-F238E27FC236}">
                <a16:creationId xmlns:a16="http://schemas.microsoft.com/office/drawing/2014/main" id="{48F98E4A-DC64-9133-C882-CA257A389783}"/>
              </a:ext>
            </a:extLst>
          </p:cNvPr>
          <p:cNvCxnSpPr/>
          <p:nvPr/>
        </p:nvCxnSpPr>
        <p:spPr>
          <a:xfrm>
            <a:off x="2057400" y="4445000"/>
            <a:ext cx="0" cy="30480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6A27F29-9234-CD25-DA59-F456251EB0E4}"/>
              </a:ext>
            </a:extLst>
          </p:cNvPr>
          <p:cNvCxnSpPr/>
          <p:nvPr/>
        </p:nvCxnSpPr>
        <p:spPr>
          <a:xfrm>
            <a:off x="2057400" y="4749800"/>
            <a:ext cx="403860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5A83A7BD-702A-D209-E6B6-06E49245291F}"/>
              </a:ext>
            </a:extLst>
          </p:cNvPr>
          <p:cNvCxnSpPr/>
          <p:nvPr/>
        </p:nvCxnSpPr>
        <p:spPr>
          <a:xfrm>
            <a:off x="6096000" y="4445000"/>
            <a:ext cx="0" cy="30480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F4C526A-8009-10AB-93A6-5E198767882D}"/>
              </a:ext>
            </a:extLst>
          </p:cNvPr>
          <p:cNvCxnSpPr/>
          <p:nvPr/>
        </p:nvCxnSpPr>
        <p:spPr>
          <a:xfrm>
            <a:off x="6096000" y="4749800"/>
            <a:ext cx="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06C0394-BFB8-6036-D084-6712D5C6F4EB}"/>
              </a:ext>
            </a:extLst>
          </p:cNvPr>
          <p:cNvCxnSpPr/>
          <p:nvPr/>
        </p:nvCxnSpPr>
        <p:spPr>
          <a:xfrm>
            <a:off x="10134600" y="4445000"/>
            <a:ext cx="0" cy="30480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7B74DE1-DCA4-255F-779C-B6C3175B6A93}"/>
              </a:ext>
            </a:extLst>
          </p:cNvPr>
          <p:cNvCxnSpPr/>
          <p:nvPr/>
        </p:nvCxnSpPr>
        <p:spPr>
          <a:xfrm flipH="1">
            <a:off x="6096000" y="4749800"/>
            <a:ext cx="403860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9BFA46C-7691-6C7E-D947-F1478141364E}"/>
              </a:ext>
            </a:extLst>
          </p:cNvPr>
          <p:cNvCxnSpPr/>
          <p:nvPr/>
        </p:nvCxnSpPr>
        <p:spPr>
          <a:xfrm>
            <a:off x="6096000" y="4749800"/>
            <a:ext cx="0" cy="27940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2C4BE1D7-AF5F-D3B8-4E9E-8A63B7C228EA}"/>
              </a:ext>
            </a:extLst>
          </p:cNvPr>
          <p:cNvSpPr/>
          <p:nvPr/>
        </p:nvSpPr>
        <p:spPr>
          <a:xfrm>
            <a:off x="4724400" y="5054600"/>
            <a:ext cx="2743200" cy="6350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text_29">
            <a:extLst>
              <a:ext uri="{FF2B5EF4-FFF2-40B4-BE49-F238E27FC236}">
                <a16:creationId xmlns:a16="http://schemas.microsoft.com/office/drawing/2014/main" id="{CE8254C4-8481-82D6-5DE9-9F54793DEEF4}"/>
              </a:ext>
            </a:extLst>
          </p:cNvPr>
          <p:cNvSpPr txBox="1"/>
          <p:nvPr/>
        </p:nvSpPr>
        <p:spPr>
          <a:xfrm>
            <a:off x="4876800" y="5168899"/>
            <a:ext cx="2438400" cy="444500"/>
          </a:xfrm>
          <a:prstGeom prst="rect">
            <a:avLst/>
          </a:prstGeom>
          <a:noFill/>
        </p:spPr>
        <p:txBody>
          <a:bodyPr vert="horz" wrap="square" lIns="0" tIns="0" rIns="0" bIns="0" rtlCol="0" anchor="t">
            <a:noAutofit/>
          </a:bodyPr>
          <a:lstStyle/>
          <a:p>
            <a:pPr algn="ctr"/>
            <a:r>
              <a:rPr lang="en-IL" sz="2400" b="1">
                <a:solidFill>
                  <a:srgbClr val="526477"/>
                </a:solidFill>
                <a:latin typeface="Aptos" panose="020B0004020202020204" pitchFamily="34" charset="0"/>
              </a:rPr>
              <a:t>Finalized</a:t>
            </a:r>
          </a:p>
        </p:txBody>
      </p:sp>
      <p:sp>
        <p:nvSpPr>
          <p:cNvPr id="31" name="text_30">
            <a:extLst>
              <a:ext uri="{FF2B5EF4-FFF2-40B4-BE49-F238E27FC236}">
                <a16:creationId xmlns:a16="http://schemas.microsoft.com/office/drawing/2014/main" id="{E6C3198B-DA31-E17E-E616-B19C489EED30}"/>
              </a:ext>
            </a:extLst>
          </p:cNvPr>
          <p:cNvSpPr txBox="1"/>
          <p:nvPr/>
        </p:nvSpPr>
        <p:spPr>
          <a:xfrm>
            <a:off x="7721600" y="5092699"/>
            <a:ext cx="3784600" cy="4826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shutdown</a:t>
            </a:r>
          </a:p>
        </p:txBody>
      </p:sp>
      <p:sp>
        <p:nvSpPr>
          <p:cNvPr id="32" name="text_31">
            <a:extLst>
              <a:ext uri="{FF2B5EF4-FFF2-40B4-BE49-F238E27FC236}">
                <a16:creationId xmlns:a16="http://schemas.microsoft.com/office/drawing/2014/main" id="{4E58601A-147A-B7C3-3B1D-135A754B78E7}"/>
              </a:ext>
            </a:extLst>
          </p:cNvPr>
          <p:cNvSpPr txBox="1"/>
          <p:nvPr/>
        </p:nvSpPr>
        <p:spPr>
          <a:xfrm>
            <a:off x="685800" y="5791199"/>
            <a:ext cx="10820400" cy="3810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Callbacks: success / failure; errors → ErrorProcessing</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122914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36327F6-99A7-4010-34EE-5CEDD8213D3A}"/>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E8243D37-0906-B00E-9ECF-D8B1E1347DF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Migrating from ROS 1</a:t>
            </a:r>
          </a:p>
        </p:txBody>
      </p:sp>
      <p:sp>
        <p:nvSpPr>
          <p:cNvPr id="4" name="text_3">
            <a:extLst>
              <a:ext uri="{FF2B5EF4-FFF2-40B4-BE49-F238E27FC236}">
                <a16:creationId xmlns:a16="http://schemas.microsoft.com/office/drawing/2014/main" id="{157ED2C7-23F9-F468-C435-83F9D403BAE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architectural ideas. Port the implementation.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E862272-0305-3566-E9C6-F27CCE69A85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619557A-32E3-D54A-EF04-C5AC773B316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A495545-8AEA-AD80-8281-5C2F9C62238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66F8756E-3E2A-09E2-E3EF-9BE47BEBAAB5}"/>
              </a:ext>
            </a:extLst>
          </p:cNvPr>
          <p:cNvSpPr/>
          <p:nvPr/>
        </p:nvSpPr>
        <p:spPr>
          <a:xfrm>
            <a:off x="685800" y="2768600"/>
            <a:ext cx="2895600" cy="1104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922CEF8-32B7-30C5-22F3-EF0F5D8FE1BC}"/>
              </a:ext>
            </a:extLst>
          </p:cNvPr>
          <p:cNvSpPr txBox="1"/>
          <p:nvPr/>
        </p:nvSpPr>
        <p:spPr>
          <a:xfrm>
            <a:off x="939800" y="3124199"/>
            <a:ext cx="2387600" cy="533400"/>
          </a:xfrm>
          <a:prstGeom prst="rect">
            <a:avLst/>
          </a:prstGeom>
          <a:noFill/>
        </p:spPr>
        <p:txBody>
          <a:bodyPr vert="horz" wrap="square" lIns="0" tIns="0" rIns="0" bIns="0" rtlCol="0" anchor="t">
            <a:noAutofit/>
          </a:bodyPr>
          <a:lstStyle/>
          <a:p>
            <a:pPr algn="ctr"/>
            <a:r>
              <a:rPr lang="en-IL" sz="2800" b="1">
                <a:solidFill>
                  <a:srgbClr val="2459D3"/>
                </a:solidFill>
                <a:latin typeface="Aptos" panose="020B0004020202020204" pitchFamily="34" charset="0"/>
              </a:rPr>
              <a:t>ROS 1 graph</a:t>
            </a:r>
          </a:p>
        </p:txBody>
      </p:sp>
      <p:sp>
        <p:nvSpPr>
          <p:cNvPr id="10" name="Rectangle: Rounded Corners 9">
            <a:extLst>
              <a:ext uri="{FF2B5EF4-FFF2-40B4-BE49-F238E27FC236}">
                <a16:creationId xmlns:a16="http://schemas.microsoft.com/office/drawing/2014/main" id="{B5AAE3B6-0E08-DE40-18B1-16C636031A11}"/>
              </a:ext>
            </a:extLst>
          </p:cNvPr>
          <p:cNvSpPr/>
          <p:nvPr/>
        </p:nvSpPr>
        <p:spPr>
          <a:xfrm>
            <a:off x="4648200" y="2768600"/>
            <a:ext cx="2895600" cy="11049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7DF75C3D-736B-7EBC-0434-A1A9FA591DD6}"/>
              </a:ext>
            </a:extLst>
          </p:cNvPr>
          <p:cNvSpPr txBox="1"/>
          <p:nvPr/>
        </p:nvSpPr>
        <p:spPr>
          <a:xfrm>
            <a:off x="4902200" y="3124199"/>
            <a:ext cx="2387600" cy="533400"/>
          </a:xfrm>
          <a:prstGeom prst="rect">
            <a:avLst/>
          </a:prstGeom>
          <a:noFill/>
        </p:spPr>
        <p:txBody>
          <a:bodyPr vert="horz" wrap="square" lIns="0" tIns="0" rIns="0" bIns="0" rtlCol="0" anchor="t">
            <a:noAutofit/>
          </a:bodyPr>
          <a:lstStyle/>
          <a:p>
            <a:pPr algn="ctr"/>
            <a:r>
              <a:rPr lang="en-IL" sz="2800" b="1">
                <a:solidFill>
                  <a:srgbClr val="15283B"/>
                </a:solidFill>
                <a:latin typeface="Aptos" panose="020B0004020202020204" pitchFamily="34" charset="0"/>
              </a:rPr>
              <a:t>Bridge</a:t>
            </a:r>
          </a:p>
        </p:txBody>
      </p:sp>
      <p:sp>
        <p:nvSpPr>
          <p:cNvPr id="12" name="Rectangle: Rounded Corners 11">
            <a:extLst>
              <a:ext uri="{FF2B5EF4-FFF2-40B4-BE49-F238E27FC236}">
                <a16:creationId xmlns:a16="http://schemas.microsoft.com/office/drawing/2014/main" id="{464C65DC-C45E-BE77-F765-0D57BAF11F64}"/>
              </a:ext>
            </a:extLst>
          </p:cNvPr>
          <p:cNvSpPr/>
          <p:nvPr/>
        </p:nvSpPr>
        <p:spPr>
          <a:xfrm>
            <a:off x="8610600" y="2768600"/>
            <a:ext cx="2895600" cy="1104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5F85F1BE-AEAA-1AF6-9B35-972CD997FFE3}"/>
              </a:ext>
            </a:extLst>
          </p:cNvPr>
          <p:cNvSpPr txBox="1"/>
          <p:nvPr/>
        </p:nvSpPr>
        <p:spPr>
          <a:xfrm>
            <a:off x="8864600" y="3124199"/>
            <a:ext cx="2387600" cy="533400"/>
          </a:xfrm>
          <a:prstGeom prst="rect">
            <a:avLst/>
          </a:prstGeom>
          <a:noFill/>
        </p:spPr>
        <p:txBody>
          <a:bodyPr vert="horz" wrap="square" lIns="0" tIns="0" rIns="0" bIns="0" rtlCol="0" anchor="t">
            <a:noAutofit/>
          </a:bodyPr>
          <a:lstStyle/>
          <a:p>
            <a:pPr algn="ctr"/>
            <a:r>
              <a:rPr lang="en-IL" sz="2800" b="1">
                <a:solidFill>
                  <a:srgbClr val="137F79"/>
                </a:solidFill>
                <a:latin typeface="Aptos" panose="020B0004020202020204" pitchFamily="34" charset="0"/>
              </a:rPr>
              <a:t>ROS 2 graph</a:t>
            </a:r>
          </a:p>
        </p:txBody>
      </p:sp>
      <p:cxnSp>
        <p:nvCxnSpPr>
          <p:cNvPr id="14" name="Straight Connector 13">
            <a:extLst>
              <a:ext uri="{FF2B5EF4-FFF2-40B4-BE49-F238E27FC236}">
                <a16:creationId xmlns:a16="http://schemas.microsoft.com/office/drawing/2014/main" id="{A8160BA8-4B10-E904-789B-1C3876E33EC8}"/>
              </a:ext>
            </a:extLst>
          </p:cNvPr>
          <p:cNvCxnSpPr/>
          <p:nvPr/>
        </p:nvCxnSpPr>
        <p:spPr>
          <a:xfrm>
            <a:off x="3581400" y="3314700"/>
            <a:ext cx="1066800" cy="0"/>
          </a:xfrm>
          <a:prstGeom prst="line">
            <a:avLst/>
          </a:prstGeom>
          <a:ln w="27940">
            <a:solidFill>
              <a:srgbClr val="2459D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6DE7700-D5B7-FFFA-8296-830654CACB59}"/>
              </a:ext>
            </a:extLst>
          </p:cNvPr>
          <p:cNvCxnSpPr/>
          <p:nvPr/>
        </p:nvCxnSpPr>
        <p:spPr>
          <a:xfrm>
            <a:off x="7543800" y="3314700"/>
            <a:ext cx="1066800" cy="0"/>
          </a:xfrm>
          <a:prstGeom prst="line">
            <a:avLst/>
          </a:prstGeom>
          <a:ln w="27940">
            <a:solidFill>
              <a:srgbClr val="137F79"/>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55FD96D5-6C9D-C1A3-C290-C5F95808D199}"/>
              </a:ext>
            </a:extLst>
          </p:cNvPr>
          <p:cNvSpPr txBox="1"/>
          <p:nvPr/>
        </p:nvSpPr>
        <p:spPr>
          <a:xfrm>
            <a:off x="685800" y="4444999"/>
            <a:ext cx="10820400" cy="533400"/>
          </a:xfrm>
          <a:prstGeom prst="rect">
            <a:avLst/>
          </a:prstGeom>
          <a:noFill/>
        </p:spPr>
        <p:txBody>
          <a:bodyPr vert="horz" wrap="square" lIns="0" tIns="0" rIns="0" bIns="0" rtlCol="0" anchor="t">
            <a:noAutofit/>
          </a:bodyPr>
          <a:lstStyle/>
          <a:p>
            <a:r>
              <a:rPr lang="en-US" sz="2800" b="1">
                <a:solidFill>
                  <a:srgbClr val="15283B"/>
                </a:solidFill>
                <a:latin typeface="Aptos" panose="020B0004020202020204" pitchFamily="34" charset="0"/>
              </a:rPr>
              <a:t>APIs · build · parameters · launch · QoS</a:t>
            </a:r>
            <a:endParaRPr lang="en-IL" sz="2800" b="1">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FFE3E8A5-A1D4-2A78-1EB0-82DE27289010}"/>
              </a:ext>
            </a:extLst>
          </p:cNvPr>
          <p:cNvSpPr txBox="1"/>
          <p:nvPr/>
        </p:nvSpPr>
        <p:spPr>
          <a:xfrm>
            <a:off x="685800" y="5156199"/>
            <a:ext cx="10820400" cy="8255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Bridge support depends on interfaces, distributions, and operating systems.</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236632281"/>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_1">
            <a:extLst>
              <a:ext uri="{FF2B5EF4-FFF2-40B4-BE49-F238E27FC236}">
                <a16:creationId xmlns:a16="http://schemas.microsoft.com/office/drawing/2014/main" id="{9506A522-E45E-09A2-53BE-7A252572C1C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95072CC8-0AF2-E4F3-D7EF-98236D70FD0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About me</a:t>
            </a:r>
          </a:p>
        </p:txBody>
      </p:sp>
      <p:sp>
        <p:nvSpPr>
          <p:cNvPr id="4" name="text_3">
            <a:extLst>
              <a:ext uri="{FF2B5EF4-FFF2-40B4-BE49-F238E27FC236}">
                <a16:creationId xmlns:a16="http://schemas.microsoft.com/office/drawing/2014/main" id="{A32482E5-F1C0-604B-5A95-21ED1BF712C8}"/>
              </a:ext>
            </a:extLst>
          </p:cNvPr>
          <p:cNvSpPr txBox="1"/>
          <p:nvPr/>
        </p:nvSpPr>
        <p:spPr>
          <a:xfrm>
            <a:off x="685800" y="1816100"/>
            <a:ext cx="10820400" cy="635000"/>
          </a:xfrm>
          <a:prstGeom prst="rect">
            <a:avLst/>
          </a:prstGeom>
          <a:noFill/>
        </p:spPr>
        <p:txBody>
          <a:bodyPr vert="horz" wrap="square" lIns="0" tIns="0" rIns="0" bIns="0" rtlCol="0" anchor="t">
            <a:noAutofit/>
          </a:bodyPr>
          <a:lstStyle/>
          <a:p>
            <a:r>
              <a:rPr lang="en-US" sz="3600">
                <a:solidFill>
                  <a:srgbClr val="526477"/>
                </a:solidFill>
                <a:latin typeface="Aptos" panose="020B0004020202020204" pitchFamily="34" charset="0"/>
              </a:rPr>
              <a:t>Gilad Lifshitz</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1D7D8AE-92AC-D2CF-2261-C33EF554DC3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FAF78AE-70CB-6A41-04C9-138CAAAB2D1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227EC56-47D4-7C67-CF2D-4350A11909B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Rounded Rectangle 7"/>
          <p:cNvSpPr/>
          <p:nvPr/>
        </p:nvSpPr>
        <p:spPr>
          <a:xfrm>
            <a:off x="685800" y="2679700"/>
            <a:ext cx="5257800" cy="14605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5200" y="2844800"/>
            <a:ext cx="4699000" cy="330200"/>
          </a:xfrm>
          <a:prstGeom prst="rect">
            <a:avLst/>
          </a:prstGeom>
          <a:noFill/>
        </p:spPr>
        <p:txBody>
          <a:bodyPr wrap="square" lIns="0" rIns="0" tIns="0" bIns="0" anchor="t">
            <a:noAutofit/>
          </a:bodyPr>
          <a:lstStyle/>
          <a:p>
            <a:pPr algn="l">
              <a:lnSpc>
                <a:spcPct val="100000"/>
              </a:lnSpc>
              <a:spcBef>
                <a:spcPts val="0"/>
              </a:spcBef>
              <a:spcAft>
                <a:spcPts val="0"/>
              </a:spcAft>
            </a:pPr>
            <a:r>
              <a:rPr sz="1600" b="1">
                <a:solidFill>
                  <a:srgbClr val="2459D3"/>
                </a:solidFill>
                <a:latin typeface="Aptos"/>
              </a:rPr>
              <a:t>STUDIES</a:t>
            </a:r>
          </a:p>
        </p:txBody>
      </p:sp>
      <p:sp>
        <p:nvSpPr>
          <p:cNvPr id="10" name="TextBox 9"/>
          <p:cNvSpPr txBox="1"/>
          <p:nvPr/>
        </p:nvSpPr>
        <p:spPr>
          <a:xfrm>
            <a:off x="965200" y="3263900"/>
            <a:ext cx="4699000" cy="825500"/>
          </a:xfrm>
          <a:prstGeom prst="rect">
            <a:avLst/>
          </a:prstGeom>
          <a:noFill/>
        </p:spPr>
        <p:txBody>
          <a:bodyPr wrap="square" lIns="0" rIns="0" tIns="0" bIns="0" anchor="t">
            <a:noAutofit/>
          </a:bodyPr>
          <a:lstStyle/>
          <a:p>
            <a:pPr algn="l">
              <a:lnSpc>
                <a:spcPct val="100000"/>
              </a:lnSpc>
              <a:spcBef>
                <a:spcPts val="0"/>
              </a:spcBef>
              <a:spcAft>
                <a:spcPts val="0"/>
              </a:spcAft>
            </a:pPr>
            <a:r>
              <a:rPr sz="2700" b="0">
                <a:solidFill>
                  <a:srgbClr val="15283B"/>
                </a:solidFill>
                <a:latin typeface="Aptos"/>
              </a:rPr>
              <a:t>Master’s student under Ronen.</a:t>
            </a:r>
          </a:p>
        </p:txBody>
      </p:sp>
      <p:sp>
        <p:nvSpPr>
          <p:cNvPr id="11" name="Rounded Rectangle 10"/>
          <p:cNvSpPr/>
          <p:nvPr/>
        </p:nvSpPr>
        <p:spPr>
          <a:xfrm>
            <a:off x="6248400" y="2679700"/>
            <a:ext cx="5257800" cy="1460500"/>
          </a:xfrm>
          <a:prstGeom prst="roundRect">
            <a:avLst>
              <a:gd name="adj" fmla="val 9000"/>
            </a:avLst>
          </a:prstGeom>
          <a:solidFill>
            <a:srgbClr val="E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7800" y="2844800"/>
            <a:ext cx="4699000" cy="330200"/>
          </a:xfrm>
          <a:prstGeom prst="rect">
            <a:avLst/>
          </a:prstGeom>
          <a:noFill/>
        </p:spPr>
        <p:txBody>
          <a:bodyPr wrap="square" lIns="0" rIns="0" tIns="0" bIns="0" anchor="t">
            <a:noAutofit/>
          </a:bodyPr>
          <a:lstStyle/>
          <a:p>
            <a:pPr algn="l">
              <a:lnSpc>
                <a:spcPct val="100000"/>
              </a:lnSpc>
              <a:spcBef>
                <a:spcPts val="0"/>
              </a:spcBef>
              <a:spcAft>
                <a:spcPts val="0"/>
              </a:spcAft>
            </a:pPr>
            <a:r>
              <a:rPr sz="1600" b="1">
                <a:solidFill>
                  <a:srgbClr val="137F79"/>
                </a:solidFill>
                <a:latin typeface="Aptos"/>
              </a:rPr>
              <a:t>EXPERIENCE</a:t>
            </a:r>
          </a:p>
        </p:txBody>
      </p:sp>
      <p:sp>
        <p:nvSpPr>
          <p:cNvPr id="13" name="TextBox 12"/>
          <p:cNvSpPr txBox="1"/>
          <p:nvPr/>
        </p:nvSpPr>
        <p:spPr>
          <a:xfrm>
            <a:off x="6527800" y="3263900"/>
            <a:ext cx="4699000" cy="825500"/>
          </a:xfrm>
          <a:prstGeom prst="rect">
            <a:avLst/>
          </a:prstGeom>
          <a:noFill/>
        </p:spPr>
        <p:txBody>
          <a:bodyPr wrap="square" lIns="0" rIns="0" tIns="0" bIns="0" anchor="t">
            <a:noAutofit/>
          </a:bodyPr>
          <a:lstStyle/>
          <a:p>
            <a:pPr algn="l">
              <a:lnSpc>
                <a:spcPct val="100000"/>
              </a:lnSpc>
              <a:spcBef>
                <a:spcPts val="0"/>
              </a:spcBef>
              <a:spcAft>
                <a:spcPts val="0"/>
              </a:spcAft>
            </a:pPr>
            <a:r>
              <a:rPr sz="2600" b="0">
                <a:solidFill>
                  <a:srgbClr val="15283B"/>
                </a:solidFill>
                <a:latin typeface="Aptos"/>
              </a:rPr>
              <a:t>Robots and drones</a:t>
            </a:r>
          </a:p>
          <a:p>
            <a:pPr algn="l">
              <a:lnSpc>
                <a:spcPct val="100000"/>
              </a:lnSpc>
              <a:spcBef>
                <a:spcPts val="0"/>
              </a:spcBef>
              <a:spcAft>
                <a:spcPts val="0"/>
              </a:spcAft>
            </a:pPr>
            <a:r>
              <a:rPr sz="2600" b="0">
                <a:solidFill>
                  <a:srgbClr val="15283B"/>
                </a:solidFill>
                <a:latin typeface="Aptos"/>
              </a:rPr>
              <a:t>during army service.</a:t>
            </a:r>
          </a:p>
        </p:txBody>
      </p:sp>
      <p:sp>
        <p:nvSpPr>
          <p:cNvPr id="14" name="Rounded Rectangle 13"/>
          <p:cNvSpPr/>
          <p:nvPr/>
        </p:nvSpPr>
        <p:spPr>
          <a:xfrm>
            <a:off x="685800" y="4406900"/>
            <a:ext cx="10820400" cy="1676400"/>
          </a:xfrm>
          <a:prstGeom prst="roundRect">
            <a:avLst>
              <a:gd name="adj" fmla="val 9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200" y="4559300"/>
            <a:ext cx="10261600" cy="304800"/>
          </a:xfrm>
          <a:prstGeom prst="rect">
            <a:avLst/>
          </a:prstGeom>
          <a:noFill/>
        </p:spPr>
        <p:txBody>
          <a:bodyPr wrap="square" lIns="0" rIns="0" tIns="0" bIns="0" anchor="t">
            <a:noAutofit/>
          </a:bodyPr>
          <a:lstStyle/>
          <a:p>
            <a:pPr algn="l">
              <a:lnSpc>
                <a:spcPct val="100000"/>
              </a:lnSpc>
              <a:spcBef>
                <a:spcPts val="0"/>
              </a:spcBef>
              <a:spcAft>
                <a:spcPts val="0"/>
              </a:spcAft>
            </a:pPr>
            <a:r>
              <a:rPr sz="1600" b="1">
                <a:solidFill>
                  <a:srgbClr val="2459D3"/>
                </a:solidFill>
                <a:latin typeface="Aptos"/>
              </a:rPr>
              <a:t>YOUR FEEDBACK MATTERS</a:t>
            </a:r>
          </a:p>
        </p:txBody>
      </p:sp>
      <p:sp>
        <p:nvSpPr>
          <p:cNvPr id="16" name="TextBox 15"/>
          <p:cNvSpPr txBox="1"/>
          <p:nvPr/>
        </p:nvSpPr>
        <p:spPr>
          <a:xfrm>
            <a:off x="965200" y="4927600"/>
            <a:ext cx="10261600" cy="1066800"/>
          </a:xfrm>
          <a:prstGeom prst="rect">
            <a:avLst/>
          </a:prstGeom>
          <a:noFill/>
        </p:spPr>
        <p:txBody>
          <a:bodyPr wrap="square" lIns="0" rIns="0" tIns="0" bIns="0" anchor="t">
            <a:noAutofit/>
          </a:bodyPr>
          <a:lstStyle/>
          <a:p>
            <a:pPr algn="l">
              <a:lnSpc>
                <a:spcPct val="100000"/>
              </a:lnSpc>
              <a:spcBef>
                <a:spcPts val="0"/>
              </a:spcBef>
              <a:spcAft>
                <a:spcPts val="0"/>
              </a:spcAft>
            </a:pPr>
            <a:r>
              <a:rPr sz="2400" b="0">
                <a:solidFill>
                  <a:srgbClr val="15283B"/>
                </a:solidFill>
                <a:latin typeface="Aptos"/>
              </a:rPr>
              <a:t>This is the first time we’re running this course.</a:t>
            </a:r>
          </a:p>
          <a:p>
            <a:pPr algn="l">
              <a:lnSpc>
                <a:spcPct val="100000"/>
              </a:lnSpc>
              <a:spcBef>
                <a:spcPts val="0"/>
              </a:spcBef>
              <a:spcAft>
                <a:spcPts val="0"/>
              </a:spcAft>
            </a:pPr>
            <a:r>
              <a:rPr sz="2400" b="0">
                <a:solidFill>
                  <a:srgbClr val="15283B"/>
                </a:solidFill>
                <a:latin typeface="Aptos"/>
              </a:rPr>
              <a:t>All the tutorials are new. I’d love your feedback—</a:t>
            </a:r>
          </a:p>
          <a:p>
            <a:pPr algn="l">
              <a:lnSpc>
                <a:spcPct val="100000"/>
              </a:lnSpc>
              <a:spcBef>
                <a:spcPts val="0"/>
              </a:spcBef>
              <a:spcAft>
                <a:spcPts val="0"/>
              </a:spcAft>
            </a:pPr>
            <a:r>
              <a:rPr sz="2400" b="0">
                <a:solidFill>
                  <a:srgbClr val="15283B"/>
                </a:solidFill>
                <a:latin typeface="Aptos"/>
              </a:rPr>
              <a:t>what works well and what needs improvement.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_1">
            <a:extLst>
              <a:ext uri="{FF2B5EF4-FFF2-40B4-BE49-F238E27FC236}">
                <a16:creationId xmlns:a16="http://schemas.microsoft.com/office/drawing/2014/main" id="{9506A522-E45E-09A2-53BE-7A252572C1C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01 / ROS BASICS</a:t>
            </a:r>
          </a:p>
        </p:txBody>
      </p:sp>
      <p:sp>
        <p:nvSpPr>
          <p:cNvPr id="3" name="text_2">
            <a:extLst>
              <a:ext uri="{FF2B5EF4-FFF2-40B4-BE49-F238E27FC236}">
                <a16:creationId xmlns:a16="http://schemas.microsoft.com/office/drawing/2014/main" id="{95072CC8-0AF2-E4F3-D7EF-98236D70FD0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ROS basics</a:t>
            </a:r>
          </a:p>
        </p:txBody>
      </p:sp>
      <p:sp>
        <p:nvSpPr>
          <p:cNvPr id="4" name="text_3">
            <a:extLst>
              <a:ext uri="{FF2B5EF4-FFF2-40B4-BE49-F238E27FC236}">
                <a16:creationId xmlns:a16="http://schemas.microsoft.com/office/drawing/2014/main" id="{A32482E5-F1C0-604B-5A95-21ED1BF712C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Today’s plan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1D7D8AE-92AC-D2CF-2261-C33EF554DC3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FAF78AE-70CB-6A41-04C9-138CAAAB2D1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ROS 2 Jazzy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227EC56-47D4-7C67-CF2D-4350A11909B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ounded Rectangle 7"/>
          <p:cNvSpPr/>
          <p:nvPr/>
        </p:nvSpPr>
        <p:spPr>
          <a:xfrm>
            <a:off x="685800" y="2616200"/>
            <a:ext cx="10820400" cy="9398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5200" y="2870200"/>
            <a:ext cx="787400" cy="482600"/>
          </a:xfrm>
          <a:prstGeom prst="rect">
            <a:avLst/>
          </a:prstGeom>
          <a:noFill/>
        </p:spPr>
        <p:txBody>
          <a:bodyPr wrap="square" lIns="0" rIns="0" tIns="0" bIns="0" anchor="t">
            <a:noAutofit/>
          </a:bodyPr>
          <a:lstStyle/>
          <a:p>
            <a:pPr algn="l">
              <a:lnSpc>
                <a:spcPct val="100000"/>
              </a:lnSpc>
              <a:spcBef>
                <a:spcPts val="0"/>
              </a:spcBef>
              <a:spcAft>
                <a:spcPts val="0"/>
              </a:spcAft>
            </a:pPr>
            <a:r>
              <a:rPr sz="2800" b="1">
                <a:solidFill>
                  <a:srgbClr val="137F79"/>
                </a:solidFill>
                <a:latin typeface="Aptos"/>
              </a:rPr>
              <a:t>01</a:t>
            </a:r>
          </a:p>
        </p:txBody>
      </p:sp>
      <p:sp>
        <p:nvSpPr>
          <p:cNvPr id="10" name="TextBox 9"/>
          <p:cNvSpPr txBox="1"/>
          <p:nvPr/>
        </p:nvSpPr>
        <p:spPr>
          <a:xfrm>
            <a:off x="1981200" y="2870200"/>
            <a:ext cx="9194800" cy="508000"/>
          </a:xfrm>
          <a:prstGeom prst="rect">
            <a:avLst/>
          </a:prstGeom>
          <a:noFill/>
        </p:spPr>
        <p:txBody>
          <a:bodyPr wrap="square" lIns="0" rIns="0" tIns="0" bIns="0" anchor="t">
            <a:noAutofit/>
          </a:bodyPr>
          <a:lstStyle/>
          <a:p>
            <a:pPr algn="l">
              <a:lnSpc>
                <a:spcPct val="100000"/>
              </a:lnSpc>
              <a:spcBef>
                <a:spcPts val="0"/>
              </a:spcBef>
              <a:spcAft>
                <a:spcPts val="0"/>
              </a:spcAft>
            </a:pPr>
            <a:r>
              <a:rPr sz="2800" b="1">
                <a:solidFill>
                  <a:srgbClr val="15283B"/>
                </a:solidFill>
                <a:latin typeface="Aptos"/>
              </a:rPr>
              <a:t>Understand ROS at a high level</a:t>
            </a:r>
          </a:p>
        </p:txBody>
      </p:sp>
      <p:sp>
        <p:nvSpPr>
          <p:cNvPr id="11" name="Rounded Rectangle 10"/>
          <p:cNvSpPr/>
          <p:nvPr/>
        </p:nvSpPr>
        <p:spPr>
          <a:xfrm>
            <a:off x="685800" y="3759200"/>
            <a:ext cx="10820400" cy="939800"/>
          </a:xfrm>
          <a:prstGeom prst="roundRect">
            <a:avLst>
              <a:gd name="adj" fmla="val 9000"/>
            </a:avLst>
          </a:prstGeom>
          <a:solidFill>
            <a:srgbClr val="E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4013200"/>
            <a:ext cx="787400" cy="482600"/>
          </a:xfrm>
          <a:prstGeom prst="rect">
            <a:avLst/>
          </a:prstGeom>
          <a:noFill/>
        </p:spPr>
        <p:txBody>
          <a:bodyPr wrap="square" lIns="0" rIns="0" tIns="0" bIns="0" anchor="t">
            <a:noAutofit/>
          </a:bodyPr>
          <a:lstStyle/>
          <a:p>
            <a:pPr algn="l">
              <a:lnSpc>
                <a:spcPct val="100000"/>
              </a:lnSpc>
              <a:spcBef>
                <a:spcPts val="0"/>
              </a:spcBef>
              <a:spcAft>
                <a:spcPts val="0"/>
              </a:spcAft>
            </a:pPr>
            <a:r>
              <a:rPr sz="2800" b="1">
                <a:solidFill>
                  <a:srgbClr val="137F79"/>
                </a:solidFill>
                <a:latin typeface="Aptos"/>
              </a:rPr>
              <a:t>02</a:t>
            </a:r>
          </a:p>
        </p:txBody>
      </p:sp>
      <p:sp>
        <p:nvSpPr>
          <p:cNvPr id="13" name="TextBox 12"/>
          <p:cNvSpPr txBox="1"/>
          <p:nvPr/>
        </p:nvSpPr>
        <p:spPr>
          <a:xfrm>
            <a:off x="1981200" y="4013200"/>
            <a:ext cx="9194800" cy="508000"/>
          </a:xfrm>
          <a:prstGeom prst="rect">
            <a:avLst/>
          </a:prstGeom>
          <a:noFill/>
        </p:spPr>
        <p:txBody>
          <a:bodyPr wrap="square" lIns="0" rIns="0" tIns="0" bIns="0" anchor="t">
            <a:noAutofit/>
          </a:bodyPr>
          <a:lstStyle/>
          <a:p>
            <a:pPr algn="l">
              <a:lnSpc>
                <a:spcPct val="100000"/>
              </a:lnSpc>
              <a:spcBef>
                <a:spcPts val="0"/>
              </a:spcBef>
              <a:spcAft>
                <a:spcPts val="0"/>
              </a:spcAft>
            </a:pPr>
            <a:r>
              <a:rPr sz="2800" b="1">
                <a:solidFill>
                  <a:srgbClr val="15283B"/>
                </a:solidFill>
                <a:latin typeface="Aptos"/>
              </a:rPr>
              <a:t>Watch a demonstration</a:t>
            </a:r>
          </a:p>
        </p:txBody>
      </p:sp>
      <p:sp>
        <p:nvSpPr>
          <p:cNvPr id="14" name="Rounded Rectangle 13"/>
          <p:cNvSpPr/>
          <p:nvPr/>
        </p:nvSpPr>
        <p:spPr>
          <a:xfrm>
            <a:off x="685800" y="4902200"/>
            <a:ext cx="10820400" cy="9398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200" y="5156200"/>
            <a:ext cx="787400" cy="482600"/>
          </a:xfrm>
          <a:prstGeom prst="rect">
            <a:avLst/>
          </a:prstGeom>
          <a:noFill/>
        </p:spPr>
        <p:txBody>
          <a:bodyPr wrap="square" lIns="0" rIns="0" tIns="0" bIns="0" anchor="t">
            <a:noAutofit/>
          </a:bodyPr>
          <a:lstStyle/>
          <a:p>
            <a:pPr algn="l">
              <a:lnSpc>
                <a:spcPct val="100000"/>
              </a:lnSpc>
              <a:spcBef>
                <a:spcPts val="0"/>
              </a:spcBef>
              <a:spcAft>
                <a:spcPts val="0"/>
              </a:spcAft>
            </a:pPr>
            <a:r>
              <a:rPr sz="2800" b="1">
                <a:solidFill>
                  <a:srgbClr val="137F79"/>
                </a:solidFill>
                <a:latin typeface="Aptos"/>
              </a:rPr>
              <a:t>03</a:t>
            </a:r>
          </a:p>
        </p:txBody>
      </p:sp>
      <p:sp>
        <p:nvSpPr>
          <p:cNvPr id="16" name="TextBox 15"/>
          <p:cNvSpPr txBox="1"/>
          <p:nvPr/>
        </p:nvSpPr>
        <p:spPr>
          <a:xfrm>
            <a:off x="1981200" y="5156200"/>
            <a:ext cx="9194800" cy="508000"/>
          </a:xfrm>
          <a:prstGeom prst="rect">
            <a:avLst/>
          </a:prstGeom>
          <a:noFill/>
        </p:spPr>
        <p:txBody>
          <a:bodyPr wrap="square" lIns="0" rIns="0" tIns="0" bIns="0" anchor="t">
            <a:noAutofit/>
          </a:bodyPr>
          <a:lstStyle/>
          <a:p>
            <a:pPr algn="l">
              <a:lnSpc>
                <a:spcPct val="100000"/>
              </a:lnSpc>
              <a:spcBef>
                <a:spcPts val="0"/>
              </a:spcBef>
              <a:spcAft>
                <a:spcPts val="0"/>
              </a:spcAft>
            </a:pPr>
            <a:r>
              <a:rPr sz="2800" b="1">
                <a:solidFill>
                  <a:srgbClr val="15283B"/>
                </a:solidFill>
                <a:latin typeface="Aptos"/>
              </a:rPr>
              <a:t>Read the demonstration’s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5986</Words>
  <Application>Microsoft Office PowerPoint</Application>
  <PresentationFormat>Custom</PresentationFormat>
  <Paragraphs>657</Paragraphs>
  <Slides>18</Slides>
  <Notes>18</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Robotics &amp; Autonomous Systems — Week 1: ROS basics</dc:title>
  <dc:creator>Gilad Lifshitz</dc:creator>
  <cp:lastModifiedBy>גלעד ליפשיץ</cp:lastModifiedBy>
  <cp:revision>1</cp:revision>
  <dcterms:created xsi:type="dcterms:W3CDTF">2026-10-04T14:54:56Z</dcterms:created>
  <dcterms:modified xsi:type="dcterms:W3CDTF">2026-10-04T14:54:56Z</dcterms:modified>
  <dc:subject>Final Week 1 presentation; 15 main slides and 5 hidden backups</dc:subject>
</cp:coreProperties>
</file>