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82" r:id="rId2"/>
    <p:sldId id="283" r:id="rId3"/>
    <p:sldId id="284" r:id="rId4"/>
    <p:sldId id="285" r:id="rId5"/>
    <p:sldId id="286" r:id="rId6"/>
    <p:sldId id="287" r:id="rId7"/>
    <p:sldId id="288" r:id="rId8"/>
    <p:sldId id="289" r:id="rId9"/>
    <p:sldId id="290" r:id="rId10"/>
    <p:sldId id="291" r:id="rId11"/>
    <p:sldId id="292" r:id="rId12"/>
    <p:sldId id="293" r:id="rId13"/>
    <p:sldId id="294" r:id="rId14"/>
    <p:sldId id="295" r:id="rId15"/>
    <p:sldId id="296" r:id="rId16"/>
    <p:sldId id="297" r:id="rId17"/>
    <p:sldId id="298" r:id="rId18"/>
    <p:sldId id="299" r:id="rId19"/>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1FEB37-C3B5-4FB5-887B-96AB7674ED05}" type="datetimeFigureOut">
              <a:rPr lang="en-IL" smtClean="0"/>
              <a:t>25/10/2026</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2F1C07-231E-4321-B1C7-65F55A071F2E}" type="slidenum">
              <a:rPr lang="en-IL" smtClean="0"/>
              <a:t>‹#›</a:t>
            </a:fld>
            <a:endParaRPr lang="en-IL"/>
          </a:p>
        </p:txBody>
      </p:sp>
    </p:spTree>
    <p:extLst>
      <p:ext uri="{BB962C8B-B14F-4D97-AF65-F5344CB8AC3E}">
        <p14:creationId xmlns:p14="http://schemas.microsoft.com/office/powerpoint/2010/main" val="1274639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a:t>
            </a:r>
          </a:p>
          <a:p>
            <a:endParaRPr lang="en-US">
              <a:latin typeface="Aptos" panose="020B0004020202020204" pitchFamily="34" charset="0"/>
            </a:endParaRPr>
          </a:p>
          <a:p>
            <a:r>
              <a:rPr lang="en-US">
                <a:latin typeface="Aptos" panose="020B0004020202020204" pitchFamily="34" charset="0"/>
              </a:rPr>
              <a:t>Week 2: understand why coordinates need a frame, how rotation and translation are represented, and how tf2 maintains relationships over time. Audience knows Python and has little geometry/networking background. Title is untimed. Teaching slides total 20 minutes; demo is 25 minutes: 5 code, 10 static/RViz, 5 moving/time, 5 checkpoint. The revised presentation contains exactly 18 visible slides. Use the reference sheet for deeper study instead of trying to derive all conversions live. All seven existing Week 2 files were read. Professor sources reviewed: 2-Frames.pdf and the neighboring-transform/FK material in 3-Kinematics.pdf. Demo code, README, RViz and teaching notes remain unchanged.</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https://docs.ros.org/en/jazzy/Concepts/Intermediate/About-Tf2.html</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3B2F1C07-231E-4321-B1C7-65F55A071F2E}" type="slidenum">
              <a:rPr lang="en-IL" smtClean="0"/>
              <a:t>1</a:t>
            </a:fld>
            <a:endParaRPr lang="en-IL"/>
          </a:p>
        </p:txBody>
      </p:sp>
    </p:spTree>
    <p:extLst>
      <p:ext uri="{BB962C8B-B14F-4D97-AF65-F5344CB8AC3E}">
        <p14:creationId xmlns:p14="http://schemas.microsoft.com/office/powerpoint/2010/main" val="39570142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endParaRPr lang="en-US">
              <a:latin typeface="Aptos" panose="020B0004020202020204" pitchFamily="34" charset="0"/>
            </a:endParaRPr>
          </a:p>
          <a:p>
            <a:r>
              <a:rPr lang="en-US">
                <a:latin typeface="Aptos" panose="020B0004020202020204" pitchFamily="34" charset="0"/>
              </a:rPr>
              <a:t>Visual: three labelled coordinate axes looking at one target. A frame is an origin plus axes; the target is unchanged, but its coordinates depend on that origin and basis. A camera can report a point without telling the arm where it is in robot coordinates. Ask what happens if the robot treats camera coordinates as base coordinates. Frame conversions connect sensor drivers, perception, localization and camera-guided motion. PointStamped carries both frame_id and observation time; an unlabelled three-number tuple is ambiguous. The illustration is conceptual, not a calibration of the demo camera. Do not confuse movement of a physical object with a change in its coordinate description.</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https://docs.ros.org/en/jazzy/Concepts/Intermediate/About-Tf2.html</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3B2F1C07-231E-4321-B1C7-65F55A071F2E}" type="slidenum">
              <a:rPr lang="en-IL" smtClean="0"/>
              <a:t>2</a:t>
            </a:fld>
            <a:endParaRPr lang="en-IL"/>
          </a:p>
        </p:txBody>
      </p:sp>
    </p:spTree>
    <p:extLst>
      <p:ext uri="{BB962C8B-B14F-4D97-AF65-F5344CB8AC3E}">
        <p14:creationId xmlns:p14="http://schemas.microsoft.com/office/powerpoint/2010/main" val="5209588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endParaRPr lang="en-US">
              <a:latin typeface="Aptos" panose="020B0004020202020204" pitchFamily="34" charset="0"/>
            </a:endParaRPr>
          </a:p>
          <a:p>
            <a:r>
              <a:rPr lang="en-US">
                <a:latin typeface="Aptos" panose="020B0004020202020204" pitchFamily="34" charset="0"/>
              </a:rPr>
              <a:t>A rigid transform is a geometric mapping. TF is also used informally for the ROS frame system; distinguish the mathematical operation from the tf2 library. tf2 buffers static/time-dependent relationships and composes or inverts connected paths. Another component supplies calibration or estimated poses. Leading superscripts follow professor Lecture 2, printed slides 7 and 13–14.</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3B2F1C07-231E-4321-B1C7-65F55A071F2E}" type="slidenum">
              <a:rPr lang="en-IL" smtClean="0"/>
              <a:t>3</a:t>
            </a:fld>
            <a:endParaRPr lang="en-IL"/>
          </a:p>
        </p:txBody>
      </p:sp>
    </p:spTree>
    <p:extLst>
      <p:ext uri="{BB962C8B-B14F-4D97-AF65-F5344CB8AC3E}">
        <p14:creationId xmlns:p14="http://schemas.microsoft.com/office/powerpoint/2010/main" val="10009071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endParaRPr lang="en-US">
              <a:latin typeface="Aptos" panose="020B0004020202020204" pitchFamily="34" charset="0"/>
            </a:endParaRPr>
          </a:p>
          <a:p>
            <a:r>
              <a:rPr lang="en-US">
                <a:latin typeface="Aptos" panose="020B0004020202020204" pitchFamily="34" charset="0"/>
              </a:rPr>
              <a:t>ROS standards use right-handed frames, meters and radians. Body axes are x forward, y left, z up; optical axes are x right, y down, z forward. Always verify the actual data and library: transform direction, Euler axes/sequence, handedness, units and column/row vectors. A generic right-hand picture demonstrates chirality, not a prescribed attachment of each axis to one finger. Keep the labels in the supplied picture unchanged. ROS quaternion ordering is discussed later on slide 13. The existing teaching camera frame is simplified, not an optical frame. Sources: REP 103 and professor Lecture 2 printed slides 7, 15 and 50.</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3B2F1C07-231E-4321-B1C7-65F55A071F2E}" type="slidenum">
              <a:rPr lang="en-IL" smtClean="0"/>
              <a:t>4</a:t>
            </a:fld>
            <a:endParaRPr lang="en-IL"/>
          </a:p>
        </p:txBody>
      </p:sp>
    </p:spTree>
    <p:extLst>
      <p:ext uri="{BB962C8B-B14F-4D97-AF65-F5344CB8AC3E}">
        <p14:creationId xmlns:p14="http://schemas.microsoft.com/office/powerpoint/2010/main" val="26899758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endParaRPr lang="en-US">
              <a:latin typeface="Aptos" panose="020B0004020202020204" pitchFamily="34" charset="0"/>
            </a:endParaRPr>
          </a:p>
          <a:p>
            <a:r>
              <a:rPr lang="en-US">
                <a:latin typeface="Aptos" panose="020B0004020202020204" pitchFamily="34" charset="0"/>
              </a:rPr>
              <a:t>Read ^A T_B as the pose of B expressed in A, mapping B coordinates into A coordinates. The leading superscript names the expression/destination frame. The translation ^A t_B is the origin of B expressed in A. Keep the physical point fixed in the two-frame diagram: only its coordinate representation changes. The equation and B-to-A flow restore the original math-reading approach. Professor Lecture 2 printed slides 13 and 19–22.</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3B2F1C07-231E-4321-B1C7-65F55A071F2E}" type="slidenum">
              <a:rPr lang="en-IL" smtClean="0"/>
              <a:t>5</a:t>
            </a:fld>
            <a:endParaRPr lang="en-IL"/>
          </a:p>
        </p:txBody>
      </p:sp>
    </p:spTree>
    <p:extLst>
      <p:ext uri="{BB962C8B-B14F-4D97-AF65-F5344CB8AC3E}">
        <p14:creationId xmlns:p14="http://schemas.microsoft.com/office/powerpoint/2010/main" val="41404409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2 minutes.</a:t>
            </a:r>
          </a:p>
          <a:p>
            <a:endParaRPr lang="en-US">
              <a:latin typeface="Aptos" panose="020B0004020202020204" pitchFamily="34" charset="0"/>
            </a:endParaRPr>
          </a:p>
          <a:p>
            <a:r>
              <a:rPr lang="en-US">
                <a:latin typeface="Aptos" panose="020B0004020202020204" pitchFamily="34" charset="0"/>
              </a:rPr>
              <a:t>c and s denote full-angle cosine and sine for the indicated angle. Matrices use right-handed positive rotations on column vectors. Fixed/extrinsic XYZ RPY means rotate about the original x, then y, then z axes; the product acts rightmost first. Rz(+90 degrees)e_x=e_y. Reversing the x/z rotation order changes the result. At pitch +90 degrees only yaw-roll is identifiable; at -90 degrees only yaw+roll is identifiable. This is an Euler-coordinate singularity, not a physical inability to rotate. The optional video opens at 140 seconds (2:20); keep video viewing brief within the session timing. Professor Lecture 2 printed slides 15–16, 26 and 29.</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3B2F1C07-231E-4321-B1C7-65F55A071F2E}" type="slidenum">
              <a:rPr lang="en-IL" smtClean="0"/>
              <a:t>6</a:t>
            </a:fld>
            <a:endParaRPr lang="en-IL"/>
          </a:p>
        </p:txBody>
      </p:sp>
    </p:spTree>
    <p:extLst>
      <p:ext uri="{BB962C8B-B14F-4D97-AF65-F5344CB8AC3E}">
        <p14:creationId xmlns:p14="http://schemas.microsoft.com/office/powerpoint/2010/main" val="28734980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endParaRPr lang="en-US">
              <a:latin typeface="Aptos" panose="020B0004020202020204" pitchFamily="34" charset="0"/>
            </a:endParaRPr>
          </a:p>
          <a:p>
            <a:r>
              <a:rPr lang="en-US">
                <a:latin typeface="Aptos" panose="020B0004020202020204" pitchFamily="34" charset="0"/>
              </a:rPr>
              <a:t>Each column of ^A R_B is one unit axis of B expressed in A. The picture uses coincident origins and common +z pointing out of the page, with B rotated relative to A. Read a column by asking where a unit step along that B axis points in A. Orthogonal unit columns give R^T R=I; determinant +1 selects a right-handed proper rotation. Professor Lecture 2 printed slides 12–13.</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3B2F1C07-231E-4321-B1C7-65F55A071F2E}" type="slidenum">
              <a:rPr lang="en-IL" smtClean="0"/>
              <a:t>7</a:t>
            </a:fld>
            <a:endParaRPr lang="en-IL"/>
          </a:p>
        </p:txBody>
      </p:sp>
    </p:spTree>
    <p:extLst>
      <p:ext uri="{BB962C8B-B14F-4D97-AF65-F5344CB8AC3E}">
        <p14:creationId xmlns:p14="http://schemas.microsoft.com/office/powerpoint/2010/main" val="28734980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endParaRPr lang="en-US">
              <a:latin typeface="Aptos" panose="020B0004020202020204" pitchFamily="34" charset="0"/>
            </a:endParaRPr>
          </a:p>
          <a:p>
            <a:r>
              <a:rPr lang="en-US">
                <a:latin typeface="Aptos" panose="020B0004020202020204" pitchFamily="34" charset="0"/>
              </a:rPr>
              <a:t>These are two notations for the same 4x4 matrix, not a 2x2 numerical transform versus a 4x4 transform. The left side partitions the matrix into a 3x3 rotation, 3x1 translation, 1x3 zero row, and scalar 1. The right side expands those blocks into all 16 entries. The vector t is the B origin expressed in A. For a homogeneous point [p;1], multiplication includes translation. A direction [d;0] ignores translation. Professor Lecture 2 printed slides 19–22.</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3B2F1C07-231E-4321-B1C7-65F55A071F2E}" type="slidenum">
              <a:rPr lang="en-IL" smtClean="0"/>
              <a:t>8</a:t>
            </a:fld>
            <a:endParaRPr lang="en-IL"/>
          </a:p>
        </p:txBody>
      </p:sp>
    </p:spTree>
    <p:extLst>
      <p:ext uri="{BB962C8B-B14F-4D97-AF65-F5344CB8AC3E}">
        <p14:creationId xmlns:p14="http://schemas.microsoft.com/office/powerpoint/2010/main" val="28734980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endParaRPr lang="en-US">
              <a:latin typeface="Aptos" panose="020B0004020202020204" pitchFamily="34" charset="0"/>
            </a:endParaRPr>
          </a:p>
          <a:p>
            <a:r>
              <a:rPr lang="en-US">
                <a:latin typeface="Aptos" panose="020B0004020202020204" pitchFamily="34" charset="0"/>
              </a:rPr>
              <a:t>Match B in ^A T_B ^B T_C: C coordinates first map to B, then A. Frame-index cancellation is a mnemonic, not cancellation of matrices. Order matters. Inverse translation is -R^T t, not merely -t. Subtract t from the input point, then rotate back. Tree arrows on later slides name parent-child relationships rather than coordinate flow. Professor Lecture 2 printed slides 16 and 22.</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3B2F1C07-231E-4321-B1C7-65F55A071F2E}" type="slidenum">
              <a:rPr lang="en-IL" smtClean="0"/>
              <a:t>9</a:t>
            </a:fld>
            <a:endParaRPr lang="en-IL"/>
          </a:p>
        </p:txBody>
      </p:sp>
    </p:spTree>
    <p:extLst>
      <p:ext uri="{BB962C8B-B14F-4D97-AF65-F5344CB8AC3E}">
        <p14:creationId xmlns:p14="http://schemas.microsoft.com/office/powerpoint/2010/main" val="14956186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endParaRPr lang="en-US">
              <a:latin typeface="Aptos" panose="020B0004020202020204" pitchFamily="34" charset="0"/>
            </a:endParaRPr>
          </a:p>
          <a:p>
            <a:r>
              <a:rPr lang="en-US">
                <a:latin typeface="Aptos" panose="020B0004020202020204" pitchFamily="34" charset="0"/>
              </a:rPr>
              <a:t>Introduce motivation before formulas: quaternions do not have Euler-angle gimbal-lock singularities, compose rotations conveniently, and support smooth orientation interpolation with SLERP. They still need an agreed convention, normalization, and separate translation. They are not unique: sign equivalence is introduced on the next slide. Professor Lecture 2 printed slide 40.</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3B2F1C07-231E-4321-B1C7-65F55A071F2E}" type="slidenum">
              <a:rPr lang="en-IL" smtClean="0"/>
              <a:t>10</a:t>
            </a:fld>
            <a:endParaRPr lang="en-IL"/>
          </a:p>
        </p:txBody>
      </p:sp>
    </p:spTree>
    <p:extLst>
      <p:ext uri="{BB962C8B-B14F-4D97-AF65-F5344CB8AC3E}">
        <p14:creationId xmlns:p14="http://schemas.microsoft.com/office/powerpoint/2010/main" val="19613607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endParaRPr lang="en-US">
              <a:latin typeface="Aptos" panose="020B0004020202020204" pitchFamily="34" charset="0"/>
            </a:endParaRPr>
          </a:p>
          <a:p>
            <a:r>
              <a:rPr lang="en-US">
                <a:latin typeface="Aptos" panose="020B0004020202020204" pitchFamily="34" charset="0"/>
              </a:rPr>
              <a:t>q=(w,v)=(w,x,y,z) uses mathematical scalar-first Hamilton notation. The bold v is a three-vector, not a fifth component. With unit rotation axis K=(kx,ky,kz) and right-hand angle alpha: w=cos(alpha/2), v=K sin(alpha/2). Thus x=kx sin(alpha/2), y=ky sin(alpha/2), z=kz sin(alpha/2). Four numbers constrained to unit norm give three orientation degrees of freedom. q and -q encode the same rotation, not inverse rotations. Professor Lecture 2 printed slides 34 and 40.</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3B2F1C07-231E-4321-B1C7-65F55A071F2E}" type="slidenum">
              <a:rPr lang="en-IL" smtClean="0"/>
              <a:t>11</a:t>
            </a:fld>
            <a:endParaRPr lang="en-IL"/>
          </a:p>
        </p:txBody>
      </p:sp>
    </p:spTree>
    <p:extLst>
      <p:ext uri="{BB962C8B-B14F-4D97-AF65-F5344CB8AC3E}">
        <p14:creationId xmlns:p14="http://schemas.microsoft.com/office/powerpoint/2010/main" val="19613607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endParaRPr lang="en-US">
              <a:latin typeface="Aptos" panose="020B0004020202020204" pitchFamily="34" charset="0"/>
            </a:endParaRPr>
          </a:p>
          <a:p>
            <a:r>
              <a:rPr lang="en-US">
                <a:latin typeface="Aptos" panose="020B0004020202020204" pitchFamily="34" charset="0"/>
              </a:rPr>
              <a:t>For q1=(w1,v1) and q2=(w2,v2), the first component of the Hamilton product is scalar w1w2-v1 dot v2. The second is vector w1v2+w2v1+v1 cross v2. Read the formula as scalar/vector parts, not component-wise multiplication. Composition is ordered: q_AC=q_AB tensor q_BC. Use a pure quaternion (0,p) in the sandwich q tensor (0,p) tensor q inverse; read the vector part as the rotated point. The q_AB orientation maps B coordinates to A coordinates. Add the separately expressed translation ^A t_B afterward. Unit inverse is the conjugate (w,-v). Sign flip is not generally the inverse. Professor Lecture 2 printed slides 35–38.</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3B2F1C07-231E-4321-B1C7-65F55A071F2E}" type="slidenum">
              <a:rPr lang="en-IL" smtClean="0"/>
              <a:t>12</a:t>
            </a:fld>
            <a:endParaRPr lang="en-IL"/>
          </a:p>
        </p:txBody>
      </p:sp>
    </p:spTree>
    <p:extLst>
      <p:ext uri="{BB962C8B-B14F-4D97-AF65-F5344CB8AC3E}">
        <p14:creationId xmlns:p14="http://schemas.microsoft.com/office/powerpoint/2010/main" val="9684073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endParaRPr lang="en-US">
              <a:latin typeface="Aptos" panose="020B0004020202020204" pitchFamily="34" charset="0"/>
            </a:endParaRPr>
          </a:p>
          <a:p>
            <a:r>
              <a:rPr lang="en-US">
                <a:latin typeface="Aptos" panose="020B0004020202020204" pitchFamily="34" charset="0"/>
              </a:rPr>
              <a:t>tf2 represents buffered rotation samples with quaternions alongside separate translation vectors. You normally ask for a transform between frames; the library follows the chain and handles composition and inversion. Some internal geometry operations also use rotation matrices, so do not imply every operation is performed exclusively in quaternion algebra. ROS ordering is x,y,z,w, while the previous mathematical slide used scalar-first w,x,y,z. A rotation quaternion must have unit norm; normalize valid nonzero numerical values before use. Identity is (0,0,0,1); all-zero is invalid. This slide focuses on the role of quaternions inside tf2. Sources: ROS 2 Jazzy tf2 Quaternion and TransformStorage implementations; Quaternion Fundamentals.</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3B2F1C07-231E-4321-B1C7-65F55A071F2E}" type="slidenum">
              <a:rPr lang="en-IL" smtClean="0"/>
              <a:t>13</a:t>
            </a:fld>
            <a:endParaRPr lang="en-IL"/>
          </a:p>
        </p:txBody>
      </p:sp>
    </p:spTree>
    <p:extLst>
      <p:ext uri="{BB962C8B-B14F-4D97-AF65-F5344CB8AC3E}">
        <p14:creationId xmlns:p14="http://schemas.microsoft.com/office/powerpoint/2010/main" val="19613607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endParaRPr lang="en-US">
              <a:latin typeface="Aptos" panose="020B0004020202020204" pitchFamily="34" charset="0"/>
            </a:endParaRPr>
          </a:p>
          <a:p>
            <a:r>
              <a:rPr lang="en-US">
                <a:latin typeface="Aptos" panose="020B0004020202020204" pitchFamily="34" charset="0"/>
              </a:rPr>
              <a:t>world -&gt; base_link is dynamic (solid blue); the camera edges are static (dashed teal). Arrows name parent-child relationships; a stored child pose in its parent maps child coordinates to parent coordinates. One parent per child, one authoritative broadcaster per edge, no cycles. Disconnected trees have no connecting transform path. A frame is not a ROS node. Movable robot joints determine transforms between neighboring links; chaining them gives forward kinematics. This is a conceptual connection, not a change to the existing teaching frames. Professor Lecture 3 printed slides 12–13.</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3B2F1C07-231E-4321-B1C7-65F55A071F2E}" type="slidenum">
              <a:rPr lang="en-IL" smtClean="0"/>
              <a:t>14</a:t>
            </a:fld>
            <a:endParaRPr lang="en-IL"/>
          </a:p>
        </p:txBody>
      </p:sp>
    </p:spTree>
    <p:extLst>
      <p:ext uri="{BB962C8B-B14F-4D97-AF65-F5344CB8AC3E}">
        <p14:creationId xmlns:p14="http://schemas.microsoft.com/office/powerpoint/2010/main" val="31351840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endParaRPr lang="en-US">
              <a:latin typeface="Aptos" panose="020B0004020202020204" pitchFamily="34" charset="0"/>
            </a:endParaRPr>
          </a:p>
          <a:p>
            <a:r>
              <a:rPr lang="en-US">
                <a:latin typeface="Aptos" panose="020B0004020202020204" pitchFamily="34" charset="0"/>
              </a:rPr>
              <a:t>Timing: 1 minutes. </a:t>
            </a:r>
          </a:p>
          <a:p>
            <a:endParaRPr lang="en-US">
              <a:latin typeface="Aptos" panose="020B0004020202020204" pitchFamily="34" charset="0"/>
            </a:endParaRPr>
          </a:p>
          <a:p>
            <a:r>
              <a:rPr lang="en-US">
                <a:latin typeface="Aptos" panose="020B0004020202020204" pitchFamily="34" charset="0"/>
              </a:rPr>
              <a:t>Visual: static_frames and moving_base feed /tf_static and /tf, then listener/buffer and lookup. StaticTransformBroadcaster uses durable static data suitable for late listeners; TransformBroadcaster streams dynamic samples. TransformStamped includes header.frame_id parent, child_frame_id child, timestamp, translation and quaternion. Several nodes can publish different edges. Each TransformListener populates its own Buffer; there is no central lookup server. DDS transports samples between endpoints; executor callbacks consume them and fill the buffer. Lookup then performs geometry and time selection locally. These responsibilities are distinct. In the scripts, point_transformer creates Buffer and TransformListener, receives data while spinning, and calls lookup in its timer. Static data is time-independent, but publisher lifetime matters for late discovery; leave the existing static script spinning.</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https://docs.ros.org/en/jazzy/Tutorials/Intermediate/Tf2/Writing-A-Tf2-Static-Broadcaster-Py.html</a:t>
            </a:r>
          </a:p>
          <a:p>
            <a:r>
              <a:rPr lang="en-US">
                <a:latin typeface="Aptos" panose="020B0004020202020204" pitchFamily="34" charset="0"/>
              </a:rPr>
              <a:t>https://docs.ros.org/en/jazzy/Tutorials/Intermediate/Tf2/Writing-A-Tf2-Listener-Py.html</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3B2F1C07-231E-4321-B1C7-65F55A071F2E}" type="slidenum">
              <a:rPr lang="en-IL" smtClean="0"/>
              <a:t>15</a:t>
            </a:fld>
            <a:endParaRPr lang="en-IL"/>
          </a:p>
        </p:txBody>
      </p:sp>
    </p:spTree>
    <p:extLst>
      <p:ext uri="{BB962C8B-B14F-4D97-AF65-F5344CB8AC3E}">
        <p14:creationId xmlns:p14="http://schemas.microsoft.com/office/powerpoint/2010/main" val="10084318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endParaRPr lang="en-US">
              <a:latin typeface="Aptos" panose="020B0004020202020204" pitchFamily="34" charset="0"/>
            </a:endParaRPr>
          </a:p>
          <a:p>
            <a:r>
              <a:rPr lang="en-US">
                <a:latin typeface="Aptos" panose="020B0004020202020204" pitchFamily="34" charset="0"/>
              </a:rPr>
              <a:t>Timing: 1 minutes. </a:t>
            </a:r>
          </a:p>
          <a:p>
            <a:endParaRPr lang="en-US">
              <a:latin typeface="Aptos" panose="020B0004020202020204" pitchFamily="34" charset="0"/>
            </a:endParaRPr>
          </a:p>
          <a:p>
            <a:r>
              <a:rPr lang="en-US">
                <a:latin typeface="Aptos" panose="020B0004020202020204" pitchFamily="34" charset="0"/>
              </a:rPr>
              <a:t>Visual: acquisition time and current time on a timeline. Time() requests latest common usable transform, not necessarily now. Real observations need the transform at their acquisition timestamp when the chain is dynamic. The demo camera-to-base relationship is static, so latest lookup there is valid. moving_base adds time dependence only between world and base_link. transform_point.py restores the input stamp after do_transform_point, so RViz can convert both point messages into world at the same measurement time. The synthetic point stays fixed in camera coordinates and moves with the robot; a real world-fixed target would change its camera coordinates. History is finite; requests too old or newer than buffered dynamic samples raise extrapolation. Missing frames and disconnected paths fail too. Match clock sources and use_sim_time; bounded waiting/retry can allow data to arrive, while blocking the only executor thread may prevent listener callbacks. Existing code does not simulate delayed camera observations.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https://github.com/ros2/geometry2/blob/jazzy/tf2/src/cache.cpp</a:t>
            </a:r>
          </a:p>
          <a:p>
            <a:r>
              <a:rPr lang="en-US">
                <a:latin typeface="Aptos" panose="020B0004020202020204" pitchFamily="34" charset="0"/>
              </a:rPr>
              <a:t>https://docs.ros.org/en/jazzy/Tutorials/Intermediate/Tf2/Writing-A-Tf2-Listener-Py.html</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3B2F1C07-231E-4321-B1C7-65F55A071F2E}" type="slidenum">
              <a:rPr lang="en-IL" smtClean="0"/>
              <a:t>16</a:t>
            </a:fld>
            <a:endParaRPr lang="en-IL"/>
          </a:p>
        </p:txBody>
      </p:sp>
    </p:spTree>
    <p:extLst>
      <p:ext uri="{BB962C8B-B14F-4D97-AF65-F5344CB8AC3E}">
        <p14:creationId xmlns:p14="http://schemas.microsoft.com/office/powerpoint/2010/main" val="21678299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endParaRPr lang="en-US">
              <a:latin typeface="Aptos" panose="020B0004020202020204" pitchFamily="34" charset="0"/>
            </a:endParaRPr>
          </a:p>
          <a:p>
            <a:r>
              <a:rPr lang="en-US">
                <a:latin typeface="Aptos" panose="020B0004020202020204" pitchFamily="34" charset="0"/>
              </a:rPr>
              <a:t>tf2_echo base_link camera_frame shows camera pose in base. lookup_transform(target,source,time) converts source coordinates into target coordinates. Ask for a prediction before switching the display reference. Expected insight: the display reference and apparent coordinates/motion can change, while the physical relationships remain unchanged. Coordinate descriptions of the same physical point still coincide when expressed in a common frame. The world frame must be connected. Preserve all existing commands and demo behavior.</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3B2F1C07-231E-4321-B1C7-65F55A071F2E}" type="slidenum">
              <a:rPr lang="en-IL" smtClean="0"/>
              <a:t>17</a:t>
            </a:fld>
            <a:endParaRPr lang="en-IL"/>
          </a:p>
        </p:txBody>
      </p:sp>
    </p:spTree>
    <p:extLst>
      <p:ext uri="{BB962C8B-B14F-4D97-AF65-F5344CB8AC3E}">
        <p14:creationId xmlns:p14="http://schemas.microsoft.com/office/powerpoint/2010/main" val="15990027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25 minutes.</a:t>
            </a:r>
          </a:p>
          <a:p>
            <a:endParaRPr lang="en-US">
              <a:latin typeface="Aptos" panose="020B0004020202020204" pitchFamily="34" charset="0"/>
            </a:endParaRPr>
          </a:p>
          <a:p>
            <a:r>
              <a:rPr lang="en-US">
                <a:latin typeface="Aptos" panose="020B0004020202020204" pitchFamily="34" charset="0"/>
              </a:rPr>
              <a:t>Timing: 25 minutes for the existing demonstration and questions. 1 INSPECT: tf2_echo base_link camera_frame reports camera pose in base: Rz(+90 degrees), translation (0,0,0.5) m. 2 TRANSFORM: use the existing lookup and point transformation to connect the original camera point (0.2,0,1) to the base point (0,0.2,1.5). Rotate about +z by 90 degrees, then add 0.5 m along base z. Connect this to the homogeneous-transform and quaternion formulas. There is no separate numerical-example slide. 3 FAILURE: explain a missing-frame startup/recovery or disconnected-tree case; a buffer cannot infer a missing relationship. Unavailable timestamps on dynamic edges are a conceptual additional failure because transform history is finite. Static camera/base edges do not demonstrate dynamic extrapolation. RViz is optional: compare fixed frames base_link and world when the world transform is connected; the same physical points remain coincident. Presentation production does not run, modify, or rehearse the demo.</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3B2F1C07-231E-4321-B1C7-65F55A071F2E}" type="slidenum">
              <a:rPr lang="en-IL" smtClean="0"/>
              <a:t>18</a:t>
            </a:fld>
            <a:endParaRPr lang="en-IL"/>
          </a:p>
        </p:txBody>
      </p:sp>
    </p:spTree>
    <p:extLst>
      <p:ext uri="{BB962C8B-B14F-4D97-AF65-F5344CB8AC3E}">
        <p14:creationId xmlns:p14="http://schemas.microsoft.com/office/powerpoint/2010/main" val="429847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507F5-E0A9-9180-348A-1DA749AEAA9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B06F11B9-3533-2086-540E-3A067EA847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A3CFDF51-AE5A-14C1-1745-08034EB09A82}"/>
              </a:ext>
            </a:extLst>
          </p:cNvPr>
          <p:cNvSpPr>
            <a:spLocks noGrp="1"/>
          </p:cNvSpPr>
          <p:nvPr>
            <p:ph type="dt" sz="half" idx="10"/>
          </p:nvPr>
        </p:nvSpPr>
        <p:spPr/>
        <p:txBody>
          <a:bodyPr/>
          <a:lstStyle/>
          <a:p>
            <a:fld id="{F185961F-EEA5-44F0-87BF-E39A9E8FE045}" type="datetimeFigureOut">
              <a:rPr lang="en-IL" smtClean="0"/>
              <a:t>25/10/2026</a:t>
            </a:fld>
            <a:endParaRPr lang="en-IL"/>
          </a:p>
        </p:txBody>
      </p:sp>
      <p:sp>
        <p:nvSpPr>
          <p:cNvPr id="5" name="Footer Placeholder 4">
            <a:extLst>
              <a:ext uri="{FF2B5EF4-FFF2-40B4-BE49-F238E27FC236}">
                <a16:creationId xmlns:a16="http://schemas.microsoft.com/office/drawing/2014/main" id="{21073200-82EB-2220-571C-5BCA9EFFEE24}"/>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8CD749E-5E75-1AF4-1790-062D045179D1}"/>
              </a:ext>
            </a:extLst>
          </p:cNvPr>
          <p:cNvSpPr>
            <a:spLocks noGrp="1"/>
          </p:cNvSpPr>
          <p:nvPr>
            <p:ph type="sldNum" sz="quarter" idx="12"/>
          </p:nvPr>
        </p:nvSpPr>
        <p:spPr/>
        <p:txBody>
          <a:bodyPr/>
          <a:lstStyle/>
          <a:p>
            <a:fld id="{4E641991-51C3-4002-A3B5-9C3921E0AD74}" type="slidenum">
              <a:rPr lang="en-IL" smtClean="0"/>
              <a:t>‹#›</a:t>
            </a:fld>
            <a:endParaRPr lang="en-IL"/>
          </a:p>
        </p:txBody>
      </p:sp>
    </p:spTree>
    <p:extLst>
      <p:ext uri="{BB962C8B-B14F-4D97-AF65-F5344CB8AC3E}">
        <p14:creationId xmlns:p14="http://schemas.microsoft.com/office/powerpoint/2010/main" val="966488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803E9-2B98-1ABF-2BDF-3FF96F78E0B8}"/>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2C196DB6-C1DF-DE34-B484-2BC72B07F9F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59DB93CE-3573-4D4B-BFD6-D179DED20CE7}"/>
              </a:ext>
            </a:extLst>
          </p:cNvPr>
          <p:cNvSpPr>
            <a:spLocks noGrp="1"/>
          </p:cNvSpPr>
          <p:nvPr>
            <p:ph type="dt" sz="half" idx="10"/>
          </p:nvPr>
        </p:nvSpPr>
        <p:spPr/>
        <p:txBody>
          <a:bodyPr/>
          <a:lstStyle/>
          <a:p>
            <a:fld id="{F185961F-EEA5-44F0-87BF-E39A9E8FE045}" type="datetimeFigureOut">
              <a:rPr lang="en-IL" smtClean="0"/>
              <a:t>25/10/2026</a:t>
            </a:fld>
            <a:endParaRPr lang="en-IL"/>
          </a:p>
        </p:txBody>
      </p:sp>
      <p:sp>
        <p:nvSpPr>
          <p:cNvPr id="5" name="Footer Placeholder 4">
            <a:extLst>
              <a:ext uri="{FF2B5EF4-FFF2-40B4-BE49-F238E27FC236}">
                <a16:creationId xmlns:a16="http://schemas.microsoft.com/office/drawing/2014/main" id="{752BEB5C-5423-B17E-C48C-0DC2F1CBA83E}"/>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E107658B-411C-7BC8-B31C-BA24E3405A62}"/>
              </a:ext>
            </a:extLst>
          </p:cNvPr>
          <p:cNvSpPr>
            <a:spLocks noGrp="1"/>
          </p:cNvSpPr>
          <p:nvPr>
            <p:ph type="sldNum" sz="quarter" idx="12"/>
          </p:nvPr>
        </p:nvSpPr>
        <p:spPr/>
        <p:txBody>
          <a:bodyPr/>
          <a:lstStyle/>
          <a:p>
            <a:fld id="{4E641991-51C3-4002-A3B5-9C3921E0AD74}" type="slidenum">
              <a:rPr lang="en-IL" smtClean="0"/>
              <a:t>‹#›</a:t>
            </a:fld>
            <a:endParaRPr lang="en-IL"/>
          </a:p>
        </p:txBody>
      </p:sp>
    </p:spTree>
    <p:extLst>
      <p:ext uri="{BB962C8B-B14F-4D97-AF65-F5344CB8AC3E}">
        <p14:creationId xmlns:p14="http://schemas.microsoft.com/office/powerpoint/2010/main" val="2016902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1851F-BAE2-F907-3018-6E3EA3D0415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36A80D48-39DA-ACBE-E959-9A7BAB70278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F9D555-28A5-3D22-240B-4E8962F281D3}"/>
              </a:ext>
            </a:extLst>
          </p:cNvPr>
          <p:cNvSpPr>
            <a:spLocks noGrp="1"/>
          </p:cNvSpPr>
          <p:nvPr>
            <p:ph type="dt" sz="half" idx="10"/>
          </p:nvPr>
        </p:nvSpPr>
        <p:spPr/>
        <p:txBody>
          <a:bodyPr/>
          <a:lstStyle/>
          <a:p>
            <a:fld id="{F185961F-EEA5-44F0-87BF-E39A9E8FE045}" type="datetimeFigureOut">
              <a:rPr lang="en-IL" smtClean="0"/>
              <a:t>25/10/2026</a:t>
            </a:fld>
            <a:endParaRPr lang="en-IL"/>
          </a:p>
        </p:txBody>
      </p:sp>
      <p:sp>
        <p:nvSpPr>
          <p:cNvPr id="5" name="Footer Placeholder 4">
            <a:extLst>
              <a:ext uri="{FF2B5EF4-FFF2-40B4-BE49-F238E27FC236}">
                <a16:creationId xmlns:a16="http://schemas.microsoft.com/office/drawing/2014/main" id="{E845BE46-71BA-D120-D891-7E41F9A66D0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1267AE8D-6EB3-7446-CDAB-FF0DA0602261}"/>
              </a:ext>
            </a:extLst>
          </p:cNvPr>
          <p:cNvSpPr>
            <a:spLocks noGrp="1"/>
          </p:cNvSpPr>
          <p:nvPr>
            <p:ph type="sldNum" sz="quarter" idx="12"/>
          </p:nvPr>
        </p:nvSpPr>
        <p:spPr/>
        <p:txBody>
          <a:bodyPr/>
          <a:lstStyle/>
          <a:p>
            <a:fld id="{4E641991-51C3-4002-A3B5-9C3921E0AD74}" type="slidenum">
              <a:rPr lang="en-IL" smtClean="0"/>
              <a:t>‹#›</a:t>
            </a:fld>
            <a:endParaRPr lang="en-IL"/>
          </a:p>
        </p:txBody>
      </p:sp>
    </p:spTree>
    <p:extLst>
      <p:ext uri="{BB962C8B-B14F-4D97-AF65-F5344CB8AC3E}">
        <p14:creationId xmlns:p14="http://schemas.microsoft.com/office/powerpoint/2010/main" val="1915396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8A16D-418C-4946-0DA6-4E55129D2CFD}"/>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AC293DF3-6281-1C06-4970-D312E8C82D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91CD6680-5961-0AA5-BEFE-C98C2611BF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08EBC3FC-C5E6-51F4-D5C7-2C0C8EC51D44}"/>
              </a:ext>
            </a:extLst>
          </p:cNvPr>
          <p:cNvSpPr>
            <a:spLocks noGrp="1"/>
          </p:cNvSpPr>
          <p:nvPr>
            <p:ph type="dt" sz="half" idx="10"/>
          </p:nvPr>
        </p:nvSpPr>
        <p:spPr/>
        <p:txBody>
          <a:bodyPr/>
          <a:lstStyle/>
          <a:p>
            <a:fld id="{F185961F-EEA5-44F0-87BF-E39A9E8FE045}" type="datetimeFigureOut">
              <a:rPr lang="en-IL" smtClean="0"/>
              <a:t>25/10/2026</a:t>
            </a:fld>
            <a:endParaRPr lang="en-IL"/>
          </a:p>
        </p:txBody>
      </p:sp>
      <p:sp>
        <p:nvSpPr>
          <p:cNvPr id="6" name="Footer Placeholder 5">
            <a:extLst>
              <a:ext uri="{FF2B5EF4-FFF2-40B4-BE49-F238E27FC236}">
                <a16:creationId xmlns:a16="http://schemas.microsoft.com/office/drawing/2014/main" id="{B32117B0-AB18-1008-9E3D-CCD85C394A44}"/>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5926122B-1EA6-3946-0825-CC94DA11E0F3}"/>
              </a:ext>
            </a:extLst>
          </p:cNvPr>
          <p:cNvSpPr>
            <a:spLocks noGrp="1"/>
          </p:cNvSpPr>
          <p:nvPr>
            <p:ph type="sldNum" sz="quarter" idx="12"/>
          </p:nvPr>
        </p:nvSpPr>
        <p:spPr/>
        <p:txBody>
          <a:bodyPr/>
          <a:lstStyle/>
          <a:p>
            <a:fld id="{4E641991-51C3-4002-A3B5-9C3921E0AD74}" type="slidenum">
              <a:rPr lang="en-IL" smtClean="0"/>
              <a:t>‹#›</a:t>
            </a:fld>
            <a:endParaRPr lang="en-IL"/>
          </a:p>
        </p:txBody>
      </p:sp>
    </p:spTree>
    <p:extLst>
      <p:ext uri="{BB962C8B-B14F-4D97-AF65-F5344CB8AC3E}">
        <p14:creationId xmlns:p14="http://schemas.microsoft.com/office/powerpoint/2010/main" val="1652920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B15B4-7731-3C2E-54E7-BF025FA384C3}"/>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E10D9BDC-8D0B-083B-FE9E-91F839591D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1090C5-AC70-BA38-F766-7866375A7D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316B1D64-20F3-3575-3F55-9CD63FFF5D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FAA60F7-4715-B1BE-2A82-FF861A54F04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245D8FE1-54EA-1A23-5A06-C80E46072A3F}"/>
              </a:ext>
            </a:extLst>
          </p:cNvPr>
          <p:cNvSpPr>
            <a:spLocks noGrp="1"/>
          </p:cNvSpPr>
          <p:nvPr>
            <p:ph type="dt" sz="half" idx="10"/>
          </p:nvPr>
        </p:nvSpPr>
        <p:spPr/>
        <p:txBody>
          <a:bodyPr/>
          <a:lstStyle/>
          <a:p>
            <a:fld id="{F185961F-EEA5-44F0-87BF-E39A9E8FE045}" type="datetimeFigureOut">
              <a:rPr lang="en-IL" smtClean="0"/>
              <a:t>25/10/2026</a:t>
            </a:fld>
            <a:endParaRPr lang="en-IL"/>
          </a:p>
        </p:txBody>
      </p:sp>
      <p:sp>
        <p:nvSpPr>
          <p:cNvPr id="8" name="Footer Placeholder 7">
            <a:extLst>
              <a:ext uri="{FF2B5EF4-FFF2-40B4-BE49-F238E27FC236}">
                <a16:creationId xmlns:a16="http://schemas.microsoft.com/office/drawing/2014/main" id="{CCE0E15B-2EC3-AD65-044C-B107ACEEE671}"/>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15F3FAF1-FAD7-5E4D-8574-55EA1680B3DD}"/>
              </a:ext>
            </a:extLst>
          </p:cNvPr>
          <p:cNvSpPr>
            <a:spLocks noGrp="1"/>
          </p:cNvSpPr>
          <p:nvPr>
            <p:ph type="sldNum" sz="quarter" idx="12"/>
          </p:nvPr>
        </p:nvSpPr>
        <p:spPr/>
        <p:txBody>
          <a:bodyPr/>
          <a:lstStyle/>
          <a:p>
            <a:fld id="{4E641991-51C3-4002-A3B5-9C3921E0AD74}" type="slidenum">
              <a:rPr lang="en-IL" smtClean="0"/>
              <a:t>‹#›</a:t>
            </a:fld>
            <a:endParaRPr lang="en-IL"/>
          </a:p>
        </p:txBody>
      </p:sp>
    </p:spTree>
    <p:extLst>
      <p:ext uri="{BB962C8B-B14F-4D97-AF65-F5344CB8AC3E}">
        <p14:creationId xmlns:p14="http://schemas.microsoft.com/office/powerpoint/2010/main" val="16832995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A0035-C79C-CEED-DD7F-E69A1C5AFD8D}"/>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F1C47855-5886-8EE2-2A66-D283536855B8}"/>
              </a:ext>
            </a:extLst>
          </p:cNvPr>
          <p:cNvSpPr>
            <a:spLocks noGrp="1"/>
          </p:cNvSpPr>
          <p:nvPr>
            <p:ph type="dt" sz="half" idx="10"/>
          </p:nvPr>
        </p:nvSpPr>
        <p:spPr/>
        <p:txBody>
          <a:bodyPr/>
          <a:lstStyle/>
          <a:p>
            <a:fld id="{F185961F-EEA5-44F0-87BF-E39A9E8FE045}" type="datetimeFigureOut">
              <a:rPr lang="en-IL" smtClean="0"/>
              <a:t>25/10/2026</a:t>
            </a:fld>
            <a:endParaRPr lang="en-IL"/>
          </a:p>
        </p:txBody>
      </p:sp>
      <p:sp>
        <p:nvSpPr>
          <p:cNvPr id="4" name="Footer Placeholder 3">
            <a:extLst>
              <a:ext uri="{FF2B5EF4-FFF2-40B4-BE49-F238E27FC236}">
                <a16:creationId xmlns:a16="http://schemas.microsoft.com/office/drawing/2014/main" id="{3016A7E6-8782-3681-0290-DF57094B54DC}"/>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B0738708-FD3F-0F32-C7D0-F2B0CDCAE0DA}"/>
              </a:ext>
            </a:extLst>
          </p:cNvPr>
          <p:cNvSpPr>
            <a:spLocks noGrp="1"/>
          </p:cNvSpPr>
          <p:nvPr>
            <p:ph type="sldNum" sz="quarter" idx="12"/>
          </p:nvPr>
        </p:nvSpPr>
        <p:spPr/>
        <p:txBody>
          <a:bodyPr/>
          <a:lstStyle/>
          <a:p>
            <a:fld id="{4E641991-51C3-4002-A3B5-9C3921E0AD74}" type="slidenum">
              <a:rPr lang="en-IL" smtClean="0"/>
              <a:t>‹#›</a:t>
            </a:fld>
            <a:endParaRPr lang="en-IL"/>
          </a:p>
        </p:txBody>
      </p:sp>
    </p:spTree>
    <p:extLst>
      <p:ext uri="{BB962C8B-B14F-4D97-AF65-F5344CB8AC3E}">
        <p14:creationId xmlns:p14="http://schemas.microsoft.com/office/powerpoint/2010/main" val="1089997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8BC57C-3592-E9D5-B6F5-5921FF76EC4D}"/>
              </a:ext>
            </a:extLst>
          </p:cNvPr>
          <p:cNvSpPr>
            <a:spLocks noGrp="1"/>
          </p:cNvSpPr>
          <p:nvPr>
            <p:ph type="dt" sz="half" idx="10"/>
          </p:nvPr>
        </p:nvSpPr>
        <p:spPr/>
        <p:txBody>
          <a:bodyPr/>
          <a:lstStyle/>
          <a:p>
            <a:fld id="{F185961F-EEA5-44F0-87BF-E39A9E8FE045}" type="datetimeFigureOut">
              <a:rPr lang="en-IL" smtClean="0"/>
              <a:t>25/10/2026</a:t>
            </a:fld>
            <a:endParaRPr lang="en-IL"/>
          </a:p>
        </p:txBody>
      </p:sp>
      <p:sp>
        <p:nvSpPr>
          <p:cNvPr id="3" name="Footer Placeholder 2">
            <a:extLst>
              <a:ext uri="{FF2B5EF4-FFF2-40B4-BE49-F238E27FC236}">
                <a16:creationId xmlns:a16="http://schemas.microsoft.com/office/drawing/2014/main" id="{8FE74CBF-7CB3-4985-04EB-915AA5017A6C}"/>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B4DB431B-8454-D0AD-5685-FD3C54B6A030}"/>
              </a:ext>
            </a:extLst>
          </p:cNvPr>
          <p:cNvSpPr>
            <a:spLocks noGrp="1"/>
          </p:cNvSpPr>
          <p:nvPr>
            <p:ph type="sldNum" sz="quarter" idx="12"/>
          </p:nvPr>
        </p:nvSpPr>
        <p:spPr/>
        <p:txBody>
          <a:bodyPr/>
          <a:lstStyle/>
          <a:p>
            <a:fld id="{4E641991-51C3-4002-A3B5-9C3921E0AD74}" type="slidenum">
              <a:rPr lang="en-IL" smtClean="0"/>
              <a:t>‹#›</a:t>
            </a:fld>
            <a:endParaRPr lang="en-IL"/>
          </a:p>
        </p:txBody>
      </p:sp>
    </p:spTree>
    <p:extLst>
      <p:ext uri="{BB962C8B-B14F-4D97-AF65-F5344CB8AC3E}">
        <p14:creationId xmlns:p14="http://schemas.microsoft.com/office/powerpoint/2010/main" val="25371717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6624C-BD06-5450-0108-64F004944E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9626337C-42D0-4512-96CE-B85E99A4EA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C976DB20-F7D3-1E05-2B11-915F125EC9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B2E746-F1A0-4EDB-42B4-18C58D7E75F6}"/>
              </a:ext>
            </a:extLst>
          </p:cNvPr>
          <p:cNvSpPr>
            <a:spLocks noGrp="1"/>
          </p:cNvSpPr>
          <p:nvPr>
            <p:ph type="dt" sz="half" idx="10"/>
          </p:nvPr>
        </p:nvSpPr>
        <p:spPr/>
        <p:txBody>
          <a:bodyPr/>
          <a:lstStyle/>
          <a:p>
            <a:fld id="{F185961F-EEA5-44F0-87BF-E39A9E8FE045}" type="datetimeFigureOut">
              <a:rPr lang="en-IL" smtClean="0"/>
              <a:t>25/10/2026</a:t>
            </a:fld>
            <a:endParaRPr lang="en-IL"/>
          </a:p>
        </p:txBody>
      </p:sp>
      <p:sp>
        <p:nvSpPr>
          <p:cNvPr id="6" name="Footer Placeholder 5">
            <a:extLst>
              <a:ext uri="{FF2B5EF4-FFF2-40B4-BE49-F238E27FC236}">
                <a16:creationId xmlns:a16="http://schemas.microsoft.com/office/drawing/2014/main" id="{AF5FD55D-D34A-DDA5-E53B-3BF8BF0D51EC}"/>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2EA9DB94-643D-AD26-CD90-3935C8980A70}"/>
              </a:ext>
            </a:extLst>
          </p:cNvPr>
          <p:cNvSpPr>
            <a:spLocks noGrp="1"/>
          </p:cNvSpPr>
          <p:nvPr>
            <p:ph type="sldNum" sz="quarter" idx="12"/>
          </p:nvPr>
        </p:nvSpPr>
        <p:spPr/>
        <p:txBody>
          <a:bodyPr/>
          <a:lstStyle/>
          <a:p>
            <a:fld id="{4E641991-51C3-4002-A3B5-9C3921E0AD74}" type="slidenum">
              <a:rPr lang="en-IL" smtClean="0"/>
              <a:t>‹#›</a:t>
            </a:fld>
            <a:endParaRPr lang="en-IL"/>
          </a:p>
        </p:txBody>
      </p:sp>
    </p:spTree>
    <p:extLst>
      <p:ext uri="{BB962C8B-B14F-4D97-AF65-F5344CB8AC3E}">
        <p14:creationId xmlns:p14="http://schemas.microsoft.com/office/powerpoint/2010/main" val="1083845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8086A-2529-FA88-618C-0C40226BF0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6B85A78A-E31F-303B-EB41-0920E0454A6B}"/>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EAB59519-0E39-6B98-928D-1E5484C9B2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D095BF-0E9F-A364-96EE-8531747EECB0}"/>
              </a:ext>
            </a:extLst>
          </p:cNvPr>
          <p:cNvSpPr>
            <a:spLocks noGrp="1"/>
          </p:cNvSpPr>
          <p:nvPr>
            <p:ph type="dt" sz="half" idx="10"/>
          </p:nvPr>
        </p:nvSpPr>
        <p:spPr/>
        <p:txBody>
          <a:bodyPr/>
          <a:lstStyle/>
          <a:p>
            <a:fld id="{F185961F-EEA5-44F0-87BF-E39A9E8FE045}" type="datetimeFigureOut">
              <a:rPr lang="en-IL" smtClean="0"/>
              <a:t>25/10/2026</a:t>
            </a:fld>
            <a:endParaRPr lang="en-IL"/>
          </a:p>
        </p:txBody>
      </p:sp>
      <p:sp>
        <p:nvSpPr>
          <p:cNvPr id="6" name="Footer Placeholder 5">
            <a:extLst>
              <a:ext uri="{FF2B5EF4-FFF2-40B4-BE49-F238E27FC236}">
                <a16:creationId xmlns:a16="http://schemas.microsoft.com/office/drawing/2014/main" id="{E64D35CA-ED02-9743-63E5-C530E9CA5BF7}"/>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E81C6525-AA8E-6805-97B1-B7C43B4F12C4}"/>
              </a:ext>
            </a:extLst>
          </p:cNvPr>
          <p:cNvSpPr>
            <a:spLocks noGrp="1"/>
          </p:cNvSpPr>
          <p:nvPr>
            <p:ph type="sldNum" sz="quarter" idx="12"/>
          </p:nvPr>
        </p:nvSpPr>
        <p:spPr/>
        <p:txBody>
          <a:bodyPr/>
          <a:lstStyle/>
          <a:p>
            <a:fld id="{4E641991-51C3-4002-A3B5-9C3921E0AD74}" type="slidenum">
              <a:rPr lang="en-IL" smtClean="0"/>
              <a:t>‹#›</a:t>
            </a:fld>
            <a:endParaRPr lang="en-IL"/>
          </a:p>
        </p:txBody>
      </p:sp>
    </p:spTree>
    <p:extLst>
      <p:ext uri="{BB962C8B-B14F-4D97-AF65-F5344CB8AC3E}">
        <p14:creationId xmlns:p14="http://schemas.microsoft.com/office/powerpoint/2010/main" val="36071328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EA57D-F5D4-4E29-4CAB-AD5D8FE43E06}"/>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71C11ACD-2048-C658-04EC-F5B9A52932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B23BB089-B853-3B7D-47FD-2C2165C55367}"/>
              </a:ext>
            </a:extLst>
          </p:cNvPr>
          <p:cNvSpPr>
            <a:spLocks noGrp="1"/>
          </p:cNvSpPr>
          <p:nvPr>
            <p:ph type="dt" sz="half" idx="10"/>
          </p:nvPr>
        </p:nvSpPr>
        <p:spPr/>
        <p:txBody>
          <a:bodyPr/>
          <a:lstStyle/>
          <a:p>
            <a:fld id="{F185961F-EEA5-44F0-87BF-E39A9E8FE045}" type="datetimeFigureOut">
              <a:rPr lang="en-IL" smtClean="0"/>
              <a:t>25/10/2026</a:t>
            </a:fld>
            <a:endParaRPr lang="en-IL"/>
          </a:p>
        </p:txBody>
      </p:sp>
      <p:sp>
        <p:nvSpPr>
          <p:cNvPr id="5" name="Footer Placeholder 4">
            <a:extLst>
              <a:ext uri="{FF2B5EF4-FFF2-40B4-BE49-F238E27FC236}">
                <a16:creationId xmlns:a16="http://schemas.microsoft.com/office/drawing/2014/main" id="{8A83B8F9-B5E0-C7EF-5BD6-316A634594C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65509413-F75D-D6CF-082B-145570D8EC80}"/>
              </a:ext>
            </a:extLst>
          </p:cNvPr>
          <p:cNvSpPr>
            <a:spLocks noGrp="1"/>
          </p:cNvSpPr>
          <p:nvPr>
            <p:ph type="sldNum" sz="quarter" idx="12"/>
          </p:nvPr>
        </p:nvSpPr>
        <p:spPr/>
        <p:txBody>
          <a:bodyPr/>
          <a:lstStyle/>
          <a:p>
            <a:fld id="{4E641991-51C3-4002-A3B5-9C3921E0AD74}" type="slidenum">
              <a:rPr lang="en-IL" smtClean="0"/>
              <a:t>‹#›</a:t>
            </a:fld>
            <a:endParaRPr lang="en-IL"/>
          </a:p>
        </p:txBody>
      </p:sp>
    </p:spTree>
    <p:extLst>
      <p:ext uri="{BB962C8B-B14F-4D97-AF65-F5344CB8AC3E}">
        <p14:creationId xmlns:p14="http://schemas.microsoft.com/office/powerpoint/2010/main" val="1813743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B23883-E711-2637-D55F-E1C51520B8E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88759426-3709-797C-3A07-CC3AB09BEC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F0890696-A38F-FF05-A237-EA911FD072B8}"/>
              </a:ext>
            </a:extLst>
          </p:cNvPr>
          <p:cNvSpPr>
            <a:spLocks noGrp="1"/>
          </p:cNvSpPr>
          <p:nvPr>
            <p:ph type="dt" sz="half" idx="10"/>
          </p:nvPr>
        </p:nvSpPr>
        <p:spPr/>
        <p:txBody>
          <a:bodyPr/>
          <a:lstStyle/>
          <a:p>
            <a:fld id="{F185961F-EEA5-44F0-87BF-E39A9E8FE045}" type="datetimeFigureOut">
              <a:rPr lang="en-IL" smtClean="0"/>
              <a:t>25/10/2026</a:t>
            </a:fld>
            <a:endParaRPr lang="en-IL"/>
          </a:p>
        </p:txBody>
      </p:sp>
      <p:sp>
        <p:nvSpPr>
          <p:cNvPr id="5" name="Footer Placeholder 4">
            <a:extLst>
              <a:ext uri="{FF2B5EF4-FFF2-40B4-BE49-F238E27FC236}">
                <a16:creationId xmlns:a16="http://schemas.microsoft.com/office/drawing/2014/main" id="{B5DE7B2C-5826-8A47-7285-8A29A75C6984}"/>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9B8E639E-0D56-5548-FC48-C8BB758A6774}"/>
              </a:ext>
            </a:extLst>
          </p:cNvPr>
          <p:cNvSpPr>
            <a:spLocks noGrp="1"/>
          </p:cNvSpPr>
          <p:nvPr>
            <p:ph type="sldNum" sz="quarter" idx="12"/>
          </p:nvPr>
        </p:nvSpPr>
        <p:spPr/>
        <p:txBody>
          <a:bodyPr/>
          <a:lstStyle/>
          <a:p>
            <a:fld id="{4E641991-51C3-4002-A3B5-9C3921E0AD74}" type="slidenum">
              <a:rPr lang="en-IL" smtClean="0"/>
              <a:t>‹#›</a:t>
            </a:fld>
            <a:endParaRPr lang="en-IL"/>
          </a:p>
        </p:txBody>
      </p:sp>
    </p:spTree>
    <p:extLst>
      <p:ext uri="{BB962C8B-B14F-4D97-AF65-F5344CB8AC3E}">
        <p14:creationId xmlns:p14="http://schemas.microsoft.com/office/powerpoint/2010/main" val="5750971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5DAE54-FFD6-CE0D-FA0D-961A851145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B3641E7E-ED55-2080-A4B7-78F175AB4E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AC91D7EF-5002-A877-72D2-5C2036C145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85961F-EEA5-44F0-87BF-E39A9E8FE045}" type="datetimeFigureOut">
              <a:rPr lang="en-IL" smtClean="0"/>
              <a:t>25/10/2026</a:t>
            </a:fld>
            <a:endParaRPr lang="en-IL"/>
          </a:p>
        </p:txBody>
      </p:sp>
      <p:sp>
        <p:nvSpPr>
          <p:cNvPr id="5" name="Footer Placeholder 4">
            <a:extLst>
              <a:ext uri="{FF2B5EF4-FFF2-40B4-BE49-F238E27FC236}">
                <a16:creationId xmlns:a16="http://schemas.microsoft.com/office/drawing/2014/main" id="{F5BF0762-F056-0C92-3D45-881C209549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L"/>
          </a:p>
        </p:txBody>
      </p:sp>
      <p:sp>
        <p:nvSpPr>
          <p:cNvPr id="6" name="Slide Number Placeholder 5">
            <a:extLst>
              <a:ext uri="{FF2B5EF4-FFF2-40B4-BE49-F238E27FC236}">
                <a16:creationId xmlns:a16="http://schemas.microsoft.com/office/drawing/2014/main" id="{8A79F9DD-EF48-2578-9676-64D0FB7018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E641991-51C3-4002-A3B5-9C3921E0AD74}" type="slidenum">
              <a:rPr lang="en-IL" smtClean="0"/>
              <a:t>‹#›</a:t>
            </a:fld>
            <a:endParaRPr lang="en-IL"/>
          </a:p>
        </p:txBody>
      </p:sp>
    </p:spTree>
    <p:extLst>
      <p:ext uri="{BB962C8B-B14F-4D97-AF65-F5344CB8AC3E}">
        <p14:creationId xmlns:p14="http://schemas.microsoft.com/office/powerpoint/2010/main" val="24447958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watch?v=BczeMqU_u2Y&amp;t=140s"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69D78F1A-EADB-9096-9298-720A2E7E7ADC}"/>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02 / COORDINATE FRAMES</a:t>
            </a:r>
          </a:p>
        </p:txBody>
      </p:sp>
      <p:sp>
        <p:nvSpPr>
          <p:cNvPr id="3" name="text_2">
            <a:extLst>
              <a:ext uri="{FF2B5EF4-FFF2-40B4-BE49-F238E27FC236}">
                <a16:creationId xmlns:a16="http://schemas.microsoft.com/office/drawing/2014/main" id="{5B424991-79B8-8FD5-EEFA-2A999CBC98C5}"/>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Coordinate frames &amp; tf2</a:t>
            </a:r>
          </a:p>
        </p:txBody>
      </p:sp>
      <p:sp>
        <p:nvSpPr>
          <p:cNvPr id="4" name="text_3">
            <a:extLst>
              <a:ext uri="{FF2B5EF4-FFF2-40B4-BE49-F238E27FC236}">
                <a16:creationId xmlns:a16="http://schemas.microsoft.com/office/drawing/2014/main" id="{DAB62725-93F7-4886-FC8A-69CE6664445E}"/>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Describe the same point. Move between frames.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88DCDC5C-F02A-9C48-E3FC-98B74EF756AF}"/>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B52DDFA2-B8C0-9F54-4520-89BF4C3BA69D}"/>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85EE1972-CCCB-A9D7-2769-3D9D7F35F17C}"/>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01</a:t>
            </a:r>
          </a:p>
        </p:txBody>
      </p:sp>
      <p:sp>
        <p:nvSpPr>
          <p:cNvPr id="8" name="Rectangle: Rounded Corners 7">
            <a:extLst>
              <a:ext uri="{FF2B5EF4-FFF2-40B4-BE49-F238E27FC236}">
                <a16:creationId xmlns:a16="http://schemas.microsoft.com/office/drawing/2014/main" id="{FC17E3D7-622A-78E2-A21A-190A8E7D3257}"/>
              </a:ext>
            </a:extLst>
          </p:cNvPr>
          <p:cNvSpPr/>
          <p:nvPr/>
        </p:nvSpPr>
        <p:spPr>
          <a:xfrm>
            <a:off x="685800" y="2819400"/>
            <a:ext cx="31115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1591A8F9-5A6C-87FA-EDAD-E4861B4AA6CC}"/>
              </a:ext>
            </a:extLst>
          </p:cNvPr>
          <p:cNvSpPr txBox="1"/>
          <p:nvPr/>
        </p:nvSpPr>
        <p:spPr>
          <a:xfrm>
            <a:off x="838200" y="2908299"/>
            <a:ext cx="2806700" cy="3810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Understand frames</a:t>
            </a:r>
          </a:p>
        </p:txBody>
      </p:sp>
      <p:sp>
        <p:nvSpPr>
          <p:cNvPr id="10" name="Rectangle: Rounded Corners 9">
            <a:extLst>
              <a:ext uri="{FF2B5EF4-FFF2-40B4-BE49-F238E27FC236}">
                <a16:creationId xmlns:a16="http://schemas.microsoft.com/office/drawing/2014/main" id="{A9990F29-8A17-47B8-1F74-12DA574E5C52}"/>
              </a:ext>
            </a:extLst>
          </p:cNvPr>
          <p:cNvSpPr/>
          <p:nvPr/>
        </p:nvSpPr>
        <p:spPr>
          <a:xfrm>
            <a:off x="4051300" y="2819400"/>
            <a:ext cx="3136900" cy="533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10">
            <a:extLst>
              <a:ext uri="{FF2B5EF4-FFF2-40B4-BE49-F238E27FC236}">
                <a16:creationId xmlns:a16="http://schemas.microsoft.com/office/drawing/2014/main" id="{4EFFD215-AC64-574E-774F-06AE511ACC8C}"/>
              </a:ext>
            </a:extLst>
          </p:cNvPr>
          <p:cNvSpPr txBox="1"/>
          <p:nvPr/>
        </p:nvSpPr>
        <p:spPr>
          <a:xfrm>
            <a:off x="4203700" y="2908299"/>
            <a:ext cx="2832100" cy="3810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Read the math</a:t>
            </a:r>
          </a:p>
        </p:txBody>
      </p:sp>
      <p:sp>
        <p:nvSpPr>
          <p:cNvPr id="12" name="Rectangle: Rounded Corners 11">
            <a:extLst>
              <a:ext uri="{FF2B5EF4-FFF2-40B4-BE49-F238E27FC236}">
                <a16:creationId xmlns:a16="http://schemas.microsoft.com/office/drawing/2014/main" id="{7535873E-EFEE-4C0A-8C94-975757D57E4C}"/>
              </a:ext>
            </a:extLst>
          </p:cNvPr>
          <p:cNvSpPr/>
          <p:nvPr/>
        </p:nvSpPr>
        <p:spPr>
          <a:xfrm>
            <a:off x="7442200" y="2819400"/>
            <a:ext cx="40640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6289FAB0-065E-E370-8428-A337A643F4A5}"/>
              </a:ext>
            </a:extLst>
          </p:cNvPr>
          <p:cNvSpPr txBox="1"/>
          <p:nvPr/>
        </p:nvSpPr>
        <p:spPr>
          <a:xfrm>
            <a:off x="7594600" y="2908299"/>
            <a:ext cx="3759200" cy="3810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Inspect the demo</a:t>
            </a:r>
          </a:p>
        </p:txBody>
      </p:sp>
      <p:sp>
        <p:nvSpPr>
          <p:cNvPr id="14" name="text_13">
            <a:extLst>
              <a:ext uri="{FF2B5EF4-FFF2-40B4-BE49-F238E27FC236}">
                <a16:creationId xmlns:a16="http://schemas.microsoft.com/office/drawing/2014/main" id="{1E7EFC07-43BD-391F-1DB4-7F8708C25E33}"/>
              </a:ext>
            </a:extLst>
          </p:cNvPr>
          <p:cNvSpPr txBox="1"/>
          <p:nvPr/>
        </p:nvSpPr>
        <p:spPr>
          <a:xfrm>
            <a:off x="939800" y="4114799"/>
            <a:ext cx="10312400" cy="800100"/>
          </a:xfrm>
          <a:prstGeom prst="rect">
            <a:avLst/>
          </a:prstGeom>
          <a:noFill/>
        </p:spPr>
        <p:txBody>
          <a:bodyPr vert="horz" wrap="square" lIns="0" tIns="0" rIns="0" bIns="0" rtlCol="0" anchor="t">
            <a:noAutofit/>
          </a:bodyPr>
          <a:lstStyle/>
          <a:p>
            <a:r>
              <a:rPr lang="en-IL" sz="4000">
                <a:solidFill>
                  <a:srgbClr val="2459D3"/>
                </a:solidFill>
                <a:latin typeface="Cambria Math" panose="02040503050406030204" pitchFamily="18" charset="0"/>
              </a:rPr>
              <a:t>p</a:t>
            </a:r>
            <a:r>
              <a:rPr lang="en-IL" sz="2880" baseline="-22000">
                <a:solidFill>
                  <a:srgbClr val="2459D3"/>
                </a:solidFill>
                <a:latin typeface="Cambria Math" panose="02040503050406030204" pitchFamily="18" charset="0"/>
              </a:rPr>
              <a:t>A</a:t>
            </a:r>
            <a:r>
              <a:rPr lang="en-IL" sz="4000">
                <a:solidFill>
                  <a:srgbClr val="2459D3"/>
                </a:solidFill>
                <a:latin typeface="Cambria Math" panose="02040503050406030204" pitchFamily="18" charset="0"/>
              </a:rPr>
              <a:t> = R</a:t>
            </a:r>
            <a:r>
              <a:rPr lang="en-IL" sz="2880" baseline="-22000">
                <a:solidFill>
                  <a:srgbClr val="2459D3"/>
                </a:solidFill>
                <a:latin typeface="Cambria Math" panose="02040503050406030204" pitchFamily="18" charset="0"/>
              </a:rPr>
              <a:t>AB</a:t>
            </a:r>
            <a:r>
              <a:rPr lang="en-IL" sz="4000">
                <a:solidFill>
                  <a:srgbClr val="2459D3"/>
                </a:solidFill>
                <a:latin typeface="Cambria Math" panose="02040503050406030204" pitchFamily="18" charset="0"/>
              </a:rPr>
              <a:t> p</a:t>
            </a:r>
            <a:r>
              <a:rPr lang="en-IL" sz="2880" baseline="-22000">
                <a:solidFill>
                  <a:srgbClr val="2459D3"/>
                </a:solidFill>
                <a:latin typeface="Cambria Math" panose="02040503050406030204" pitchFamily="18" charset="0"/>
              </a:rPr>
              <a:t>B</a:t>
            </a:r>
            <a:r>
              <a:rPr lang="en-IL" sz="4000">
                <a:solidFill>
                  <a:srgbClr val="2459D3"/>
                </a:solidFill>
                <a:latin typeface="Cambria Math" panose="02040503050406030204" pitchFamily="18" charset="0"/>
              </a:rPr>
              <a:t> + t</a:t>
            </a:r>
            <a:r>
              <a:rPr lang="en-IL" sz="2880" baseline="-22000">
                <a:solidFill>
                  <a:srgbClr val="2459D3"/>
                </a:solidFill>
                <a:latin typeface="Cambria Math" panose="02040503050406030204" pitchFamily="18" charset="0"/>
              </a:rPr>
              <a:t>AB</a:t>
            </a:r>
          </a:p>
        </p:txBody>
      </p:sp>
      <p:sp>
        <p:nvSpPr>
          <p:cNvPr id="15" name="text_14">
            <a:extLst>
              <a:ext uri="{FF2B5EF4-FFF2-40B4-BE49-F238E27FC236}">
                <a16:creationId xmlns:a16="http://schemas.microsoft.com/office/drawing/2014/main" id="{804712FE-9514-B324-9D29-EC13FEA3002B}"/>
              </a:ext>
            </a:extLst>
          </p:cNvPr>
          <p:cNvSpPr txBox="1"/>
          <p:nvPr/>
        </p:nvSpPr>
        <p:spPr>
          <a:xfrm>
            <a:off x="939800" y="5257799"/>
            <a:ext cx="10312400" cy="508000"/>
          </a:xfrm>
          <a:prstGeom prst="rect">
            <a:avLst/>
          </a:prstGeom>
          <a:noFill/>
        </p:spPr>
        <p:txBody>
          <a:bodyPr vert="horz" wrap="square" lIns="0" tIns="0" rIns="0" bIns="0" rtlCol="0" anchor="t">
            <a:noAutofit/>
          </a:bodyPr>
          <a:lstStyle/>
          <a:p>
            <a:r>
              <a:rPr lang="fr-FR" sz="2600">
                <a:solidFill>
                  <a:srgbClr val="526477"/>
                </a:solidFill>
                <a:latin typeface="Aptos" panose="020B0004020202020204" pitchFamily="34" charset="0"/>
              </a:rPr>
              <a:t>20 min concepts  ·  25 min code, demo &amp; questions</a:t>
            </a:r>
            <a:endParaRPr lang="en-IL" sz="2600">
              <a:solidFill>
                <a:srgbClr val="526477"/>
              </a:solidFill>
              <a:latin typeface="Aptos" panose="020B0004020202020204" pitchFamily="34" charset="0"/>
            </a:endParaRPr>
          </a:p>
        </p:txBody>
      </p:sp>
    </p:spTree>
    <p:extLst>
      <p:ext uri="{BB962C8B-B14F-4D97-AF65-F5344CB8AC3E}">
        <p14:creationId xmlns:p14="http://schemas.microsoft.com/office/powerpoint/2010/main" val="41642087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B59A5B64-83CB-39A8-DD12-A339978D46FE}"/>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02 / COORDINATE FRAMES</a:t>
            </a:r>
          </a:p>
        </p:txBody>
      </p:sp>
      <p:sp>
        <p:nvSpPr>
          <p:cNvPr id="3" name="text_2">
            <a:extLst>
              <a:ext uri="{FF2B5EF4-FFF2-40B4-BE49-F238E27FC236}">
                <a16:creationId xmlns:a16="http://schemas.microsoft.com/office/drawing/2014/main" id="{562A35BB-FD68-AC30-E957-20A13BC912DB}"/>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Why do coordinates need a frame?</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0C0A934F-1207-78B1-BD1C-3E835E86B740}"/>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One physical target. Several coordinate descriptions.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9674EA33-6C82-7D98-E5C9-F80F02863F74}"/>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70A00F52-512D-3D63-B247-BE7259CDCCC8}"/>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02AC450B-5C10-D4EB-53A5-39F0BD3FDE59}"/>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02</a:t>
            </a:r>
          </a:p>
        </p:txBody>
      </p:sp>
      <p:sp>
        <p:nvSpPr>
          <p:cNvPr id="8" name="Oval 7">
            <a:extLst>
              <a:ext uri="{FF2B5EF4-FFF2-40B4-BE49-F238E27FC236}">
                <a16:creationId xmlns:a16="http://schemas.microsoft.com/office/drawing/2014/main" id="{8DB800CD-C7C6-AD8B-92CA-89BD0EDF978F}"/>
              </a:ext>
            </a:extLst>
          </p:cNvPr>
          <p:cNvSpPr/>
          <p:nvPr/>
        </p:nvSpPr>
        <p:spPr>
          <a:xfrm>
            <a:off x="1600200" y="4140200"/>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9" name="Straight Connector 8">
            <a:extLst>
              <a:ext uri="{FF2B5EF4-FFF2-40B4-BE49-F238E27FC236}">
                <a16:creationId xmlns:a16="http://schemas.microsoft.com/office/drawing/2014/main" id="{3274C153-0465-33F9-A02D-AEEC9280EC42}"/>
              </a:ext>
            </a:extLst>
          </p:cNvPr>
          <p:cNvCxnSpPr/>
          <p:nvPr/>
        </p:nvCxnSpPr>
        <p:spPr>
          <a:xfrm>
            <a:off x="1651000" y="4191000"/>
            <a:ext cx="9652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6B92C0B4-FE05-A9E0-6809-5A35347C2ADD}"/>
              </a:ext>
            </a:extLst>
          </p:cNvPr>
          <p:cNvCxnSpPr/>
          <p:nvPr/>
        </p:nvCxnSpPr>
        <p:spPr>
          <a:xfrm flipV="1">
            <a:off x="1651000" y="3302000"/>
            <a:ext cx="0" cy="88900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E5D237E2-35A9-4212-4865-6D79E594105F}"/>
              </a:ext>
            </a:extLst>
          </p:cNvPr>
          <p:cNvCxnSpPr/>
          <p:nvPr/>
        </p:nvCxnSpPr>
        <p:spPr>
          <a:xfrm flipH="1">
            <a:off x="1168400" y="4191000"/>
            <a:ext cx="482600" cy="40640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12" name="text_11">
            <a:extLst>
              <a:ext uri="{FF2B5EF4-FFF2-40B4-BE49-F238E27FC236}">
                <a16:creationId xmlns:a16="http://schemas.microsoft.com/office/drawing/2014/main" id="{18EDC697-333B-E18D-2DA8-74BB73E10148}"/>
              </a:ext>
            </a:extLst>
          </p:cNvPr>
          <p:cNvSpPr txBox="1"/>
          <p:nvPr/>
        </p:nvSpPr>
        <p:spPr>
          <a:xfrm>
            <a:off x="2641600" y="4000499"/>
            <a:ext cx="381000" cy="444500"/>
          </a:xfrm>
          <a:prstGeom prst="rect">
            <a:avLst/>
          </a:prstGeom>
          <a:noFill/>
        </p:spPr>
        <p:txBody>
          <a:bodyPr vert="horz" wrap="square" lIns="0" tIns="0" rIns="0" bIns="0" rtlCol="0" anchor="t">
            <a:noAutofit/>
          </a:bodyPr>
          <a:lstStyle/>
          <a:p>
            <a:r>
              <a:rPr lang="en-IL" sz="2400">
                <a:solidFill>
                  <a:srgbClr val="2459D3"/>
                </a:solidFill>
                <a:latin typeface="Aptos" panose="020B0004020202020204" pitchFamily="34" charset="0"/>
              </a:rPr>
              <a:t>x</a:t>
            </a:r>
          </a:p>
        </p:txBody>
      </p:sp>
      <p:sp>
        <p:nvSpPr>
          <p:cNvPr id="13" name="text_12">
            <a:extLst>
              <a:ext uri="{FF2B5EF4-FFF2-40B4-BE49-F238E27FC236}">
                <a16:creationId xmlns:a16="http://schemas.microsoft.com/office/drawing/2014/main" id="{72D85366-BB2B-8AF7-687F-BF07159BB7AC}"/>
              </a:ext>
            </a:extLst>
          </p:cNvPr>
          <p:cNvSpPr txBox="1"/>
          <p:nvPr/>
        </p:nvSpPr>
        <p:spPr>
          <a:xfrm>
            <a:off x="1498600" y="2857499"/>
            <a:ext cx="381000" cy="444500"/>
          </a:xfrm>
          <a:prstGeom prst="rect">
            <a:avLst/>
          </a:prstGeom>
          <a:noFill/>
        </p:spPr>
        <p:txBody>
          <a:bodyPr vert="horz" wrap="square" lIns="0" tIns="0" rIns="0" bIns="0" rtlCol="0" anchor="t">
            <a:noAutofit/>
          </a:bodyPr>
          <a:lstStyle/>
          <a:p>
            <a:r>
              <a:rPr lang="en-IL" sz="2400">
                <a:solidFill>
                  <a:srgbClr val="2459D3"/>
                </a:solidFill>
                <a:latin typeface="Aptos" panose="020B0004020202020204" pitchFamily="34" charset="0"/>
              </a:rPr>
              <a:t>z</a:t>
            </a:r>
          </a:p>
        </p:txBody>
      </p:sp>
      <p:sp>
        <p:nvSpPr>
          <p:cNvPr id="14" name="text_13">
            <a:extLst>
              <a:ext uri="{FF2B5EF4-FFF2-40B4-BE49-F238E27FC236}">
                <a16:creationId xmlns:a16="http://schemas.microsoft.com/office/drawing/2014/main" id="{1FD7CE95-A5CB-0A1A-BAAE-1FCFF23D2AAA}"/>
              </a:ext>
            </a:extLst>
          </p:cNvPr>
          <p:cNvSpPr txBox="1"/>
          <p:nvPr/>
        </p:nvSpPr>
        <p:spPr>
          <a:xfrm>
            <a:off x="812800" y="4444999"/>
            <a:ext cx="381000" cy="444500"/>
          </a:xfrm>
          <a:prstGeom prst="rect">
            <a:avLst/>
          </a:prstGeom>
          <a:noFill/>
        </p:spPr>
        <p:txBody>
          <a:bodyPr vert="horz" wrap="square" lIns="0" tIns="0" rIns="0" bIns="0" rtlCol="0" anchor="t">
            <a:noAutofit/>
          </a:bodyPr>
          <a:lstStyle/>
          <a:p>
            <a:r>
              <a:rPr lang="en-IL" sz="2400">
                <a:solidFill>
                  <a:srgbClr val="2459D3"/>
                </a:solidFill>
                <a:latin typeface="Aptos" panose="020B0004020202020204" pitchFamily="34" charset="0"/>
              </a:rPr>
              <a:t>y</a:t>
            </a:r>
          </a:p>
        </p:txBody>
      </p:sp>
      <p:sp>
        <p:nvSpPr>
          <p:cNvPr id="15" name="text_14">
            <a:extLst>
              <a:ext uri="{FF2B5EF4-FFF2-40B4-BE49-F238E27FC236}">
                <a16:creationId xmlns:a16="http://schemas.microsoft.com/office/drawing/2014/main" id="{08F1E893-56DD-8D77-7FDE-237996DE86FF}"/>
              </a:ext>
            </a:extLst>
          </p:cNvPr>
          <p:cNvSpPr txBox="1"/>
          <p:nvPr/>
        </p:nvSpPr>
        <p:spPr>
          <a:xfrm>
            <a:off x="1117600" y="5016499"/>
            <a:ext cx="2286000" cy="4826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world</a:t>
            </a:r>
          </a:p>
        </p:txBody>
      </p:sp>
      <p:sp>
        <p:nvSpPr>
          <p:cNvPr id="16" name="Oval 15">
            <a:extLst>
              <a:ext uri="{FF2B5EF4-FFF2-40B4-BE49-F238E27FC236}">
                <a16:creationId xmlns:a16="http://schemas.microsoft.com/office/drawing/2014/main" id="{8BC4F9C1-839A-6421-4CCD-0629FA9BFB34}"/>
              </a:ext>
            </a:extLst>
          </p:cNvPr>
          <p:cNvSpPr/>
          <p:nvPr/>
        </p:nvSpPr>
        <p:spPr>
          <a:xfrm>
            <a:off x="5041900" y="4140200"/>
            <a:ext cx="101600" cy="1016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17" name="Straight Connector 16">
            <a:extLst>
              <a:ext uri="{FF2B5EF4-FFF2-40B4-BE49-F238E27FC236}">
                <a16:creationId xmlns:a16="http://schemas.microsoft.com/office/drawing/2014/main" id="{5A224B35-B6BA-91B2-0301-59CD0D7BBA3C}"/>
              </a:ext>
            </a:extLst>
          </p:cNvPr>
          <p:cNvCxnSpPr/>
          <p:nvPr/>
        </p:nvCxnSpPr>
        <p:spPr>
          <a:xfrm>
            <a:off x="5092700" y="4191000"/>
            <a:ext cx="9652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C543FAF1-5088-68D3-9CB9-E890A76C3FD2}"/>
              </a:ext>
            </a:extLst>
          </p:cNvPr>
          <p:cNvCxnSpPr/>
          <p:nvPr/>
        </p:nvCxnSpPr>
        <p:spPr>
          <a:xfrm flipV="1">
            <a:off x="5092700" y="3302000"/>
            <a:ext cx="0" cy="88900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93A2FC5-6DBB-A87D-B4C3-32D1B19CEE41}"/>
              </a:ext>
            </a:extLst>
          </p:cNvPr>
          <p:cNvCxnSpPr/>
          <p:nvPr/>
        </p:nvCxnSpPr>
        <p:spPr>
          <a:xfrm flipH="1">
            <a:off x="4610100" y="4191000"/>
            <a:ext cx="482600" cy="40640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20" name="text_19">
            <a:extLst>
              <a:ext uri="{FF2B5EF4-FFF2-40B4-BE49-F238E27FC236}">
                <a16:creationId xmlns:a16="http://schemas.microsoft.com/office/drawing/2014/main" id="{0CDD26C2-818A-6DB1-F3D9-89FAB86D660D}"/>
              </a:ext>
            </a:extLst>
          </p:cNvPr>
          <p:cNvSpPr txBox="1"/>
          <p:nvPr/>
        </p:nvSpPr>
        <p:spPr>
          <a:xfrm>
            <a:off x="6083300" y="4000499"/>
            <a:ext cx="381000" cy="444500"/>
          </a:xfrm>
          <a:prstGeom prst="rect">
            <a:avLst/>
          </a:prstGeom>
          <a:noFill/>
        </p:spPr>
        <p:txBody>
          <a:bodyPr vert="horz" wrap="square" lIns="0" tIns="0" rIns="0" bIns="0" rtlCol="0" anchor="t">
            <a:noAutofit/>
          </a:bodyPr>
          <a:lstStyle/>
          <a:p>
            <a:r>
              <a:rPr lang="en-IL" sz="2400">
                <a:solidFill>
                  <a:srgbClr val="137F79"/>
                </a:solidFill>
                <a:latin typeface="Aptos" panose="020B0004020202020204" pitchFamily="34" charset="0"/>
              </a:rPr>
              <a:t>x</a:t>
            </a:r>
          </a:p>
        </p:txBody>
      </p:sp>
      <p:sp>
        <p:nvSpPr>
          <p:cNvPr id="21" name="text_20">
            <a:extLst>
              <a:ext uri="{FF2B5EF4-FFF2-40B4-BE49-F238E27FC236}">
                <a16:creationId xmlns:a16="http://schemas.microsoft.com/office/drawing/2014/main" id="{0E0E64AF-2287-E0B1-4D98-13876F9FEDCA}"/>
              </a:ext>
            </a:extLst>
          </p:cNvPr>
          <p:cNvSpPr txBox="1"/>
          <p:nvPr/>
        </p:nvSpPr>
        <p:spPr>
          <a:xfrm>
            <a:off x="4940300" y="2857499"/>
            <a:ext cx="381000" cy="444500"/>
          </a:xfrm>
          <a:prstGeom prst="rect">
            <a:avLst/>
          </a:prstGeom>
          <a:noFill/>
        </p:spPr>
        <p:txBody>
          <a:bodyPr vert="horz" wrap="square" lIns="0" tIns="0" rIns="0" bIns="0" rtlCol="0" anchor="t">
            <a:noAutofit/>
          </a:bodyPr>
          <a:lstStyle/>
          <a:p>
            <a:r>
              <a:rPr lang="en-IL" sz="2400">
                <a:solidFill>
                  <a:srgbClr val="137F79"/>
                </a:solidFill>
                <a:latin typeface="Aptos" panose="020B0004020202020204" pitchFamily="34" charset="0"/>
              </a:rPr>
              <a:t>z</a:t>
            </a:r>
          </a:p>
        </p:txBody>
      </p:sp>
      <p:sp>
        <p:nvSpPr>
          <p:cNvPr id="22" name="text_21">
            <a:extLst>
              <a:ext uri="{FF2B5EF4-FFF2-40B4-BE49-F238E27FC236}">
                <a16:creationId xmlns:a16="http://schemas.microsoft.com/office/drawing/2014/main" id="{8249DB49-3CFC-E21C-3460-B0FBDCF743A6}"/>
              </a:ext>
            </a:extLst>
          </p:cNvPr>
          <p:cNvSpPr txBox="1"/>
          <p:nvPr/>
        </p:nvSpPr>
        <p:spPr>
          <a:xfrm>
            <a:off x="4254500" y="4444999"/>
            <a:ext cx="381000" cy="444500"/>
          </a:xfrm>
          <a:prstGeom prst="rect">
            <a:avLst/>
          </a:prstGeom>
          <a:noFill/>
        </p:spPr>
        <p:txBody>
          <a:bodyPr vert="horz" wrap="square" lIns="0" tIns="0" rIns="0" bIns="0" rtlCol="0" anchor="t">
            <a:noAutofit/>
          </a:bodyPr>
          <a:lstStyle/>
          <a:p>
            <a:r>
              <a:rPr lang="en-IL" sz="2400">
                <a:solidFill>
                  <a:srgbClr val="137F79"/>
                </a:solidFill>
                <a:latin typeface="Aptos" panose="020B0004020202020204" pitchFamily="34" charset="0"/>
              </a:rPr>
              <a:t>y</a:t>
            </a:r>
          </a:p>
        </p:txBody>
      </p:sp>
      <p:sp>
        <p:nvSpPr>
          <p:cNvPr id="23" name="text_22">
            <a:extLst>
              <a:ext uri="{FF2B5EF4-FFF2-40B4-BE49-F238E27FC236}">
                <a16:creationId xmlns:a16="http://schemas.microsoft.com/office/drawing/2014/main" id="{FF778350-4DA3-43E3-E52B-B65952A70414}"/>
              </a:ext>
            </a:extLst>
          </p:cNvPr>
          <p:cNvSpPr txBox="1"/>
          <p:nvPr/>
        </p:nvSpPr>
        <p:spPr>
          <a:xfrm>
            <a:off x="4559300" y="5016499"/>
            <a:ext cx="2286000" cy="4826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robot</a:t>
            </a:r>
          </a:p>
        </p:txBody>
      </p:sp>
      <p:sp>
        <p:nvSpPr>
          <p:cNvPr id="24" name="Oval 23">
            <a:extLst>
              <a:ext uri="{FF2B5EF4-FFF2-40B4-BE49-F238E27FC236}">
                <a16:creationId xmlns:a16="http://schemas.microsoft.com/office/drawing/2014/main" id="{4A5925CD-A85B-AD6B-9A79-40E8529B9222}"/>
              </a:ext>
            </a:extLst>
          </p:cNvPr>
          <p:cNvSpPr/>
          <p:nvPr/>
        </p:nvSpPr>
        <p:spPr>
          <a:xfrm>
            <a:off x="8763000" y="4140200"/>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25" name="Straight Connector 24">
            <a:extLst>
              <a:ext uri="{FF2B5EF4-FFF2-40B4-BE49-F238E27FC236}">
                <a16:creationId xmlns:a16="http://schemas.microsoft.com/office/drawing/2014/main" id="{F87FA47C-9C34-FE27-9B9D-CEFAB78A4E77}"/>
              </a:ext>
            </a:extLst>
          </p:cNvPr>
          <p:cNvCxnSpPr/>
          <p:nvPr/>
        </p:nvCxnSpPr>
        <p:spPr>
          <a:xfrm>
            <a:off x="8813800" y="4191000"/>
            <a:ext cx="9652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831D41F6-A39E-AA62-A0E4-6A061E9F49AE}"/>
              </a:ext>
            </a:extLst>
          </p:cNvPr>
          <p:cNvCxnSpPr/>
          <p:nvPr/>
        </p:nvCxnSpPr>
        <p:spPr>
          <a:xfrm flipV="1">
            <a:off x="8813800" y="3302000"/>
            <a:ext cx="0" cy="88900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CFCB69ED-7C44-D67A-D0BC-3C5D56D11DA3}"/>
              </a:ext>
            </a:extLst>
          </p:cNvPr>
          <p:cNvCxnSpPr/>
          <p:nvPr/>
        </p:nvCxnSpPr>
        <p:spPr>
          <a:xfrm flipH="1">
            <a:off x="8331200" y="4191000"/>
            <a:ext cx="482600" cy="40640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28" name="text_27">
            <a:extLst>
              <a:ext uri="{FF2B5EF4-FFF2-40B4-BE49-F238E27FC236}">
                <a16:creationId xmlns:a16="http://schemas.microsoft.com/office/drawing/2014/main" id="{C289C86E-7A2D-37EE-E9FE-5B0A5D2DDC69}"/>
              </a:ext>
            </a:extLst>
          </p:cNvPr>
          <p:cNvSpPr txBox="1"/>
          <p:nvPr/>
        </p:nvSpPr>
        <p:spPr>
          <a:xfrm>
            <a:off x="9804400" y="4000499"/>
            <a:ext cx="381000" cy="444500"/>
          </a:xfrm>
          <a:prstGeom prst="rect">
            <a:avLst/>
          </a:prstGeom>
          <a:noFill/>
        </p:spPr>
        <p:txBody>
          <a:bodyPr vert="horz" wrap="square" lIns="0" tIns="0" rIns="0" bIns="0" rtlCol="0" anchor="t">
            <a:noAutofit/>
          </a:bodyPr>
          <a:lstStyle/>
          <a:p>
            <a:r>
              <a:rPr lang="en-IL" sz="2400">
                <a:solidFill>
                  <a:srgbClr val="2459D3"/>
                </a:solidFill>
                <a:latin typeface="Aptos" panose="020B0004020202020204" pitchFamily="34" charset="0"/>
              </a:rPr>
              <a:t>x</a:t>
            </a:r>
          </a:p>
        </p:txBody>
      </p:sp>
      <p:sp>
        <p:nvSpPr>
          <p:cNvPr id="29" name="text_28">
            <a:extLst>
              <a:ext uri="{FF2B5EF4-FFF2-40B4-BE49-F238E27FC236}">
                <a16:creationId xmlns:a16="http://schemas.microsoft.com/office/drawing/2014/main" id="{53210F9B-43C9-9CEA-2669-229ABDBDB79B}"/>
              </a:ext>
            </a:extLst>
          </p:cNvPr>
          <p:cNvSpPr txBox="1"/>
          <p:nvPr/>
        </p:nvSpPr>
        <p:spPr>
          <a:xfrm>
            <a:off x="8661400" y="2857499"/>
            <a:ext cx="381000" cy="444500"/>
          </a:xfrm>
          <a:prstGeom prst="rect">
            <a:avLst/>
          </a:prstGeom>
          <a:noFill/>
        </p:spPr>
        <p:txBody>
          <a:bodyPr vert="horz" wrap="square" lIns="0" tIns="0" rIns="0" bIns="0" rtlCol="0" anchor="t">
            <a:noAutofit/>
          </a:bodyPr>
          <a:lstStyle/>
          <a:p>
            <a:r>
              <a:rPr lang="en-IL" sz="2400">
                <a:solidFill>
                  <a:srgbClr val="2459D3"/>
                </a:solidFill>
                <a:latin typeface="Aptos" panose="020B0004020202020204" pitchFamily="34" charset="0"/>
              </a:rPr>
              <a:t>z</a:t>
            </a:r>
          </a:p>
        </p:txBody>
      </p:sp>
      <p:sp>
        <p:nvSpPr>
          <p:cNvPr id="30" name="text_29">
            <a:extLst>
              <a:ext uri="{FF2B5EF4-FFF2-40B4-BE49-F238E27FC236}">
                <a16:creationId xmlns:a16="http://schemas.microsoft.com/office/drawing/2014/main" id="{91A20264-13DA-D343-67AE-1A0CEFFC3CB3}"/>
              </a:ext>
            </a:extLst>
          </p:cNvPr>
          <p:cNvSpPr txBox="1"/>
          <p:nvPr/>
        </p:nvSpPr>
        <p:spPr>
          <a:xfrm>
            <a:off x="7975600" y="4444999"/>
            <a:ext cx="381000" cy="444500"/>
          </a:xfrm>
          <a:prstGeom prst="rect">
            <a:avLst/>
          </a:prstGeom>
          <a:noFill/>
        </p:spPr>
        <p:txBody>
          <a:bodyPr vert="horz" wrap="square" lIns="0" tIns="0" rIns="0" bIns="0" rtlCol="0" anchor="t">
            <a:noAutofit/>
          </a:bodyPr>
          <a:lstStyle/>
          <a:p>
            <a:r>
              <a:rPr lang="en-IL" sz="2400">
                <a:solidFill>
                  <a:srgbClr val="2459D3"/>
                </a:solidFill>
                <a:latin typeface="Aptos" panose="020B0004020202020204" pitchFamily="34" charset="0"/>
              </a:rPr>
              <a:t>y</a:t>
            </a:r>
          </a:p>
        </p:txBody>
      </p:sp>
      <p:sp>
        <p:nvSpPr>
          <p:cNvPr id="31" name="text_30">
            <a:extLst>
              <a:ext uri="{FF2B5EF4-FFF2-40B4-BE49-F238E27FC236}">
                <a16:creationId xmlns:a16="http://schemas.microsoft.com/office/drawing/2014/main" id="{7726B8C9-1BF0-B5CD-19E3-534D073C35AB}"/>
              </a:ext>
            </a:extLst>
          </p:cNvPr>
          <p:cNvSpPr txBox="1"/>
          <p:nvPr/>
        </p:nvSpPr>
        <p:spPr>
          <a:xfrm>
            <a:off x="8280400" y="5016499"/>
            <a:ext cx="2286000" cy="4826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camera</a:t>
            </a:r>
          </a:p>
        </p:txBody>
      </p:sp>
      <p:sp>
        <p:nvSpPr>
          <p:cNvPr id="32" name="Oval 31">
            <a:extLst>
              <a:ext uri="{FF2B5EF4-FFF2-40B4-BE49-F238E27FC236}">
                <a16:creationId xmlns:a16="http://schemas.microsoft.com/office/drawing/2014/main" id="{9DB7910B-F39D-F461-006B-03C286AF70D2}"/>
              </a:ext>
            </a:extLst>
          </p:cNvPr>
          <p:cNvSpPr/>
          <p:nvPr/>
        </p:nvSpPr>
        <p:spPr>
          <a:xfrm>
            <a:off x="10388600" y="2641600"/>
            <a:ext cx="304800" cy="304800"/>
          </a:xfrm>
          <a:prstGeom prst="ellipse">
            <a:avLst/>
          </a:prstGeom>
          <a:solidFill>
            <a:srgbClr val="AE651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3" name="text_32">
            <a:extLst>
              <a:ext uri="{FF2B5EF4-FFF2-40B4-BE49-F238E27FC236}">
                <a16:creationId xmlns:a16="http://schemas.microsoft.com/office/drawing/2014/main" id="{EF295984-707E-5AE1-1F1C-BC90835EC4CC}"/>
              </a:ext>
            </a:extLst>
          </p:cNvPr>
          <p:cNvSpPr txBox="1"/>
          <p:nvPr/>
        </p:nvSpPr>
        <p:spPr>
          <a:xfrm>
            <a:off x="9474200" y="2324099"/>
            <a:ext cx="2032000" cy="444500"/>
          </a:xfrm>
          <a:prstGeom prst="rect">
            <a:avLst/>
          </a:prstGeom>
          <a:noFill/>
        </p:spPr>
        <p:txBody>
          <a:bodyPr vert="horz" wrap="square" lIns="0" tIns="0" rIns="0" bIns="0" rtlCol="0" anchor="t">
            <a:noAutofit/>
          </a:bodyPr>
          <a:lstStyle/>
          <a:p>
            <a:r>
              <a:rPr lang="en-IL" sz="2400" b="1">
                <a:solidFill>
                  <a:srgbClr val="AE651D"/>
                </a:solidFill>
                <a:latin typeface="Aptos" panose="020B0004020202020204" pitchFamily="34" charset="0"/>
              </a:rPr>
              <a:t>same target</a:t>
            </a:r>
          </a:p>
        </p:txBody>
      </p:sp>
      <p:cxnSp>
        <p:nvCxnSpPr>
          <p:cNvPr id="34" name="Straight Connector 33">
            <a:extLst>
              <a:ext uri="{FF2B5EF4-FFF2-40B4-BE49-F238E27FC236}">
                <a16:creationId xmlns:a16="http://schemas.microsoft.com/office/drawing/2014/main" id="{3C780171-1920-29A6-0472-6D40E91B3ECF}"/>
              </a:ext>
            </a:extLst>
          </p:cNvPr>
          <p:cNvCxnSpPr/>
          <p:nvPr/>
        </p:nvCxnSpPr>
        <p:spPr>
          <a:xfrm flipV="1">
            <a:off x="1651000" y="2844800"/>
            <a:ext cx="8813800" cy="134620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7C018471-6B2A-A3F8-8066-D93B6E089B43}"/>
              </a:ext>
            </a:extLst>
          </p:cNvPr>
          <p:cNvCxnSpPr/>
          <p:nvPr/>
        </p:nvCxnSpPr>
        <p:spPr>
          <a:xfrm flipV="1">
            <a:off x="5092700" y="2844800"/>
            <a:ext cx="5372100" cy="134620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23892E84-9766-27F8-8C0E-A35550D689BC}"/>
              </a:ext>
            </a:extLst>
          </p:cNvPr>
          <p:cNvCxnSpPr/>
          <p:nvPr/>
        </p:nvCxnSpPr>
        <p:spPr>
          <a:xfrm flipV="1">
            <a:off x="8813800" y="2844800"/>
            <a:ext cx="1651000" cy="134620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sp>
        <p:nvSpPr>
          <p:cNvPr id="37" name="text_36">
            <a:extLst>
              <a:ext uri="{FF2B5EF4-FFF2-40B4-BE49-F238E27FC236}">
                <a16:creationId xmlns:a16="http://schemas.microsoft.com/office/drawing/2014/main" id="{A5AC4EF7-F011-B076-DECB-F0CFF7ABD6BA}"/>
              </a:ext>
            </a:extLst>
          </p:cNvPr>
          <p:cNvSpPr txBox="1"/>
          <p:nvPr/>
        </p:nvSpPr>
        <p:spPr>
          <a:xfrm>
            <a:off x="685800" y="5587999"/>
            <a:ext cx="10820400" cy="508000"/>
          </a:xfrm>
          <a:prstGeom prst="rect">
            <a:avLst/>
          </a:prstGeom>
          <a:noFill/>
        </p:spPr>
        <p:txBody>
          <a:bodyPr vert="horz" wrap="square" lIns="0" tIns="0" rIns="0" bIns="0" rtlCol="0" anchor="t">
            <a:noAutofit/>
          </a:bodyPr>
          <a:lstStyle/>
          <a:p>
            <a:r>
              <a:rPr lang="en-US" sz="2600">
                <a:solidFill>
                  <a:srgbClr val="15283B"/>
                </a:solidFill>
                <a:latin typeface="Aptos" panose="020B0004020202020204" pitchFamily="34" charset="0"/>
              </a:rPr>
              <a:t>A camera measurement needs a robot-frame destination.</a:t>
            </a:r>
            <a:endParaRPr lang="en-IL" sz="2600">
              <a:solidFill>
                <a:srgbClr val="15283B"/>
              </a:solidFill>
              <a:latin typeface="Aptos" panose="020B0004020202020204" pitchFamily="34" charset="0"/>
            </a:endParaRPr>
          </a:p>
        </p:txBody>
      </p:sp>
    </p:spTree>
    <p:extLst>
      <p:ext uri="{BB962C8B-B14F-4D97-AF65-F5344CB8AC3E}">
        <p14:creationId xmlns:p14="http://schemas.microsoft.com/office/powerpoint/2010/main" val="3535210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1B12270D-718C-7F3A-DE12-1CFC84D9D561}"/>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02 / COORDINATE FRAMES</a:t>
            </a:r>
          </a:p>
        </p:txBody>
      </p:sp>
      <p:sp>
        <p:nvSpPr>
          <p:cNvPr id="3" name="text_2">
            <a:extLst>
              <a:ext uri="{FF2B5EF4-FFF2-40B4-BE49-F238E27FC236}">
                <a16:creationId xmlns:a16="http://schemas.microsoft.com/office/drawing/2014/main" id="{4855E0AA-FC8F-3CA0-6427-F63AD078E086}"/>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What are TF and tf2?</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8F376E5E-D016-D7C7-B995-5817A7A1D5CB}"/>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 geometric relationship, managed by a ROS 2 library.</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12207A10-0AA9-5513-8866-89EB18BCC2A2}"/>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29EA339C-DCFB-558A-9124-D30E03EB0C71}"/>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B535CDC5-F7CA-0576-6AB6-29DA3BB7026D}"/>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03</a:t>
            </a:r>
          </a:p>
        </p:txBody>
      </p:sp>
      <p:sp>
        <p:nvSpPr>
          <p:cNvPr id="17" name="Rectangle: Rounded Corners 16">
            <a:extLst>
              <a:ext uri="{FF2B5EF4-FFF2-40B4-BE49-F238E27FC236}">
                <a16:creationId xmlns:a16="http://schemas.microsoft.com/office/drawing/2014/main" id="{006A7DB6-80B9-3A07-BFCD-B0553A90BDBC}"/>
              </a:ext>
            </a:extLst>
          </p:cNvPr>
          <p:cNvSpPr/>
          <p:nvPr/>
        </p:nvSpPr>
        <p:spPr>
          <a:xfrm>
            <a:off x="685800" y="2514600"/>
            <a:ext cx="5207000" cy="28448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Rectangle: Rounded Corners 17">
            <a:extLst>
              <a:ext uri="{FF2B5EF4-FFF2-40B4-BE49-F238E27FC236}">
                <a16:creationId xmlns:a16="http://schemas.microsoft.com/office/drawing/2014/main" id="{ED769D10-C96D-7235-7585-6254951B0D24}"/>
              </a:ext>
            </a:extLst>
          </p:cNvPr>
          <p:cNvSpPr/>
          <p:nvPr/>
        </p:nvSpPr>
        <p:spPr>
          <a:xfrm>
            <a:off x="6172200" y="2514600"/>
            <a:ext cx="5334000" cy="28448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updated_text_9">
            <a:extLst>
              <a:ext uri="{FF2B5EF4-FFF2-40B4-BE49-F238E27FC236}">
                <a16:creationId xmlns:a16="http://schemas.microsoft.com/office/drawing/2014/main" id="{F1FC1CB0-ED20-6A2A-744A-6C90C5B951EB}"/>
              </a:ext>
            </a:extLst>
          </p:cNvPr>
          <p:cNvSpPr txBox="1"/>
          <p:nvPr/>
        </p:nvSpPr>
        <p:spPr>
          <a:xfrm>
            <a:off x="914400" y="2679699"/>
            <a:ext cx="4749800" cy="482600"/>
          </a:xfrm>
          <a:prstGeom prst="rect">
            <a:avLst/>
          </a:prstGeom>
          <a:noFill/>
        </p:spPr>
        <p:txBody>
          <a:bodyPr vert="horz" wrap="square" lIns="0" tIns="0" rIns="0" bIns="0" rtlCol="0" anchor="t">
            <a:noAutofit/>
          </a:bodyPr>
          <a:lstStyle/>
          <a:p>
            <a:r>
              <a:rPr lang="en-IL" sz="2700" b="1">
                <a:solidFill>
                  <a:srgbClr val="2459D3"/>
                </a:solidFill>
                <a:latin typeface="Aptos" panose="020B0004020202020204" pitchFamily="34" charset="0"/>
              </a:rPr>
              <a:t>Transform (TF) · mathematics</a:t>
            </a:r>
          </a:p>
        </p:txBody>
      </p:sp>
      <p:sp>
        <p:nvSpPr>
          <p:cNvPr id="20" name="updated_text_10">
            <a:extLst>
              <a:ext uri="{FF2B5EF4-FFF2-40B4-BE49-F238E27FC236}">
                <a16:creationId xmlns:a16="http://schemas.microsoft.com/office/drawing/2014/main" id="{DBA0DEA9-3302-67B4-B70E-24B8BA0721FE}"/>
              </a:ext>
            </a:extLst>
          </p:cNvPr>
          <p:cNvSpPr txBox="1"/>
          <p:nvPr/>
        </p:nvSpPr>
        <p:spPr>
          <a:xfrm>
            <a:off x="914400" y="3263899"/>
            <a:ext cx="4749800" cy="11430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Relationship between frames
Rotation + translation
Converts point coordinates</a:t>
            </a:r>
            <a:endParaRPr lang="en-IL" sz="2400">
              <a:solidFill>
                <a:srgbClr val="15283B"/>
              </a:solidFill>
              <a:latin typeface="Aptos" panose="020B0004020202020204" pitchFamily="34" charset="0"/>
            </a:endParaRPr>
          </a:p>
        </p:txBody>
      </p:sp>
      <p:sp>
        <p:nvSpPr>
          <p:cNvPr id="21" name="updated_text_11">
            <a:extLst>
              <a:ext uri="{FF2B5EF4-FFF2-40B4-BE49-F238E27FC236}">
                <a16:creationId xmlns:a16="http://schemas.microsoft.com/office/drawing/2014/main" id="{E9B2E8CB-9D4B-1C9E-B260-DE826249AD12}"/>
              </a:ext>
            </a:extLst>
          </p:cNvPr>
          <p:cNvSpPr txBox="1"/>
          <p:nvPr/>
        </p:nvSpPr>
        <p:spPr>
          <a:xfrm>
            <a:off x="914400" y="4622799"/>
            <a:ext cx="4749800" cy="609600"/>
          </a:xfrm>
          <a:prstGeom prst="rect">
            <a:avLst/>
          </a:prstGeom>
          <a:noFill/>
        </p:spPr>
        <p:txBody>
          <a:bodyPr vert="horz" wrap="square" lIns="0" tIns="0" rIns="0" bIns="0" rtlCol="0" anchor="t">
            <a:noAutofit/>
          </a:bodyPr>
          <a:lstStyle/>
          <a:p>
            <a:r>
              <a:rPr lang="en-IL" sz="2160" baseline="32000">
                <a:solidFill>
                  <a:srgbClr val="2459D3"/>
                </a:solidFill>
                <a:latin typeface="Cambria Math" panose="02040503050406030204" pitchFamily="18" charset="0"/>
              </a:rPr>
              <a:t>A</a:t>
            </a:r>
            <a:r>
              <a:rPr lang="en-IL" sz="3000">
                <a:solidFill>
                  <a:srgbClr val="2459D3"/>
                </a:solidFill>
                <a:latin typeface="Cambria Math" panose="02040503050406030204" pitchFamily="18" charset="0"/>
              </a:rPr>
              <a:t>p = </a:t>
            </a:r>
            <a:r>
              <a:rPr lang="en-IL" sz="2160" baseline="32000">
                <a:solidFill>
                  <a:srgbClr val="2459D3"/>
                </a:solidFill>
                <a:latin typeface="Cambria Math" panose="02040503050406030204" pitchFamily="18" charset="0"/>
              </a:rPr>
              <a:t>A</a:t>
            </a:r>
            <a:r>
              <a:rPr lang="en-IL" sz="3000">
                <a:solidFill>
                  <a:srgbClr val="2459D3"/>
                </a:solidFill>
                <a:latin typeface="Cambria Math" panose="02040503050406030204" pitchFamily="18" charset="0"/>
              </a:rPr>
              <a:t>R</a:t>
            </a:r>
            <a:r>
              <a:rPr lang="en-IL" sz="2160" baseline="-22000">
                <a:solidFill>
                  <a:srgbClr val="2459D3"/>
                </a:solidFill>
                <a:latin typeface="Cambria Math" panose="02040503050406030204" pitchFamily="18" charset="0"/>
              </a:rPr>
              <a:t>B</a:t>
            </a:r>
            <a:r>
              <a:rPr lang="en-IL" sz="3000">
                <a:solidFill>
                  <a:srgbClr val="2459D3"/>
                </a:solidFill>
                <a:latin typeface="Cambria Math" panose="02040503050406030204" pitchFamily="18" charset="0"/>
              </a:rPr>
              <a:t> </a:t>
            </a:r>
            <a:r>
              <a:rPr lang="en-IL" sz="2160" baseline="32000">
                <a:solidFill>
                  <a:srgbClr val="2459D3"/>
                </a:solidFill>
                <a:latin typeface="Cambria Math" panose="02040503050406030204" pitchFamily="18" charset="0"/>
              </a:rPr>
              <a:t>B</a:t>
            </a:r>
            <a:r>
              <a:rPr lang="en-IL" sz="3000">
                <a:solidFill>
                  <a:srgbClr val="2459D3"/>
                </a:solidFill>
                <a:latin typeface="Cambria Math" panose="02040503050406030204" pitchFamily="18" charset="0"/>
              </a:rPr>
              <a:t>p + </a:t>
            </a:r>
            <a:r>
              <a:rPr lang="en-IL" sz="2160" baseline="32000">
                <a:solidFill>
                  <a:srgbClr val="2459D3"/>
                </a:solidFill>
                <a:latin typeface="Cambria Math" panose="02040503050406030204" pitchFamily="18" charset="0"/>
              </a:rPr>
              <a:t>A</a:t>
            </a:r>
            <a:r>
              <a:rPr lang="en-IL" sz="3000">
                <a:solidFill>
                  <a:srgbClr val="2459D3"/>
                </a:solidFill>
                <a:latin typeface="Cambria Math" panose="02040503050406030204" pitchFamily="18" charset="0"/>
              </a:rPr>
              <a:t>t</a:t>
            </a:r>
            <a:r>
              <a:rPr lang="en-IL" sz="2160" baseline="-22000">
                <a:solidFill>
                  <a:srgbClr val="2459D3"/>
                </a:solidFill>
                <a:latin typeface="Cambria Math" panose="02040503050406030204" pitchFamily="18" charset="0"/>
              </a:rPr>
              <a:t>B</a:t>
            </a:r>
          </a:p>
        </p:txBody>
      </p:sp>
      <p:sp>
        <p:nvSpPr>
          <p:cNvPr id="22" name="updated_text_12">
            <a:extLst>
              <a:ext uri="{FF2B5EF4-FFF2-40B4-BE49-F238E27FC236}">
                <a16:creationId xmlns:a16="http://schemas.microsoft.com/office/drawing/2014/main" id="{29B9F6A3-5E79-378A-CACD-11823A7CCD8C}"/>
              </a:ext>
            </a:extLst>
          </p:cNvPr>
          <p:cNvSpPr txBox="1"/>
          <p:nvPr/>
        </p:nvSpPr>
        <p:spPr>
          <a:xfrm>
            <a:off x="6400800" y="2679699"/>
            <a:ext cx="4876800" cy="482600"/>
          </a:xfrm>
          <a:prstGeom prst="rect">
            <a:avLst/>
          </a:prstGeom>
          <a:noFill/>
        </p:spPr>
        <p:txBody>
          <a:bodyPr vert="horz" wrap="square" lIns="0" tIns="0" rIns="0" bIns="0" rtlCol="0" anchor="t">
            <a:noAutofit/>
          </a:bodyPr>
          <a:lstStyle/>
          <a:p>
            <a:r>
              <a:rPr lang="en-IL" sz="2700" b="1">
                <a:solidFill>
                  <a:srgbClr val="137F79"/>
                </a:solidFill>
                <a:latin typeface="Aptos" panose="020B0004020202020204" pitchFamily="34" charset="0"/>
              </a:rPr>
              <a:t>tf2 · ROS 2 library</a:t>
            </a:r>
          </a:p>
        </p:txBody>
      </p:sp>
      <p:sp>
        <p:nvSpPr>
          <p:cNvPr id="23" name="updated_text_13">
            <a:extLst>
              <a:ext uri="{FF2B5EF4-FFF2-40B4-BE49-F238E27FC236}">
                <a16:creationId xmlns:a16="http://schemas.microsoft.com/office/drawing/2014/main" id="{5624585A-A738-CA63-D76A-F25769468BF0}"/>
              </a:ext>
            </a:extLst>
          </p:cNvPr>
          <p:cNvSpPr txBox="1"/>
          <p:nvPr/>
        </p:nvSpPr>
        <p:spPr>
          <a:xfrm>
            <a:off x="6400800" y="3263899"/>
            <a:ext cx="4876800" cy="19050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Manages frame relationships
Static + time-dependent data
Looks up and applies transforms
Follows multi-frame chains</a:t>
            </a:r>
            <a:endParaRPr lang="en-IL" sz="2400">
              <a:solidFill>
                <a:srgbClr val="15283B"/>
              </a:solidFill>
              <a:latin typeface="Aptos" panose="020B0004020202020204" pitchFamily="34" charset="0"/>
            </a:endParaRPr>
          </a:p>
        </p:txBody>
      </p:sp>
      <p:sp>
        <p:nvSpPr>
          <p:cNvPr id="24" name="updated_text_14">
            <a:extLst>
              <a:ext uri="{FF2B5EF4-FFF2-40B4-BE49-F238E27FC236}">
                <a16:creationId xmlns:a16="http://schemas.microsoft.com/office/drawing/2014/main" id="{BBD3573D-EA88-7DF2-98D4-6CD3B6D7FE1A}"/>
              </a:ext>
            </a:extLst>
          </p:cNvPr>
          <p:cNvSpPr txBox="1"/>
          <p:nvPr/>
        </p:nvSpPr>
        <p:spPr>
          <a:xfrm>
            <a:off x="685800" y="5486399"/>
            <a:ext cx="10820400" cy="3810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Frame = origin + coordinate axes.</a:t>
            </a:r>
          </a:p>
        </p:txBody>
      </p:sp>
      <p:sp>
        <p:nvSpPr>
          <p:cNvPr id="25" name="updated_text_15">
            <a:extLst>
              <a:ext uri="{FF2B5EF4-FFF2-40B4-BE49-F238E27FC236}">
                <a16:creationId xmlns:a16="http://schemas.microsoft.com/office/drawing/2014/main" id="{9E98C040-66D5-73B0-1E15-EE4E34A66B9E}"/>
              </a:ext>
            </a:extLst>
          </p:cNvPr>
          <p:cNvSpPr txBox="1"/>
          <p:nvPr/>
        </p:nvSpPr>
        <p:spPr>
          <a:xfrm>
            <a:off x="685800" y="5816599"/>
            <a:ext cx="10820400" cy="419100"/>
          </a:xfrm>
          <a:prstGeom prst="rect">
            <a:avLst/>
          </a:prstGeom>
          <a:noFill/>
        </p:spPr>
        <p:txBody>
          <a:bodyPr vert="horz" wrap="square" lIns="0" tIns="0" rIns="0" bIns="0" rtlCol="0" anchor="t">
            <a:noAutofit/>
          </a:bodyPr>
          <a:lstStyle/>
          <a:p>
            <a:r>
              <a:rPr lang="en-US" sz="2400" b="1">
                <a:solidFill>
                  <a:srgbClr val="15283B"/>
                </a:solidFill>
                <a:latin typeface="Aptos" panose="020B0004020202020204" pitchFamily="34" charset="0"/>
              </a:rPr>
              <a:t>A transform is the mathematics; tf2 manages and applies it in ROS 2.</a:t>
            </a:r>
            <a:endParaRPr lang="en-IL" sz="2400" b="1">
              <a:solidFill>
                <a:srgbClr val="15283B"/>
              </a:solidFill>
              <a:latin typeface="Aptos" panose="020B0004020202020204" pitchFamily="34" charset="0"/>
            </a:endParaRPr>
          </a:p>
        </p:txBody>
      </p:sp>
    </p:spTree>
    <p:extLst>
      <p:ext uri="{BB962C8B-B14F-4D97-AF65-F5344CB8AC3E}">
        <p14:creationId xmlns:p14="http://schemas.microsoft.com/office/powerpoint/2010/main" val="2302760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85442A41-FCBD-3D87-6972-4DF3B0AF629D}"/>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02 / COORDINATE FRAMES</a:t>
            </a:r>
          </a:p>
        </p:txBody>
      </p:sp>
      <p:sp>
        <p:nvSpPr>
          <p:cNvPr id="3" name="text_2">
            <a:extLst>
              <a:ext uri="{FF2B5EF4-FFF2-40B4-BE49-F238E27FC236}">
                <a16:creationId xmlns:a16="http://schemas.microsoft.com/office/drawing/2014/main" id="{F7D5CCC0-9660-ED72-4514-91D17DB30838}"/>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Always check the conventions</a:t>
            </a:r>
          </a:p>
        </p:txBody>
      </p:sp>
      <p:sp>
        <p:nvSpPr>
          <p:cNvPr id="4" name="text_3">
            <a:extLst>
              <a:ext uri="{FF2B5EF4-FFF2-40B4-BE49-F238E27FC236}">
                <a16:creationId xmlns:a16="http://schemas.microsoft.com/office/drawing/2014/main" id="{54AAE71B-6AD6-94FA-0328-2D814D043889}"/>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ROS defines the standard. Always check the conventions you use.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6CAC0478-1FD7-70FB-2677-E2B6FCE0A89E}"/>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6C96FF8A-DBF6-BE16-3262-FD4BB1D13436}"/>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7C0662FF-CD38-29A5-2FCB-D8690499D09E}"/>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04</a:t>
            </a:r>
          </a:p>
        </p:txBody>
      </p:sp>
      <p:sp>
        <p:nvSpPr>
          <p:cNvPr id="18" name="Rectangle: Rounded Corners 17">
            <a:extLst>
              <a:ext uri="{FF2B5EF4-FFF2-40B4-BE49-F238E27FC236}">
                <a16:creationId xmlns:a16="http://schemas.microsoft.com/office/drawing/2014/main" id="{581DD9F5-190C-E7B3-E60B-083E1750C700}"/>
              </a:ext>
            </a:extLst>
          </p:cNvPr>
          <p:cNvSpPr/>
          <p:nvPr/>
        </p:nvSpPr>
        <p:spPr>
          <a:xfrm>
            <a:off x="685800" y="2514600"/>
            <a:ext cx="3429000" cy="14859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Rectangle: Rounded Corners 18">
            <a:extLst>
              <a:ext uri="{FF2B5EF4-FFF2-40B4-BE49-F238E27FC236}">
                <a16:creationId xmlns:a16="http://schemas.microsoft.com/office/drawing/2014/main" id="{D237B5DA-D4E8-A55C-BAB4-F368639D62A4}"/>
              </a:ext>
            </a:extLst>
          </p:cNvPr>
          <p:cNvSpPr/>
          <p:nvPr/>
        </p:nvSpPr>
        <p:spPr>
          <a:xfrm>
            <a:off x="4381500" y="2514600"/>
            <a:ext cx="3429000" cy="14859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updated_text_9">
            <a:extLst>
              <a:ext uri="{FF2B5EF4-FFF2-40B4-BE49-F238E27FC236}">
                <a16:creationId xmlns:a16="http://schemas.microsoft.com/office/drawing/2014/main" id="{D5A6F600-6DA6-FB12-D6EF-9A77FEC5ACC9}"/>
              </a:ext>
            </a:extLst>
          </p:cNvPr>
          <p:cNvSpPr txBox="1"/>
          <p:nvPr/>
        </p:nvSpPr>
        <p:spPr>
          <a:xfrm>
            <a:off x="889000" y="2641599"/>
            <a:ext cx="3022600" cy="431800"/>
          </a:xfrm>
          <a:prstGeom prst="rect">
            <a:avLst/>
          </a:prstGeom>
          <a:noFill/>
        </p:spPr>
        <p:txBody>
          <a:bodyPr vert="horz" wrap="square" lIns="0" tIns="0" rIns="0" bIns="0" rtlCol="0" anchor="t">
            <a:noAutofit/>
          </a:bodyPr>
          <a:lstStyle/>
          <a:p>
            <a:r>
              <a:rPr lang="en-IL" sz="2700" b="1">
                <a:solidFill>
                  <a:srgbClr val="2459D3"/>
                </a:solidFill>
                <a:latin typeface="Aptos" panose="020B0004020202020204" pitchFamily="34" charset="0"/>
              </a:rPr>
              <a:t>ROS body</a:t>
            </a:r>
          </a:p>
        </p:txBody>
      </p:sp>
      <p:sp>
        <p:nvSpPr>
          <p:cNvPr id="21" name="updated_text_10">
            <a:extLst>
              <a:ext uri="{FF2B5EF4-FFF2-40B4-BE49-F238E27FC236}">
                <a16:creationId xmlns:a16="http://schemas.microsoft.com/office/drawing/2014/main" id="{36D4DB85-C213-5EFC-3C6A-766CF8730507}"/>
              </a:ext>
            </a:extLst>
          </p:cNvPr>
          <p:cNvSpPr txBox="1"/>
          <p:nvPr/>
        </p:nvSpPr>
        <p:spPr>
          <a:xfrm>
            <a:off x="889000" y="3174999"/>
            <a:ext cx="3022600" cy="7874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x forward · y left
z up</a:t>
            </a:r>
            <a:endParaRPr lang="en-IL" sz="2400">
              <a:solidFill>
                <a:srgbClr val="15283B"/>
              </a:solidFill>
              <a:latin typeface="Aptos" panose="020B0004020202020204" pitchFamily="34" charset="0"/>
            </a:endParaRPr>
          </a:p>
        </p:txBody>
      </p:sp>
      <p:sp>
        <p:nvSpPr>
          <p:cNvPr id="22" name="updated_text_11">
            <a:extLst>
              <a:ext uri="{FF2B5EF4-FFF2-40B4-BE49-F238E27FC236}">
                <a16:creationId xmlns:a16="http://schemas.microsoft.com/office/drawing/2014/main" id="{9A170B15-FB4D-9851-CD96-AFB7FAB4EC58}"/>
              </a:ext>
            </a:extLst>
          </p:cNvPr>
          <p:cNvSpPr txBox="1"/>
          <p:nvPr/>
        </p:nvSpPr>
        <p:spPr>
          <a:xfrm>
            <a:off x="4584700" y="2641599"/>
            <a:ext cx="3022600" cy="431800"/>
          </a:xfrm>
          <a:prstGeom prst="rect">
            <a:avLst/>
          </a:prstGeom>
          <a:noFill/>
        </p:spPr>
        <p:txBody>
          <a:bodyPr vert="horz" wrap="square" lIns="0" tIns="0" rIns="0" bIns="0" rtlCol="0" anchor="t">
            <a:noAutofit/>
          </a:bodyPr>
          <a:lstStyle/>
          <a:p>
            <a:r>
              <a:rPr lang="en-IL" sz="2700" b="1">
                <a:solidFill>
                  <a:srgbClr val="137F79"/>
                </a:solidFill>
                <a:latin typeface="Aptos" panose="020B0004020202020204" pitchFamily="34" charset="0"/>
              </a:rPr>
              <a:t>ROS optical</a:t>
            </a:r>
          </a:p>
        </p:txBody>
      </p:sp>
      <p:sp>
        <p:nvSpPr>
          <p:cNvPr id="23" name="updated_text_12">
            <a:extLst>
              <a:ext uri="{FF2B5EF4-FFF2-40B4-BE49-F238E27FC236}">
                <a16:creationId xmlns:a16="http://schemas.microsoft.com/office/drawing/2014/main" id="{8A0BB1CC-E686-8640-82EB-63D7C252CC44}"/>
              </a:ext>
            </a:extLst>
          </p:cNvPr>
          <p:cNvSpPr txBox="1"/>
          <p:nvPr/>
        </p:nvSpPr>
        <p:spPr>
          <a:xfrm>
            <a:off x="4584700" y="3174999"/>
            <a:ext cx="3022600" cy="7874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x right · y down
z forward</a:t>
            </a:r>
            <a:endParaRPr lang="en-IL" sz="2400">
              <a:solidFill>
                <a:srgbClr val="15283B"/>
              </a:solidFill>
              <a:latin typeface="Aptos" panose="020B0004020202020204" pitchFamily="34" charset="0"/>
            </a:endParaRPr>
          </a:p>
        </p:txBody>
      </p:sp>
      <p:sp>
        <p:nvSpPr>
          <p:cNvPr id="24" name="updated_text_13">
            <a:extLst>
              <a:ext uri="{FF2B5EF4-FFF2-40B4-BE49-F238E27FC236}">
                <a16:creationId xmlns:a16="http://schemas.microsoft.com/office/drawing/2014/main" id="{944AD335-FC9B-466B-90A5-90AD1C5498F1}"/>
              </a:ext>
            </a:extLst>
          </p:cNvPr>
          <p:cNvSpPr txBox="1"/>
          <p:nvPr/>
        </p:nvSpPr>
        <p:spPr>
          <a:xfrm>
            <a:off x="685800" y="4216399"/>
            <a:ext cx="7124700" cy="7874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Translation: meters (m)
Rotation angles: radians (rad)</a:t>
            </a:r>
          </a:p>
        </p:txBody>
      </p:sp>
      <p:sp>
        <p:nvSpPr>
          <p:cNvPr id="25" name="Rectangle: Rounded Corners 24">
            <a:extLst>
              <a:ext uri="{FF2B5EF4-FFF2-40B4-BE49-F238E27FC236}">
                <a16:creationId xmlns:a16="http://schemas.microsoft.com/office/drawing/2014/main" id="{490A0399-00F6-A6A0-7D78-9DD07200E6B4}"/>
              </a:ext>
            </a:extLst>
          </p:cNvPr>
          <p:cNvSpPr/>
          <p:nvPr/>
        </p:nvSpPr>
        <p:spPr>
          <a:xfrm>
            <a:off x="8077200" y="2514600"/>
            <a:ext cx="3429000" cy="25400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pic>
        <p:nvPicPr>
          <p:cNvPr id="27" name="provided_right_hand_rule">
            <a:extLst>
              <a:ext uri="{FF2B5EF4-FFF2-40B4-BE49-F238E27FC236}">
                <a16:creationId xmlns:a16="http://schemas.microsoft.com/office/drawing/2014/main" id="{E08C9CA6-68FD-77A2-CA3B-04D0CD43D0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3750" y="2680607"/>
            <a:ext cx="2755900" cy="2080986"/>
          </a:xfrm>
          <a:prstGeom prst="rect">
            <a:avLst/>
          </a:prstGeom>
        </p:spPr>
      </p:pic>
      <p:sp>
        <p:nvSpPr>
          <p:cNvPr id="28" name="updated_text_16">
            <a:extLst>
              <a:ext uri="{FF2B5EF4-FFF2-40B4-BE49-F238E27FC236}">
                <a16:creationId xmlns:a16="http://schemas.microsoft.com/office/drawing/2014/main" id="{2CB4CA43-CEDA-2B37-9AF1-592F96FFDFAF}"/>
              </a:ext>
            </a:extLst>
          </p:cNvPr>
          <p:cNvSpPr txBox="1"/>
          <p:nvPr/>
        </p:nvSpPr>
        <p:spPr>
          <a:xfrm>
            <a:off x="8255000" y="4648199"/>
            <a:ext cx="3073400" cy="457200"/>
          </a:xfrm>
          <a:prstGeom prst="rect">
            <a:avLst/>
          </a:prstGeom>
          <a:noFill/>
        </p:spPr>
        <p:txBody>
          <a:bodyPr vert="horz" wrap="square" lIns="0" tIns="0" rIns="0" bIns="0" rtlCol="0" anchor="t">
            <a:noAutofit/>
          </a:bodyPr>
          <a:lstStyle/>
          <a:p>
            <a:pPr algn="ctr"/>
            <a:r>
              <a:rPr lang="en-IL" sz="2200" b="1">
                <a:solidFill>
                  <a:srgbClr val="15283B"/>
                </a:solidFill>
                <a:latin typeface="Aptos" panose="020B0004020202020204" pitchFamily="34" charset="0"/>
              </a:rPr>
              <a:t>Right-handed: x × y = z</a:t>
            </a:r>
          </a:p>
        </p:txBody>
      </p:sp>
      <p:sp>
        <p:nvSpPr>
          <p:cNvPr id="29" name="updated_text_17">
            <a:extLst>
              <a:ext uri="{FF2B5EF4-FFF2-40B4-BE49-F238E27FC236}">
                <a16:creationId xmlns:a16="http://schemas.microsoft.com/office/drawing/2014/main" id="{48DAF751-CFDA-0D2E-3CDF-910B7486B5C6}"/>
              </a:ext>
            </a:extLst>
          </p:cNvPr>
          <p:cNvSpPr txBox="1"/>
          <p:nvPr/>
        </p:nvSpPr>
        <p:spPr>
          <a:xfrm>
            <a:off x="685800" y="5206999"/>
            <a:ext cx="10820400" cy="431800"/>
          </a:xfrm>
          <a:prstGeom prst="rect">
            <a:avLst/>
          </a:prstGeom>
          <a:noFill/>
        </p:spPr>
        <p:txBody>
          <a:bodyPr vert="horz" wrap="square" lIns="0" tIns="0" rIns="0" bIns="0" rtlCol="0" anchor="t">
            <a:noAutofit/>
          </a:bodyPr>
          <a:lstStyle/>
          <a:p>
            <a:r>
              <a:rPr lang="en-US" sz="2300">
                <a:solidFill>
                  <a:srgbClr val="15283B"/>
                </a:solidFill>
                <a:latin typeface="Aptos" panose="020B0004020202020204" pitchFamily="34" charset="0"/>
              </a:rPr>
              <a:t>Check: handedness · transform direction · Euler axes/order · row/column vectors</a:t>
            </a:r>
            <a:endParaRPr lang="en-IL" sz="2300">
              <a:solidFill>
                <a:srgbClr val="15283B"/>
              </a:solidFill>
              <a:latin typeface="Aptos" panose="020B0004020202020204" pitchFamily="34" charset="0"/>
            </a:endParaRPr>
          </a:p>
        </p:txBody>
      </p:sp>
      <p:sp>
        <p:nvSpPr>
          <p:cNvPr id="30" name="Rectangle: Rounded Corners 29">
            <a:extLst>
              <a:ext uri="{FF2B5EF4-FFF2-40B4-BE49-F238E27FC236}">
                <a16:creationId xmlns:a16="http://schemas.microsoft.com/office/drawing/2014/main" id="{7C7AD7CF-B1CB-B0CC-35A8-095A1B8D6542}"/>
              </a:ext>
            </a:extLst>
          </p:cNvPr>
          <p:cNvSpPr/>
          <p:nvPr/>
        </p:nvSpPr>
        <p:spPr>
          <a:xfrm>
            <a:off x="685800" y="5765800"/>
            <a:ext cx="10820400" cy="4572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1" name="updated_text_19">
            <a:extLst>
              <a:ext uri="{FF2B5EF4-FFF2-40B4-BE49-F238E27FC236}">
                <a16:creationId xmlns:a16="http://schemas.microsoft.com/office/drawing/2014/main" id="{8E8911B1-F089-17C2-FDC4-07081D0CF16B}"/>
              </a:ext>
            </a:extLst>
          </p:cNvPr>
          <p:cNvSpPr txBox="1"/>
          <p:nvPr/>
        </p:nvSpPr>
        <p:spPr>
          <a:xfrm>
            <a:off x="838200" y="5791199"/>
            <a:ext cx="10515600" cy="393700"/>
          </a:xfrm>
          <a:prstGeom prst="rect">
            <a:avLst/>
          </a:prstGeom>
          <a:noFill/>
        </p:spPr>
        <p:txBody>
          <a:bodyPr vert="horz" wrap="square" lIns="0" tIns="0" rIns="0" bIns="0" rtlCol="0" anchor="t">
            <a:noAutofit/>
          </a:bodyPr>
          <a:lstStyle/>
          <a:p>
            <a:r>
              <a:rPr lang="en-US" sz="2500" b="1">
                <a:solidFill>
                  <a:srgbClr val="137F79"/>
                </a:solidFill>
                <a:latin typeface="Aptos" panose="020B0004020202020204" pitchFamily="34" charset="0"/>
              </a:rPr>
              <a:t>Check the conventions of every data source, library, and API.</a:t>
            </a:r>
            <a:endParaRPr lang="en-IL" sz="2500" b="1">
              <a:solidFill>
                <a:srgbClr val="137F79"/>
              </a:solidFill>
              <a:latin typeface="Aptos" panose="020B0004020202020204" pitchFamily="34" charset="0"/>
            </a:endParaRPr>
          </a:p>
        </p:txBody>
      </p:sp>
    </p:spTree>
    <p:extLst>
      <p:ext uri="{BB962C8B-B14F-4D97-AF65-F5344CB8AC3E}">
        <p14:creationId xmlns:p14="http://schemas.microsoft.com/office/powerpoint/2010/main" val="21449404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5289C880-B59B-A1EF-9884-BE10848F5111}"/>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02 / COORDINATE FRAMES</a:t>
            </a:r>
          </a:p>
        </p:txBody>
      </p:sp>
      <p:sp>
        <p:nvSpPr>
          <p:cNvPr id="3" name="text_2">
            <a:extLst>
              <a:ext uri="{FF2B5EF4-FFF2-40B4-BE49-F238E27FC236}">
                <a16:creationId xmlns:a16="http://schemas.microsoft.com/office/drawing/2014/main" id="{C2105842-9363-CDB0-1E8D-F91B7B73392B}"/>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Read the direction correctly</a:t>
            </a:r>
          </a:p>
        </p:txBody>
      </p:sp>
      <p:sp>
        <p:nvSpPr>
          <p:cNvPr id="4" name="text_3">
            <a:extLst>
              <a:ext uri="{FF2B5EF4-FFF2-40B4-BE49-F238E27FC236}">
                <a16:creationId xmlns:a16="http://schemas.microsoft.com/office/drawing/2014/main" id="{61F9DA9F-FFEB-4A4D-F236-58C3E980308B}"/>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The point stays still; its coordinate tuple changes.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F45C4E64-511B-6824-EDC9-7F0515B7C249}"/>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475EA9AC-B5EE-36BE-69CA-38D974ED5A95}"/>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0BC75E89-7BBD-8697-942C-2A29809322E3}"/>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05</a:t>
            </a:r>
          </a:p>
        </p:txBody>
      </p:sp>
      <p:sp>
        <p:nvSpPr>
          <p:cNvPr id="17" name="Rectangle: Rounded Corners 16">
            <a:extLst>
              <a:ext uri="{FF2B5EF4-FFF2-40B4-BE49-F238E27FC236}">
                <a16:creationId xmlns:a16="http://schemas.microsoft.com/office/drawing/2014/main" id="{5E0D1F47-FED6-7B5F-CD29-9344D3B82AED}"/>
              </a:ext>
            </a:extLst>
          </p:cNvPr>
          <p:cNvSpPr/>
          <p:nvPr/>
        </p:nvSpPr>
        <p:spPr>
          <a:xfrm>
            <a:off x="685800" y="2603500"/>
            <a:ext cx="10820400" cy="10033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updated_text_8">
            <a:extLst>
              <a:ext uri="{FF2B5EF4-FFF2-40B4-BE49-F238E27FC236}">
                <a16:creationId xmlns:a16="http://schemas.microsoft.com/office/drawing/2014/main" id="{26D3FABE-B8FA-F82C-1086-04A7956FAE3B}"/>
              </a:ext>
            </a:extLst>
          </p:cNvPr>
          <p:cNvSpPr txBox="1"/>
          <p:nvPr/>
        </p:nvSpPr>
        <p:spPr>
          <a:xfrm>
            <a:off x="952500" y="2743199"/>
            <a:ext cx="10287000" cy="800100"/>
          </a:xfrm>
          <a:prstGeom prst="rect">
            <a:avLst/>
          </a:prstGeom>
          <a:noFill/>
        </p:spPr>
        <p:txBody>
          <a:bodyPr vert="horz" wrap="square" lIns="0" tIns="0" rIns="0" bIns="0" rtlCol="0" anchor="t">
            <a:noAutofit/>
          </a:bodyPr>
          <a:lstStyle/>
          <a:p>
            <a:r>
              <a:rPr lang="en-IL" sz="2736" baseline="32000">
                <a:solidFill>
                  <a:srgbClr val="2459D3"/>
                </a:solidFill>
                <a:latin typeface="Cambria Math" panose="02040503050406030204" pitchFamily="18" charset="0"/>
              </a:rPr>
              <a:t>A</a:t>
            </a:r>
            <a:r>
              <a:rPr lang="en-IL" sz="3800">
                <a:solidFill>
                  <a:srgbClr val="2459D3"/>
                </a:solidFill>
                <a:latin typeface="Cambria Math" panose="02040503050406030204" pitchFamily="18" charset="0"/>
              </a:rPr>
              <a:t>p = </a:t>
            </a:r>
            <a:r>
              <a:rPr lang="en-IL" sz="2736" baseline="32000">
                <a:solidFill>
                  <a:srgbClr val="2459D3"/>
                </a:solidFill>
                <a:latin typeface="Cambria Math" panose="02040503050406030204" pitchFamily="18" charset="0"/>
              </a:rPr>
              <a:t>A</a:t>
            </a:r>
            <a:r>
              <a:rPr lang="en-IL" sz="3800">
                <a:solidFill>
                  <a:srgbClr val="2459D3"/>
                </a:solidFill>
                <a:latin typeface="Cambria Math" panose="02040503050406030204" pitchFamily="18" charset="0"/>
              </a:rPr>
              <a:t>R</a:t>
            </a:r>
            <a:r>
              <a:rPr lang="en-IL" sz="2736" baseline="-22000">
                <a:solidFill>
                  <a:srgbClr val="2459D3"/>
                </a:solidFill>
                <a:latin typeface="Cambria Math" panose="02040503050406030204" pitchFamily="18" charset="0"/>
              </a:rPr>
              <a:t>B</a:t>
            </a:r>
            <a:r>
              <a:rPr lang="en-IL" sz="3800">
                <a:solidFill>
                  <a:srgbClr val="2459D3"/>
                </a:solidFill>
                <a:latin typeface="Cambria Math" panose="02040503050406030204" pitchFamily="18" charset="0"/>
              </a:rPr>
              <a:t> </a:t>
            </a:r>
            <a:r>
              <a:rPr lang="en-IL" sz="2736" baseline="32000">
                <a:solidFill>
                  <a:srgbClr val="2459D3"/>
                </a:solidFill>
                <a:latin typeface="Cambria Math" panose="02040503050406030204" pitchFamily="18" charset="0"/>
              </a:rPr>
              <a:t>B</a:t>
            </a:r>
            <a:r>
              <a:rPr lang="en-IL" sz="3800">
                <a:solidFill>
                  <a:srgbClr val="2459D3"/>
                </a:solidFill>
                <a:latin typeface="Cambria Math" panose="02040503050406030204" pitchFamily="18" charset="0"/>
              </a:rPr>
              <a:t>p + </a:t>
            </a:r>
            <a:r>
              <a:rPr lang="en-IL" sz="2736" baseline="32000">
                <a:solidFill>
                  <a:srgbClr val="2459D3"/>
                </a:solidFill>
                <a:latin typeface="Cambria Math" panose="02040503050406030204" pitchFamily="18" charset="0"/>
              </a:rPr>
              <a:t>A</a:t>
            </a:r>
            <a:r>
              <a:rPr lang="en-IL" sz="3800">
                <a:solidFill>
                  <a:srgbClr val="2459D3"/>
                </a:solidFill>
                <a:latin typeface="Cambria Math" panose="02040503050406030204" pitchFamily="18" charset="0"/>
              </a:rPr>
              <a:t>t</a:t>
            </a:r>
            <a:r>
              <a:rPr lang="en-IL" sz="2736" baseline="-22000">
                <a:solidFill>
                  <a:srgbClr val="2459D3"/>
                </a:solidFill>
                <a:latin typeface="Cambria Math" panose="02040503050406030204" pitchFamily="18" charset="0"/>
              </a:rPr>
              <a:t>B</a:t>
            </a:r>
          </a:p>
        </p:txBody>
      </p:sp>
      <p:sp>
        <p:nvSpPr>
          <p:cNvPr id="19" name="Rectangle: Rounded Corners 18">
            <a:extLst>
              <a:ext uri="{FF2B5EF4-FFF2-40B4-BE49-F238E27FC236}">
                <a16:creationId xmlns:a16="http://schemas.microsoft.com/office/drawing/2014/main" id="{71BEAE33-9CB0-41C7-653F-F2EE74860BC9}"/>
              </a:ext>
            </a:extLst>
          </p:cNvPr>
          <p:cNvSpPr/>
          <p:nvPr/>
        </p:nvSpPr>
        <p:spPr>
          <a:xfrm>
            <a:off x="685800" y="4140200"/>
            <a:ext cx="23622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updated_text_10">
            <a:extLst>
              <a:ext uri="{FF2B5EF4-FFF2-40B4-BE49-F238E27FC236}">
                <a16:creationId xmlns:a16="http://schemas.microsoft.com/office/drawing/2014/main" id="{5604DF82-63D5-04C1-F421-1F2FA7EE43C7}"/>
              </a:ext>
            </a:extLst>
          </p:cNvPr>
          <p:cNvSpPr txBox="1"/>
          <p:nvPr/>
        </p:nvSpPr>
        <p:spPr>
          <a:xfrm>
            <a:off x="838200" y="4203699"/>
            <a:ext cx="2057400" cy="4191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B coordinates</a:t>
            </a:r>
          </a:p>
        </p:txBody>
      </p:sp>
      <p:sp>
        <p:nvSpPr>
          <p:cNvPr id="21" name="Rectangle: Rounded Corners 20">
            <a:extLst>
              <a:ext uri="{FF2B5EF4-FFF2-40B4-BE49-F238E27FC236}">
                <a16:creationId xmlns:a16="http://schemas.microsoft.com/office/drawing/2014/main" id="{D0EB1D5B-D705-47D8-A6EE-AC68D5658D7A}"/>
              </a:ext>
            </a:extLst>
          </p:cNvPr>
          <p:cNvSpPr/>
          <p:nvPr/>
        </p:nvSpPr>
        <p:spPr>
          <a:xfrm>
            <a:off x="5600700" y="4140200"/>
            <a:ext cx="2362200" cy="533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2" name="updated_text_12">
            <a:extLst>
              <a:ext uri="{FF2B5EF4-FFF2-40B4-BE49-F238E27FC236}">
                <a16:creationId xmlns:a16="http://schemas.microsoft.com/office/drawing/2014/main" id="{7ABAA7DF-D962-6A62-80BD-8C9010BF2A50}"/>
              </a:ext>
            </a:extLst>
          </p:cNvPr>
          <p:cNvSpPr txBox="1"/>
          <p:nvPr/>
        </p:nvSpPr>
        <p:spPr>
          <a:xfrm>
            <a:off x="5753100" y="4203699"/>
            <a:ext cx="2057400" cy="4191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A coordinates</a:t>
            </a:r>
          </a:p>
        </p:txBody>
      </p:sp>
      <p:cxnSp>
        <p:nvCxnSpPr>
          <p:cNvPr id="23" name="Straight Connector 22">
            <a:extLst>
              <a:ext uri="{FF2B5EF4-FFF2-40B4-BE49-F238E27FC236}">
                <a16:creationId xmlns:a16="http://schemas.microsoft.com/office/drawing/2014/main" id="{3D0936CD-1CC8-0569-07C6-74FCAB958047}"/>
              </a:ext>
            </a:extLst>
          </p:cNvPr>
          <p:cNvCxnSpPr/>
          <p:nvPr/>
        </p:nvCxnSpPr>
        <p:spPr>
          <a:xfrm>
            <a:off x="3175000" y="4406900"/>
            <a:ext cx="22860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24" name="updated_text_14">
            <a:extLst>
              <a:ext uri="{FF2B5EF4-FFF2-40B4-BE49-F238E27FC236}">
                <a16:creationId xmlns:a16="http://schemas.microsoft.com/office/drawing/2014/main" id="{11481686-A885-6559-1A22-3BC9E446F6CA}"/>
              </a:ext>
            </a:extLst>
          </p:cNvPr>
          <p:cNvSpPr txBox="1"/>
          <p:nvPr/>
        </p:nvSpPr>
        <p:spPr>
          <a:xfrm>
            <a:off x="3302000" y="3682999"/>
            <a:ext cx="2032000" cy="571500"/>
          </a:xfrm>
          <a:prstGeom prst="rect">
            <a:avLst/>
          </a:prstGeom>
          <a:noFill/>
        </p:spPr>
        <p:txBody>
          <a:bodyPr vert="horz" wrap="square" lIns="0" tIns="0" rIns="0" bIns="0" rtlCol="0" anchor="t">
            <a:noAutofit/>
          </a:bodyPr>
          <a:lstStyle/>
          <a:p>
            <a:pPr algn="ctr"/>
            <a:r>
              <a:rPr lang="en-IL" sz="2304" baseline="32000">
                <a:solidFill>
                  <a:srgbClr val="15283B"/>
                </a:solidFill>
                <a:latin typeface="Cambria Math" panose="02040503050406030204" pitchFamily="18" charset="0"/>
              </a:rPr>
              <a:t>A</a:t>
            </a:r>
            <a:r>
              <a:rPr lang="en-IL" sz="3200">
                <a:solidFill>
                  <a:srgbClr val="15283B"/>
                </a:solidFill>
                <a:latin typeface="Cambria Math" panose="02040503050406030204" pitchFamily="18" charset="0"/>
              </a:rPr>
              <a:t>T</a:t>
            </a:r>
            <a:r>
              <a:rPr lang="en-IL" sz="2304" baseline="-22000">
                <a:solidFill>
                  <a:srgbClr val="15283B"/>
                </a:solidFill>
                <a:latin typeface="Cambria Math" panose="02040503050406030204" pitchFamily="18" charset="0"/>
              </a:rPr>
              <a:t>B</a:t>
            </a:r>
          </a:p>
        </p:txBody>
      </p:sp>
      <p:sp>
        <p:nvSpPr>
          <p:cNvPr id="25" name="updated_text_15">
            <a:extLst>
              <a:ext uri="{FF2B5EF4-FFF2-40B4-BE49-F238E27FC236}">
                <a16:creationId xmlns:a16="http://schemas.microsoft.com/office/drawing/2014/main" id="{A2493A84-2B4F-31EF-C946-F093D7AD67C2}"/>
              </a:ext>
            </a:extLst>
          </p:cNvPr>
          <p:cNvSpPr txBox="1"/>
          <p:nvPr/>
        </p:nvSpPr>
        <p:spPr>
          <a:xfrm>
            <a:off x="685800" y="4914899"/>
            <a:ext cx="7315200" cy="469900"/>
          </a:xfrm>
          <a:prstGeom prst="rect">
            <a:avLst/>
          </a:prstGeom>
          <a:noFill/>
        </p:spPr>
        <p:txBody>
          <a:bodyPr vert="horz" wrap="square" lIns="0" tIns="0" rIns="0" bIns="0" rtlCol="0" anchor="t">
            <a:noAutofit/>
          </a:bodyPr>
          <a:lstStyle/>
          <a:p>
            <a:r>
              <a:rPr lang="en-US" sz="2500">
                <a:solidFill>
                  <a:srgbClr val="15283B"/>
                </a:solidFill>
                <a:latin typeface="Aptos" panose="020B0004020202020204" pitchFamily="34" charset="0"/>
              </a:rPr>
              <a:t>Pose of B in A · maps B → A</a:t>
            </a:r>
            <a:endParaRPr lang="en-IL" sz="2500">
              <a:solidFill>
                <a:srgbClr val="15283B"/>
              </a:solidFill>
              <a:latin typeface="Aptos" panose="020B0004020202020204" pitchFamily="34" charset="0"/>
            </a:endParaRPr>
          </a:p>
        </p:txBody>
      </p:sp>
      <p:cxnSp>
        <p:nvCxnSpPr>
          <p:cNvPr id="26" name="Straight Connector 25">
            <a:extLst>
              <a:ext uri="{FF2B5EF4-FFF2-40B4-BE49-F238E27FC236}">
                <a16:creationId xmlns:a16="http://schemas.microsoft.com/office/drawing/2014/main" id="{79308D2F-E9A4-3F35-9AE4-D2DC2DCF08C4}"/>
              </a:ext>
            </a:extLst>
          </p:cNvPr>
          <p:cNvCxnSpPr/>
          <p:nvPr/>
        </p:nvCxnSpPr>
        <p:spPr>
          <a:xfrm>
            <a:off x="9093200" y="4787900"/>
            <a:ext cx="7874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8C46587A-1347-DD92-699B-0280F528AF72}"/>
              </a:ext>
            </a:extLst>
          </p:cNvPr>
          <p:cNvCxnSpPr/>
          <p:nvPr/>
        </p:nvCxnSpPr>
        <p:spPr>
          <a:xfrm flipV="1">
            <a:off x="9093200" y="4038600"/>
            <a:ext cx="0" cy="74930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7ECCFDB6-AF24-3422-AE07-1C2C5EB42A9A}"/>
              </a:ext>
            </a:extLst>
          </p:cNvPr>
          <p:cNvCxnSpPr/>
          <p:nvPr/>
        </p:nvCxnSpPr>
        <p:spPr>
          <a:xfrm flipV="1">
            <a:off x="9702800" y="4330700"/>
            <a:ext cx="787400" cy="26670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3E1CE4E2-7E6A-C892-4D45-036FBA958A79}"/>
              </a:ext>
            </a:extLst>
          </p:cNvPr>
          <p:cNvCxnSpPr/>
          <p:nvPr/>
        </p:nvCxnSpPr>
        <p:spPr>
          <a:xfrm flipH="1" flipV="1">
            <a:off x="9448800" y="3873500"/>
            <a:ext cx="254000" cy="72390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30" name="updated_text_20">
            <a:extLst>
              <a:ext uri="{FF2B5EF4-FFF2-40B4-BE49-F238E27FC236}">
                <a16:creationId xmlns:a16="http://schemas.microsoft.com/office/drawing/2014/main" id="{1884AEEE-DD56-92CA-BDEA-997EB9EAE359}"/>
              </a:ext>
            </a:extLst>
          </p:cNvPr>
          <p:cNvSpPr txBox="1"/>
          <p:nvPr/>
        </p:nvSpPr>
        <p:spPr>
          <a:xfrm>
            <a:off x="8839200" y="4825999"/>
            <a:ext cx="381000" cy="368300"/>
          </a:xfrm>
          <a:prstGeom prst="rect">
            <a:avLst/>
          </a:prstGeom>
          <a:noFill/>
        </p:spPr>
        <p:txBody>
          <a:bodyPr vert="horz" wrap="square" lIns="0" tIns="0" rIns="0" bIns="0" rtlCol="0" anchor="t">
            <a:noAutofit/>
          </a:bodyPr>
          <a:lstStyle/>
          <a:p>
            <a:r>
              <a:rPr lang="en-IL" sz="2200" b="1">
                <a:solidFill>
                  <a:srgbClr val="2459D3"/>
                </a:solidFill>
                <a:latin typeface="Aptos" panose="020B0004020202020204" pitchFamily="34" charset="0"/>
              </a:rPr>
              <a:t>A</a:t>
            </a:r>
          </a:p>
        </p:txBody>
      </p:sp>
      <p:sp>
        <p:nvSpPr>
          <p:cNvPr id="31" name="updated_text_21">
            <a:extLst>
              <a:ext uri="{FF2B5EF4-FFF2-40B4-BE49-F238E27FC236}">
                <a16:creationId xmlns:a16="http://schemas.microsoft.com/office/drawing/2014/main" id="{ADB2F6EC-EF1B-1243-45A1-EACC4F1F64DD}"/>
              </a:ext>
            </a:extLst>
          </p:cNvPr>
          <p:cNvSpPr txBox="1"/>
          <p:nvPr/>
        </p:nvSpPr>
        <p:spPr>
          <a:xfrm>
            <a:off x="9690100" y="4838699"/>
            <a:ext cx="381000" cy="368300"/>
          </a:xfrm>
          <a:prstGeom prst="rect">
            <a:avLst/>
          </a:prstGeom>
          <a:noFill/>
        </p:spPr>
        <p:txBody>
          <a:bodyPr vert="horz" wrap="square" lIns="0" tIns="0" rIns="0" bIns="0" rtlCol="0" anchor="t">
            <a:noAutofit/>
          </a:bodyPr>
          <a:lstStyle/>
          <a:p>
            <a:r>
              <a:rPr lang="en-IL" sz="2200" b="1">
                <a:solidFill>
                  <a:srgbClr val="137F79"/>
                </a:solidFill>
                <a:latin typeface="Aptos" panose="020B0004020202020204" pitchFamily="34" charset="0"/>
              </a:rPr>
              <a:t>B</a:t>
            </a:r>
          </a:p>
        </p:txBody>
      </p:sp>
      <p:sp>
        <p:nvSpPr>
          <p:cNvPr id="32" name="Oval 31">
            <a:extLst>
              <a:ext uri="{FF2B5EF4-FFF2-40B4-BE49-F238E27FC236}">
                <a16:creationId xmlns:a16="http://schemas.microsoft.com/office/drawing/2014/main" id="{97654B35-C26D-2F46-760F-9715FFD094E2}"/>
              </a:ext>
            </a:extLst>
          </p:cNvPr>
          <p:cNvSpPr/>
          <p:nvPr/>
        </p:nvSpPr>
        <p:spPr>
          <a:xfrm>
            <a:off x="10591800" y="3886200"/>
            <a:ext cx="177800" cy="177800"/>
          </a:xfrm>
          <a:prstGeom prst="ellipse">
            <a:avLst/>
          </a:prstGeom>
          <a:solidFill>
            <a:srgbClr val="AE651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3" name="updated_text_23">
            <a:extLst>
              <a:ext uri="{FF2B5EF4-FFF2-40B4-BE49-F238E27FC236}">
                <a16:creationId xmlns:a16="http://schemas.microsoft.com/office/drawing/2014/main" id="{ABAEDDAC-CCDD-E32A-B635-33E20D705706}"/>
              </a:ext>
            </a:extLst>
          </p:cNvPr>
          <p:cNvSpPr txBox="1"/>
          <p:nvPr/>
        </p:nvSpPr>
        <p:spPr>
          <a:xfrm>
            <a:off x="10795000" y="3759199"/>
            <a:ext cx="381000" cy="406400"/>
          </a:xfrm>
          <a:prstGeom prst="rect">
            <a:avLst/>
          </a:prstGeom>
          <a:noFill/>
        </p:spPr>
        <p:txBody>
          <a:bodyPr vert="horz" wrap="square" lIns="0" tIns="0" rIns="0" bIns="0" rtlCol="0" anchor="t">
            <a:noAutofit/>
          </a:bodyPr>
          <a:lstStyle/>
          <a:p>
            <a:r>
              <a:rPr lang="en-IL" sz="2400">
                <a:solidFill>
                  <a:srgbClr val="AE651D"/>
                </a:solidFill>
                <a:latin typeface="Aptos" panose="020B0004020202020204" pitchFamily="34" charset="0"/>
              </a:rPr>
              <a:t>p</a:t>
            </a:r>
          </a:p>
        </p:txBody>
      </p:sp>
      <p:cxnSp>
        <p:nvCxnSpPr>
          <p:cNvPr id="34" name="Straight Connector 33">
            <a:extLst>
              <a:ext uri="{FF2B5EF4-FFF2-40B4-BE49-F238E27FC236}">
                <a16:creationId xmlns:a16="http://schemas.microsoft.com/office/drawing/2014/main" id="{AE93B6A3-2A6D-9612-1180-333E1A0AB67F}"/>
              </a:ext>
            </a:extLst>
          </p:cNvPr>
          <p:cNvCxnSpPr/>
          <p:nvPr/>
        </p:nvCxnSpPr>
        <p:spPr>
          <a:xfrm flipV="1">
            <a:off x="9093200" y="4013200"/>
            <a:ext cx="1524000" cy="77470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D0C24272-0BA0-9ECF-48DB-CDB4356A3494}"/>
              </a:ext>
            </a:extLst>
          </p:cNvPr>
          <p:cNvCxnSpPr/>
          <p:nvPr/>
        </p:nvCxnSpPr>
        <p:spPr>
          <a:xfrm flipV="1">
            <a:off x="9702800" y="4013200"/>
            <a:ext cx="914400" cy="58420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sp>
        <p:nvSpPr>
          <p:cNvPr id="36" name="updated_text_26">
            <a:extLst>
              <a:ext uri="{FF2B5EF4-FFF2-40B4-BE49-F238E27FC236}">
                <a16:creationId xmlns:a16="http://schemas.microsoft.com/office/drawing/2014/main" id="{3FA965CC-DD01-93D1-33FD-952F395D9A16}"/>
              </a:ext>
            </a:extLst>
          </p:cNvPr>
          <p:cNvSpPr txBox="1"/>
          <p:nvPr/>
        </p:nvSpPr>
        <p:spPr>
          <a:xfrm>
            <a:off x="685800" y="5613399"/>
            <a:ext cx="1257300" cy="533400"/>
          </a:xfrm>
          <a:prstGeom prst="rect">
            <a:avLst/>
          </a:prstGeom>
          <a:noFill/>
        </p:spPr>
        <p:txBody>
          <a:bodyPr vert="horz" wrap="square" lIns="0" tIns="0" rIns="0" bIns="0" rtlCol="0" anchor="t">
            <a:noAutofit/>
          </a:bodyPr>
          <a:lstStyle/>
          <a:p>
            <a:r>
              <a:rPr lang="en-IL" sz="2304" baseline="32000">
                <a:solidFill>
                  <a:srgbClr val="2459D3"/>
                </a:solidFill>
                <a:latin typeface="Cambria Math" panose="02040503050406030204" pitchFamily="18" charset="0"/>
              </a:rPr>
              <a:t>A</a:t>
            </a:r>
            <a:r>
              <a:rPr lang="en-IL" sz="3200">
                <a:solidFill>
                  <a:srgbClr val="2459D3"/>
                </a:solidFill>
                <a:latin typeface="Cambria Math" panose="02040503050406030204" pitchFamily="18" charset="0"/>
              </a:rPr>
              <a:t>t</a:t>
            </a:r>
            <a:r>
              <a:rPr lang="en-IL" sz="2304" baseline="-22000">
                <a:solidFill>
                  <a:srgbClr val="2459D3"/>
                </a:solidFill>
                <a:latin typeface="Cambria Math" panose="02040503050406030204" pitchFamily="18" charset="0"/>
              </a:rPr>
              <a:t>B</a:t>
            </a:r>
          </a:p>
        </p:txBody>
      </p:sp>
      <p:sp>
        <p:nvSpPr>
          <p:cNvPr id="37" name="updated_text_27">
            <a:extLst>
              <a:ext uri="{FF2B5EF4-FFF2-40B4-BE49-F238E27FC236}">
                <a16:creationId xmlns:a16="http://schemas.microsoft.com/office/drawing/2014/main" id="{CAE67FCB-08D6-D058-8492-F1B1B3F1B9E5}"/>
              </a:ext>
            </a:extLst>
          </p:cNvPr>
          <p:cNvSpPr txBox="1"/>
          <p:nvPr/>
        </p:nvSpPr>
        <p:spPr>
          <a:xfrm>
            <a:off x="1866900" y="5613399"/>
            <a:ext cx="9639300" cy="558800"/>
          </a:xfrm>
          <a:prstGeom prst="rect">
            <a:avLst/>
          </a:prstGeom>
          <a:noFill/>
        </p:spPr>
        <p:txBody>
          <a:bodyPr vert="horz" wrap="square" lIns="0" tIns="0" rIns="0" bIns="0" rtlCol="0" anchor="t">
            <a:noAutofit/>
          </a:bodyPr>
          <a:lstStyle/>
          <a:p>
            <a:r>
              <a:rPr lang="en-US" sz="2600">
                <a:solidFill>
                  <a:srgbClr val="15283B"/>
                </a:solidFill>
                <a:latin typeface="Aptos" panose="020B0004020202020204" pitchFamily="34" charset="0"/>
              </a:rPr>
              <a:t>Origin of frame B, expressed in frame A.</a:t>
            </a:r>
            <a:endParaRPr lang="en-IL" sz="2600">
              <a:solidFill>
                <a:srgbClr val="15283B"/>
              </a:solidFill>
              <a:latin typeface="Aptos" panose="020B0004020202020204" pitchFamily="34" charset="0"/>
            </a:endParaRPr>
          </a:p>
        </p:txBody>
      </p:sp>
    </p:spTree>
    <p:extLst>
      <p:ext uri="{BB962C8B-B14F-4D97-AF65-F5344CB8AC3E}">
        <p14:creationId xmlns:p14="http://schemas.microsoft.com/office/powerpoint/2010/main" val="4104321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B6F60CA1-D88A-8A96-7F15-DFE7F638BFF5}"/>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02 / COORDINATE FRAMES</a:t>
            </a:r>
          </a:p>
        </p:txBody>
      </p:sp>
      <p:sp>
        <p:nvSpPr>
          <p:cNvPr id="3" name="text_2">
            <a:extLst>
              <a:ext uri="{FF2B5EF4-FFF2-40B4-BE49-F238E27FC236}">
                <a16:creationId xmlns:a16="http://schemas.microsoft.com/office/drawing/2014/main" id="{35DD28C9-2AB1-6368-94DE-9E8E2A7D60A4}"/>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Elementary rotations &amp; Euler angles</a:t>
            </a:r>
          </a:p>
        </p:txBody>
      </p:sp>
      <p:sp>
        <p:nvSpPr>
          <p:cNvPr id="4" name="text_3">
            <a:extLst>
              <a:ext uri="{FF2B5EF4-FFF2-40B4-BE49-F238E27FC236}">
                <a16:creationId xmlns:a16="http://schemas.microsoft.com/office/drawing/2014/main" id="{F4C571A5-4573-5268-C134-918F772927BD}"/>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Fixed-axis XYZ: roll about x, pitch about y, yaw about z.</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167E2717-7A6C-85B0-CEC0-CA199C715230}"/>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8DB8319B-66F0-56D1-E3AB-A2FDD563C863}"/>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9722396E-5FC6-88F6-A46A-764875699FFF}"/>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06</a:t>
            </a:r>
          </a:p>
        </p:txBody>
      </p:sp>
      <p:sp>
        <p:nvSpPr>
          <p:cNvPr id="69" name="updated_text_7">
            <a:extLst>
              <a:ext uri="{FF2B5EF4-FFF2-40B4-BE49-F238E27FC236}">
                <a16:creationId xmlns:a16="http://schemas.microsoft.com/office/drawing/2014/main" id="{16681C16-BBAA-F16B-4115-0BA3DFCA9E5B}"/>
              </a:ext>
            </a:extLst>
          </p:cNvPr>
          <p:cNvSpPr txBox="1"/>
          <p:nvPr/>
        </p:nvSpPr>
        <p:spPr>
          <a:xfrm>
            <a:off x="685800" y="2412999"/>
            <a:ext cx="3175000" cy="457200"/>
          </a:xfrm>
          <a:prstGeom prst="rect">
            <a:avLst/>
          </a:prstGeom>
          <a:noFill/>
        </p:spPr>
        <p:txBody>
          <a:bodyPr vert="horz" wrap="square" lIns="0" tIns="0" rIns="0" bIns="0" rtlCol="0" anchor="t">
            <a:noAutofit/>
          </a:bodyPr>
          <a:lstStyle/>
          <a:p>
            <a:pPr algn="ctr"/>
            <a:r>
              <a:rPr lang="en-IL" sz="2600">
                <a:solidFill>
                  <a:srgbClr val="2459D3"/>
                </a:solidFill>
                <a:latin typeface="Cambria Math" panose="02040503050406030204" pitchFamily="18" charset="0"/>
              </a:rPr>
              <a:t>R</a:t>
            </a:r>
            <a:r>
              <a:rPr lang="en-IL" sz="1872" baseline="-22000">
                <a:solidFill>
                  <a:srgbClr val="2459D3"/>
                </a:solidFill>
                <a:latin typeface="Cambria Math" panose="02040503050406030204" pitchFamily="18" charset="0"/>
              </a:rPr>
              <a:t>x</a:t>
            </a:r>
            <a:r>
              <a:rPr lang="en-IL" sz="2600">
                <a:solidFill>
                  <a:srgbClr val="2459D3"/>
                </a:solidFill>
                <a:latin typeface="Cambria Math" panose="02040503050406030204" pitchFamily="18" charset="0"/>
              </a:rPr>
              <a:t>(</a:t>
            </a:r>
            <a:r>
              <a:rPr lang="el-GR" sz="2600">
                <a:solidFill>
                  <a:srgbClr val="2459D3"/>
                </a:solidFill>
                <a:latin typeface="Cambria Math" panose="02040503050406030204" pitchFamily="18" charset="0"/>
              </a:rPr>
              <a:t>φ) · </a:t>
            </a:r>
            <a:r>
              <a:rPr lang="en-IL" sz="2600">
                <a:solidFill>
                  <a:srgbClr val="2459D3"/>
                </a:solidFill>
                <a:latin typeface="Cambria Math" panose="02040503050406030204" pitchFamily="18" charset="0"/>
              </a:rPr>
              <a:t>roll</a:t>
            </a:r>
          </a:p>
        </p:txBody>
      </p:sp>
      <p:sp>
        <p:nvSpPr>
          <p:cNvPr id="70" name="updated_text_8">
            <a:extLst>
              <a:ext uri="{FF2B5EF4-FFF2-40B4-BE49-F238E27FC236}">
                <a16:creationId xmlns:a16="http://schemas.microsoft.com/office/drawing/2014/main" id="{283A7CEF-3A41-8A93-A584-096A1C68DD6F}"/>
              </a:ext>
            </a:extLst>
          </p:cNvPr>
          <p:cNvSpPr txBox="1"/>
          <p:nvPr/>
        </p:nvSpPr>
        <p:spPr>
          <a:xfrm>
            <a:off x="4457700" y="2412999"/>
            <a:ext cx="3175000" cy="457200"/>
          </a:xfrm>
          <a:prstGeom prst="rect">
            <a:avLst/>
          </a:prstGeom>
          <a:noFill/>
        </p:spPr>
        <p:txBody>
          <a:bodyPr vert="horz" wrap="square" lIns="0" tIns="0" rIns="0" bIns="0" rtlCol="0" anchor="t">
            <a:noAutofit/>
          </a:bodyPr>
          <a:lstStyle/>
          <a:p>
            <a:pPr algn="ctr"/>
            <a:r>
              <a:rPr lang="en-IL" sz="2600">
                <a:solidFill>
                  <a:srgbClr val="137F79"/>
                </a:solidFill>
                <a:latin typeface="Cambria Math" panose="02040503050406030204" pitchFamily="18" charset="0"/>
              </a:rPr>
              <a:t>R</a:t>
            </a:r>
            <a:r>
              <a:rPr lang="en-IL" sz="1872" baseline="-22000">
                <a:solidFill>
                  <a:srgbClr val="137F79"/>
                </a:solidFill>
                <a:latin typeface="Cambria Math" panose="02040503050406030204" pitchFamily="18" charset="0"/>
              </a:rPr>
              <a:t>y</a:t>
            </a:r>
            <a:r>
              <a:rPr lang="en-IL" sz="2600">
                <a:solidFill>
                  <a:srgbClr val="137F79"/>
                </a:solidFill>
                <a:latin typeface="Cambria Math" panose="02040503050406030204" pitchFamily="18" charset="0"/>
              </a:rPr>
              <a:t>(</a:t>
            </a:r>
            <a:r>
              <a:rPr lang="el-GR" sz="2600">
                <a:solidFill>
                  <a:srgbClr val="137F79"/>
                </a:solidFill>
                <a:latin typeface="Cambria Math" panose="02040503050406030204" pitchFamily="18" charset="0"/>
              </a:rPr>
              <a:t>θ) · </a:t>
            </a:r>
            <a:r>
              <a:rPr lang="en-IL" sz="2600">
                <a:solidFill>
                  <a:srgbClr val="137F79"/>
                </a:solidFill>
                <a:latin typeface="Cambria Math" panose="02040503050406030204" pitchFamily="18" charset="0"/>
              </a:rPr>
              <a:t>pitch</a:t>
            </a:r>
          </a:p>
        </p:txBody>
      </p:sp>
      <p:sp>
        <p:nvSpPr>
          <p:cNvPr id="71" name="updated_text_9">
            <a:extLst>
              <a:ext uri="{FF2B5EF4-FFF2-40B4-BE49-F238E27FC236}">
                <a16:creationId xmlns:a16="http://schemas.microsoft.com/office/drawing/2014/main" id="{42FAB4A7-505D-AFE1-43E2-F8DA7CF838B9}"/>
              </a:ext>
            </a:extLst>
          </p:cNvPr>
          <p:cNvSpPr txBox="1"/>
          <p:nvPr/>
        </p:nvSpPr>
        <p:spPr>
          <a:xfrm>
            <a:off x="8229600" y="2412999"/>
            <a:ext cx="3175000" cy="457200"/>
          </a:xfrm>
          <a:prstGeom prst="rect">
            <a:avLst/>
          </a:prstGeom>
          <a:noFill/>
        </p:spPr>
        <p:txBody>
          <a:bodyPr vert="horz" wrap="square" lIns="0" tIns="0" rIns="0" bIns="0" rtlCol="0" anchor="t">
            <a:noAutofit/>
          </a:bodyPr>
          <a:lstStyle/>
          <a:p>
            <a:pPr algn="ctr"/>
            <a:r>
              <a:rPr lang="en-IL" sz="2600">
                <a:solidFill>
                  <a:srgbClr val="2459D3"/>
                </a:solidFill>
                <a:latin typeface="Cambria Math" panose="02040503050406030204" pitchFamily="18" charset="0"/>
              </a:rPr>
              <a:t>R</a:t>
            </a:r>
            <a:r>
              <a:rPr lang="en-IL" sz="1872" baseline="-22000">
                <a:solidFill>
                  <a:srgbClr val="2459D3"/>
                </a:solidFill>
                <a:latin typeface="Cambria Math" panose="02040503050406030204" pitchFamily="18" charset="0"/>
              </a:rPr>
              <a:t>z</a:t>
            </a:r>
            <a:r>
              <a:rPr lang="en-IL" sz="2600">
                <a:solidFill>
                  <a:srgbClr val="2459D3"/>
                </a:solidFill>
                <a:latin typeface="Cambria Math" panose="02040503050406030204" pitchFamily="18" charset="0"/>
              </a:rPr>
              <a:t>(</a:t>
            </a:r>
            <a:r>
              <a:rPr lang="el-GR" sz="2600">
                <a:solidFill>
                  <a:srgbClr val="2459D3"/>
                </a:solidFill>
                <a:latin typeface="Cambria Math" panose="02040503050406030204" pitchFamily="18" charset="0"/>
              </a:rPr>
              <a:t>ψ) · </a:t>
            </a:r>
            <a:r>
              <a:rPr lang="en-IL" sz="2600">
                <a:solidFill>
                  <a:srgbClr val="2459D3"/>
                </a:solidFill>
                <a:latin typeface="Cambria Math" panose="02040503050406030204" pitchFamily="18" charset="0"/>
              </a:rPr>
              <a:t>yaw</a:t>
            </a:r>
          </a:p>
        </p:txBody>
      </p:sp>
      <p:cxnSp>
        <p:nvCxnSpPr>
          <p:cNvPr id="72" name="Straight Connector 71">
            <a:extLst>
              <a:ext uri="{FF2B5EF4-FFF2-40B4-BE49-F238E27FC236}">
                <a16:creationId xmlns:a16="http://schemas.microsoft.com/office/drawing/2014/main" id="{1E6EBB0A-C2E7-CFB1-17D4-21367A4B0D46}"/>
              </a:ext>
            </a:extLst>
          </p:cNvPr>
          <p:cNvCxnSpPr/>
          <p:nvPr/>
        </p:nvCxnSpPr>
        <p:spPr>
          <a:xfrm>
            <a:off x="685800" y="2933700"/>
            <a:ext cx="0" cy="11557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2628D67F-954B-D3CE-8D33-83E6BDF0FC67}"/>
              </a:ext>
            </a:extLst>
          </p:cNvPr>
          <p:cNvCxnSpPr/>
          <p:nvPr/>
        </p:nvCxnSpPr>
        <p:spPr>
          <a:xfrm>
            <a:off x="685800" y="29337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CFA35C24-3DB6-6638-537A-8B0D3BC4A83C}"/>
              </a:ext>
            </a:extLst>
          </p:cNvPr>
          <p:cNvCxnSpPr/>
          <p:nvPr/>
        </p:nvCxnSpPr>
        <p:spPr>
          <a:xfrm>
            <a:off x="685800" y="40894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E398B4BF-5168-2432-840F-C78A03583194}"/>
              </a:ext>
            </a:extLst>
          </p:cNvPr>
          <p:cNvCxnSpPr/>
          <p:nvPr/>
        </p:nvCxnSpPr>
        <p:spPr>
          <a:xfrm>
            <a:off x="3860800" y="2933700"/>
            <a:ext cx="0" cy="11557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841B7FBA-0392-5A69-C5E9-1E3A37FBFFF4}"/>
              </a:ext>
            </a:extLst>
          </p:cNvPr>
          <p:cNvCxnSpPr/>
          <p:nvPr/>
        </p:nvCxnSpPr>
        <p:spPr>
          <a:xfrm flipH="1">
            <a:off x="3759200" y="29337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F8F55AF2-6DD2-8FBE-2394-7C51547E2E4C}"/>
              </a:ext>
            </a:extLst>
          </p:cNvPr>
          <p:cNvCxnSpPr/>
          <p:nvPr/>
        </p:nvCxnSpPr>
        <p:spPr>
          <a:xfrm flipH="1">
            <a:off x="3759200" y="40894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sp>
        <p:nvSpPr>
          <p:cNvPr id="78" name="updated_text_16">
            <a:extLst>
              <a:ext uri="{FF2B5EF4-FFF2-40B4-BE49-F238E27FC236}">
                <a16:creationId xmlns:a16="http://schemas.microsoft.com/office/drawing/2014/main" id="{09F54ADE-D592-1AAC-9727-49150CA48BF0}"/>
              </a:ext>
            </a:extLst>
          </p:cNvPr>
          <p:cNvSpPr txBox="1"/>
          <p:nvPr/>
        </p:nvSpPr>
        <p:spPr>
          <a:xfrm>
            <a:off x="825500" y="2959100"/>
            <a:ext cx="965200" cy="359833"/>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1</a:t>
            </a:r>
          </a:p>
        </p:txBody>
      </p:sp>
      <p:sp>
        <p:nvSpPr>
          <p:cNvPr id="79" name="updated_text_17">
            <a:extLst>
              <a:ext uri="{FF2B5EF4-FFF2-40B4-BE49-F238E27FC236}">
                <a16:creationId xmlns:a16="http://schemas.microsoft.com/office/drawing/2014/main" id="{48C54F55-7F49-2E9F-3F29-E1C0F0114AE5}"/>
              </a:ext>
            </a:extLst>
          </p:cNvPr>
          <p:cNvSpPr txBox="1"/>
          <p:nvPr/>
        </p:nvSpPr>
        <p:spPr>
          <a:xfrm>
            <a:off x="1790700" y="2959100"/>
            <a:ext cx="965200" cy="359833"/>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0</a:t>
            </a:r>
          </a:p>
        </p:txBody>
      </p:sp>
      <p:sp>
        <p:nvSpPr>
          <p:cNvPr id="80" name="updated_text_18">
            <a:extLst>
              <a:ext uri="{FF2B5EF4-FFF2-40B4-BE49-F238E27FC236}">
                <a16:creationId xmlns:a16="http://schemas.microsoft.com/office/drawing/2014/main" id="{6A062A8E-EFC9-01F8-A663-3A8BB41286BF}"/>
              </a:ext>
            </a:extLst>
          </p:cNvPr>
          <p:cNvSpPr txBox="1"/>
          <p:nvPr/>
        </p:nvSpPr>
        <p:spPr>
          <a:xfrm>
            <a:off x="2755900" y="2959100"/>
            <a:ext cx="965200" cy="359833"/>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0</a:t>
            </a:r>
          </a:p>
        </p:txBody>
      </p:sp>
      <p:sp>
        <p:nvSpPr>
          <p:cNvPr id="81" name="updated_text_19">
            <a:extLst>
              <a:ext uri="{FF2B5EF4-FFF2-40B4-BE49-F238E27FC236}">
                <a16:creationId xmlns:a16="http://schemas.microsoft.com/office/drawing/2014/main" id="{9DEC70A6-8C1D-1DAE-044C-DDB41ADAE50E}"/>
              </a:ext>
            </a:extLst>
          </p:cNvPr>
          <p:cNvSpPr txBox="1"/>
          <p:nvPr/>
        </p:nvSpPr>
        <p:spPr>
          <a:xfrm>
            <a:off x="825500" y="3344333"/>
            <a:ext cx="965200" cy="359833"/>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0</a:t>
            </a:r>
          </a:p>
        </p:txBody>
      </p:sp>
      <p:sp>
        <p:nvSpPr>
          <p:cNvPr id="82" name="updated_text_20">
            <a:extLst>
              <a:ext uri="{FF2B5EF4-FFF2-40B4-BE49-F238E27FC236}">
                <a16:creationId xmlns:a16="http://schemas.microsoft.com/office/drawing/2014/main" id="{9C18401B-251C-501D-6B08-A9C43AD629B0}"/>
              </a:ext>
            </a:extLst>
          </p:cNvPr>
          <p:cNvSpPr txBox="1"/>
          <p:nvPr/>
        </p:nvSpPr>
        <p:spPr>
          <a:xfrm>
            <a:off x="1790700" y="3344333"/>
            <a:ext cx="965200" cy="359833"/>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c</a:t>
            </a:r>
            <a:r>
              <a:rPr lang="el-GR" sz="1728" baseline="-22000">
                <a:solidFill>
                  <a:srgbClr val="15283B"/>
                </a:solidFill>
                <a:latin typeface="Cambria Math" panose="02040503050406030204" pitchFamily="18" charset="0"/>
              </a:rPr>
              <a:t>φ</a:t>
            </a:r>
            <a:endParaRPr lang="en-IL" sz="1728" baseline="-22000">
              <a:solidFill>
                <a:srgbClr val="15283B"/>
              </a:solidFill>
              <a:latin typeface="Cambria Math" panose="02040503050406030204" pitchFamily="18" charset="0"/>
            </a:endParaRPr>
          </a:p>
        </p:txBody>
      </p:sp>
      <p:sp>
        <p:nvSpPr>
          <p:cNvPr id="83" name="updated_text_21">
            <a:extLst>
              <a:ext uri="{FF2B5EF4-FFF2-40B4-BE49-F238E27FC236}">
                <a16:creationId xmlns:a16="http://schemas.microsoft.com/office/drawing/2014/main" id="{173A0010-F568-2542-05D5-5A1B54DD104F}"/>
              </a:ext>
            </a:extLst>
          </p:cNvPr>
          <p:cNvSpPr txBox="1"/>
          <p:nvPr/>
        </p:nvSpPr>
        <p:spPr>
          <a:xfrm>
            <a:off x="2755900" y="3344333"/>
            <a:ext cx="965200" cy="359833"/>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−s</a:t>
            </a:r>
            <a:r>
              <a:rPr lang="el-GR" sz="1728" baseline="-22000">
                <a:solidFill>
                  <a:srgbClr val="15283B"/>
                </a:solidFill>
                <a:latin typeface="Cambria Math" panose="02040503050406030204" pitchFamily="18" charset="0"/>
              </a:rPr>
              <a:t>φ</a:t>
            </a:r>
            <a:endParaRPr lang="en-IL" sz="1728" baseline="-22000">
              <a:solidFill>
                <a:srgbClr val="15283B"/>
              </a:solidFill>
              <a:latin typeface="Cambria Math" panose="02040503050406030204" pitchFamily="18" charset="0"/>
            </a:endParaRPr>
          </a:p>
        </p:txBody>
      </p:sp>
      <p:sp>
        <p:nvSpPr>
          <p:cNvPr id="84" name="updated_text_22">
            <a:extLst>
              <a:ext uri="{FF2B5EF4-FFF2-40B4-BE49-F238E27FC236}">
                <a16:creationId xmlns:a16="http://schemas.microsoft.com/office/drawing/2014/main" id="{F7D3D1BA-DFEE-5213-2DBA-AEC36D0D7FEC}"/>
              </a:ext>
            </a:extLst>
          </p:cNvPr>
          <p:cNvSpPr txBox="1"/>
          <p:nvPr/>
        </p:nvSpPr>
        <p:spPr>
          <a:xfrm>
            <a:off x="825500" y="3729567"/>
            <a:ext cx="965200" cy="359833"/>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0</a:t>
            </a:r>
          </a:p>
        </p:txBody>
      </p:sp>
      <p:sp>
        <p:nvSpPr>
          <p:cNvPr id="85" name="updated_text_23">
            <a:extLst>
              <a:ext uri="{FF2B5EF4-FFF2-40B4-BE49-F238E27FC236}">
                <a16:creationId xmlns:a16="http://schemas.microsoft.com/office/drawing/2014/main" id="{466A5B2E-2209-8B2E-B853-4EC20E1E4837}"/>
              </a:ext>
            </a:extLst>
          </p:cNvPr>
          <p:cNvSpPr txBox="1"/>
          <p:nvPr/>
        </p:nvSpPr>
        <p:spPr>
          <a:xfrm>
            <a:off x="1790700" y="3729567"/>
            <a:ext cx="965200" cy="359833"/>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s</a:t>
            </a:r>
            <a:r>
              <a:rPr lang="el-GR" sz="1728" baseline="-22000">
                <a:solidFill>
                  <a:srgbClr val="15283B"/>
                </a:solidFill>
                <a:latin typeface="Cambria Math" panose="02040503050406030204" pitchFamily="18" charset="0"/>
              </a:rPr>
              <a:t>φ</a:t>
            </a:r>
            <a:endParaRPr lang="en-IL" sz="1728" baseline="-22000">
              <a:solidFill>
                <a:srgbClr val="15283B"/>
              </a:solidFill>
              <a:latin typeface="Cambria Math" panose="02040503050406030204" pitchFamily="18" charset="0"/>
            </a:endParaRPr>
          </a:p>
        </p:txBody>
      </p:sp>
      <p:sp>
        <p:nvSpPr>
          <p:cNvPr id="86" name="updated_text_24">
            <a:extLst>
              <a:ext uri="{FF2B5EF4-FFF2-40B4-BE49-F238E27FC236}">
                <a16:creationId xmlns:a16="http://schemas.microsoft.com/office/drawing/2014/main" id="{1BFED922-7C72-ACB2-8DFD-AB41E3CEE012}"/>
              </a:ext>
            </a:extLst>
          </p:cNvPr>
          <p:cNvSpPr txBox="1"/>
          <p:nvPr/>
        </p:nvSpPr>
        <p:spPr>
          <a:xfrm>
            <a:off x="2755900" y="3729567"/>
            <a:ext cx="965200" cy="359833"/>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c</a:t>
            </a:r>
            <a:r>
              <a:rPr lang="el-GR" sz="1728" baseline="-22000">
                <a:solidFill>
                  <a:srgbClr val="15283B"/>
                </a:solidFill>
                <a:latin typeface="Cambria Math" panose="02040503050406030204" pitchFamily="18" charset="0"/>
              </a:rPr>
              <a:t>φ</a:t>
            </a:r>
            <a:endParaRPr lang="en-IL" sz="1728" baseline="-22000">
              <a:solidFill>
                <a:srgbClr val="15283B"/>
              </a:solidFill>
              <a:latin typeface="Cambria Math" panose="02040503050406030204" pitchFamily="18" charset="0"/>
            </a:endParaRPr>
          </a:p>
        </p:txBody>
      </p:sp>
      <p:cxnSp>
        <p:nvCxnSpPr>
          <p:cNvPr id="87" name="Straight Connector 86">
            <a:extLst>
              <a:ext uri="{FF2B5EF4-FFF2-40B4-BE49-F238E27FC236}">
                <a16:creationId xmlns:a16="http://schemas.microsoft.com/office/drawing/2014/main" id="{612423D3-ABB5-6E38-AE2C-36A7364D1436}"/>
              </a:ext>
            </a:extLst>
          </p:cNvPr>
          <p:cNvCxnSpPr/>
          <p:nvPr/>
        </p:nvCxnSpPr>
        <p:spPr>
          <a:xfrm>
            <a:off x="4457700" y="2933700"/>
            <a:ext cx="0" cy="11557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740503BB-343A-DD6F-CD47-078946A4142C}"/>
              </a:ext>
            </a:extLst>
          </p:cNvPr>
          <p:cNvCxnSpPr/>
          <p:nvPr/>
        </p:nvCxnSpPr>
        <p:spPr>
          <a:xfrm>
            <a:off x="4457700" y="29337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06C721E1-A141-090E-69AC-005BACA45960}"/>
              </a:ext>
            </a:extLst>
          </p:cNvPr>
          <p:cNvCxnSpPr/>
          <p:nvPr/>
        </p:nvCxnSpPr>
        <p:spPr>
          <a:xfrm>
            <a:off x="4457700" y="40894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90" name="Straight Connector 89">
            <a:extLst>
              <a:ext uri="{FF2B5EF4-FFF2-40B4-BE49-F238E27FC236}">
                <a16:creationId xmlns:a16="http://schemas.microsoft.com/office/drawing/2014/main" id="{43D1C38F-6D80-D3E2-00BC-F20ECDB1CC89}"/>
              </a:ext>
            </a:extLst>
          </p:cNvPr>
          <p:cNvCxnSpPr/>
          <p:nvPr/>
        </p:nvCxnSpPr>
        <p:spPr>
          <a:xfrm>
            <a:off x="7632700" y="2933700"/>
            <a:ext cx="0" cy="11557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2CA1D930-0B30-E64D-8F02-96D7B91572DE}"/>
              </a:ext>
            </a:extLst>
          </p:cNvPr>
          <p:cNvCxnSpPr/>
          <p:nvPr/>
        </p:nvCxnSpPr>
        <p:spPr>
          <a:xfrm flipH="1">
            <a:off x="7531100" y="29337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92" name="Straight Connector 91">
            <a:extLst>
              <a:ext uri="{FF2B5EF4-FFF2-40B4-BE49-F238E27FC236}">
                <a16:creationId xmlns:a16="http://schemas.microsoft.com/office/drawing/2014/main" id="{C7146E42-E2B4-B7B0-0521-6F93062024D5}"/>
              </a:ext>
            </a:extLst>
          </p:cNvPr>
          <p:cNvCxnSpPr/>
          <p:nvPr/>
        </p:nvCxnSpPr>
        <p:spPr>
          <a:xfrm flipH="1">
            <a:off x="7531100" y="40894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sp>
        <p:nvSpPr>
          <p:cNvPr id="93" name="updated_text_31">
            <a:extLst>
              <a:ext uri="{FF2B5EF4-FFF2-40B4-BE49-F238E27FC236}">
                <a16:creationId xmlns:a16="http://schemas.microsoft.com/office/drawing/2014/main" id="{B0E7299B-B708-ADFD-C3F2-953F98F82C1F}"/>
              </a:ext>
            </a:extLst>
          </p:cNvPr>
          <p:cNvSpPr txBox="1"/>
          <p:nvPr/>
        </p:nvSpPr>
        <p:spPr>
          <a:xfrm>
            <a:off x="4597400" y="2959100"/>
            <a:ext cx="965200" cy="359833"/>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c</a:t>
            </a:r>
            <a:r>
              <a:rPr lang="el-GR" sz="1728" baseline="-22000">
                <a:solidFill>
                  <a:srgbClr val="15283B"/>
                </a:solidFill>
                <a:latin typeface="Cambria Math" panose="02040503050406030204" pitchFamily="18" charset="0"/>
              </a:rPr>
              <a:t>θ</a:t>
            </a:r>
            <a:endParaRPr lang="en-IL" sz="1728" baseline="-22000">
              <a:solidFill>
                <a:srgbClr val="15283B"/>
              </a:solidFill>
              <a:latin typeface="Cambria Math" panose="02040503050406030204" pitchFamily="18" charset="0"/>
            </a:endParaRPr>
          </a:p>
        </p:txBody>
      </p:sp>
      <p:sp>
        <p:nvSpPr>
          <p:cNvPr id="94" name="updated_text_32">
            <a:extLst>
              <a:ext uri="{FF2B5EF4-FFF2-40B4-BE49-F238E27FC236}">
                <a16:creationId xmlns:a16="http://schemas.microsoft.com/office/drawing/2014/main" id="{2337ABA2-5292-BD12-5AA2-F58515CB0481}"/>
              </a:ext>
            </a:extLst>
          </p:cNvPr>
          <p:cNvSpPr txBox="1"/>
          <p:nvPr/>
        </p:nvSpPr>
        <p:spPr>
          <a:xfrm>
            <a:off x="5562600" y="2959100"/>
            <a:ext cx="965200" cy="359833"/>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0</a:t>
            </a:r>
          </a:p>
        </p:txBody>
      </p:sp>
      <p:sp>
        <p:nvSpPr>
          <p:cNvPr id="95" name="updated_text_33">
            <a:extLst>
              <a:ext uri="{FF2B5EF4-FFF2-40B4-BE49-F238E27FC236}">
                <a16:creationId xmlns:a16="http://schemas.microsoft.com/office/drawing/2014/main" id="{E2310980-4E69-44D2-BE27-9E6088829889}"/>
              </a:ext>
            </a:extLst>
          </p:cNvPr>
          <p:cNvSpPr txBox="1"/>
          <p:nvPr/>
        </p:nvSpPr>
        <p:spPr>
          <a:xfrm>
            <a:off x="6527800" y="2959100"/>
            <a:ext cx="965200" cy="359833"/>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s</a:t>
            </a:r>
            <a:r>
              <a:rPr lang="el-GR" sz="1728" baseline="-22000">
                <a:solidFill>
                  <a:srgbClr val="15283B"/>
                </a:solidFill>
                <a:latin typeface="Cambria Math" panose="02040503050406030204" pitchFamily="18" charset="0"/>
              </a:rPr>
              <a:t>θ</a:t>
            </a:r>
            <a:endParaRPr lang="en-IL" sz="1728" baseline="-22000">
              <a:solidFill>
                <a:srgbClr val="15283B"/>
              </a:solidFill>
              <a:latin typeface="Cambria Math" panose="02040503050406030204" pitchFamily="18" charset="0"/>
            </a:endParaRPr>
          </a:p>
        </p:txBody>
      </p:sp>
      <p:sp>
        <p:nvSpPr>
          <p:cNvPr id="96" name="updated_text_34">
            <a:extLst>
              <a:ext uri="{FF2B5EF4-FFF2-40B4-BE49-F238E27FC236}">
                <a16:creationId xmlns:a16="http://schemas.microsoft.com/office/drawing/2014/main" id="{072F1B45-A23C-246B-B0A7-562B56FF49D8}"/>
              </a:ext>
            </a:extLst>
          </p:cNvPr>
          <p:cNvSpPr txBox="1"/>
          <p:nvPr/>
        </p:nvSpPr>
        <p:spPr>
          <a:xfrm>
            <a:off x="4597400" y="3344333"/>
            <a:ext cx="965200" cy="359833"/>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0</a:t>
            </a:r>
          </a:p>
        </p:txBody>
      </p:sp>
      <p:sp>
        <p:nvSpPr>
          <p:cNvPr id="97" name="updated_text_35">
            <a:extLst>
              <a:ext uri="{FF2B5EF4-FFF2-40B4-BE49-F238E27FC236}">
                <a16:creationId xmlns:a16="http://schemas.microsoft.com/office/drawing/2014/main" id="{9626D971-0E7D-7C8F-35FA-CEDED96AB173}"/>
              </a:ext>
            </a:extLst>
          </p:cNvPr>
          <p:cNvSpPr txBox="1"/>
          <p:nvPr/>
        </p:nvSpPr>
        <p:spPr>
          <a:xfrm>
            <a:off x="5562600" y="3344333"/>
            <a:ext cx="965200" cy="359833"/>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1</a:t>
            </a:r>
          </a:p>
        </p:txBody>
      </p:sp>
      <p:sp>
        <p:nvSpPr>
          <p:cNvPr id="98" name="updated_text_36">
            <a:extLst>
              <a:ext uri="{FF2B5EF4-FFF2-40B4-BE49-F238E27FC236}">
                <a16:creationId xmlns:a16="http://schemas.microsoft.com/office/drawing/2014/main" id="{F7C6AAF0-458E-D470-D143-5FC0D1FF4A66}"/>
              </a:ext>
            </a:extLst>
          </p:cNvPr>
          <p:cNvSpPr txBox="1"/>
          <p:nvPr/>
        </p:nvSpPr>
        <p:spPr>
          <a:xfrm>
            <a:off x="6527800" y="3344333"/>
            <a:ext cx="965200" cy="359833"/>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0</a:t>
            </a:r>
          </a:p>
        </p:txBody>
      </p:sp>
      <p:sp>
        <p:nvSpPr>
          <p:cNvPr id="99" name="updated_text_37">
            <a:extLst>
              <a:ext uri="{FF2B5EF4-FFF2-40B4-BE49-F238E27FC236}">
                <a16:creationId xmlns:a16="http://schemas.microsoft.com/office/drawing/2014/main" id="{49ABC91A-B93A-752C-D625-984B0C6E0F26}"/>
              </a:ext>
            </a:extLst>
          </p:cNvPr>
          <p:cNvSpPr txBox="1"/>
          <p:nvPr/>
        </p:nvSpPr>
        <p:spPr>
          <a:xfrm>
            <a:off x="4597400" y="3729567"/>
            <a:ext cx="965200" cy="359833"/>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−s</a:t>
            </a:r>
            <a:r>
              <a:rPr lang="el-GR" sz="1728" baseline="-22000">
                <a:solidFill>
                  <a:srgbClr val="15283B"/>
                </a:solidFill>
                <a:latin typeface="Cambria Math" panose="02040503050406030204" pitchFamily="18" charset="0"/>
              </a:rPr>
              <a:t>θ</a:t>
            </a:r>
            <a:endParaRPr lang="en-IL" sz="1728" baseline="-22000">
              <a:solidFill>
                <a:srgbClr val="15283B"/>
              </a:solidFill>
              <a:latin typeface="Cambria Math" panose="02040503050406030204" pitchFamily="18" charset="0"/>
            </a:endParaRPr>
          </a:p>
        </p:txBody>
      </p:sp>
      <p:sp>
        <p:nvSpPr>
          <p:cNvPr id="100" name="updated_text_38">
            <a:extLst>
              <a:ext uri="{FF2B5EF4-FFF2-40B4-BE49-F238E27FC236}">
                <a16:creationId xmlns:a16="http://schemas.microsoft.com/office/drawing/2014/main" id="{12976353-4F9A-D6B8-A909-F77BD1EC1B1D}"/>
              </a:ext>
            </a:extLst>
          </p:cNvPr>
          <p:cNvSpPr txBox="1"/>
          <p:nvPr/>
        </p:nvSpPr>
        <p:spPr>
          <a:xfrm>
            <a:off x="5562600" y="3729567"/>
            <a:ext cx="965200" cy="359833"/>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0</a:t>
            </a:r>
          </a:p>
        </p:txBody>
      </p:sp>
      <p:sp>
        <p:nvSpPr>
          <p:cNvPr id="101" name="updated_text_39">
            <a:extLst>
              <a:ext uri="{FF2B5EF4-FFF2-40B4-BE49-F238E27FC236}">
                <a16:creationId xmlns:a16="http://schemas.microsoft.com/office/drawing/2014/main" id="{75BC236B-0969-FF2C-8DD7-933ECAC5E283}"/>
              </a:ext>
            </a:extLst>
          </p:cNvPr>
          <p:cNvSpPr txBox="1"/>
          <p:nvPr/>
        </p:nvSpPr>
        <p:spPr>
          <a:xfrm>
            <a:off x="6527800" y="3729567"/>
            <a:ext cx="965200" cy="359833"/>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c</a:t>
            </a:r>
            <a:r>
              <a:rPr lang="el-GR" sz="1728" baseline="-22000">
                <a:solidFill>
                  <a:srgbClr val="15283B"/>
                </a:solidFill>
                <a:latin typeface="Cambria Math" panose="02040503050406030204" pitchFamily="18" charset="0"/>
              </a:rPr>
              <a:t>θ</a:t>
            </a:r>
            <a:endParaRPr lang="en-IL" sz="1728" baseline="-22000">
              <a:solidFill>
                <a:srgbClr val="15283B"/>
              </a:solidFill>
              <a:latin typeface="Cambria Math" panose="02040503050406030204" pitchFamily="18" charset="0"/>
            </a:endParaRPr>
          </a:p>
        </p:txBody>
      </p:sp>
      <p:cxnSp>
        <p:nvCxnSpPr>
          <p:cNvPr id="102" name="Straight Connector 101">
            <a:extLst>
              <a:ext uri="{FF2B5EF4-FFF2-40B4-BE49-F238E27FC236}">
                <a16:creationId xmlns:a16="http://schemas.microsoft.com/office/drawing/2014/main" id="{B59AD48B-DFF8-FE0E-4F43-17EE642B365F}"/>
              </a:ext>
            </a:extLst>
          </p:cNvPr>
          <p:cNvCxnSpPr/>
          <p:nvPr/>
        </p:nvCxnSpPr>
        <p:spPr>
          <a:xfrm>
            <a:off x="8229600" y="2933700"/>
            <a:ext cx="0" cy="11557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03" name="Straight Connector 102">
            <a:extLst>
              <a:ext uri="{FF2B5EF4-FFF2-40B4-BE49-F238E27FC236}">
                <a16:creationId xmlns:a16="http://schemas.microsoft.com/office/drawing/2014/main" id="{561B21F4-9DF3-0BFA-F4F8-447C9625B085}"/>
              </a:ext>
            </a:extLst>
          </p:cNvPr>
          <p:cNvCxnSpPr/>
          <p:nvPr/>
        </p:nvCxnSpPr>
        <p:spPr>
          <a:xfrm>
            <a:off x="8229600" y="29337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04" name="Straight Connector 103">
            <a:extLst>
              <a:ext uri="{FF2B5EF4-FFF2-40B4-BE49-F238E27FC236}">
                <a16:creationId xmlns:a16="http://schemas.microsoft.com/office/drawing/2014/main" id="{E9A67CC1-583A-FA47-7642-CCF13F6E50A5}"/>
              </a:ext>
            </a:extLst>
          </p:cNvPr>
          <p:cNvCxnSpPr/>
          <p:nvPr/>
        </p:nvCxnSpPr>
        <p:spPr>
          <a:xfrm>
            <a:off x="8229600" y="40894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05" name="Straight Connector 104">
            <a:extLst>
              <a:ext uri="{FF2B5EF4-FFF2-40B4-BE49-F238E27FC236}">
                <a16:creationId xmlns:a16="http://schemas.microsoft.com/office/drawing/2014/main" id="{87D4FE51-7163-00EF-04FE-3321703F20D6}"/>
              </a:ext>
            </a:extLst>
          </p:cNvPr>
          <p:cNvCxnSpPr/>
          <p:nvPr/>
        </p:nvCxnSpPr>
        <p:spPr>
          <a:xfrm>
            <a:off x="11404600" y="2933700"/>
            <a:ext cx="0" cy="11557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06" name="Straight Connector 105">
            <a:extLst>
              <a:ext uri="{FF2B5EF4-FFF2-40B4-BE49-F238E27FC236}">
                <a16:creationId xmlns:a16="http://schemas.microsoft.com/office/drawing/2014/main" id="{6B4D2728-C9CE-4D41-7056-296FFE4A67CE}"/>
              </a:ext>
            </a:extLst>
          </p:cNvPr>
          <p:cNvCxnSpPr/>
          <p:nvPr/>
        </p:nvCxnSpPr>
        <p:spPr>
          <a:xfrm flipH="1">
            <a:off x="11303000" y="29337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07" name="Straight Connector 106">
            <a:extLst>
              <a:ext uri="{FF2B5EF4-FFF2-40B4-BE49-F238E27FC236}">
                <a16:creationId xmlns:a16="http://schemas.microsoft.com/office/drawing/2014/main" id="{C6C1A981-49C0-5954-C4ED-1181DCB6C555}"/>
              </a:ext>
            </a:extLst>
          </p:cNvPr>
          <p:cNvCxnSpPr/>
          <p:nvPr/>
        </p:nvCxnSpPr>
        <p:spPr>
          <a:xfrm flipH="1">
            <a:off x="11303000" y="40894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sp>
        <p:nvSpPr>
          <p:cNvPr id="108" name="updated_text_46">
            <a:extLst>
              <a:ext uri="{FF2B5EF4-FFF2-40B4-BE49-F238E27FC236}">
                <a16:creationId xmlns:a16="http://schemas.microsoft.com/office/drawing/2014/main" id="{263DB430-D999-4413-B753-4C75C4DF8028}"/>
              </a:ext>
            </a:extLst>
          </p:cNvPr>
          <p:cNvSpPr txBox="1"/>
          <p:nvPr/>
        </p:nvSpPr>
        <p:spPr>
          <a:xfrm>
            <a:off x="8369300" y="2959100"/>
            <a:ext cx="965200" cy="359833"/>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c</a:t>
            </a:r>
            <a:r>
              <a:rPr lang="el-GR" sz="1728" baseline="-22000">
                <a:solidFill>
                  <a:srgbClr val="15283B"/>
                </a:solidFill>
                <a:latin typeface="Cambria Math" panose="02040503050406030204" pitchFamily="18" charset="0"/>
              </a:rPr>
              <a:t>ψ</a:t>
            </a:r>
            <a:endParaRPr lang="en-IL" sz="1728" baseline="-22000">
              <a:solidFill>
                <a:srgbClr val="15283B"/>
              </a:solidFill>
              <a:latin typeface="Cambria Math" panose="02040503050406030204" pitchFamily="18" charset="0"/>
            </a:endParaRPr>
          </a:p>
        </p:txBody>
      </p:sp>
      <p:sp>
        <p:nvSpPr>
          <p:cNvPr id="109" name="updated_text_47">
            <a:extLst>
              <a:ext uri="{FF2B5EF4-FFF2-40B4-BE49-F238E27FC236}">
                <a16:creationId xmlns:a16="http://schemas.microsoft.com/office/drawing/2014/main" id="{7F86F031-2A79-6852-D70D-07FE1F14DF40}"/>
              </a:ext>
            </a:extLst>
          </p:cNvPr>
          <p:cNvSpPr txBox="1"/>
          <p:nvPr/>
        </p:nvSpPr>
        <p:spPr>
          <a:xfrm>
            <a:off x="9334500" y="2959100"/>
            <a:ext cx="965200" cy="359833"/>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−s</a:t>
            </a:r>
            <a:r>
              <a:rPr lang="el-GR" sz="1728" baseline="-22000">
                <a:solidFill>
                  <a:srgbClr val="15283B"/>
                </a:solidFill>
                <a:latin typeface="Cambria Math" panose="02040503050406030204" pitchFamily="18" charset="0"/>
              </a:rPr>
              <a:t>ψ</a:t>
            </a:r>
            <a:endParaRPr lang="en-IL" sz="1728" baseline="-22000">
              <a:solidFill>
                <a:srgbClr val="15283B"/>
              </a:solidFill>
              <a:latin typeface="Cambria Math" panose="02040503050406030204" pitchFamily="18" charset="0"/>
            </a:endParaRPr>
          </a:p>
        </p:txBody>
      </p:sp>
      <p:sp>
        <p:nvSpPr>
          <p:cNvPr id="110" name="updated_text_48">
            <a:extLst>
              <a:ext uri="{FF2B5EF4-FFF2-40B4-BE49-F238E27FC236}">
                <a16:creationId xmlns:a16="http://schemas.microsoft.com/office/drawing/2014/main" id="{AA531B02-BE5A-95E2-090D-35794E935463}"/>
              </a:ext>
            </a:extLst>
          </p:cNvPr>
          <p:cNvSpPr txBox="1"/>
          <p:nvPr/>
        </p:nvSpPr>
        <p:spPr>
          <a:xfrm>
            <a:off x="10299700" y="2959100"/>
            <a:ext cx="965200" cy="359833"/>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0</a:t>
            </a:r>
          </a:p>
        </p:txBody>
      </p:sp>
      <p:sp>
        <p:nvSpPr>
          <p:cNvPr id="111" name="updated_text_49">
            <a:extLst>
              <a:ext uri="{FF2B5EF4-FFF2-40B4-BE49-F238E27FC236}">
                <a16:creationId xmlns:a16="http://schemas.microsoft.com/office/drawing/2014/main" id="{AB35887A-32B4-1145-BA82-D2D94C6FD585}"/>
              </a:ext>
            </a:extLst>
          </p:cNvPr>
          <p:cNvSpPr txBox="1"/>
          <p:nvPr/>
        </p:nvSpPr>
        <p:spPr>
          <a:xfrm>
            <a:off x="8369300" y="3344333"/>
            <a:ext cx="965200" cy="359833"/>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s</a:t>
            </a:r>
            <a:r>
              <a:rPr lang="el-GR" sz="1728" baseline="-22000">
                <a:solidFill>
                  <a:srgbClr val="15283B"/>
                </a:solidFill>
                <a:latin typeface="Cambria Math" panose="02040503050406030204" pitchFamily="18" charset="0"/>
              </a:rPr>
              <a:t>ψ</a:t>
            </a:r>
            <a:endParaRPr lang="en-IL" sz="1728" baseline="-22000">
              <a:solidFill>
                <a:srgbClr val="15283B"/>
              </a:solidFill>
              <a:latin typeface="Cambria Math" panose="02040503050406030204" pitchFamily="18" charset="0"/>
            </a:endParaRPr>
          </a:p>
        </p:txBody>
      </p:sp>
      <p:sp>
        <p:nvSpPr>
          <p:cNvPr id="112" name="updated_text_50">
            <a:extLst>
              <a:ext uri="{FF2B5EF4-FFF2-40B4-BE49-F238E27FC236}">
                <a16:creationId xmlns:a16="http://schemas.microsoft.com/office/drawing/2014/main" id="{FB566B90-A8B2-FA49-8CD8-9C0EC4D52508}"/>
              </a:ext>
            </a:extLst>
          </p:cNvPr>
          <p:cNvSpPr txBox="1"/>
          <p:nvPr/>
        </p:nvSpPr>
        <p:spPr>
          <a:xfrm>
            <a:off x="9334500" y="3344333"/>
            <a:ext cx="965200" cy="359833"/>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c</a:t>
            </a:r>
            <a:r>
              <a:rPr lang="el-GR" sz="1728" baseline="-22000">
                <a:solidFill>
                  <a:srgbClr val="15283B"/>
                </a:solidFill>
                <a:latin typeface="Cambria Math" panose="02040503050406030204" pitchFamily="18" charset="0"/>
              </a:rPr>
              <a:t>ψ</a:t>
            </a:r>
            <a:endParaRPr lang="en-IL" sz="1728" baseline="-22000">
              <a:solidFill>
                <a:srgbClr val="15283B"/>
              </a:solidFill>
              <a:latin typeface="Cambria Math" panose="02040503050406030204" pitchFamily="18" charset="0"/>
            </a:endParaRPr>
          </a:p>
        </p:txBody>
      </p:sp>
      <p:sp>
        <p:nvSpPr>
          <p:cNvPr id="113" name="updated_text_51">
            <a:extLst>
              <a:ext uri="{FF2B5EF4-FFF2-40B4-BE49-F238E27FC236}">
                <a16:creationId xmlns:a16="http://schemas.microsoft.com/office/drawing/2014/main" id="{C21A6C52-38A0-440B-A2A4-AB018678B195}"/>
              </a:ext>
            </a:extLst>
          </p:cNvPr>
          <p:cNvSpPr txBox="1"/>
          <p:nvPr/>
        </p:nvSpPr>
        <p:spPr>
          <a:xfrm>
            <a:off x="10299700" y="3344333"/>
            <a:ext cx="965200" cy="359833"/>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0</a:t>
            </a:r>
          </a:p>
        </p:txBody>
      </p:sp>
      <p:sp>
        <p:nvSpPr>
          <p:cNvPr id="114" name="updated_text_52">
            <a:extLst>
              <a:ext uri="{FF2B5EF4-FFF2-40B4-BE49-F238E27FC236}">
                <a16:creationId xmlns:a16="http://schemas.microsoft.com/office/drawing/2014/main" id="{07A7035D-6F03-1F95-B71A-55CD39A50DA3}"/>
              </a:ext>
            </a:extLst>
          </p:cNvPr>
          <p:cNvSpPr txBox="1"/>
          <p:nvPr/>
        </p:nvSpPr>
        <p:spPr>
          <a:xfrm>
            <a:off x="8369300" y="3729567"/>
            <a:ext cx="965200" cy="359833"/>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0</a:t>
            </a:r>
          </a:p>
        </p:txBody>
      </p:sp>
      <p:sp>
        <p:nvSpPr>
          <p:cNvPr id="115" name="updated_text_53">
            <a:extLst>
              <a:ext uri="{FF2B5EF4-FFF2-40B4-BE49-F238E27FC236}">
                <a16:creationId xmlns:a16="http://schemas.microsoft.com/office/drawing/2014/main" id="{C51666C9-733D-15BE-BF9C-4288A0BB06F2}"/>
              </a:ext>
            </a:extLst>
          </p:cNvPr>
          <p:cNvSpPr txBox="1"/>
          <p:nvPr/>
        </p:nvSpPr>
        <p:spPr>
          <a:xfrm>
            <a:off x="9334500" y="3729567"/>
            <a:ext cx="965200" cy="359833"/>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0</a:t>
            </a:r>
          </a:p>
        </p:txBody>
      </p:sp>
      <p:sp>
        <p:nvSpPr>
          <p:cNvPr id="116" name="updated_text_54">
            <a:extLst>
              <a:ext uri="{FF2B5EF4-FFF2-40B4-BE49-F238E27FC236}">
                <a16:creationId xmlns:a16="http://schemas.microsoft.com/office/drawing/2014/main" id="{17DB6E31-088D-E497-E23E-1993D20FB68F}"/>
              </a:ext>
            </a:extLst>
          </p:cNvPr>
          <p:cNvSpPr txBox="1"/>
          <p:nvPr/>
        </p:nvSpPr>
        <p:spPr>
          <a:xfrm>
            <a:off x="10299700" y="3729567"/>
            <a:ext cx="965200" cy="359833"/>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1</a:t>
            </a:r>
          </a:p>
        </p:txBody>
      </p:sp>
      <p:sp>
        <p:nvSpPr>
          <p:cNvPr id="117" name="updated_text_55">
            <a:extLst>
              <a:ext uri="{FF2B5EF4-FFF2-40B4-BE49-F238E27FC236}">
                <a16:creationId xmlns:a16="http://schemas.microsoft.com/office/drawing/2014/main" id="{53380F80-5789-0099-DDB4-3B39781C4109}"/>
              </a:ext>
            </a:extLst>
          </p:cNvPr>
          <p:cNvSpPr txBox="1"/>
          <p:nvPr/>
        </p:nvSpPr>
        <p:spPr>
          <a:xfrm>
            <a:off x="685800" y="4203699"/>
            <a:ext cx="10820400" cy="546100"/>
          </a:xfrm>
          <a:prstGeom prst="rect">
            <a:avLst/>
          </a:prstGeom>
          <a:noFill/>
        </p:spPr>
        <p:txBody>
          <a:bodyPr vert="horz" wrap="square" lIns="0" tIns="0" rIns="0" bIns="0" rtlCol="0" anchor="t">
            <a:noAutofit/>
          </a:bodyPr>
          <a:lstStyle/>
          <a:p>
            <a:pPr algn="ctr"/>
            <a:r>
              <a:rPr lang="pt-BR" sz="3200">
                <a:solidFill>
                  <a:srgbClr val="2459D3"/>
                </a:solidFill>
                <a:latin typeface="Cambria Math" panose="02040503050406030204" pitchFamily="18" charset="0"/>
              </a:rPr>
              <a:t>R = R</a:t>
            </a:r>
            <a:r>
              <a:rPr lang="pt-BR" sz="2304" baseline="-22000">
                <a:solidFill>
                  <a:srgbClr val="2459D3"/>
                </a:solidFill>
                <a:latin typeface="Cambria Math" panose="02040503050406030204" pitchFamily="18" charset="0"/>
              </a:rPr>
              <a:t>z</a:t>
            </a:r>
            <a:r>
              <a:rPr lang="pt-BR" sz="3200">
                <a:solidFill>
                  <a:srgbClr val="2459D3"/>
                </a:solidFill>
                <a:latin typeface="Cambria Math" panose="02040503050406030204" pitchFamily="18" charset="0"/>
              </a:rPr>
              <a:t>(ψ) R</a:t>
            </a:r>
            <a:r>
              <a:rPr lang="pt-BR" sz="2304" baseline="-22000">
                <a:solidFill>
                  <a:srgbClr val="2459D3"/>
                </a:solidFill>
                <a:latin typeface="Cambria Math" panose="02040503050406030204" pitchFamily="18" charset="0"/>
              </a:rPr>
              <a:t>y</a:t>
            </a:r>
            <a:r>
              <a:rPr lang="pt-BR" sz="3200">
                <a:solidFill>
                  <a:srgbClr val="2459D3"/>
                </a:solidFill>
                <a:latin typeface="Cambria Math" panose="02040503050406030204" pitchFamily="18" charset="0"/>
              </a:rPr>
              <a:t>(θ) R</a:t>
            </a:r>
            <a:r>
              <a:rPr lang="pt-BR" sz="2304" baseline="-22000">
                <a:solidFill>
                  <a:srgbClr val="2459D3"/>
                </a:solidFill>
                <a:latin typeface="Cambria Math" panose="02040503050406030204" pitchFamily="18" charset="0"/>
              </a:rPr>
              <a:t>x</a:t>
            </a:r>
            <a:r>
              <a:rPr lang="pt-BR" sz="3200">
                <a:solidFill>
                  <a:srgbClr val="2459D3"/>
                </a:solidFill>
                <a:latin typeface="Cambria Math" panose="02040503050406030204" pitchFamily="18" charset="0"/>
              </a:rPr>
              <a:t>(φ)</a:t>
            </a:r>
            <a:endParaRPr lang="en-IL" sz="3200">
              <a:solidFill>
                <a:srgbClr val="2459D3"/>
              </a:solidFill>
              <a:latin typeface="Cambria Math" panose="02040503050406030204" pitchFamily="18" charset="0"/>
            </a:endParaRPr>
          </a:p>
        </p:txBody>
      </p:sp>
      <p:sp>
        <p:nvSpPr>
          <p:cNvPr id="118" name="updated_text_56">
            <a:extLst>
              <a:ext uri="{FF2B5EF4-FFF2-40B4-BE49-F238E27FC236}">
                <a16:creationId xmlns:a16="http://schemas.microsoft.com/office/drawing/2014/main" id="{BE170AF9-750C-AF77-AD04-8A4B4EE7BB22}"/>
              </a:ext>
            </a:extLst>
          </p:cNvPr>
          <p:cNvSpPr txBox="1"/>
          <p:nvPr/>
        </p:nvSpPr>
        <p:spPr>
          <a:xfrm>
            <a:off x="685800" y="4762499"/>
            <a:ext cx="10820400" cy="431800"/>
          </a:xfrm>
          <a:prstGeom prst="rect">
            <a:avLst/>
          </a:prstGeom>
          <a:noFill/>
        </p:spPr>
        <p:txBody>
          <a:bodyPr vert="horz" wrap="square" lIns="0" tIns="0" rIns="0" bIns="0" rtlCol="0" anchor="t">
            <a:noAutofit/>
          </a:bodyPr>
          <a:lstStyle/>
          <a:p>
            <a:r>
              <a:rPr lang="en-IL" sz="2400">
                <a:solidFill>
                  <a:srgbClr val="15283B"/>
                </a:solidFill>
                <a:latin typeface="Cambria Math" panose="02040503050406030204" pitchFamily="18" charset="0"/>
              </a:rPr>
              <a:t>90° x then z: e</a:t>
            </a:r>
            <a:r>
              <a:rPr lang="en-IL" sz="1728" baseline="-22000">
                <a:solidFill>
                  <a:srgbClr val="15283B"/>
                </a:solidFill>
                <a:latin typeface="Cambria Math" panose="02040503050406030204" pitchFamily="18" charset="0"/>
              </a:rPr>
              <a:t>x</a:t>
            </a:r>
            <a:r>
              <a:rPr lang="en-IL" sz="2400">
                <a:solidFill>
                  <a:srgbClr val="15283B"/>
                </a:solidFill>
                <a:latin typeface="Cambria Math" panose="02040503050406030204" pitchFamily="18" charset="0"/>
              </a:rPr>
              <a:t> → e</a:t>
            </a:r>
            <a:r>
              <a:rPr lang="en-IL" sz="1728" baseline="-22000">
                <a:solidFill>
                  <a:srgbClr val="15283B"/>
                </a:solidFill>
                <a:latin typeface="Cambria Math" panose="02040503050406030204" pitchFamily="18" charset="0"/>
              </a:rPr>
              <a:t>y</a:t>
            </a:r>
            <a:r>
              <a:rPr lang="en-IL" sz="2400">
                <a:solidFill>
                  <a:srgbClr val="15283B"/>
                </a:solidFill>
                <a:latin typeface="Cambria Math" panose="02040503050406030204" pitchFamily="18" charset="0"/>
              </a:rPr>
              <a:t>   ·   z then x: e</a:t>
            </a:r>
            <a:r>
              <a:rPr lang="en-IL" sz="1728" baseline="-22000">
                <a:solidFill>
                  <a:srgbClr val="15283B"/>
                </a:solidFill>
                <a:latin typeface="Cambria Math" panose="02040503050406030204" pitchFamily="18" charset="0"/>
              </a:rPr>
              <a:t>x</a:t>
            </a:r>
            <a:r>
              <a:rPr lang="en-IL" sz="2400">
                <a:solidFill>
                  <a:srgbClr val="15283B"/>
                </a:solidFill>
                <a:latin typeface="Cambria Math" panose="02040503050406030204" pitchFamily="18" charset="0"/>
              </a:rPr>
              <a:t> → e</a:t>
            </a:r>
            <a:r>
              <a:rPr lang="en-IL" sz="1728" baseline="-22000">
                <a:solidFill>
                  <a:srgbClr val="15283B"/>
                </a:solidFill>
                <a:latin typeface="Cambria Math" panose="02040503050406030204" pitchFamily="18" charset="0"/>
              </a:rPr>
              <a:t>z</a:t>
            </a:r>
          </a:p>
        </p:txBody>
      </p:sp>
      <p:sp>
        <p:nvSpPr>
          <p:cNvPr id="119" name="updated_text_57">
            <a:extLst>
              <a:ext uri="{FF2B5EF4-FFF2-40B4-BE49-F238E27FC236}">
                <a16:creationId xmlns:a16="http://schemas.microsoft.com/office/drawing/2014/main" id="{3EE6D4F4-EB09-ED75-405E-145311E64332}"/>
              </a:ext>
            </a:extLst>
          </p:cNvPr>
          <p:cNvSpPr txBox="1"/>
          <p:nvPr/>
        </p:nvSpPr>
        <p:spPr>
          <a:xfrm>
            <a:off x="685800" y="5206999"/>
            <a:ext cx="10820400" cy="698500"/>
          </a:xfrm>
          <a:prstGeom prst="rect">
            <a:avLst/>
          </a:prstGeom>
          <a:noFill/>
        </p:spPr>
        <p:txBody>
          <a:bodyPr vert="horz" wrap="square" lIns="0" tIns="0" rIns="0" bIns="0" rtlCol="0" anchor="t">
            <a:noAutofit/>
          </a:bodyPr>
          <a:lstStyle/>
          <a:p>
            <a:r>
              <a:rPr lang="en-US" sz="2300">
                <a:solidFill>
                  <a:srgbClr val="15283B"/>
                </a:solidFill>
                <a:latin typeface="Aptos" panose="020B0004020202020204" pitchFamily="34" charset="0"/>
              </a:rPr>
              <a:t>Pitch = ±90°: roll and yaw couple (gimbal lock).
Euler singularity; physical rotation remains possible.</a:t>
            </a:r>
            <a:endParaRPr lang="en-IL" sz="2300">
              <a:solidFill>
                <a:srgbClr val="15283B"/>
              </a:solidFill>
              <a:latin typeface="Aptos" panose="020B0004020202020204" pitchFamily="34" charset="0"/>
            </a:endParaRPr>
          </a:p>
        </p:txBody>
      </p:sp>
      <p:sp>
        <p:nvSpPr>
          <p:cNvPr id="120" name="gimbal_lock_video">
            <a:hlinkClick r:id="rId3"/>
            <a:extLst>
              <a:ext uri="{FF2B5EF4-FFF2-40B4-BE49-F238E27FC236}">
                <a16:creationId xmlns:a16="http://schemas.microsoft.com/office/drawing/2014/main" id="{876354EA-F314-D200-F875-F98D7F104C0E}"/>
              </a:ext>
            </a:extLst>
          </p:cNvPr>
          <p:cNvSpPr txBox="1"/>
          <p:nvPr/>
        </p:nvSpPr>
        <p:spPr>
          <a:xfrm>
            <a:off x="685800" y="5918199"/>
            <a:ext cx="10820400" cy="342900"/>
          </a:xfrm>
          <a:prstGeom prst="rect">
            <a:avLst/>
          </a:prstGeom>
          <a:noFill/>
        </p:spPr>
        <p:txBody>
          <a:bodyPr vert="horz" wrap="square" lIns="0" tIns="0" rIns="0" bIns="0" rtlCol="0" anchor="t">
            <a:noAutofit/>
          </a:bodyPr>
          <a:lstStyle/>
          <a:p>
            <a:r>
              <a:rPr lang="en-US" sz="2200" b="1">
                <a:solidFill>
                  <a:srgbClr val="137F79"/>
                </a:solidFill>
                <a:latin typeface="Aptos" panose="020B0004020202020204" pitchFamily="34" charset="0"/>
              </a:rPr>
              <a:t>▶ Gimbal Lock — Video Demonstration (start at 2:20)</a:t>
            </a:r>
            <a:endParaRPr lang="en-IL" sz="2200" b="1">
              <a:solidFill>
                <a:srgbClr val="137F79"/>
              </a:solidFill>
              <a:latin typeface="Aptos" panose="020B0004020202020204" pitchFamily="34" charset="0"/>
            </a:endParaRPr>
          </a:p>
        </p:txBody>
      </p:sp>
    </p:spTree>
    <p:extLst>
      <p:ext uri="{BB962C8B-B14F-4D97-AF65-F5344CB8AC3E}">
        <p14:creationId xmlns:p14="http://schemas.microsoft.com/office/powerpoint/2010/main" val="14871524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B6F60CA1-D88A-8A96-7F15-DFE7F638BFF5}"/>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02 / COORDINATE FRAMES</a:t>
            </a:r>
          </a:p>
        </p:txBody>
      </p:sp>
      <p:sp>
        <p:nvSpPr>
          <p:cNvPr id="3" name="text_2">
            <a:extLst>
              <a:ext uri="{FF2B5EF4-FFF2-40B4-BE49-F238E27FC236}">
                <a16:creationId xmlns:a16="http://schemas.microsoft.com/office/drawing/2014/main" id="{35DD28C9-2AB1-6368-94DE-9E8E2A7D60A4}"/>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fr-FR" sz="4000" b="1">
                <a:solidFill>
                  <a:srgbClr val="15283B"/>
                </a:solidFill>
                <a:latin typeface="Aptos" panose="020B0004020202020204" pitchFamily="34" charset="0"/>
              </a:rPr>
              <a:t>Rotation matrices describe frame axes</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F4C571A5-4573-5268-C134-918F772927BD}"/>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Each column is an axis of frame B expressed in frame A.</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167E2717-7A6C-85B0-CEC0-CA199C715230}"/>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8DB8319B-66F0-56D1-E3AB-A2FDD563C863}"/>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9722396E-5FC6-88F6-A46A-764875699FFF}"/>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07</a:t>
            </a:r>
          </a:p>
        </p:txBody>
      </p:sp>
      <p:sp>
        <p:nvSpPr>
          <p:cNvPr id="69" name="Rectangle: Rounded Corners 68">
            <a:extLst>
              <a:ext uri="{FF2B5EF4-FFF2-40B4-BE49-F238E27FC236}">
                <a16:creationId xmlns:a16="http://schemas.microsoft.com/office/drawing/2014/main" id="{B4D5AF2C-8C7C-CD42-5D4D-F320518127B1}"/>
              </a:ext>
            </a:extLst>
          </p:cNvPr>
          <p:cNvSpPr/>
          <p:nvPr/>
        </p:nvSpPr>
        <p:spPr>
          <a:xfrm>
            <a:off x="685800" y="2540000"/>
            <a:ext cx="7112000" cy="35560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70" name="updated_text_8">
            <a:extLst>
              <a:ext uri="{FF2B5EF4-FFF2-40B4-BE49-F238E27FC236}">
                <a16:creationId xmlns:a16="http://schemas.microsoft.com/office/drawing/2014/main" id="{10699D44-BD44-6445-289C-7C98E7C8F4A9}"/>
              </a:ext>
            </a:extLst>
          </p:cNvPr>
          <p:cNvSpPr txBox="1"/>
          <p:nvPr/>
        </p:nvSpPr>
        <p:spPr>
          <a:xfrm>
            <a:off x="914400" y="2743199"/>
            <a:ext cx="6654800" cy="457200"/>
          </a:xfrm>
          <a:prstGeom prst="rect">
            <a:avLst/>
          </a:prstGeom>
          <a:noFill/>
        </p:spPr>
        <p:txBody>
          <a:bodyPr vert="horz" wrap="square" lIns="0" tIns="0" rIns="0" bIns="0" rtlCol="0" anchor="t">
            <a:noAutofit/>
          </a:bodyPr>
          <a:lstStyle/>
          <a:p>
            <a:r>
              <a:rPr lang="en-US" sz="2700" b="1">
                <a:solidFill>
                  <a:srgbClr val="2459D3"/>
                </a:solidFill>
                <a:latin typeface="Aptos" panose="020B0004020202020204" pitchFamily="34" charset="0"/>
              </a:rPr>
              <a:t>Three columns · three unit axes</a:t>
            </a:r>
            <a:endParaRPr lang="en-IL" sz="2700" b="1">
              <a:solidFill>
                <a:srgbClr val="2459D3"/>
              </a:solidFill>
              <a:latin typeface="Aptos" panose="020B0004020202020204" pitchFamily="34" charset="0"/>
            </a:endParaRPr>
          </a:p>
        </p:txBody>
      </p:sp>
      <p:sp>
        <p:nvSpPr>
          <p:cNvPr id="71" name="updated_text_9">
            <a:extLst>
              <a:ext uri="{FF2B5EF4-FFF2-40B4-BE49-F238E27FC236}">
                <a16:creationId xmlns:a16="http://schemas.microsoft.com/office/drawing/2014/main" id="{B0D0E9D6-8E3B-33EC-545A-6A965EE2E07B}"/>
              </a:ext>
            </a:extLst>
          </p:cNvPr>
          <p:cNvSpPr txBox="1"/>
          <p:nvPr/>
        </p:nvSpPr>
        <p:spPr>
          <a:xfrm>
            <a:off x="914400" y="3517899"/>
            <a:ext cx="6654800" cy="812800"/>
          </a:xfrm>
          <a:prstGeom prst="rect">
            <a:avLst/>
          </a:prstGeom>
          <a:noFill/>
        </p:spPr>
        <p:txBody>
          <a:bodyPr vert="horz" wrap="square" lIns="0" tIns="0" rIns="0" bIns="0" rtlCol="0" anchor="t">
            <a:noAutofit/>
          </a:bodyPr>
          <a:lstStyle/>
          <a:p>
            <a:r>
              <a:rPr lang="cy-GB" sz="2448" baseline="32000">
                <a:solidFill>
                  <a:srgbClr val="2459D3"/>
                </a:solidFill>
                <a:latin typeface="Cambria Math" panose="02040503050406030204" pitchFamily="18" charset="0"/>
              </a:rPr>
              <a:t>A</a:t>
            </a:r>
            <a:r>
              <a:rPr lang="cy-GB" sz="3400">
                <a:solidFill>
                  <a:srgbClr val="2459D3"/>
                </a:solidFill>
                <a:latin typeface="Cambria Math" panose="02040503050406030204" pitchFamily="18" charset="0"/>
              </a:rPr>
              <a:t>R</a:t>
            </a:r>
            <a:r>
              <a:rPr lang="cy-GB" sz="2448" baseline="-22000">
                <a:solidFill>
                  <a:srgbClr val="2459D3"/>
                </a:solidFill>
                <a:latin typeface="Cambria Math" panose="02040503050406030204" pitchFamily="18" charset="0"/>
              </a:rPr>
              <a:t>B</a:t>
            </a:r>
            <a:r>
              <a:rPr lang="cy-GB" sz="3400">
                <a:solidFill>
                  <a:srgbClr val="2459D3"/>
                </a:solidFill>
                <a:latin typeface="Cambria Math" panose="02040503050406030204" pitchFamily="18" charset="0"/>
              </a:rPr>
              <a:t> = [ </a:t>
            </a:r>
            <a:r>
              <a:rPr lang="cy-GB" sz="2448" baseline="32000">
                <a:solidFill>
                  <a:srgbClr val="2459D3"/>
                </a:solidFill>
                <a:latin typeface="Cambria Math" panose="02040503050406030204" pitchFamily="18" charset="0"/>
              </a:rPr>
              <a:t>A</a:t>
            </a:r>
            <a:r>
              <a:rPr lang="cy-GB" sz="3400">
                <a:solidFill>
                  <a:srgbClr val="2459D3"/>
                </a:solidFill>
                <a:latin typeface="Cambria Math" panose="02040503050406030204" pitchFamily="18" charset="0"/>
              </a:rPr>
              <a:t>x̂</a:t>
            </a:r>
            <a:r>
              <a:rPr lang="cy-GB" sz="2448" baseline="-22000">
                <a:solidFill>
                  <a:srgbClr val="2459D3"/>
                </a:solidFill>
                <a:latin typeface="Cambria Math" panose="02040503050406030204" pitchFamily="18" charset="0"/>
              </a:rPr>
              <a:t>B</a:t>
            </a:r>
            <a:r>
              <a:rPr lang="cy-GB" sz="3400">
                <a:solidFill>
                  <a:srgbClr val="2459D3"/>
                </a:solidFill>
                <a:latin typeface="Cambria Math" panose="02040503050406030204" pitchFamily="18" charset="0"/>
              </a:rPr>
              <a:t>   </a:t>
            </a:r>
            <a:r>
              <a:rPr lang="cy-GB" sz="2448" baseline="32000">
                <a:solidFill>
                  <a:srgbClr val="2459D3"/>
                </a:solidFill>
                <a:latin typeface="Cambria Math" panose="02040503050406030204" pitchFamily="18" charset="0"/>
              </a:rPr>
              <a:t>A</a:t>
            </a:r>
            <a:r>
              <a:rPr lang="cy-GB" sz="3400">
                <a:solidFill>
                  <a:srgbClr val="2459D3"/>
                </a:solidFill>
                <a:latin typeface="Cambria Math" panose="02040503050406030204" pitchFamily="18" charset="0"/>
              </a:rPr>
              <a:t>ŷ</a:t>
            </a:r>
            <a:r>
              <a:rPr lang="cy-GB" sz="2448" baseline="-22000">
                <a:solidFill>
                  <a:srgbClr val="2459D3"/>
                </a:solidFill>
                <a:latin typeface="Cambria Math" panose="02040503050406030204" pitchFamily="18" charset="0"/>
              </a:rPr>
              <a:t>B</a:t>
            </a:r>
            <a:r>
              <a:rPr lang="cy-GB" sz="3400">
                <a:solidFill>
                  <a:srgbClr val="2459D3"/>
                </a:solidFill>
                <a:latin typeface="Cambria Math" panose="02040503050406030204" pitchFamily="18" charset="0"/>
              </a:rPr>
              <a:t>   </a:t>
            </a:r>
            <a:r>
              <a:rPr lang="cy-GB" sz="2448" baseline="32000">
                <a:solidFill>
                  <a:srgbClr val="2459D3"/>
                </a:solidFill>
                <a:latin typeface="Cambria Math" panose="02040503050406030204" pitchFamily="18" charset="0"/>
              </a:rPr>
              <a:t>A</a:t>
            </a:r>
            <a:r>
              <a:rPr lang="cy-GB" sz="3400">
                <a:solidFill>
                  <a:srgbClr val="2459D3"/>
                </a:solidFill>
                <a:latin typeface="Cambria Math" panose="02040503050406030204" pitchFamily="18" charset="0"/>
              </a:rPr>
              <a:t>ẑ</a:t>
            </a:r>
            <a:r>
              <a:rPr lang="cy-GB" sz="2448" baseline="-22000">
                <a:solidFill>
                  <a:srgbClr val="2459D3"/>
                </a:solidFill>
                <a:latin typeface="Cambria Math" panose="02040503050406030204" pitchFamily="18" charset="0"/>
              </a:rPr>
              <a:t>B</a:t>
            </a:r>
            <a:r>
              <a:rPr lang="cy-GB" sz="3400">
                <a:solidFill>
                  <a:srgbClr val="2459D3"/>
                </a:solidFill>
                <a:latin typeface="Cambria Math" panose="02040503050406030204" pitchFamily="18" charset="0"/>
              </a:rPr>
              <a:t> ]</a:t>
            </a:r>
            <a:endParaRPr lang="en-IL" sz="3400">
              <a:solidFill>
                <a:srgbClr val="2459D3"/>
              </a:solidFill>
              <a:latin typeface="Cambria Math" panose="02040503050406030204" pitchFamily="18" charset="0"/>
            </a:endParaRPr>
          </a:p>
        </p:txBody>
      </p:sp>
      <p:sp>
        <p:nvSpPr>
          <p:cNvPr id="72" name="updated_text_10">
            <a:extLst>
              <a:ext uri="{FF2B5EF4-FFF2-40B4-BE49-F238E27FC236}">
                <a16:creationId xmlns:a16="http://schemas.microsoft.com/office/drawing/2014/main" id="{8DA717CC-CA37-EB08-A28D-5D0E1480D6A2}"/>
              </a:ext>
            </a:extLst>
          </p:cNvPr>
          <p:cNvSpPr txBox="1"/>
          <p:nvPr/>
        </p:nvSpPr>
        <p:spPr>
          <a:xfrm>
            <a:off x="914400" y="4533899"/>
            <a:ext cx="6654800" cy="469900"/>
          </a:xfrm>
          <a:prstGeom prst="rect">
            <a:avLst/>
          </a:prstGeom>
          <a:noFill/>
        </p:spPr>
        <p:txBody>
          <a:bodyPr vert="horz" wrap="square" lIns="0" tIns="0" rIns="0" bIns="0" rtlCol="0" anchor="t">
            <a:noAutofit/>
          </a:bodyPr>
          <a:lstStyle/>
          <a:p>
            <a:r>
              <a:rPr lang="en-US" sz="2500">
                <a:solidFill>
                  <a:srgbClr val="15283B"/>
                </a:solidFill>
                <a:latin typeface="Aptos" panose="020B0004020202020204" pitchFamily="34" charset="0"/>
              </a:rPr>
              <a:t>B axes, written using A coordinates.</a:t>
            </a:r>
            <a:endParaRPr lang="en-IL" sz="2500">
              <a:solidFill>
                <a:srgbClr val="15283B"/>
              </a:solidFill>
              <a:latin typeface="Aptos" panose="020B0004020202020204" pitchFamily="34" charset="0"/>
            </a:endParaRPr>
          </a:p>
        </p:txBody>
      </p:sp>
      <p:sp>
        <p:nvSpPr>
          <p:cNvPr id="73" name="updated_text_11">
            <a:extLst>
              <a:ext uri="{FF2B5EF4-FFF2-40B4-BE49-F238E27FC236}">
                <a16:creationId xmlns:a16="http://schemas.microsoft.com/office/drawing/2014/main" id="{9550EE10-93E4-C7F7-E1DA-11B6154221A7}"/>
              </a:ext>
            </a:extLst>
          </p:cNvPr>
          <p:cNvSpPr txBox="1"/>
          <p:nvPr/>
        </p:nvSpPr>
        <p:spPr>
          <a:xfrm>
            <a:off x="914400" y="5321299"/>
            <a:ext cx="6654800" cy="546100"/>
          </a:xfrm>
          <a:prstGeom prst="rect">
            <a:avLst/>
          </a:prstGeom>
          <a:noFill/>
        </p:spPr>
        <p:txBody>
          <a:bodyPr vert="horz" wrap="square" lIns="0" tIns="0" rIns="0" bIns="0" rtlCol="0" anchor="t">
            <a:noAutofit/>
          </a:bodyPr>
          <a:lstStyle/>
          <a:p>
            <a:r>
              <a:rPr lang="en-IL" sz="2900">
                <a:solidFill>
                  <a:srgbClr val="15283B"/>
                </a:solidFill>
                <a:latin typeface="Cambria Math" panose="02040503050406030204" pitchFamily="18" charset="0"/>
              </a:rPr>
              <a:t>R</a:t>
            </a:r>
            <a:r>
              <a:rPr lang="en-IL" sz="2088" baseline="32000">
                <a:solidFill>
                  <a:srgbClr val="15283B"/>
                </a:solidFill>
                <a:latin typeface="Cambria Math" panose="02040503050406030204" pitchFamily="18" charset="0"/>
              </a:rPr>
              <a:t>T</a:t>
            </a:r>
            <a:r>
              <a:rPr lang="en-IL" sz="2900">
                <a:solidFill>
                  <a:srgbClr val="15283B"/>
                </a:solidFill>
                <a:latin typeface="Cambria Math" panose="02040503050406030204" pitchFamily="18" charset="0"/>
              </a:rPr>
              <a:t>R = I      det(R) = +1</a:t>
            </a:r>
          </a:p>
        </p:txBody>
      </p:sp>
      <p:cxnSp>
        <p:nvCxnSpPr>
          <p:cNvPr id="74" name="Straight Connector 73">
            <a:extLst>
              <a:ext uri="{FF2B5EF4-FFF2-40B4-BE49-F238E27FC236}">
                <a16:creationId xmlns:a16="http://schemas.microsoft.com/office/drawing/2014/main" id="{BF325D50-9175-AE23-4FE6-B7212BD8F958}"/>
              </a:ext>
            </a:extLst>
          </p:cNvPr>
          <p:cNvCxnSpPr/>
          <p:nvPr/>
        </p:nvCxnSpPr>
        <p:spPr>
          <a:xfrm>
            <a:off x="9550400" y="4800600"/>
            <a:ext cx="15240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2358B543-4A25-7BBB-1DB3-419C9C6AB227}"/>
              </a:ext>
            </a:extLst>
          </p:cNvPr>
          <p:cNvCxnSpPr/>
          <p:nvPr/>
        </p:nvCxnSpPr>
        <p:spPr>
          <a:xfrm flipV="1">
            <a:off x="9550400" y="3187700"/>
            <a:ext cx="0" cy="161290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191D4DA5-E5AB-3B76-FD5D-1ECCC770E7EE}"/>
              </a:ext>
            </a:extLst>
          </p:cNvPr>
          <p:cNvCxnSpPr/>
          <p:nvPr/>
        </p:nvCxnSpPr>
        <p:spPr>
          <a:xfrm flipV="1">
            <a:off x="9550400" y="4038600"/>
            <a:ext cx="1320800" cy="76200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ED2259A9-4DC8-95A6-9DB6-3F7842BE8330}"/>
              </a:ext>
            </a:extLst>
          </p:cNvPr>
          <p:cNvCxnSpPr/>
          <p:nvPr/>
        </p:nvCxnSpPr>
        <p:spPr>
          <a:xfrm flipH="1" flipV="1">
            <a:off x="8788400" y="3479800"/>
            <a:ext cx="762000" cy="132080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78" name="updated_text_16">
            <a:extLst>
              <a:ext uri="{FF2B5EF4-FFF2-40B4-BE49-F238E27FC236}">
                <a16:creationId xmlns:a16="http://schemas.microsoft.com/office/drawing/2014/main" id="{EFC126D7-77B6-B719-C06D-5679F8B6A745}"/>
              </a:ext>
            </a:extLst>
          </p:cNvPr>
          <p:cNvSpPr txBox="1"/>
          <p:nvPr/>
        </p:nvSpPr>
        <p:spPr>
          <a:xfrm>
            <a:off x="11099800" y="4635499"/>
            <a:ext cx="406400" cy="444500"/>
          </a:xfrm>
          <a:prstGeom prst="rect">
            <a:avLst/>
          </a:prstGeom>
          <a:noFill/>
        </p:spPr>
        <p:txBody>
          <a:bodyPr vert="horz" wrap="square" lIns="0" tIns="0" rIns="0" bIns="0" rtlCol="0" anchor="t">
            <a:noAutofit/>
          </a:bodyPr>
          <a:lstStyle/>
          <a:p>
            <a:r>
              <a:rPr lang="en-IL" sz="2400">
                <a:solidFill>
                  <a:srgbClr val="2459D3"/>
                </a:solidFill>
                <a:latin typeface="Cambria Math" panose="02040503050406030204" pitchFamily="18" charset="0"/>
              </a:rPr>
              <a:t>x</a:t>
            </a:r>
            <a:r>
              <a:rPr lang="en-IL" sz="1728" baseline="-22000">
                <a:solidFill>
                  <a:srgbClr val="2459D3"/>
                </a:solidFill>
                <a:latin typeface="Cambria Math" panose="02040503050406030204" pitchFamily="18" charset="0"/>
              </a:rPr>
              <a:t>A</a:t>
            </a:r>
          </a:p>
        </p:txBody>
      </p:sp>
      <p:sp>
        <p:nvSpPr>
          <p:cNvPr id="79" name="updated_text_17">
            <a:extLst>
              <a:ext uri="{FF2B5EF4-FFF2-40B4-BE49-F238E27FC236}">
                <a16:creationId xmlns:a16="http://schemas.microsoft.com/office/drawing/2014/main" id="{1288E82E-DA98-723E-59C5-B82E69588E5A}"/>
              </a:ext>
            </a:extLst>
          </p:cNvPr>
          <p:cNvSpPr txBox="1"/>
          <p:nvPr/>
        </p:nvSpPr>
        <p:spPr>
          <a:xfrm>
            <a:off x="9398000" y="2781299"/>
            <a:ext cx="508000" cy="444500"/>
          </a:xfrm>
          <a:prstGeom prst="rect">
            <a:avLst/>
          </a:prstGeom>
          <a:noFill/>
        </p:spPr>
        <p:txBody>
          <a:bodyPr vert="horz" wrap="square" lIns="0" tIns="0" rIns="0" bIns="0" rtlCol="0" anchor="t">
            <a:noAutofit/>
          </a:bodyPr>
          <a:lstStyle/>
          <a:p>
            <a:r>
              <a:rPr lang="en-IL" sz="2400">
                <a:solidFill>
                  <a:srgbClr val="2459D3"/>
                </a:solidFill>
                <a:latin typeface="Cambria Math" panose="02040503050406030204" pitchFamily="18" charset="0"/>
              </a:rPr>
              <a:t>y</a:t>
            </a:r>
            <a:r>
              <a:rPr lang="en-IL" sz="1728" baseline="-22000">
                <a:solidFill>
                  <a:srgbClr val="2459D3"/>
                </a:solidFill>
                <a:latin typeface="Cambria Math" panose="02040503050406030204" pitchFamily="18" charset="0"/>
              </a:rPr>
              <a:t>A</a:t>
            </a:r>
          </a:p>
        </p:txBody>
      </p:sp>
      <p:sp>
        <p:nvSpPr>
          <p:cNvPr id="80" name="updated_text_18">
            <a:extLst>
              <a:ext uri="{FF2B5EF4-FFF2-40B4-BE49-F238E27FC236}">
                <a16:creationId xmlns:a16="http://schemas.microsoft.com/office/drawing/2014/main" id="{669F8A25-95A1-E94E-F169-EF6851C47360}"/>
              </a:ext>
            </a:extLst>
          </p:cNvPr>
          <p:cNvSpPr txBox="1"/>
          <p:nvPr/>
        </p:nvSpPr>
        <p:spPr>
          <a:xfrm>
            <a:off x="10883900" y="3695699"/>
            <a:ext cx="622300" cy="444500"/>
          </a:xfrm>
          <a:prstGeom prst="rect">
            <a:avLst/>
          </a:prstGeom>
          <a:noFill/>
        </p:spPr>
        <p:txBody>
          <a:bodyPr vert="horz" wrap="square" lIns="0" tIns="0" rIns="0" bIns="0" rtlCol="0" anchor="t">
            <a:noAutofit/>
          </a:bodyPr>
          <a:lstStyle/>
          <a:p>
            <a:r>
              <a:rPr lang="en-IL" sz="2400">
                <a:solidFill>
                  <a:srgbClr val="137F79"/>
                </a:solidFill>
                <a:latin typeface="Cambria Math" panose="02040503050406030204" pitchFamily="18" charset="0"/>
              </a:rPr>
              <a:t>x</a:t>
            </a:r>
            <a:r>
              <a:rPr lang="en-IL" sz="1728" baseline="-22000">
                <a:solidFill>
                  <a:srgbClr val="137F79"/>
                </a:solidFill>
                <a:latin typeface="Cambria Math" panose="02040503050406030204" pitchFamily="18" charset="0"/>
              </a:rPr>
              <a:t>B</a:t>
            </a:r>
          </a:p>
        </p:txBody>
      </p:sp>
      <p:sp>
        <p:nvSpPr>
          <p:cNvPr id="81" name="updated_text_19">
            <a:extLst>
              <a:ext uri="{FF2B5EF4-FFF2-40B4-BE49-F238E27FC236}">
                <a16:creationId xmlns:a16="http://schemas.microsoft.com/office/drawing/2014/main" id="{600D1AD6-640D-412C-FC9F-BB280F96F1D4}"/>
              </a:ext>
            </a:extLst>
          </p:cNvPr>
          <p:cNvSpPr txBox="1"/>
          <p:nvPr/>
        </p:nvSpPr>
        <p:spPr>
          <a:xfrm>
            <a:off x="8255000" y="3136899"/>
            <a:ext cx="609600" cy="444500"/>
          </a:xfrm>
          <a:prstGeom prst="rect">
            <a:avLst/>
          </a:prstGeom>
          <a:noFill/>
        </p:spPr>
        <p:txBody>
          <a:bodyPr vert="horz" wrap="square" lIns="0" tIns="0" rIns="0" bIns="0" rtlCol="0" anchor="t">
            <a:noAutofit/>
          </a:bodyPr>
          <a:lstStyle/>
          <a:p>
            <a:r>
              <a:rPr lang="en-IL" sz="2400">
                <a:solidFill>
                  <a:srgbClr val="137F79"/>
                </a:solidFill>
                <a:latin typeface="Cambria Math" panose="02040503050406030204" pitchFamily="18" charset="0"/>
              </a:rPr>
              <a:t>y</a:t>
            </a:r>
            <a:r>
              <a:rPr lang="en-IL" sz="1728" baseline="-22000">
                <a:solidFill>
                  <a:srgbClr val="137F79"/>
                </a:solidFill>
                <a:latin typeface="Cambria Math" panose="02040503050406030204" pitchFamily="18" charset="0"/>
              </a:rPr>
              <a:t>B</a:t>
            </a:r>
          </a:p>
        </p:txBody>
      </p:sp>
      <p:sp>
        <p:nvSpPr>
          <p:cNvPr id="82" name="Oval 81">
            <a:extLst>
              <a:ext uri="{FF2B5EF4-FFF2-40B4-BE49-F238E27FC236}">
                <a16:creationId xmlns:a16="http://schemas.microsoft.com/office/drawing/2014/main" id="{A8512FD2-A2C4-7D8D-39C5-79AD2B8114D8}"/>
              </a:ext>
            </a:extLst>
          </p:cNvPr>
          <p:cNvSpPr/>
          <p:nvPr/>
        </p:nvSpPr>
        <p:spPr>
          <a:xfrm>
            <a:off x="9486900" y="4737100"/>
            <a:ext cx="127000" cy="127000"/>
          </a:xfrm>
          <a:prstGeom prst="ellipse">
            <a:avLst/>
          </a:prstGeom>
          <a:solidFill>
            <a:srgbClr val="1528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3" name="updated_text_21">
            <a:extLst>
              <a:ext uri="{FF2B5EF4-FFF2-40B4-BE49-F238E27FC236}">
                <a16:creationId xmlns:a16="http://schemas.microsoft.com/office/drawing/2014/main" id="{6F746F23-722C-4C4C-FA08-12EB2C440A72}"/>
              </a:ext>
            </a:extLst>
          </p:cNvPr>
          <p:cNvSpPr txBox="1"/>
          <p:nvPr/>
        </p:nvSpPr>
        <p:spPr>
          <a:xfrm>
            <a:off x="8216900" y="5054599"/>
            <a:ext cx="3289300" cy="495300"/>
          </a:xfrm>
          <a:prstGeom prst="rect">
            <a:avLst/>
          </a:prstGeom>
          <a:noFill/>
        </p:spPr>
        <p:txBody>
          <a:bodyPr vert="horz" wrap="square" lIns="0" tIns="0" rIns="0" bIns="0" rtlCol="0" anchor="t">
            <a:noAutofit/>
          </a:bodyPr>
          <a:lstStyle/>
          <a:p>
            <a:pPr algn="ctr"/>
            <a:r>
              <a:rPr lang="en-IL" sz="2400">
                <a:solidFill>
                  <a:srgbClr val="526477"/>
                </a:solidFill>
                <a:latin typeface="Cambria Math" panose="02040503050406030204" pitchFamily="18" charset="0"/>
              </a:rPr>
              <a:t>⊙ z</a:t>
            </a:r>
            <a:r>
              <a:rPr lang="en-IL" sz="1728" baseline="-22000">
                <a:solidFill>
                  <a:srgbClr val="526477"/>
                </a:solidFill>
                <a:latin typeface="Cambria Math" panose="02040503050406030204" pitchFamily="18" charset="0"/>
              </a:rPr>
              <a:t>A</a:t>
            </a:r>
            <a:r>
              <a:rPr lang="en-IL" sz="2400">
                <a:solidFill>
                  <a:srgbClr val="526477"/>
                </a:solidFill>
                <a:latin typeface="Cambria Math" panose="02040503050406030204" pitchFamily="18" charset="0"/>
              </a:rPr>
              <a:t> = z</a:t>
            </a:r>
            <a:r>
              <a:rPr lang="en-IL" sz="1728" baseline="-22000">
                <a:solidFill>
                  <a:srgbClr val="526477"/>
                </a:solidFill>
                <a:latin typeface="Cambria Math" panose="02040503050406030204" pitchFamily="18" charset="0"/>
              </a:rPr>
              <a:t>B</a:t>
            </a:r>
            <a:r>
              <a:rPr lang="en-IL" sz="2400">
                <a:solidFill>
                  <a:srgbClr val="526477"/>
                </a:solidFill>
                <a:latin typeface="Cambria Math" panose="02040503050406030204" pitchFamily="18" charset="0"/>
              </a:rPr>
              <a:t> (out)</a:t>
            </a:r>
          </a:p>
        </p:txBody>
      </p:sp>
      <p:sp>
        <p:nvSpPr>
          <p:cNvPr id="84" name="updated_text_22">
            <a:extLst>
              <a:ext uri="{FF2B5EF4-FFF2-40B4-BE49-F238E27FC236}">
                <a16:creationId xmlns:a16="http://schemas.microsoft.com/office/drawing/2014/main" id="{FB593C28-7A5E-753D-6674-58D50506F447}"/>
              </a:ext>
            </a:extLst>
          </p:cNvPr>
          <p:cNvSpPr txBox="1"/>
          <p:nvPr/>
        </p:nvSpPr>
        <p:spPr>
          <a:xfrm>
            <a:off x="8153400" y="5676899"/>
            <a:ext cx="3352800" cy="431800"/>
          </a:xfrm>
          <a:prstGeom prst="rect">
            <a:avLst/>
          </a:prstGeom>
          <a:noFill/>
        </p:spPr>
        <p:txBody>
          <a:bodyPr vert="horz" wrap="square" lIns="0" tIns="0" rIns="0" bIns="0" rtlCol="0" anchor="t">
            <a:noAutofit/>
          </a:bodyPr>
          <a:lstStyle/>
          <a:p>
            <a:pPr algn="ctr"/>
            <a:r>
              <a:rPr lang="en-IL" sz="2400">
                <a:solidFill>
                  <a:srgbClr val="526477"/>
                </a:solidFill>
                <a:latin typeface="Aptos" panose="020B0004020202020204" pitchFamily="34" charset="0"/>
              </a:rPr>
              <a:t>A: blue · B: teal</a:t>
            </a:r>
          </a:p>
        </p:txBody>
      </p:sp>
    </p:spTree>
    <p:extLst>
      <p:ext uri="{BB962C8B-B14F-4D97-AF65-F5344CB8AC3E}">
        <p14:creationId xmlns:p14="http://schemas.microsoft.com/office/powerpoint/2010/main" val="19519541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B6F60CA1-D88A-8A96-7F15-DFE7F638BFF5}"/>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02 / COORDINATE FRAMES</a:t>
            </a:r>
          </a:p>
        </p:txBody>
      </p:sp>
      <p:sp>
        <p:nvSpPr>
          <p:cNvPr id="3" name="text_2">
            <a:extLst>
              <a:ext uri="{FF2B5EF4-FFF2-40B4-BE49-F238E27FC236}">
                <a16:creationId xmlns:a16="http://schemas.microsoft.com/office/drawing/2014/main" id="{35DD28C9-2AB1-6368-94DE-9E8E2A7D60A4}"/>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Homogeneous transformations</a:t>
            </a:r>
          </a:p>
        </p:txBody>
      </p:sp>
      <p:sp>
        <p:nvSpPr>
          <p:cNvPr id="4" name="text_3">
            <a:extLst>
              <a:ext uri="{FF2B5EF4-FFF2-40B4-BE49-F238E27FC236}">
                <a16:creationId xmlns:a16="http://schemas.microsoft.com/office/drawing/2014/main" id="{F4C571A5-4573-5268-C134-918F772927BD}"/>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Same 4 × 4 transformation, two notations.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167E2717-7A6C-85B0-CEC0-CA199C715230}"/>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8DB8319B-66F0-56D1-E3AB-A2FDD563C863}"/>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9722396E-5FC6-88F6-A46A-764875699FFF}"/>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08</a:t>
            </a:r>
          </a:p>
        </p:txBody>
      </p:sp>
      <p:sp>
        <p:nvSpPr>
          <p:cNvPr id="69" name="updated_text_7">
            <a:extLst>
              <a:ext uri="{FF2B5EF4-FFF2-40B4-BE49-F238E27FC236}">
                <a16:creationId xmlns:a16="http://schemas.microsoft.com/office/drawing/2014/main" id="{5690A5A9-9573-EB7F-70DF-51A9208E105D}"/>
              </a:ext>
            </a:extLst>
          </p:cNvPr>
          <p:cNvSpPr txBox="1"/>
          <p:nvPr/>
        </p:nvSpPr>
        <p:spPr>
          <a:xfrm>
            <a:off x="685800" y="2489199"/>
            <a:ext cx="5041900" cy="444500"/>
          </a:xfrm>
          <a:prstGeom prst="rect">
            <a:avLst/>
          </a:prstGeom>
          <a:noFill/>
        </p:spPr>
        <p:txBody>
          <a:bodyPr vert="horz" wrap="square" lIns="0" tIns="0" rIns="0" bIns="0" rtlCol="0" anchor="t">
            <a:noAutofit/>
          </a:bodyPr>
          <a:lstStyle/>
          <a:p>
            <a:r>
              <a:rPr lang="sv-SE" sz="2600" b="1">
                <a:solidFill>
                  <a:srgbClr val="2459D3"/>
                </a:solidFill>
                <a:latin typeface="Aptos" panose="020B0004020202020204" pitchFamily="34" charset="0"/>
              </a:rPr>
              <a:t>Block form · 2 × 2 blocks</a:t>
            </a:r>
            <a:endParaRPr lang="en-IL" sz="2600" b="1">
              <a:solidFill>
                <a:srgbClr val="2459D3"/>
              </a:solidFill>
              <a:latin typeface="Aptos" panose="020B0004020202020204" pitchFamily="34" charset="0"/>
            </a:endParaRPr>
          </a:p>
        </p:txBody>
      </p:sp>
      <p:sp>
        <p:nvSpPr>
          <p:cNvPr id="70" name="updated_text_8">
            <a:extLst>
              <a:ext uri="{FF2B5EF4-FFF2-40B4-BE49-F238E27FC236}">
                <a16:creationId xmlns:a16="http://schemas.microsoft.com/office/drawing/2014/main" id="{440BEECE-869C-86D9-3C7D-75FA053113E8}"/>
              </a:ext>
            </a:extLst>
          </p:cNvPr>
          <p:cNvSpPr txBox="1"/>
          <p:nvPr/>
        </p:nvSpPr>
        <p:spPr>
          <a:xfrm>
            <a:off x="6172200" y="2489199"/>
            <a:ext cx="5334000" cy="444500"/>
          </a:xfrm>
          <a:prstGeom prst="rect">
            <a:avLst/>
          </a:prstGeom>
          <a:noFill/>
        </p:spPr>
        <p:txBody>
          <a:bodyPr vert="horz" wrap="square" lIns="0" tIns="0" rIns="0" bIns="0" rtlCol="0" anchor="t">
            <a:noAutofit/>
          </a:bodyPr>
          <a:lstStyle/>
          <a:p>
            <a:r>
              <a:rPr lang="en-US" sz="2600" b="1">
                <a:solidFill>
                  <a:srgbClr val="137F79"/>
                </a:solidFill>
                <a:latin typeface="Aptos" panose="020B0004020202020204" pitchFamily="34" charset="0"/>
              </a:rPr>
              <a:t>Expanded form · 4 × 4 entries</a:t>
            </a:r>
            <a:endParaRPr lang="en-IL" sz="2600" b="1">
              <a:solidFill>
                <a:srgbClr val="137F79"/>
              </a:solidFill>
              <a:latin typeface="Aptos" panose="020B0004020202020204" pitchFamily="34" charset="0"/>
            </a:endParaRPr>
          </a:p>
        </p:txBody>
      </p:sp>
      <p:sp>
        <p:nvSpPr>
          <p:cNvPr id="71" name="updated_text_9">
            <a:extLst>
              <a:ext uri="{FF2B5EF4-FFF2-40B4-BE49-F238E27FC236}">
                <a16:creationId xmlns:a16="http://schemas.microsoft.com/office/drawing/2014/main" id="{D6CB5B21-E0F2-BF3E-9C71-5834C4737400}"/>
              </a:ext>
            </a:extLst>
          </p:cNvPr>
          <p:cNvSpPr txBox="1"/>
          <p:nvPr/>
        </p:nvSpPr>
        <p:spPr>
          <a:xfrm>
            <a:off x="685800" y="3568699"/>
            <a:ext cx="1714500" cy="647700"/>
          </a:xfrm>
          <a:prstGeom prst="rect">
            <a:avLst/>
          </a:prstGeom>
          <a:noFill/>
        </p:spPr>
        <p:txBody>
          <a:bodyPr vert="horz" wrap="square" lIns="0" tIns="0" rIns="0" bIns="0" rtlCol="0" anchor="t">
            <a:noAutofit/>
          </a:bodyPr>
          <a:lstStyle/>
          <a:p>
            <a:r>
              <a:rPr lang="en-IL" sz="2304" baseline="32000">
                <a:solidFill>
                  <a:srgbClr val="2459D3"/>
                </a:solidFill>
                <a:latin typeface="Cambria Math" panose="02040503050406030204" pitchFamily="18" charset="0"/>
              </a:rPr>
              <a:t>A</a:t>
            </a:r>
            <a:r>
              <a:rPr lang="en-IL" sz="3200">
                <a:solidFill>
                  <a:srgbClr val="2459D3"/>
                </a:solidFill>
                <a:latin typeface="Cambria Math" panose="02040503050406030204" pitchFamily="18" charset="0"/>
              </a:rPr>
              <a:t>T</a:t>
            </a:r>
            <a:r>
              <a:rPr lang="en-IL" sz="2304" baseline="-22000">
                <a:solidFill>
                  <a:srgbClr val="2459D3"/>
                </a:solidFill>
                <a:latin typeface="Cambria Math" panose="02040503050406030204" pitchFamily="18" charset="0"/>
              </a:rPr>
              <a:t>B</a:t>
            </a:r>
            <a:r>
              <a:rPr lang="en-IL" sz="3200">
                <a:solidFill>
                  <a:srgbClr val="2459D3"/>
                </a:solidFill>
                <a:latin typeface="Cambria Math" panose="02040503050406030204" pitchFamily="18" charset="0"/>
              </a:rPr>
              <a:t> =</a:t>
            </a:r>
          </a:p>
        </p:txBody>
      </p:sp>
      <p:cxnSp>
        <p:nvCxnSpPr>
          <p:cNvPr id="72" name="Straight Connector 71">
            <a:extLst>
              <a:ext uri="{FF2B5EF4-FFF2-40B4-BE49-F238E27FC236}">
                <a16:creationId xmlns:a16="http://schemas.microsoft.com/office/drawing/2014/main" id="{F20F80DF-DFA1-0293-CD3A-B99EB081C66B}"/>
              </a:ext>
            </a:extLst>
          </p:cNvPr>
          <p:cNvCxnSpPr/>
          <p:nvPr/>
        </p:nvCxnSpPr>
        <p:spPr>
          <a:xfrm>
            <a:off x="2514600" y="3111500"/>
            <a:ext cx="0" cy="156210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3A769866-AF15-0523-3BE5-5CC23B8C4E33}"/>
              </a:ext>
            </a:extLst>
          </p:cNvPr>
          <p:cNvCxnSpPr/>
          <p:nvPr/>
        </p:nvCxnSpPr>
        <p:spPr>
          <a:xfrm>
            <a:off x="2514600" y="3111500"/>
            <a:ext cx="10160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C02CEF4A-E932-ADA4-E519-1A9701F6845F}"/>
              </a:ext>
            </a:extLst>
          </p:cNvPr>
          <p:cNvCxnSpPr/>
          <p:nvPr/>
        </p:nvCxnSpPr>
        <p:spPr>
          <a:xfrm>
            <a:off x="2514600" y="4673600"/>
            <a:ext cx="10160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B908ED0B-A8A9-B9B7-6372-9DD56DBC6117}"/>
              </a:ext>
            </a:extLst>
          </p:cNvPr>
          <p:cNvCxnSpPr/>
          <p:nvPr/>
        </p:nvCxnSpPr>
        <p:spPr>
          <a:xfrm>
            <a:off x="5537200" y="3111500"/>
            <a:ext cx="0" cy="156210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21AD40BB-9C7D-49B8-8F1E-71F4E9296F88}"/>
              </a:ext>
            </a:extLst>
          </p:cNvPr>
          <p:cNvCxnSpPr/>
          <p:nvPr/>
        </p:nvCxnSpPr>
        <p:spPr>
          <a:xfrm flipH="1">
            <a:off x="5435600" y="3111500"/>
            <a:ext cx="10160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FE047EDF-6CA1-CF4D-9A42-9E5F0CBA8CAB}"/>
              </a:ext>
            </a:extLst>
          </p:cNvPr>
          <p:cNvCxnSpPr/>
          <p:nvPr/>
        </p:nvCxnSpPr>
        <p:spPr>
          <a:xfrm flipH="1">
            <a:off x="5435600" y="4673600"/>
            <a:ext cx="10160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sp>
        <p:nvSpPr>
          <p:cNvPr id="78" name="updated_text_16">
            <a:extLst>
              <a:ext uri="{FF2B5EF4-FFF2-40B4-BE49-F238E27FC236}">
                <a16:creationId xmlns:a16="http://schemas.microsoft.com/office/drawing/2014/main" id="{74C07380-F534-8AAE-7A21-4A7C2AAFF72E}"/>
              </a:ext>
            </a:extLst>
          </p:cNvPr>
          <p:cNvSpPr txBox="1"/>
          <p:nvPr/>
        </p:nvSpPr>
        <p:spPr>
          <a:xfrm>
            <a:off x="2654300" y="3136899"/>
            <a:ext cx="1371600" cy="755650"/>
          </a:xfrm>
          <a:prstGeom prst="rect">
            <a:avLst/>
          </a:prstGeom>
          <a:noFill/>
        </p:spPr>
        <p:txBody>
          <a:bodyPr vert="horz" wrap="square" lIns="0" tIns="0" rIns="0" bIns="0" rtlCol="0" anchor="t">
            <a:noAutofit/>
          </a:bodyPr>
          <a:lstStyle/>
          <a:p>
            <a:pPr algn="ctr"/>
            <a:r>
              <a:rPr lang="en-IL" sz="2232" baseline="32000">
                <a:solidFill>
                  <a:srgbClr val="2459D3"/>
                </a:solidFill>
                <a:latin typeface="Cambria Math" panose="02040503050406030204" pitchFamily="18" charset="0"/>
              </a:rPr>
              <a:t>A</a:t>
            </a:r>
            <a:r>
              <a:rPr lang="en-IL" sz="3100">
                <a:solidFill>
                  <a:srgbClr val="2459D3"/>
                </a:solidFill>
                <a:latin typeface="Cambria Math" panose="02040503050406030204" pitchFamily="18" charset="0"/>
              </a:rPr>
              <a:t>R</a:t>
            </a:r>
            <a:r>
              <a:rPr lang="en-IL" sz="2232" baseline="-22000">
                <a:solidFill>
                  <a:srgbClr val="2459D3"/>
                </a:solidFill>
                <a:latin typeface="Cambria Math" panose="02040503050406030204" pitchFamily="18" charset="0"/>
              </a:rPr>
              <a:t>B</a:t>
            </a:r>
          </a:p>
        </p:txBody>
      </p:sp>
      <p:sp>
        <p:nvSpPr>
          <p:cNvPr id="79" name="updated_text_17">
            <a:extLst>
              <a:ext uri="{FF2B5EF4-FFF2-40B4-BE49-F238E27FC236}">
                <a16:creationId xmlns:a16="http://schemas.microsoft.com/office/drawing/2014/main" id="{3FCBDE2A-9F11-5D65-EC98-1F97F2285D52}"/>
              </a:ext>
            </a:extLst>
          </p:cNvPr>
          <p:cNvSpPr txBox="1"/>
          <p:nvPr/>
        </p:nvSpPr>
        <p:spPr>
          <a:xfrm>
            <a:off x="4025900" y="3136899"/>
            <a:ext cx="1371600" cy="755650"/>
          </a:xfrm>
          <a:prstGeom prst="rect">
            <a:avLst/>
          </a:prstGeom>
          <a:noFill/>
        </p:spPr>
        <p:txBody>
          <a:bodyPr vert="horz" wrap="square" lIns="0" tIns="0" rIns="0" bIns="0" rtlCol="0" anchor="t">
            <a:noAutofit/>
          </a:bodyPr>
          <a:lstStyle/>
          <a:p>
            <a:pPr algn="ctr"/>
            <a:r>
              <a:rPr lang="en-IL" sz="2232" baseline="32000">
                <a:solidFill>
                  <a:srgbClr val="2459D3"/>
                </a:solidFill>
                <a:latin typeface="Cambria Math" panose="02040503050406030204" pitchFamily="18" charset="0"/>
              </a:rPr>
              <a:t>A</a:t>
            </a:r>
            <a:r>
              <a:rPr lang="en-IL" sz="3100">
                <a:solidFill>
                  <a:srgbClr val="2459D3"/>
                </a:solidFill>
                <a:latin typeface="Cambria Math" panose="02040503050406030204" pitchFamily="18" charset="0"/>
              </a:rPr>
              <a:t>t</a:t>
            </a:r>
            <a:r>
              <a:rPr lang="en-IL" sz="2232" baseline="-22000">
                <a:solidFill>
                  <a:srgbClr val="2459D3"/>
                </a:solidFill>
                <a:latin typeface="Cambria Math" panose="02040503050406030204" pitchFamily="18" charset="0"/>
              </a:rPr>
              <a:t>B</a:t>
            </a:r>
          </a:p>
        </p:txBody>
      </p:sp>
      <p:sp>
        <p:nvSpPr>
          <p:cNvPr id="80" name="updated_text_18">
            <a:extLst>
              <a:ext uri="{FF2B5EF4-FFF2-40B4-BE49-F238E27FC236}">
                <a16:creationId xmlns:a16="http://schemas.microsoft.com/office/drawing/2014/main" id="{7B930508-3A55-096B-10D4-2AA26BCC1D9C}"/>
              </a:ext>
            </a:extLst>
          </p:cNvPr>
          <p:cNvSpPr txBox="1"/>
          <p:nvPr/>
        </p:nvSpPr>
        <p:spPr>
          <a:xfrm>
            <a:off x="2654300" y="3917949"/>
            <a:ext cx="1371600" cy="755650"/>
          </a:xfrm>
          <a:prstGeom prst="rect">
            <a:avLst/>
          </a:prstGeom>
          <a:noFill/>
        </p:spPr>
        <p:txBody>
          <a:bodyPr vert="horz" wrap="square" lIns="0" tIns="0" rIns="0" bIns="0" rtlCol="0" anchor="t">
            <a:noAutofit/>
          </a:bodyPr>
          <a:lstStyle/>
          <a:p>
            <a:pPr algn="ctr"/>
            <a:r>
              <a:rPr lang="en-IL" sz="3100">
                <a:solidFill>
                  <a:srgbClr val="2459D3"/>
                </a:solidFill>
                <a:latin typeface="Cambria Math" panose="02040503050406030204" pitchFamily="18" charset="0"/>
              </a:rPr>
              <a:t>0</a:t>
            </a:r>
            <a:r>
              <a:rPr lang="en-IL" sz="2232" baseline="32000">
                <a:solidFill>
                  <a:srgbClr val="2459D3"/>
                </a:solidFill>
                <a:latin typeface="Cambria Math" panose="02040503050406030204" pitchFamily="18" charset="0"/>
              </a:rPr>
              <a:t>T</a:t>
            </a:r>
          </a:p>
        </p:txBody>
      </p:sp>
      <p:sp>
        <p:nvSpPr>
          <p:cNvPr id="81" name="updated_text_19">
            <a:extLst>
              <a:ext uri="{FF2B5EF4-FFF2-40B4-BE49-F238E27FC236}">
                <a16:creationId xmlns:a16="http://schemas.microsoft.com/office/drawing/2014/main" id="{FB6AE344-6ED0-5E2B-39E0-986E31BC7CFF}"/>
              </a:ext>
            </a:extLst>
          </p:cNvPr>
          <p:cNvSpPr txBox="1"/>
          <p:nvPr/>
        </p:nvSpPr>
        <p:spPr>
          <a:xfrm>
            <a:off x="4025900" y="3917949"/>
            <a:ext cx="1371600" cy="755650"/>
          </a:xfrm>
          <a:prstGeom prst="rect">
            <a:avLst/>
          </a:prstGeom>
          <a:noFill/>
        </p:spPr>
        <p:txBody>
          <a:bodyPr vert="horz" wrap="square" lIns="0" tIns="0" rIns="0" bIns="0" rtlCol="0" anchor="t">
            <a:noAutofit/>
          </a:bodyPr>
          <a:lstStyle/>
          <a:p>
            <a:pPr algn="ctr"/>
            <a:r>
              <a:rPr lang="en-IL" sz="3100">
                <a:solidFill>
                  <a:srgbClr val="2459D3"/>
                </a:solidFill>
                <a:latin typeface="Cambria Math" panose="02040503050406030204" pitchFamily="18" charset="0"/>
              </a:rPr>
              <a:t>1</a:t>
            </a:r>
          </a:p>
        </p:txBody>
      </p:sp>
      <p:sp>
        <p:nvSpPr>
          <p:cNvPr id="82" name="updated_text_20">
            <a:extLst>
              <a:ext uri="{FF2B5EF4-FFF2-40B4-BE49-F238E27FC236}">
                <a16:creationId xmlns:a16="http://schemas.microsoft.com/office/drawing/2014/main" id="{AC36FF15-3F20-92EF-6A36-02BD9747BA98}"/>
              </a:ext>
            </a:extLst>
          </p:cNvPr>
          <p:cNvSpPr txBox="1"/>
          <p:nvPr/>
        </p:nvSpPr>
        <p:spPr>
          <a:xfrm>
            <a:off x="5702300" y="3568699"/>
            <a:ext cx="533400" cy="647700"/>
          </a:xfrm>
          <a:prstGeom prst="rect">
            <a:avLst/>
          </a:prstGeom>
          <a:noFill/>
        </p:spPr>
        <p:txBody>
          <a:bodyPr vert="horz" wrap="square" lIns="0" tIns="0" rIns="0" bIns="0" rtlCol="0" anchor="t">
            <a:noAutofit/>
          </a:bodyPr>
          <a:lstStyle/>
          <a:p>
            <a:pPr algn="ctr"/>
            <a:r>
              <a:rPr lang="en-IL" sz="3600">
                <a:solidFill>
                  <a:srgbClr val="15283B"/>
                </a:solidFill>
                <a:latin typeface="Cambria Math" panose="02040503050406030204" pitchFamily="18" charset="0"/>
              </a:rPr>
              <a:t>=</a:t>
            </a:r>
          </a:p>
        </p:txBody>
      </p:sp>
      <p:cxnSp>
        <p:nvCxnSpPr>
          <p:cNvPr id="83" name="Straight Connector 82">
            <a:extLst>
              <a:ext uri="{FF2B5EF4-FFF2-40B4-BE49-F238E27FC236}">
                <a16:creationId xmlns:a16="http://schemas.microsoft.com/office/drawing/2014/main" id="{49C79CB7-C6EA-EC0E-446F-7264C5BCF2D2}"/>
              </a:ext>
            </a:extLst>
          </p:cNvPr>
          <p:cNvCxnSpPr/>
          <p:nvPr/>
        </p:nvCxnSpPr>
        <p:spPr>
          <a:xfrm>
            <a:off x="6464300" y="2984500"/>
            <a:ext cx="0" cy="18288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CD579E6B-2E82-8E9E-919A-E2C76876E2B2}"/>
              </a:ext>
            </a:extLst>
          </p:cNvPr>
          <p:cNvCxnSpPr/>
          <p:nvPr/>
        </p:nvCxnSpPr>
        <p:spPr>
          <a:xfrm>
            <a:off x="6464300" y="29845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D3F6B971-12C2-4CDF-AB56-99FABF8BB0E3}"/>
              </a:ext>
            </a:extLst>
          </p:cNvPr>
          <p:cNvCxnSpPr/>
          <p:nvPr/>
        </p:nvCxnSpPr>
        <p:spPr>
          <a:xfrm>
            <a:off x="6464300" y="48133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621D03F9-E42B-D385-C073-DAAA031E1372}"/>
              </a:ext>
            </a:extLst>
          </p:cNvPr>
          <p:cNvCxnSpPr/>
          <p:nvPr/>
        </p:nvCxnSpPr>
        <p:spPr>
          <a:xfrm>
            <a:off x="11506200" y="2984500"/>
            <a:ext cx="0" cy="18288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87" name="Straight Connector 86">
            <a:extLst>
              <a:ext uri="{FF2B5EF4-FFF2-40B4-BE49-F238E27FC236}">
                <a16:creationId xmlns:a16="http://schemas.microsoft.com/office/drawing/2014/main" id="{4DBD5080-459F-6034-40F0-44AA43B3B7BF}"/>
              </a:ext>
            </a:extLst>
          </p:cNvPr>
          <p:cNvCxnSpPr/>
          <p:nvPr/>
        </p:nvCxnSpPr>
        <p:spPr>
          <a:xfrm flipH="1">
            <a:off x="11404600" y="29845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C7C32FC4-75D2-2536-6DE5-4400D95D9528}"/>
              </a:ext>
            </a:extLst>
          </p:cNvPr>
          <p:cNvCxnSpPr/>
          <p:nvPr/>
        </p:nvCxnSpPr>
        <p:spPr>
          <a:xfrm flipH="1">
            <a:off x="11404600" y="48133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sp>
        <p:nvSpPr>
          <p:cNvPr id="89" name="updated_text_27">
            <a:extLst>
              <a:ext uri="{FF2B5EF4-FFF2-40B4-BE49-F238E27FC236}">
                <a16:creationId xmlns:a16="http://schemas.microsoft.com/office/drawing/2014/main" id="{66CBE8C7-A257-3CE5-E817-B3FB76A48A10}"/>
              </a:ext>
            </a:extLst>
          </p:cNvPr>
          <p:cNvSpPr txBox="1"/>
          <p:nvPr/>
        </p:nvSpPr>
        <p:spPr>
          <a:xfrm>
            <a:off x="6604000" y="3009899"/>
            <a:ext cx="1190625" cy="431800"/>
          </a:xfrm>
          <a:prstGeom prst="rect">
            <a:avLst/>
          </a:prstGeom>
          <a:noFill/>
        </p:spPr>
        <p:txBody>
          <a:bodyPr vert="horz" wrap="square" lIns="0" tIns="0" rIns="0" bIns="0" rtlCol="0" anchor="t">
            <a:noAutofit/>
          </a:bodyPr>
          <a:lstStyle/>
          <a:p>
            <a:pPr algn="ctr"/>
            <a:r>
              <a:rPr lang="en-IL" sz="2600">
                <a:solidFill>
                  <a:srgbClr val="15283B"/>
                </a:solidFill>
                <a:latin typeface="Cambria Math" panose="02040503050406030204" pitchFamily="18" charset="0"/>
              </a:rPr>
              <a:t>r</a:t>
            </a:r>
            <a:r>
              <a:rPr lang="en-IL" sz="1872" baseline="-22000">
                <a:solidFill>
                  <a:srgbClr val="15283B"/>
                </a:solidFill>
                <a:latin typeface="Cambria Math" panose="02040503050406030204" pitchFamily="18" charset="0"/>
              </a:rPr>
              <a:t>11</a:t>
            </a:r>
          </a:p>
        </p:txBody>
      </p:sp>
      <p:sp>
        <p:nvSpPr>
          <p:cNvPr id="90" name="updated_text_28">
            <a:extLst>
              <a:ext uri="{FF2B5EF4-FFF2-40B4-BE49-F238E27FC236}">
                <a16:creationId xmlns:a16="http://schemas.microsoft.com/office/drawing/2014/main" id="{1FCFF1E1-8C58-CB0A-931F-328C925E38EB}"/>
              </a:ext>
            </a:extLst>
          </p:cNvPr>
          <p:cNvSpPr txBox="1"/>
          <p:nvPr/>
        </p:nvSpPr>
        <p:spPr>
          <a:xfrm>
            <a:off x="7794625" y="3009899"/>
            <a:ext cx="1190625" cy="431800"/>
          </a:xfrm>
          <a:prstGeom prst="rect">
            <a:avLst/>
          </a:prstGeom>
          <a:noFill/>
        </p:spPr>
        <p:txBody>
          <a:bodyPr vert="horz" wrap="square" lIns="0" tIns="0" rIns="0" bIns="0" rtlCol="0" anchor="t">
            <a:noAutofit/>
          </a:bodyPr>
          <a:lstStyle/>
          <a:p>
            <a:pPr algn="ctr"/>
            <a:r>
              <a:rPr lang="en-IL" sz="2600">
                <a:solidFill>
                  <a:srgbClr val="15283B"/>
                </a:solidFill>
                <a:latin typeface="Cambria Math" panose="02040503050406030204" pitchFamily="18" charset="0"/>
              </a:rPr>
              <a:t>r</a:t>
            </a:r>
            <a:r>
              <a:rPr lang="en-IL" sz="1872" baseline="-22000">
                <a:solidFill>
                  <a:srgbClr val="15283B"/>
                </a:solidFill>
                <a:latin typeface="Cambria Math" panose="02040503050406030204" pitchFamily="18" charset="0"/>
              </a:rPr>
              <a:t>12</a:t>
            </a:r>
          </a:p>
        </p:txBody>
      </p:sp>
      <p:sp>
        <p:nvSpPr>
          <p:cNvPr id="91" name="updated_text_29">
            <a:extLst>
              <a:ext uri="{FF2B5EF4-FFF2-40B4-BE49-F238E27FC236}">
                <a16:creationId xmlns:a16="http://schemas.microsoft.com/office/drawing/2014/main" id="{47708081-191C-E307-20CE-0D071C3004ED}"/>
              </a:ext>
            </a:extLst>
          </p:cNvPr>
          <p:cNvSpPr txBox="1"/>
          <p:nvPr/>
        </p:nvSpPr>
        <p:spPr>
          <a:xfrm>
            <a:off x="8985250" y="3009899"/>
            <a:ext cx="1190625" cy="431800"/>
          </a:xfrm>
          <a:prstGeom prst="rect">
            <a:avLst/>
          </a:prstGeom>
          <a:noFill/>
        </p:spPr>
        <p:txBody>
          <a:bodyPr vert="horz" wrap="square" lIns="0" tIns="0" rIns="0" bIns="0" rtlCol="0" anchor="t">
            <a:noAutofit/>
          </a:bodyPr>
          <a:lstStyle/>
          <a:p>
            <a:pPr algn="ctr"/>
            <a:r>
              <a:rPr lang="en-IL" sz="2600">
                <a:solidFill>
                  <a:srgbClr val="15283B"/>
                </a:solidFill>
                <a:latin typeface="Cambria Math" panose="02040503050406030204" pitchFamily="18" charset="0"/>
              </a:rPr>
              <a:t>r</a:t>
            </a:r>
            <a:r>
              <a:rPr lang="en-IL" sz="1872" baseline="-22000">
                <a:solidFill>
                  <a:srgbClr val="15283B"/>
                </a:solidFill>
                <a:latin typeface="Cambria Math" panose="02040503050406030204" pitchFamily="18" charset="0"/>
              </a:rPr>
              <a:t>13</a:t>
            </a:r>
          </a:p>
        </p:txBody>
      </p:sp>
      <p:sp>
        <p:nvSpPr>
          <p:cNvPr id="92" name="updated_text_30">
            <a:extLst>
              <a:ext uri="{FF2B5EF4-FFF2-40B4-BE49-F238E27FC236}">
                <a16:creationId xmlns:a16="http://schemas.microsoft.com/office/drawing/2014/main" id="{FA0A2114-25E7-539D-A8CF-93BA0AB86DF6}"/>
              </a:ext>
            </a:extLst>
          </p:cNvPr>
          <p:cNvSpPr txBox="1"/>
          <p:nvPr/>
        </p:nvSpPr>
        <p:spPr>
          <a:xfrm>
            <a:off x="10175875" y="3009899"/>
            <a:ext cx="1190625" cy="431800"/>
          </a:xfrm>
          <a:prstGeom prst="rect">
            <a:avLst/>
          </a:prstGeom>
          <a:noFill/>
        </p:spPr>
        <p:txBody>
          <a:bodyPr vert="horz" wrap="square" lIns="0" tIns="0" rIns="0" bIns="0" rtlCol="0" anchor="t">
            <a:noAutofit/>
          </a:bodyPr>
          <a:lstStyle/>
          <a:p>
            <a:pPr algn="ctr"/>
            <a:r>
              <a:rPr lang="en-IL" sz="2600">
                <a:solidFill>
                  <a:srgbClr val="15283B"/>
                </a:solidFill>
                <a:latin typeface="Cambria Math" panose="02040503050406030204" pitchFamily="18" charset="0"/>
              </a:rPr>
              <a:t>t</a:t>
            </a:r>
            <a:r>
              <a:rPr lang="en-IL" sz="1872" baseline="-22000">
                <a:solidFill>
                  <a:srgbClr val="15283B"/>
                </a:solidFill>
                <a:latin typeface="Cambria Math" panose="02040503050406030204" pitchFamily="18" charset="0"/>
              </a:rPr>
              <a:t>x</a:t>
            </a:r>
          </a:p>
        </p:txBody>
      </p:sp>
      <p:sp>
        <p:nvSpPr>
          <p:cNvPr id="93" name="updated_text_31">
            <a:extLst>
              <a:ext uri="{FF2B5EF4-FFF2-40B4-BE49-F238E27FC236}">
                <a16:creationId xmlns:a16="http://schemas.microsoft.com/office/drawing/2014/main" id="{064C5950-5B86-7733-B520-74D3D24F528D}"/>
              </a:ext>
            </a:extLst>
          </p:cNvPr>
          <p:cNvSpPr txBox="1"/>
          <p:nvPr/>
        </p:nvSpPr>
        <p:spPr>
          <a:xfrm>
            <a:off x="6604000" y="3467099"/>
            <a:ext cx="1190625" cy="431800"/>
          </a:xfrm>
          <a:prstGeom prst="rect">
            <a:avLst/>
          </a:prstGeom>
          <a:noFill/>
        </p:spPr>
        <p:txBody>
          <a:bodyPr vert="horz" wrap="square" lIns="0" tIns="0" rIns="0" bIns="0" rtlCol="0" anchor="t">
            <a:noAutofit/>
          </a:bodyPr>
          <a:lstStyle/>
          <a:p>
            <a:pPr algn="ctr"/>
            <a:r>
              <a:rPr lang="en-IL" sz="2600">
                <a:solidFill>
                  <a:srgbClr val="15283B"/>
                </a:solidFill>
                <a:latin typeface="Cambria Math" panose="02040503050406030204" pitchFamily="18" charset="0"/>
              </a:rPr>
              <a:t>r</a:t>
            </a:r>
            <a:r>
              <a:rPr lang="en-IL" sz="1872" baseline="-22000">
                <a:solidFill>
                  <a:srgbClr val="15283B"/>
                </a:solidFill>
                <a:latin typeface="Cambria Math" panose="02040503050406030204" pitchFamily="18" charset="0"/>
              </a:rPr>
              <a:t>21</a:t>
            </a:r>
          </a:p>
        </p:txBody>
      </p:sp>
      <p:sp>
        <p:nvSpPr>
          <p:cNvPr id="94" name="updated_text_32">
            <a:extLst>
              <a:ext uri="{FF2B5EF4-FFF2-40B4-BE49-F238E27FC236}">
                <a16:creationId xmlns:a16="http://schemas.microsoft.com/office/drawing/2014/main" id="{2B4933B6-E054-17DA-1811-3FFF35A3962B}"/>
              </a:ext>
            </a:extLst>
          </p:cNvPr>
          <p:cNvSpPr txBox="1"/>
          <p:nvPr/>
        </p:nvSpPr>
        <p:spPr>
          <a:xfrm>
            <a:off x="7794625" y="3467099"/>
            <a:ext cx="1190625" cy="431800"/>
          </a:xfrm>
          <a:prstGeom prst="rect">
            <a:avLst/>
          </a:prstGeom>
          <a:noFill/>
        </p:spPr>
        <p:txBody>
          <a:bodyPr vert="horz" wrap="square" lIns="0" tIns="0" rIns="0" bIns="0" rtlCol="0" anchor="t">
            <a:noAutofit/>
          </a:bodyPr>
          <a:lstStyle/>
          <a:p>
            <a:pPr algn="ctr"/>
            <a:r>
              <a:rPr lang="en-IL" sz="2600">
                <a:solidFill>
                  <a:srgbClr val="15283B"/>
                </a:solidFill>
                <a:latin typeface="Cambria Math" panose="02040503050406030204" pitchFamily="18" charset="0"/>
              </a:rPr>
              <a:t>r</a:t>
            </a:r>
            <a:r>
              <a:rPr lang="en-IL" sz="1872" baseline="-22000">
                <a:solidFill>
                  <a:srgbClr val="15283B"/>
                </a:solidFill>
                <a:latin typeface="Cambria Math" panose="02040503050406030204" pitchFamily="18" charset="0"/>
              </a:rPr>
              <a:t>22</a:t>
            </a:r>
          </a:p>
        </p:txBody>
      </p:sp>
      <p:sp>
        <p:nvSpPr>
          <p:cNvPr id="95" name="updated_text_33">
            <a:extLst>
              <a:ext uri="{FF2B5EF4-FFF2-40B4-BE49-F238E27FC236}">
                <a16:creationId xmlns:a16="http://schemas.microsoft.com/office/drawing/2014/main" id="{B040B55C-DEA5-7EAE-FB14-3D719F637618}"/>
              </a:ext>
            </a:extLst>
          </p:cNvPr>
          <p:cNvSpPr txBox="1"/>
          <p:nvPr/>
        </p:nvSpPr>
        <p:spPr>
          <a:xfrm>
            <a:off x="8985250" y="3467099"/>
            <a:ext cx="1190625" cy="431800"/>
          </a:xfrm>
          <a:prstGeom prst="rect">
            <a:avLst/>
          </a:prstGeom>
          <a:noFill/>
        </p:spPr>
        <p:txBody>
          <a:bodyPr vert="horz" wrap="square" lIns="0" tIns="0" rIns="0" bIns="0" rtlCol="0" anchor="t">
            <a:noAutofit/>
          </a:bodyPr>
          <a:lstStyle/>
          <a:p>
            <a:pPr algn="ctr"/>
            <a:r>
              <a:rPr lang="en-IL" sz="2600">
                <a:solidFill>
                  <a:srgbClr val="15283B"/>
                </a:solidFill>
                <a:latin typeface="Cambria Math" panose="02040503050406030204" pitchFamily="18" charset="0"/>
              </a:rPr>
              <a:t>r</a:t>
            </a:r>
            <a:r>
              <a:rPr lang="en-IL" sz="1872" baseline="-22000">
                <a:solidFill>
                  <a:srgbClr val="15283B"/>
                </a:solidFill>
                <a:latin typeface="Cambria Math" panose="02040503050406030204" pitchFamily="18" charset="0"/>
              </a:rPr>
              <a:t>23</a:t>
            </a:r>
          </a:p>
        </p:txBody>
      </p:sp>
      <p:sp>
        <p:nvSpPr>
          <p:cNvPr id="96" name="updated_text_34">
            <a:extLst>
              <a:ext uri="{FF2B5EF4-FFF2-40B4-BE49-F238E27FC236}">
                <a16:creationId xmlns:a16="http://schemas.microsoft.com/office/drawing/2014/main" id="{6D15FD8A-C23E-5781-418F-A831206C88DC}"/>
              </a:ext>
            </a:extLst>
          </p:cNvPr>
          <p:cNvSpPr txBox="1"/>
          <p:nvPr/>
        </p:nvSpPr>
        <p:spPr>
          <a:xfrm>
            <a:off x="10175875" y="3467099"/>
            <a:ext cx="1190625" cy="431800"/>
          </a:xfrm>
          <a:prstGeom prst="rect">
            <a:avLst/>
          </a:prstGeom>
          <a:noFill/>
        </p:spPr>
        <p:txBody>
          <a:bodyPr vert="horz" wrap="square" lIns="0" tIns="0" rIns="0" bIns="0" rtlCol="0" anchor="t">
            <a:noAutofit/>
          </a:bodyPr>
          <a:lstStyle/>
          <a:p>
            <a:pPr algn="ctr"/>
            <a:r>
              <a:rPr lang="en-IL" sz="2600">
                <a:solidFill>
                  <a:srgbClr val="15283B"/>
                </a:solidFill>
                <a:latin typeface="Cambria Math" panose="02040503050406030204" pitchFamily="18" charset="0"/>
              </a:rPr>
              <a:t>t</a:t>
            </a:r>
            <a:r>
              <a:rPr lang="en-IL" sz="1872" baseline="-22000">
                <a:solidFill>
                  <a:srgbClr val="15283B"/>
                </a:solidFill>
                <a:latin typeface="Cambria Math" panose="02040503050406030204" pitchFamily="18" charset="0"/>
              </a:rPr>
              <a:t>y</a:t>
            </a:r>
          </a:p>
        </p:txBody>
      </p:sp>
      <p:sp>
        <p:nvSpPr>
          <p:cNvPr id="97" name="updated_text_35">
            <a:extLst>
              <a:ext uri="{FF2B5EF4-FFF2-40B4-BE49-F238E27FC236}">
                <a16:creationId xmlns:a16="http://schemas.microsoft.com/office/drawing/2014/main" id="{0E261E79-1088-6F47-FD4E-119F4F45AE00}"/>
              </a:ext>
            </a:extLst>
          </p:cNvPr>
          <p:cNvSpPr txBox="1"/>
          <p:nvPr/>
        </p:nvSpPr>
        <p:spPr>
          <a:xfrm>
            <a:off x="6604000" y="3924299"/>
            <a:ext cx="1190625" cy="431800"/>
          </a:xfrm>
          <a:prstGeom prst="rect">
            <a:avLst/>
          </a:prstGeom>
          <a:noFill/>
        </p:spPr>
        <p:txBody>
          <a:bodyPr vert="horz" wrap="square" lIns="0" tIns="0" rIns="0" bIns="0" rtlCol="0" anchor="t">
            <a:noAutofit/>
          </a:bodyPr>
          <a:lstStyle/>
          <a:p>
            <a:pPr algn="ctr"/>
            <a:r>
              <a:rPr lang="en-IL" sz="2600">
                <a:solidFill>
                  <a:srgbClr val="15283B"/>
                </a:solidFill>
                <a:latin typeface="Cambria Math" panose="02040503050406030204" pitchFamily="18" charset="0"/>
              </a:rPr>
              <a:t>r</a:t>
            </a:r>
            <a:r>
              <a:rPr lang="en-IL" sz="1872" baseline="-22000">
                <a:solidFill>
                  <a:srgbClr val="15283B"/>
                </a:solidFill>
                <a:latin typeface="Cambria Math" panose="02040503050406030204" pitchFamily="18" charset="0"/>
              </a:rPr>
              <a:t>31</a:t>
            </a:r>
          </a:p>
        </p:txBody>
      </p:sp>
      <p:sp>
        <p:nvSpPr>
          <p:cNvPr id="98" name="updated_text_36">
            <a:extLst>
              <a:ext uri="{FF2B5EF4-FFF2-40B4-BE49-F238E27FC236}">
                <a16:creationId xmlns:a16="http://schemas.microsoft.com/office/drawing/2014/main" id="{43DC9047-3452-318B-14C2-8E6DB4841666}"/>
              </a:ext>
            </a:extLst>
          </p:cNvPr>
          <p:cNvSpPr txBox="1"/>
          <p:nvPr/>
        </p:nvSpPr>
        <p:spPr>
          <a:xfrm>
            <a:off x="7794625" y="3924299"/>
            <a:ext cx="1190625" cy="431800"/>
          </a:xfrm>
          <a:prstGeom prst="rect">
            <a:avLst/>
          </a:prstGeom>
          <a:noFill/>
        </p:spPr>
        <p:txBody>
          <a:bodyPr vert="horz" wrap="square" lIns="0" tIns="0" rIns="0" bIns="0" rtlCol="0" anchor="t">
            <a:noAutofit/>
          </a:bodyPr>
          <a:lstStyle/>
          <a:p>
            <a:pPr algn="ctr"/>
            <a:r>
              <a:rPr lang="en-IL" sz="2600">
                <a:solidFill>
                  <a:srgbClr val="15283B"/>
                </a:solidFill>
                <a:latin typeface="Cambria Math" panose="02040503050406030204" pitchFamily="18" charset="0"/>
              </a:rPr>
              <a:t>r</a:t>
            </a:r>
            <a:r>
              <a:rPr lang="en-IL" sz="1872" baseline="-22000">
                <a:solidFill>
                  <a:srgbClr val="15283B"/>
                </a:solidFill>
                <a:latin typeface="Cambria Math" panose="02040503050406030204" pitchFamily="18" charset="0"/>
              </a:rPr>
              <a:t>32</a:t>
            </a:r>
          </a:p>
        </p:txBody>
      </p:sp>
      <p:sp>
        <p:nvSpPr>
          <p:cNvPr id="99" name="updated_text_37">
            <a:extLst>
              <a:ext uri="{FF2B5EF4-FFF2-40B4-BE49-F238E27FC236}">
                <a16:creationId xmlns:a16="http://schemas.microsoft.com/office/drawing/2014/main" id="{FBE6E59D-EE1D-3CCA-6E19-AE4A4C324EB2}"/>
              </a:ext>
            </a:extLst>
          </p:cNvPr>
          <p:cNvSpPr txBox="1"/>
          <p:nvPr/>
        </p:nvSpPr>
        <p:spPr>
          <a:xfrm>
            <a:off x="8985250" y="3924299"/>
            <a:ext cx="1190625" cy="431800"/>
          </a:xfrm>
          <a:prstGeom prst="rect">
            <a:avLst/>
          </a:prstGeom>
          <a:noFill/>
        </p:spPr>
        <p:txBody>
          <a:bodyPr vert="horz" wrap="square" lIns="0" tIns="0" rIns="0" bIns="0" rtlCol="0" anchor="t">
            <a:noAutofit/>
          </a:bodyPr>
          <a:lstStyle/>
          <a:p>
            <a:pPr algn="ctr"/>
            <a:r>
              <a:rPr lang="en-IL" sz="2600">
                <a:solidFill>
                  <a:srgbClr val="15283B"/>
                </a:solidFill>
                <a:latin typeface="Cambria Math" panose="02040503050406030204" pitchFamily="18" charset="0"/>
              </a:rPr>
              <a:t>r</a:t>
            </a:r>
            <a:r>
              <a:rPr lang="en-IL" sz="1872" baseline="-22000">
                <a:solidFill>
                  <a:srgbClr val="15283B"/>
                </a:solidFill>
                <a:latin typeface="Cambria Math" panose="02040503050406030204" pitchFamily="18" charset="0"/>
              </a:rPr>
              <a:t>33</a:t>
            </a:r>
          </a:p>
        </p:txBody>
      </p:sp>
      <p:sp>
        <p:nvSpPr>
          <p:cNvPr id="100" name="updated_text_38">
            <a:extLst>
              <a:ext uri="{FF2B5EF4-FFF2-40B4-BE49-F238E27FC236}">
                <a16:creationId xmlns:a16="http://schemas.microsoft.com/office/drawing/2014/main" id="{931AABEB-5869-18B6-56C1-BE76A85D4A71}"/>
              </a:ext>
            </a:extLst>
          </p:cNvPr>
          <p:cNvSpPr txBox="1"/>
          <p:nvPr/>
        </p:nvSpPr>
        <p:spPr>
          <a:xfrm>
            <a:off x="10175875" y="3924299"/>
            <a:ext cx="1190625" cy="431800"/>
          </a:xfrm>
          <a:prstGeom prst="rect">
            <a:avLst/>
          </a:prstGeom>
          <a:noFill/>
        </p:spPr>
        <p:txBody>
          <a:bodyPr vert="horz" wrap="square" lIns="0" tIns="0" rIns="0" bIns="0" rtlCol="0" anchor="t">
            <a:noAutofit/>
          </a:bodyPr>
          <a:lstStyle/>
          <a:p>
            <a:pPr algn="ctr"/>
            <a:r>
              <a:rPr lang="en-IL" sz="2600">
                <a:solidFill>
                  <a:srgbClr val="15283B"/>
                </a:solidFill>
                <a:latin typeface="Cambria Math" panose="02040503050406030204" pitchFamily="18" charset="0"/>
              </a:rPr>
              <a:t>t</a:t>
            </a:r>
            <a:r>
              <a:rPr lang="en-IL" sz="1872" baseline="-22000">
                <a:solidFill>
                  <a:srgbClr val="15283B"/>
                </a:solidFill>
                <a:latin typeface="Cambria Math" panose="02040503050406030204" pitchFamily="18" charset="0"/>
              </a:rPr>
              <a:t>z</a:t>
            </a:r>
          </a:p>
        </p:txBody>
      </p:sp>
      <p:sp>
        <p:nvSpPr>
          <p:cNvPr id="101" name="updated_text_39">
            <a:extLst>
              <a:ext uri="{FF2B5EF4-FFF2-40B4-BE49-F238E27FC236}">
                <a16:creationId xmlns:a16="http://schemas.microsoft.com/office/drawing/2014/main" id="{4228D12D-41A6-5D67-AAE7-67004226519B}"/>
              </a:ext>
            </a:extLst>
          </p:cNvPr>
          <p:cNvSpPr txBox="1"/>
          <p:nvPr/>
        </p:nvSpPr>
        <p:spPr>
          <a:xfrm>
            <a:off x="6604000" y="4381499"/>
            <a:ext cx="1190625" cy="431800"/>
          </a:xfrm>
          <a:prstGeom prst="rect">
            <a:avLst/>
          </a:prstGeom>
          <a:noFill/>
        </p:spPr>
        <p:txBody>
          <a:bodyPr vert="horz" wrap="square" lIns="0" tIns="0" rIns="0" bIns="0" rtlCol="0" anchor="t">
            <a:noAutofit/>
          </a:bodyPr>
          <a:lstStyle/>
          <a:p>
            <a:pPr algn="ctr"/>
            <a:r>
              <a:rPr lang="en-IL" sz="2600">
                <a:solidFill>
                  <a:srgbClr val="15283B"/>
                </a:solidFill>
                <a:latin typeface="Cambria Math" panose="02040503050406030204" pitchFamily="18" charset="0"/>
              </a:rPr>
              <a:t>0</a:t>
            </a:r>
          </a:p>
        </p:txBody>
      </p:sp>
      <p:sp>
        <p:nvSpPr>
          <p:cNvPr id="102" name="updated_text_40">
            <a:extLst>
              <a:ext uri="{FF2B5EF4-FFF2-40B4-BE49-F238E27FC236}">
                <a16:creationId xmlns:a16="http://schemas.microsoft.com/office/drawing/2014/main" id="{88CA7BD4-5BF4-2358-A601-A39A88BA3536}"/>
              </a:ext>
            </a:extLst>
          </p:cNvPr>
          <p:cNvSpPr txBox="1"/>
          <p:nvPr/>
        </p:nvSpPr>
        <p:spPr>
          <a:xfrm>
            <a:off x="7794625" y="4381499"/>
            <a:ext cx="1190625" cy="431800"/>
          </a:xfrm>
          <a:prstGeom prst="rect">
            <a:avLst/>
          </a:prstGeom>
          <a:noFill/>
        </p:spPr>
        <p:txBody>
          <a:bodyPr vert="horz" wrap="square" lIns="0" tIns="0" rIns="0" bIns="0" rtlCol="0" anchor="t">
            <a:noAutofit/>
          </a:bodyPr>
          <a:lstStyle/>
          <a:p>
            <a:pPr algn="ctr"/>
            <a:r>
              <a:rPr lang="en-IL" sz="2600">
                <a:solidFill>
                  <a:srgbClr val="15283B"/>
                </a:solidFill>
                <a:latin typeface="Cambria Math" panose="02040503050406030204" pitchFamily="18" charset="0"/>
              </a:rPr>
              <a:t>0</a:t>
            </a:r>
          </a:p>
        </p:txBody>
      </p:sp>
      <p:sp>
        <p:nvSpPr>
          <p:cNvPr id="103" name="updated_text_41">
            <a:extLst>
              <a:ext uri="{FF2B5EF4-FFF2-40B4-BE49-F238E27FC236}">
                <a16:creationId xmlns:a16="http://schemas.microsoft.com/office/drawing/2014/main" id="{9FE25901-A4E8-0D0F-6236-2365D6BFF981}"/>
              </a:ext>
            </a:extLst>
          </p:cNvPr>
          <p:cNvSpPr txBox="1"/>
          <p:nvPr/>
        </p:nvSpPr>
        <p:spPr>
          <a:xfrm>
            <a:off x="8985250" y="4381499"/>
            <a:ext cx="1190625" cy="431800"/>
          </a:xfrm>
          <a:prstGeom prst="rect">
            <a:avLst/>
          </a:prstGeom>
          <a:noFill/>
        </p:spPr>
        <p:txBody>
          <a:bodyPr vert="horz" wrap="square" lIns="0" tIns="0" rIns="0" bIns="0" rtlCol="0" anchor="t">
            <a:noAutofit/>
          </a:bodyPr>
          <a:lstStyle/>
          <a:p>
            <a:pPr algn="ctr"/>
            <a:r>
              <a:rPr lang="en-IL" sz="2600">
                <a:solidFill>
                  <a:srgbClr val="15283B"/>
                </a:solidFill>
                <a:latin typeface="Cambria Math" panose="02040503050406030204" pitchFamily="18" charset="0"/>
              </a:rPr>
              <a:t>0</a:t>
            </a:r>
          </a:p>
        </p:txBody>
      </p:sp>
      <p:sp>
        <p:nvSpPr>
          <p:cNvPr id="104" name="updated_text_42">
            <a:extLst>
              <a:ext uri="{FF2B5EF4-FFF2-40B4-BE49-F238E27FC236}">
                <a16:creationId xmlns:a16="http://schemas.microsoft.com/office/drawing/2014/main" id="{704CAE6F-0EFC-62A2-7782-69784FD09AD2}"/>
              </a:ext>
            </a:extLst>
          </p:cNvPr>
          <p:cNvSpPr txBox="1"/>
          <p:nvPr/>
        </p:nvSpPr>
        <p:spPr>
          <a:xfrm>
            <a:off x="10175875" y="4381499"/>
            <a:ext cx="1190625" cy="431800"/>
          </a:xfrm>
          <a:prstGeom prst="rect">
            <a:avLst/>
          </a:prstGeom>
          <a:noFill/>
        </p:spPr>
        <p:txBody>
          <a:bodyPr vert="horz" wrap="square" lIns="0" tIns="0" rIns="0" bIns="0" rtlCol="0" anchor="t">
            <a:noAutofit/>
          </a:bodyPr>
          <a:lstStyle/>
          <a:p>
            <a:pPr algn="ctr"/>
            <a:r>
              <a:rPr lang="en-IL" sz="2600">
                <a:solidFill>
                  <a:srgbClr val="15283B"/>
                </a:solidFill>
                <a:latin typeface="Cambria Math" panose="02040503050406030204" pitchFamily="18" charset="0"/>
              </a:rPr>
              <a:t>1</a:t>
            </a:r>
          </a:p>
        </p:txBody>
      </p:sp>
      <p:sp>
        <p:nvSpPr>
          <p:cNvPr id="105" name="updated_text_43">
            <a:extLst>
              <a:ext uri="{FF2B5EF4-FFF2-40B4-BE49-F238E27FC236}">
                <a16:creationId xmlns:a16="http://schemas.microsoft.com/office/drawing/2014/main" id="{9AA4FD6D-27AF-F9A2-5FEB-ACD45488CFD0}"/>
              </a:ext>
            </a:extLst>
          </p:cNvPr>
          <p:cNvSpPr txBox="1"/>
          <p:nvPr/>
        </p:nvSpPr>
        <p:spPr>
          <a:xfrm>
            <a:off x="685800" y="4952999"/>
            <a:ext cx="5588000" cy="457200"/>
          </a:xfrm>
          <a:prstGeom prst="rect">
            <a:avLst/>
          </a:prstGeom>
          <a:noFill/>
        </p:spPr>
        <p:txBody>
          <a:bodyPr vert="horz" wrap="square" lIns="0" tIns="0" rIns="0" bIns="0" rtlCol="0" anchor="t">
            <a:noAutofit/>
          </a:bodyPr>
          <a:lstStyle/>
          <a:p>
            <a:r>
              <a:rPr lang="en-IL" sz="2300">
                <a:solidFill>
                  <a:srgbClr val="526477"/>
                </a:solidFill>
                <a:latin typeface="Cambria Math" panose="02040503050406030204" pitchFamily="18" charset="0"/>
              </a:rPr>
              <a:t>R: 3 × 3 · t: 3 × 1 · 0</a:t>
            </a:r>
            <a:r>
              <a:rPr lang="en-IL" sz="1656" baseline="32000">
                <a:solidFill>
                  <a:srgbClr val="526477"/>
                </a:solidFill>
                <a:latin typeface="Cambria Math" panose="02040503050406030204" pitchFamily="18" charset="0"/>
              </a:rPr>
              <a:t>T</a:t>
            </a:r>
            <a:r>
              <a:rPr lang="en-IL" sz="2300">
                <a:solidFill>
                  <a:srgbClr val="526477"/>
                </a:solidFill>
                <a:latin typeface="Cambria Math" panose="02040503050406030204" pitchFamily="18" charset="0"/>
              </a:rPr>
              <a:t>: 1 × 3</a:t>
            </a:r>
          </a:p>
        </p:txBody>
      </p:sp>
      <p:sp>
        <p:nvSpPr>
          <p:cNvPr id="106" name="updated_text_44">
            <a:extLst>
              <a:ext uri="{FF2B5EF4-FFF2-40B4-BE49-F238E27FC236}">
                <a16:creationId xmlns:a16="http://schemas.microsoft.com/office/drawing/2014/main" id="{3F0C7527-9F40-5ED1-C6EA-E7C62CF5E9E1}"/>
              </a:ext>
            </a:extLst>
          </p:cNvPr>
          <p:cNvSpPr txBox="1"/>
          <p:nvPr/>
        </p:nvSpPr>
        <p:spPr>
          <a:xfrm>
            <a:off x="6464300" y="4965699"/>
            <a:ext cx="5041900" cy="4445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Bottom row: 0  0  0  1</a:t>
            </a:r>
          </a:p>
        </p:txBody>
      </p:sp>
      <p:sp>
        <p:nvSpPr>
          <p:cNvPr id="107" name="updated_text_45">
            <a:extLst>
              <a:ext uri="{FF2B5EF4-FFF2-40B4-BE49-F238E27FC236}">
                <a16:creationId xmlns:a16="http://schemas.microsoft.com/office/drawing/2014/main" id="{41B9D649-4484-77A5-4342-67D13750C041}"/>
              </a:ext>
            </a:extLst>
          </p:cNvPr>
          <p:cNvSpPr txBox="1"/>
          <p:nvPr/>
        </p:nvSpPr>
        <p:spPr>
          <a:xfrm>
            <a:off x="685800" y="5587999"/>
            <a:ext cx="5588000" cy="596900"/>
          </a:xfrm>
          <a:prstGeom prst="rect">
            <a:avLst/>
          </a:prstGeom>
          <a:noFill/>
        </p:spPr>
        <p:txBody>
          <a:bodyPr vert="horz" wrap="square" lIns="0" tIns="0" rIns="0" bIns="0" rtlCol="0" anchor="t">
            <a:noAutofit/>
          </a:bodyPr>
          <a:lstStyle/>
          <a:p>
            <a:r>
              <a:rPr lang="en-IL" sz="2160" baseline="32000">
                <a:solidFill>
                  <a:srgbClr val="2459D3"/>
                </a:solidFill>
                <a:latin typeface="Cambria Math" panose="02040503050406030204" pitchFamily="18" charset="0"/>
              </a:rPr>
              <a:t>A</a:t>
            </a:r>
            <a:r>
              <a:rPr lang="en-IL" sz="3000">
                <a:solidFill>
                  <a:srgbClr val="2459D3"/>
                </a:solidFill>
                <a:latin typeface="Cambria Math" panose="02040503050406030204" pitchFamily="18" charset="0"/>
              </a:rPr>
              <a:t>p = </a:t>
            </a:r>
            <a:r>
              <a:rPr lang="en-IL" sz="2160" baseline="32000">
                <a:solidFill>
                  <a:srgbClr val="2459D3"/>
                </a:solidFill>
                <a:latin typeface="Cambria Math" panose="02040503050406030204" pitchFamily="18" charset="0"/>
              </a:rPr>
              <a:t>A</a:t>
            </a:r>
            <a:r>
              <a:rPr lang="en-IL" sz="3000">
                <a:solidFill>
                  <a:srgbClr val="2459D3"/>
                </a:solidFill>
                <a:latin typeface="Cambria Math" panose="02040503050406030204" pitchFamily="18" charset="0"/>
              </a:rPr>
              <a:t>R</a:t>
            </a:r>
            <a:r>
              <a:rPr lang="en-IL" sz="2160" baseline="-22000">
                <a:solidFill>
                  <a:srgbClr val="2459D3"/>
                </a:solidFill>
                <a:latin typeface="Cambria Math" panose="02040503050406030204" pitchFamily="18" charset="0"/>
              </a:rPr>
              <a:t>B</a:t>
            </a:r>
            <a:r>
              <a:rPr lang="en-IL" sz="3000">
                <a:solidFill>
                  <a:srgbClr val="2459D3"/>
                </a:solidFill>
                <a:latin typeface="Cambria Math" panose="02040503050406030204" pitchFamily="18" charset="0"/>
              </a:rPr>
              <a:t> </a:t>
            </a:r>
            <a:r>
              <a:rPr lang="en-IL" sz="2160" baseline="32000">
                <a:solidFill>
                  <a:srgbClr val="2459D3"/>
                </a:solidFill>
                <a:latin typeface="Cambria Math" panose="02040503050406030204" pitchFamily="18" charset="0"/>
              </a:rPr>
              <a:t>B</a:t>
            </a:r>
            <a:r>
              <a:rPr lang="en-IL" sz="3000">
                <a:solidFill>
                  <a:srgbClr val="2459D3"/>
                </a:solidFill>
                <a:latin typeface="Cambria Math" panose="02040503050406030204" pitchFamily="18" charset="0"/>
              </a:rPr>
              <a:t>p + </a:t>
            </a:r>
            <a:r>
              <a:rPr lang="en-IL" sz="2160" baseline="32000">
                <a:solidFill>
                  <a:srgbClr val="2459D3"/>
                </a:solidFill>
                <a:latin typeface="Cambria Math" panose="02040503050406030204" pitchFamily="18" charset="0"/>
              </a:rPr>
              <a:t>A</a:t>
            </a:r>
            <a:r>
              <a:rPr lang="en-IL" sz="3000">
                <a:solidFill>
                  <a:srgbClr val="2459D3"/>
                </a:solidFill>
                <a:latin typeface="Cambria Math" panose="02040503050406030204" pitchFamily="18" charset="0"/>
              </a:rPr>
              <a:t>t</a:t>
            </a:r>
            <a:r>
              <a:rPr lang="en-IL" sz="2160" baseline="-22000">
                <a:solidFill>
                  <a:srgbClr val="2459D3"/>
                </a:solidFill>
                <a:latin typeface="Cambria Math" panose="02040503050406030204" pitchFamily="18" charset="0"/>
              </a:rPr>
              <a:t>B</a:t>
            </a:r>
          </a:p>
        </p:txBody>
      </p:sp>
      <p:sp>
        <p:nvSpPr>
          <p:cNvPr id="108" name="updated_text_46">
            <a:extLst>
              <a:ext uri="{FF2B5EF4-FFF2-40B4-BE49-F238E27FC236}">
                <a16:creationId xmlns:a16="http://schemas.microsoft.com/office/drawing/2014/main" id="{8BC532FC-9DB8-9351-DFB7-5BD5E1EE40C4}"/>
              </a:ext>
            </a:extLst>
          </p:cNvPr>
          <p:cNvSpPr txBox="1"/>
          <p:nvPr/>
        </p:nvSpPr>
        <p:spPr>
          <a:xfrm>
            <a:off x="6464300" y="5524499"/>
            <a:ext cx="5041900" cy="7239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Point [p; 1] includes translation.
Direction [d; 0] does not.</a:t>
            </a:r>
            <a:endParaRPr lang="en-IL" sz="2400">
              <a:solidFill>
                <a:srgbClr val="15283B"/>
              </a:solidFill>
              <a:latin typeface="Aptos" panose="020B0004020202020204" pitchFamily="34" charset="0"/>
            </a:endParaRPr>
          </a:p>
        </p:txBody>
      </p:sp>
    </p:spTree>
    <p:extLst>
      <p:ext uri="{BB962C8B-B14F-4D97-AF65-F5344CB8AC3E}">
        <p14:creationId xmlns:p14="http://schemas.microsoft.com/office/powerpoint/2010/main" val="5877253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0A2555ED-9C0A-03ED-9AD9-9BB6316B39E9}"/>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02 / COORDINATE FRAMES</a:t>
            </a:r>
          </a:p>
        </p:txBody>
      </p:sp>
      <p:sp>
        <p:nvSpPr>
          <p:cNvPr id="3" name="text_2">
            <a:extLst>
              <a:ext uri="{FF2B5EF4-FFF2-40B4-BE49-F238E27FC236}">
                <a16:creationId xmlns:a16="http://schemas.microsoft.com/office/drawing/2014/main" id="{D21E7657-3E32-73C6-B902-3706F047151C}"/>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Compose and invert</a:t>
            </a:r>
          </a:p>
        </p:txBody>
      </p:sp>
      <p:sp>
        <p:nvSpPr>
          <p:cNvPr id="4" name="text_3">
            <a:extLst>
              <a:ext uri="{FF2B5EF4-FFF2-40B4-BE49-F238E27FC236}">
                <a16:creationId xmlns:a16="http://schemas.microsoft.com/office/drawing/2014/main" id="{D088E5D6-33C2-F510-F633-C6A8AA258BD0}"/>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Apply right to left. Matrix multiplication order matters.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84175B6B-844A-66ED-3F1A-10BFE87FF06B}"/>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BCD19C55-D138-C761-0A5A-1454FC3EFDA4}"/>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0B17B5E4-EFF8-49B2-3580-A9CECB35EDA2}"/>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09</a:t>
            </a:r>
          </a:p>
        </p:txBody>
      </p:sp>
      <p:sp>
        <p:nvSpPr>
          <p:cNvPr id="29" name="Rectangle: Rounded Corners 28">
            <a:extLst>
              <a:ext uri="{FF2B5EF4-FFF2-40B4-BE49-F238E27FC236}">
                <a16:creationId xmlns:a16="http://schemas.microsoft.com/office/drawing/2014/main" id="{E5E8E72D-19AB-283A-7111-E776FF8BACA7}"/>
              </a:ext>
            </a:extLst>
          </p:cNvPr>
          <p:cNvSpPr/>
          <p:nvPr/>
        </p:nvSpPr>
        <p:spPr>
          <a:xfrm>
            <a:off x="685800" y="2565400"/>
            <a:ext cx="2286000" cy="5080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0" name="updated_text_8">
            <a:extLst>
              <a:ext uri="{FF2B5EF4-FFF2-40B4-BE49-F238E27FC236}">
                <a16:creationId xmlns:a16="http://schemas.microsoft.com/office/drawing/2014/main" id="{C7C8B0E1-9D3B-D497-D5BC-F4325B56DF36}"/>
              </a:ext>
            </a:extLst>
          </p:cNvPr>
          <p:cNvSpPr txBox="1"/>
          <p:nvPr/>
        </p:nvSpPr>
        <p:spPr>
          <a:xfrm>
            <a:off x="685800" y="2616199"/>
            <a:ext cx="2286000" cy="406400"/>
          </a:xfrm>
          <a:prstGeom prst="rect">
            <a:avLst/>
          </a:prstGeom>
          <a:noFill/>
        </p:spPr>
        <p:txBody>
          <a:bodyPr vert="horz" wrap="square" lIns="0" tIns="0" rIns="0" bIns="0" rtlCol="0" anchor="t">
            <a:noAutofit/>
          </a:bodyPr>
          <a:lstStyle/>
          <a:p>
            <a:pPr algn="ctr"/>
            <a:r>
              <a:rPr lang="en-IL" sz="2500" b="1">
                <a:solidFill>
                  <a:srgbClr val="2459D3"/>
                </a:solidFill>
                <a:latin typeface="Aptos" panose="020B0004020202020204" pitchFamily="34" charset="0"/>
              </a:rPr>
              <a:t>A</a:t>
            </a:r>
          </a:p>
        </p:txBody>
      </p:sp>
      <p:sp>
        <p:nvSpPr>
          <p:cNvPr id="31" name="Rectangle: Rounded Corners 30">
            <a:extLst>
              <a:ext uri="{FF2B5EF4-FFF2-40B4-BE49-F238E27FC236}">
                <a16:creationId xmlns:a16="http://schemas.microsoft.com/office/drawing/2014/main" id="{08B380DA-CC25-7CB0-698B-6799A38C6864}"/>
              </a:ext>
            </a:extLst>
          </p:cNvPr>
          <p:cNvSpPr/>
          <p:nvPr/>
        </p:nvSpPr>
        <p:spPr>
          <a:xfrm>
            <a:off x="4953000" y="2565400"/>
            <a:ext cx="2286000" cy="5080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2" name="updated_text_10">
            <a:extLst>
              <a:ext uri="{FF2B5EF4-FFF2-40B4-BE49-F238E27FC236}">
                <a16:creationId xmlns:a16="http://schemas.microsoft.com/office/drawing/2014/main" id="{0AF0A90C-C8D3-1A7C-C34F-A5F9165B728A}"/>
              </a:ext>
            </a:extLst>
          </p:cNvPr>
          <p:cNvSpPr txBox="1"/>
          <p:nvPr/>
        </p:nvSpPr>
        <p:spPr>
          <a:xfrm>
            <a:off x="4953000" y="2616199"/>
            <a:ext cx="2286000" cy="406400"/>
          </a:xfrm>
          <a:prstGeom prst="rect">
            <a:avLst/>
          </a:prstGeom>
          <a:noFill/>
        </p:spPr>
        <p:txBody>
          <a:bodyPr vert="horz" wrap="square" lIns="0" tIns="0" rIns="0" bIns="0" rtlCol="0" anchor="t">
            <a:noAutofit/>
          </a:bodyPr>
          <a:lstStyle/>
          <a:p>
            <a:pPr algn="ctr"/>
            <a:r>
              <a:rPr lang="en-IL" sz="2500" b="1">
                <a:solidFill>
                  <a:srgbClr val="137F79"/>
                </a:solidFill>
                <a:latin typeface="Aptos" panose="020B0004020202020204" pitchFamily="34" charset="0"/>
              </a:rPr>
              <a:t>B</a:t>
            </a:r>
          </a:p>
        </p:txBody>
      </p:sp>
      <p:sp>
        <p:nvSpPr>
          <p:cNvPr id="33" name="Rectangle: Rounded Corners 32">
            <a:extLst>
              <a:ext uri="{FF2B5EF4-FFF2-40B4-BE49-F238E27FC236}">
                <a16:creationId xmlns:a16="http://schemas.microsoft.com/office/drawing/2014/main" id="{DA3E23B4-74CC-08DB-59BF-734FF51E253A}"/>
              </a:ext>
            </a:extLst>
          </p:cNvPr>
          <p:cNvSpPr/>
          <p:nvPr/>
        </p:nvSpPr>
        <p:spPr>
          <a:xfrm>
            <a:off x="9220200" y="2565400"/>
            <a:ext cx="2286000" cy="5080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4" name="updated_text_12">
            <a:extLst>
              <a:ext uri="{FF2B5EF4-FFF2-40B4-BE49-F238E27FC236}">
                <a16:creationId xmlns:a16="http://schemas.microsoft.com/office/drawing/2014/main" id="{15ADB683-A06D-C51A-4C41-8D178AA581B9}"/>
              </a:ext>
            </a:extLst>
          </p:cNvPr>
          <p:cNvSpPr txBox="1"/>
          <p:nvPr/>
        </p:nvSpPr>
        <p:spPr>
          <a:xfrm>
            <a:off x="9220200" y="2616199"/>
            <a:ext cx="2286000" cy="406400"/>
          </a:xfrm>
          <a:prstGeom prst="rect">
            <a:avLst/>
          </a:prstGeom>
          <a:noFill/>
        </p:spPr>
        <p:txBody>
          <a:bodyPr vert="horz" wrap="square" lIns="0" tIns="0" rIns="0" bIns="0" rtlCol="0" anchor="t">
            <a:noAutofit/>
          </a:bodyPr>
          <a:lstStyle/>
          <a:p>
            <a:pPr algn="ctr"/>
            <a:r>
              <a:rPr lang="en-IL" sz="2500" b="1">
                <a:solidFill>
                  <a:srgbClr val="2459D3"/>
                </a:solidFill>
                <a:latin typeface="Aptos" panose="020B0004020202020204" pitchFamily="34" charset="0"/>
              </a:rPr>
              <a:t>C</a:t>
            </a:r>
          </a:p>
        </p:txBody>
      </p:sp>
      <p:cxnSp>
        <p:nvCxnSpPr>
          <p:cNvPr id="35" name="Straight Connector 34">
            <a:extLst>
              <a:ext uri="{FF2B5EF4-FFF2-40B4-BE49-F238E27FC236}">
                <a16:creationId xmlns:a16="http://schemas.microsoft.com/office/drawing/2014/main" id="{C7A3F6D5-7141-FBBA-1303-E4D37AB9DBCA}"/>
              </a:ext>
            </a:extLst>
          </p:cNvPr>
          <p:cNvCxnSpPr/>
          <p:nvPr/>
        </p:nvCxnSpPr>
        <p:spPr>
          <a:xfrm flipH="1">
            <a:off x="3124200" y="2819400"/>
            <a:ext cx="16764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803D2FE9-C05B-E87A-C566-724FC348BEFB}"/>
              </a:ext>
            </a:extLst>
          </p:cNvPr>
          <p:cNvCxnSpPr/>
          <p:nvPr/>
        </p:nvCxnSpPr>
        <p:spPr>
          <a:xfrm flipH="1">
            <a:off x="7391400" y="2819400"/>
            <a:ext cx="16764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37" name="updated_text_15">
            <a:extLst>
              <a:ext uri="{FF2B5EF4-FFF2-40B4-BE49-F238E27FC236}">
                <a16:creationId xmlns:a16="http://schemas.microsoft.com/office/drawing/2014/main" id="{987DB7A9-CEBB-1EFE-7E85-D543A1091AEC}"/>
              </a:ext>
            </a:extLst>
          </p:cNvPr>
          <p:cNvSpPr txBox="1"/>
          <p:nvPr/>
        </p:nvSpPr>
        <p:spPr>
          <a:xfrm>
            <a:off x="685800" y="3428999"/>
            <a:ext cx="10820400" cy="787400"/>
          </a:xfrm>
          <a:prstGeom prst="rect">
            <a:avLst/>
          </a:prstGeom>
          <a:noFill/>
        </p:spPr>
        <p:txBody>
          <a:bodyPr vert="horz" wrap="square" lIns="0" tIns="0" rIns="0" bIns="0" rtlCol="0" anchor="t">
            <a:noAutofit/>
          </a:bodyPr>
          <a:lstStyle/>
          <a:p>
            <a:pPr algn="ctr"/>
            <a:r>
              <a:rPr lang="en-IL" sz="2880" baseline="32000">
                <a:solidFill>
                  <a:srgbClr val="2459D3"/>
                </a:solidFill>
                <a:latin typeface="Cambria Math" panose="02040503050406030204" pitchFamily="18" charset="0"/>
              </a:rPr>
              <a:t>A</a:t>
            </a:r>
            <a:r>
              <a:rPr lang="en-IL" sz="4000">
                <a:solidFill>
                  <a:srgbClr val="2459D3"/>
                </a:solidFill>
                <a:latin typeface="Cambria Math" panose="02040503050406030204" pitchFamily="18" charset="0"/>
              </a:rPr>
              <a:t>T</a:t>
            </a:r>
            <a:r>
              <a:rPr lang="en-IL" sz="2880" baseline="-22000">
                <a:solidFill>
                  <a:srgbClr val="2459D3"/>
                </a:solidFill>
                <a:latin typeface="Cambria Math" panose="02040503050406030204" pitchFamily="18" charset="0"/>
              </a:rPr>
              <a:t>C</a:t>
            </a:r>
            <a:r>
              <a:rPr lang="en-IL" sz="4000">
                <a:solidFill>
                  <a:srgbClr val="2459D3"/>
                </a:solidFill>
                <a:latin typeface="Cambria Math" panose="02040503050406030204" pitchFamily="18" charset="0"/>
              </a:rPr>
              <a:t> = </a:t>
            </a:r>
            <a:r>
              <a:rPr lang="en-IL" sz="2880" baseline="32000">
                <a:solidFill>
                  <a:srgbClr val="2459D3"/>
                </a:solidFill>
                <a:latin typeface="Cambria Math" panose="02040503050406030204" pitchFamily="18" charset="0"/>
              </a:rPr>
              <a:t>A</a:t>
            </a:r>
            <a:r>
              <a:rPr lang="en-IL" sz="4000">
                <a:solidFill>
                  <a:srgbClr val="2459D3"/>
                </a:solidFill>
                <a:latin typeface="Cambria Math" panose="02040503050406030204" pitchFamily="18" charset="0"/>
              </a:rPr>
              <a:t>T</a:t>
            </a:r>
            <a:r>
              <a:rPr lang="en-IL" sz="2880" b="1" baseline="-22000">
                <a:solidFill>
                  <a:srgbClr val="137F79"/>
                </a:solidFill>
                <a:latin typeface="Cambria Math" panose="02040503050406030204" pitchFamily="18" charset="0"/>
              </a:rPr>
              <a:t>B</a:t>
            </a:r>
            <a:r>
              <a:rPr lang="en-IL" sz="4000">
                <a:solidFill>
                  <a:srgbClr val="2459D3"/>
                </a:solidFill>
                <a:latin typeface="Cambria Math" panose="02040503050406030204" pitchFamily="18" charset="0"/>
              </a:rPr>
              <a:t> </a:t>
            </a:r>
            <a:r>
              <a:rPr lang="en-IL" sz="2880" b="1" baseline="32000">
                <a:solidFill>
                  <a:srgbClr val="137F79"/>
                </a:solidFill>
                <a:latin typeface="Cambria Math" panose="02040503050406030204" pitchFamily="18" charset="0"/>
              </a:rPr>
              <a:t>B</a:t>
            </a:r>
            <a:r>
              <a:rPr lang="en-IL" sz="4000">
                <a:solidFill>
                  <a:srgbClr val="2459D3"/>
                </a:solidFill>
                <a:latin typeface="Cambria Math" panose="02040503050406030204" pitchFamily="18" charset="0"/>
              </a:rPr>
              <a:t>T</a:t>
            </a:r>
            <a:r>
              <a:rPr lang="en-IL" sz="2880" baseline="-22000">
                <a:solidFill>
                  <a:srgbClr val="2459D3"/>
                </a:solidFill>
                <a:latin typeface="Cambria Math" panose="02040503050406030204" pitchFamily="18" charset="0"/>
              </a:rPr>
              <a:t>C</a:t>
            </a:r>
          </a:p>
        </p:txBody>
      </p:sp>
      <p:sp>
        <p:nvSpPr>
          <p:cNvPr id="38" name="updated_text_16">
            <a:extLst>
              <a:ext uri="{FF2B5EF4-FFF2-40B4-BE49-F238E27FC236}">
                <a16:creationId xmlns:a16="http://schemas.microsoft.com/office/drawing/2014/main" id="{08E1A2EA-FB80-A6CD-E926-40B4E9EF8A4A}"/>
              </a:ext>
            </a:extLst>
          </p:cNvPr>
          <p:cNvSpPr txBox="1"/>
          <p:nvPr/>
        </p:nvSpPr>
        <p:spPr>
          <a:xfrm>
            <a:off x="685800" y="4279899"/>
            <a:ext cx="10820400" cy="431800"/>
          </a:xfrm>
          <a:prstGeom prst="rect">
            <a:avLst/>
          </a:prstGeom>
          <a:noFill/>
        </p:spPr>
        <p:txBody>
          <a:bodyPr vert="horz" wrap="square" lIns="0" tIns="0" rIns="0" bIns="0" rtlCol="0" anchor="t">
            <a:noAutofit/>
          </a:bodyPr>
          <a:lstStyle/>
          <a:p>
            <a:pPr algn="ctr"/>
            <a:r>
              <a:rPr lang="en-US" sz="2400" b="1">
                <a:solidFill>
                  <a:srgbClr val="137F79"/>
                </a:solidFill>
                <a:latin typeface="Aptos" panose="020B0004020202020204" pitchFamily="34" charset="0"/>
              </a:rPr>
              <a:t>Match the inner frame indices: B → B.</a:t>
            </a:r>
            <a:endParaRPr lang="en-IL" sz="2400" b="1">
              <a:solidFill>
                <a:srgbClr val="137F79"/>
              </a:solidFill>
              <a:latin typeface="Aptos" panose="020B0004020202020204" pitchFamily="34" charset="0"/>
            </a:endParaRPr>
          </a:p>
        </p:txBody>
      </p:sp>
      <p:sp>
        <p:nvSpPr>
          <p:cNvPr id="39" name="updated_text_17">
            <a:extLst>
              <a:ext uri="{FF2B5EF4-FFF2-40B4-BE49-F238E27FC236}">
                <a16:creationId xmlns:a16="http://schemas.microsoft.com/office/drawing/2014/main" id="{A0B93478-6238-F845-81BF-CE8E0C59FE5F}"/>
              </a:ext>
            </a:extLst>
          </p:cNvPr>
          <p:cNvSpPr txBox="1"/>
          <p:nvPr/>
        </p:nvSpPr>
        <p:spPr>
          <a:xfrm>
            <a:off x="685800" y="5092699"/>
            <a:ext cx="2921000" cy="685800"/>
          </a:xfrm>
          <a:prstGeom prst="rect">
            <a:avLst/>
          </a:prstGeom>
          <a:noFill/>
        </p:spPr>
        <p:txBody>
          <a:bodyPr vert="horz" wrap="square" lIns="0" tIns="0" rIns="0" bIns="0" rtlCol="0" anchor="t">
            <a:noAutofit/>
          </a:bodyPr>
          <a:lstStyle/>
          <a:p>
            <a:r>
              <a:rPr lang="en-IL" sz="3500">
                <a:solidFill>
                  <a:srgbClr val="15283B"/>
                </a:solidFill>
                <a:latin typeface="Cambria Math" panose="02040503050406030204" pitchFamily="18" charset="0"/>
              </a:rPr>
              <a:t>T</a:t>
            </a:r>
            <a:r>
              <a:rPr lang="en-IL" sz="2520" baseline="32000">
                <a:solidFill>
                  <a:srgbClr val="15283B"/>
                </a:solidFill>
                <a:latin typeface="Cambria Math" panose="02040503050406030204" pitchFamily="18" charset="0"/>
              </a:rPr>
              <a:t>-1</a:t>
            </a:r>
            <a:r>
              <a:rPr lang="en-IL" sz="3500">
                <a:solidFill>
                  <a:srgbClr val="15283B"/>
                </a:solidFill>
                <a:latin typeface="Cambria Math" panose="02040503050406030204" pitchFamily="18" charset="0"/>
              </a:rPr>
              <a:t> =</a:t>
            </a:r>
          </a:p>
        </p:txBody>
      </p:sp>
      <p:cxnSp>
        <p:nvCxnSpPr>
          <p:cNvPr id="40" name="Straight Connector 39">
            <a:extLst>
              <a:ext uri="{FF2B5EF4-FFF2-40B4-BE49-F238E27FC236}">
                <a16:creationId xmlns:a16="http://schemas.microsoft.com/office/drawing/2014/main" id="{DB845F25-425B-E313-E902-FF4AB543FE13}"/>
              </a:ext>
            </a:extLst>
          </p:cNvPr>
          <p:cNvCxnSpPr/>
          <p:nvPr/>
        </p:nvCxnSpPr>
        <p:spPr>
          <a:xfrm>
            <a:off x="3683000" y="4864100"/>
            <a:ext cx="0" cy="11430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02313B77-BDF2-D960-58F4-C544F72B11FC}"/>
              </a:ext>
            </a:extLst>
          </p:cNvPr>
          <p:cNvCxnSpPr/>
          <p:nvPr/>
        </p:nvCxnSpPr>
        <p:spPr>
          <a:xfrm>
            <a:off x="3683000" y="48641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96BF1F9C-BAC2-7E02-12A7-76675523EA10}"/>
              </a:ext>
            </a:extLst>
          </p:cNvPr>
          <p:cNvCxnSpPr/>
          <p:nvPr/>
        </p:nvCxnSpPr>
        <p:spPr>
          <a:xfrm>
            <a:off x="3683000" y="60071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5576283-1408-1DD9-F27B-9C51E6EACA18}"/>
              </a:ext>
            </a:extLst>
          </p:cNvPr>
          <p:cNvCxnSpPr/>
          <p:nvPr/>
        </p:nvCxnSpPr>
        <p:spPr>
          <a:xfrm>
            <a:off x="8001000" y="4864100"/>
            <a:ext cx="0" cy="11430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4762AF10-CC0C-D112-AA69-7545DD5747FB}"/>
              </a:ext>
            </a:extLst>
          </p:cNvPr>
          <p:cNvCxnSpPr/>
          <p:nvPr/>
        </p:nvCxnSpPr>
        <p:spPr>
          <a:xfrm flipH="1">
            <a:off x="7899400" y="48641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52A2FC33-F521-E097-48A8-C2A8F010F887}"/>
              </a:ext>
            </a:extLst>
          </p:cNvPr>
          <p:cNvCxnSpPr/>
          <p:nvPr/>
        </p:nvCxnSpPr>
        <p:spPr>
          <a:xfrm flipH="1">
            <a:off x="7899400" y="60071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sp>
        <p:nvSpPr>
          <p:cNvPr id="46" name="updated_text_24">
            <a:extLst>
              <a:ext uri="{FF2B5EF4-FFF2-40B4-BE49-F238E27FC236}">
                <a16:creationId xmlns:a16="http://schemas.microsoft.com/office/drawing/2014/main" id="{DD94FBB0-E97A-83FD-F54B-EB70FD0901FB}"/>
              </a:ext>
            </a:extLst>
          </p:cNvPr>
          <p:cNvSpPr txBox="1"/>
          <p:nvPr/>
        </p:nvSpPr>
        <p:spPr>
          <a:xfrm>
            <a:off x="3822700" y="4889499"/>
            <a:ext cx="2019300" cy="546100"/>
          </a:xfrm>
          <a:prstGeom prst="rect">
            <a:avLst/>
          </a:prstGeom>
          <a:noFill/>
        </p:spPr>
        <p:txBody>
          <a:bodyPr vert="horz" wrap="square" lIns="0" tIns="0" rIns="0" bIns="0" rtlCol="0" anchor="t">
            <a:noAutofit/>
          </a:bodyPr>
          <a:lstStyle/>
          <a:p>
            <a:pPr algn="ctr"/>
            <a:r>
              <a:rPr lang="en-IL" sz="3200">
                <a:solidFill>
                  <a:srgbClr val="15283B"/>
                </a:solidFill>
                <a:latin typeface="Cambria Math" panose="02040503050406030204" pitchFamily="18" charset="0"/>
              </a:rPr>
              <a:t>R</a:t>
            </a:r>
            <a:r>
              <a:rPr lang="en-IL" sz="2304" baseline="32000">
                <a:solidFill>
                  <a:srgbClr val="15283B"/>
                </a:solidFill>
                <a:latin typeface="Cambria Math" panose="02040503050406030204" pitchFamily="18" charset="0"/>
              </a:rPr>
              <a:t>T</a:t>
            </a:r>
          </a:p>
        </p:txBody>
      </p:sp>
      <p:sp>
        <p:nvSpPr>
          <p:cNvPr id="47" name="updated_text_25">
            <a:extLst>
              <a:ext uri="{FF2B5EF4-FFF2-40B4-BE49-F238E27FC236}">
                <a16:creationId xmlns:a16="http://schemas.microsoft.com/office/drawing/2014/main" id="{B7A1BAE6-9C5C-5503-16E3-20241C42D533}"/>
              </a:ext>
            </a:extLst>
          </p:cNvPr>
          <p:cNvSpPr txBox="1"/>
          <p:nvPr/>
        </p:nvSpPr>
        <p:spPr>
          <a:xfrm>
            <a:off x="5842000" y="4889499"/>
            <a:ext cx="2019300" cy="546100"/>
          </a:xfrm>
          <a:prstGeom prst="rect">
            <a:avLst/>
          </a:prstGeom>
          <a:noFill/>
        </p:spPr>
        <p:txBody>
          <a:bodyPr vert="horz" wrap="square" lIns="0" tIns="0" rIns="0" bIns="0" rtlCol="0" anchor="t">
            <a:noAutofit/>
          </a:bodyPr>
          <a:lstStyle/>
          <a:p>
            <a:pPr algn="ctr"/>
            <a:r>
              <a:rPr lang="en-IL" sz="3200">
                <a:solidFill>
                  <a:srgbClr val="15283B"/>
                </a:solidFill>
                <a:latin typeface="Cambria Math" panose="02040503050406030204" pitchFamily="18" charset="0"/>
              </a:rPr>
              <a:t>−R</a:t>
            </a:r>
            <a:r>
              <a:rPr lang="en-IL" sz="2304" baseline="32000">
                <a:solidFill>
                  <a:srgbClr val="15283B"/>
                </a:solidFill>
                <a:latin typeface="Cambria Math" panose="02040503050406030204" pitchFamily="18" charset="0"/>
              </a:rPr>
              <a:t>T</a:t>
            </a:r>
            <a:r>
              <a:rPr lang="en-IL" sz="3200">
                <a:solidFill>
                  <a:srgbClr val="15283B"/>
                </a:solidFill>
                <a:latin typeface="Cambria Math" panose="02040503050406030204" pitchFamily="18" charset="0"/>
              </a:rPr>
              <a:t>t</a:t>
            </a:r>
          </a:p>
        </p:txBody>
      </p:sp>
      <p:sp>
        <p:nvSpPr>
          <p:cNvPr id="48" name="updated_text_26">
            <a:extLst>
              <a:ext uri="{FF2B5EF4-FFF2-40B4-BE49-F238E27FC236}">
                <a16:creationId xmlns:a16="http://schemas.microsoft.com/office/drawing/2014/main" id="{430BA5D7-9ABB-D5E5-57C8-54F5DBB1FFB6}"/>
              </a:ext>
            </a:extLst>
          </p:cNvPr>
          <p:cNvSpPr txBox="1"/>
          <p:nvPr/>
        </p:nvSpPr>
        <p:spPr>
          <a:xfrm>
            <a:off x="3822700" y="5460999"/>
            <a:ext cx="2019300" cy="546100"/>
          </a:xfrm>
          <a:prstGeom prst="rect">
            <a:avLst/>
          </a:prstGeom>
          <a:noFill/>
        </p:spPr>
        <p:txBody>
          <a:bodyPr vert="horz" wrap="square" lIns="0" tIns="0" rIns="0" bIns="0" rtlCol="0" anchor="t">
            <a:noAutofit/>
          </a:bodyPr>
          <a:lstStyle/>
          <a:p>
            <a:pPr algn="ctr"/>
            <a:r>
              <a:rPr lang="en-IL" sz="3200">
                <a:solidFill>
                  <a:srgbClr val="15283B"/>
                </a:solidFill>
                <a:latin typeface="Cambria Math" panose="02040503050406030204" pitchFamily="18" charset="0"/>
              </a:rPr>
              <a:t>0</a:t>
            </a:r>
          </a:p>
        </p:txBody>
      </p:sp>
      <p:sp>
        <p:nvSpPr>
          <p:cNvPr id="49" name="updated_text_27">
            <a:extLst>
              <a:ext uri="{FF2B5EF4-FFF2-40B4-BE49-F238E27FC236}">
                <a16:creationId xmlns:a16="http://schemas.microsoft.com/office/drawing/2014/main" id="{D4CC83DF-788B-8CDE-B1CA-4C35C133BB40}"/>
              </a:ext>
            </a:extLst>
          </p:cNvPr>
          <p:cNvSpPr txBox="1"/>
          <p:nvPr/>
        </p:nvSpPr>
        <p:spPr>
          <a:xfrm>
            <a:off x="5842000" y="5460999"/>
            <a:ext cx="2019300" cy="546100"/>
          </a:xfrm>
          <a:prstGeom prst="rect">
            <a:avLst/>
          </a:prstGeom>
          <a:noFill/>
        </p:spPr>
        <p:txBody>
          <a:bodyPr vert="horz" wrap="square" lIns="0" tIns="0" rIns="0" bIns="0" rtlCol="0" anchor="t">
            <a:noAutofit/>
          </a:bodyPr>
          <a:lstStyle/>
          <a:p>
            <a:pPr algn="ctr"/>
            <a:r>
              <a:rPr lang="en-IL" sz="3200">
                <a:solidFill>
                  <a:srgbClr val="15283B"/>
                </a:solidFill>
                <a:latin typeface="Cambria Math" panose="02040503050406030204" pitchFamily="18" charset="0"/>
              </a:rPr>
              <a:t>1</a:t>
            </a:r>
          </a:p>
        </p:txBody>
      </p:sp>
      <p:sp>
        <p:nvSpPr>
          <p:cNvPr id="50" name="updated_text_28">
            <a:extLst>
              <a:ext uri="{FF2B5EF4-FFF2-40B4-BE49-F238E27FC236}">
                <a16:creationId xmlns:a16="http://schemas.microsoft.com/office/drawing/2014/main" id="{CCF24D71-E452-E3E5-8EC4-0DEDD49C4B9F}"/>
              </a:ext>
            </a:extLst>
          </p:cNvPr>
          <p:cNvSpPr txBox="1"/>
          <p:nvPr/>
        </p:nvSpPr>
        <p:spPr>
          <a:xfrm>
            <a:off x="8382000" y="4902199"/>
            <a:ext cx="3124200" cy="1219200"/>
          </a:xfrm>
          <a:prstGeom prst="rect">
            <a:avLst/>
          </a:prstGeom>
          <a:noFill/>
        </p:spPr>
        <p:txBody>
          <a:bodyPr vert="horz" wrap="square" lIns="0" tIns="0" rIns="0" bIns="0" rtlCol="0" anchor="t">
            <a:noAutofit/>
          </a:bodyPr>
          <a:lstStyle/>
          <a:p>
            <a:r>
              <a:rPr lang="en-US" sz="2400">
                <a:solidFill>
                  <a:srgbClr val="526477"/>
                </a:solidFill>
                <a:latin typeface="Aptos" panose="020B0004020202020204" pitchFamily="34" charset="0"/>
              </a:rPr>
              <a:t>Subtract the translation, then rotate back.</a:t>
            </a:r>
            <a:endParaRPr lang="en-IL" sz="2400">
              <a:solidFill>
                <a:srgbClr val="526477"/>
              </a:solidFill>
              <a:latin typeface="Aptos" panose="020B0004020202020204" pitchFamily="34" charset="0"/>
            </a:endParaRPr>
          </a:p>
        </p:txBody>
      </p:sp>
    </p:spTree>
    <p:extLst>
      <p:ext uri="{BB962C8B-B14F-4D97-AF65-F5344CB8AC3E}">
        <p14:creationId xmlns:p14="http://schemas.microsoft.com/office/powerpoint/2010/main" val="23433217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6031D32B-5646-972A-3128-CD7FEA4E0EB6}"/>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02 / COORDINATE FRAMES</a:t>
            </a:r>
          </a:p>
        </p:txBody>
      </p:sp>
      <p:sp>
        <p:nvSpPr>
          <p:cNvPr id="3" name="text_2">
            <a:extLst>
              <a:ext uri="{FF2B5EF4-FFF2-40B4-BE49-F238E27FC236}">
                <a16:creationId xmlns:a16="http://schemas.microsoft.com/office/drawing/2014/main" id="{EAD86E19-F797-8CF3-826F-B69024197FD5}"/>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Why use quaternions?</a:t>
            </a:r>
          </a:p>
        </p:txBody>
      </p:sp>
      <p:sp>
        <p:nvSpPr>
          <p:cNvPr id="4" name="text_3">
            <a:extLst>
              <a:ext uri="{FF2B5EF4-FFF2-40B4-BE49-F238E27FC236}">
                <a16:creationId xmlns:a16="http://schemas.microsoft.com/office/drawing/2014/main" id="{4559919C-1886-C667-1957-28A58BF1C13B}"/>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Three practical reasons for a different rotation representation.</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FA6FB500-1521-3A71-C4D8-8CE6B60B29A0}"/>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2AA1ADAA-0EF7-4E31-EF8D-6222D953CD6F}"/>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C51A3AA0-3D1C-CC11-AC5C-0DB7CE119E19}"/>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10</a:t>
            </a:r>
          </a:p>
        </p:txBody>
      </p:sp>
      <p:sp>
        <p:nvSpPr>
          <p:cNvPr id="16" name="Rectangle: Rounded Corners 15">
            <a:extLst>
              <a:ext uri="{FF2B5EF4-FFF2-40B4-BE49-F238E27FC236}">
                <a16:creationId xmlns:a16="http://schemas.microsoft.com/office/drawing/2014/main" id="{5EA426AC-EC6B-D25E-1BB4-C64C8D965671}"/>
              </a:ext>
            </a:extLst>
          </p:cNvPr>
          <p:cNvSpPr/>
          <p:nvPr/>
        </p:nvSpPr>
        <p:spPr>
          <a:xfrm>
            <a:off x="685800" y="2527300"/>
            <a:ext cx="10820400" cy="1041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updated_text_8">
            <a:extLst>
              <a:ext uri="{FF2B5EF4-FFF2-40B4-BE49-F238E27FC236}">
                <a16:creationId xmlns:a16="http://schemas.microsoft.com/office/drawing/2014/main" id="{112E70BC-E71C-0261-FB11-836DACADBDDC}"/>
              </a:ext>
            </a:extLst>
          </p:cNvPr>
          <p:cNvSpPr txBox="1"/>
          <p:nvPr/>
        </p:nvSpPr>
        <p:spPr>
          <a:xfrm>
            <a:off x="889000" y="2781299"/>
            <a:ext cx="736600" cy="571500"/>
          </a:xfrm>
          <a:prstGeom prst="rect">
            <a:avLst/>
          </a:prstGeom>
          <a:noFill/>
        </p:spPr>
        <p:txBody>
          <a:bodyPr vert="horz" wrap="square" lIns="0" tIns="0" rIns="0" bIns="0" rtlCol="0" anchor="t">
            <a:noAutofit/>
          </a:bodyPr>
          <a:lstStyle/>
          <a:p>
            <a:r>
              <a:rPr lang="en-IL" sz="3000" b="1">
                <a:solidFill>
                  <a:srgbClr val="2459D3"/>
                </a:solidFill>
                <a:latin typeface="Aptos" panose="020B0004020202020204" pitchFamily="34" charset="0"/>
              </a:rPr>
              <a:t>01</a:t>
            </a:r>
          </a:p>
        </p:txBody>
      </p:sp>
      <p:sp>
        <p:nvSpPr>
          <p:cNvPr id="18" name="updated_text_9">
            <a:extLst>
              <a:ext uri="{FF2B5EF4-FFF2-40B4-BE49-F238E27FC236}">
                <a16:creationId xmlns:a16="http://schemas.microsoft.com/office/drawing/2014/main" id="{177BC5B1-FFBB-B827-807D-78B47504D27A}"/>
              </a:ext>
            </a:extLst>
          </p:cNvPr>
          <p:cNvSpPr txBox="1"/>
          <p:nvPr/>
        </p:nvSpPr>
        <p:spPr>
          <a:xfrm>
            <a:off x="1841500" y="2616199"/>
            <a:ext cx="9436100" cy="4445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Avoid Euler gimbal lock</a:t>
            </a:r>
          </a:p>
        </p:txBody>
      </p:sp>
      <p:sp>
        <p:nvSpPr>
          <p:cNvPr id="19" name="updated_text_10">
            <a:extLst>
              <a:ext uri="{FF2B5EF4-FFF2-40B4-BE49-F238E27FC236}">
                <a16:creationId xmlns:a16="http://schemas.microsoft.com/office/drawing/2014/main" id="{3B69AECB-B661-948F-022A-361E30508E4C}"/>
              </a:ext>
            </a:extLst>
          </p:cNvPr>
          <p:cNvSpPr txBox="1"/>
          <p:nvPr/>
        </p:nvSpPr>
        <p:spPr>
          <a:xfrm>
            <a:off x="1841500" y="3111499"/>
            <a:ext cx="9436100" cy="4064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Represent every orientation without Euler-angle singularities.</a:t>
            </a:r>
            <a:endParaRPr lang="en-IL" sz="2400">
              <a:solidFill>
                <a:srgbClr val="15283B"/>
              </a:solidFill>
              <a:latin typeface="Aptos" panose="020B0004020202020204" pitchFamily="34" charset="0"/>
            </a:endParaRPr>
          </a:p>
        </p:txBody>
      </p:sp>
      <p:sp>
        <p:nvSpPr>
          <p:cNvPr id="20" name="Rectangle: Rounded Corners 19">
            <a:extLst>
              <a:ext uri="{FF2B5EF4-FFF2-40B4-BE49-F238E27FC236}">
                <a16:creationId xmlns:a16="http://schemas.microsoft.com/office/drawing/2014/main" id="{8ADF3E78-954D-46AF-1CDE-634ED7313D4D}"/>
              </a:ext>
            </a:extLst>
          </p:cNvPr>
          <p:cNvSpPr/>
          <p:nvPr/>
        </p:nvSpPr>
        <p:spPr>
          <a:xfrm>
            <a:off x="685800" y="3721100"/>
            <a:ext cx="10820400" cy="1041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updated_text_12">
            <a:extLst>
              <a:ext uri="{FF2B5EF4-FFF2-40B4-BE49-F238E27FC236}">
                <a16:creationId xmlns:a16="http://schemas.microsoft.com/office/drawing/2014/main" id="{5C75E2D1-2561-251B-95D2-8247F37737F6}"/>
              </a:ext>
            </a:extLst>
          </p:cNvPr>
          <p:cNvSpPr txBox="1"/>
          <p:nvPr/>
        </p:nvSpPr>
        <p:spPr>
          <a:xfrm>
            <a:off x="889000" y="3975099"/>
            <a:ext cx="736600" cy="571500"/>
          </a:xfrm>
          <a:prstGeom prst="rect">
            <a:avLst/>
          </a:prstGeom>
          <a:noFill/>
        </p:spPr>
        <p:txBody>
          <a:bodyPr vert="horz" wrap="square" lIns="0" tIns="0" rIns="0" bIns="0" rtlCol="0" anchor="t">
            <a:noAutofit/>
          </a:bodyPr>
          <a:lstStyle/>
          <a:p>
            <a:r>
              <a:rPr lang="en-IL" sz="3000" b="1">
                <a:solidFill>
                  <a:srgbClr val="137F79"/>
                </a:solidFill>
                <a:latin typeface="Aptos" panose="020B0004020202020204" pitchFamily="34" charset="0"/>
              </a:rPr>
              <a:t>02</a:t>
            </a:r>
          </a:p>
        </p:txBody>
      </p:sp>
      <p:sp>
        <p:nvSpPr>
          <p:cNvPr id="22" name="updated_text_13">
            <a:extLst>
              <a:ext uri="{FF2B5EF4-FFF2-40B4-BE49-F238E27FC236}">
                <a16:creationId xmlns:a16="http://schemas.microsoft.com/office/drawing/2014/main" id="{5851E601-7425-61DC-0EED-A513BA6BCA41}"/>
              </a:ext>
            </a:extLst>
          </p:cNvPr>
          <p:cNvSpPr txBox="1"/>
          <p:nvPr/>
        </p:nvSpPr>
        <p:spPr>
          <a:xfrm>
            <a:off x="1841500" y="3809999"/>
            <a:ext cx="9436100" cy="4445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Compose 3D rotations</a:t>
            </a:r>
          </a:p>
        </p:txBody>
      </p:sp>
      <p:sp>
        <p:nvSpPr>
          <p:cNvPr id="23" name="updated_text_14">
            <a:extLst>
              <a:ext uri="{FF2B5EF4-FFF2-40B4-BE49-F238E27FC236}">
                <a16:creationId xmlns:a16="http://schemas.microsoft.com/office/drawing/2014/main" id="{B2F7FBBA-0E1B-82AC-DFAE-F34152569796}"/>
              </a:ext>
            </a:extLst>
          </p:cNvPr>
          <p:cNvSpPr txBox="1"/>
          <p:nvPr/>
        </p:nvSpPr>
        <p:spPr>
          <a:xfrm>
            <a:off x="1841500" y="4305299"/>
            <a:ext cx="9436100" cy="4064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Combine rotations using ordered quaternion multiplication.</a:t>
            </a:r>
          </a:p>
        </p:txBody>
      </p:sp>
      <p:sp>
        <p:nvSpPr>
          <p:cNvPr id="24" name="Rectangle: Rounded Corners 23">
            <a:extLst>
              <a:ext uri="{FF2B5EF4-FFF2-40B4-BE49-F238E27FC236}">
                <a16:creationId xmlns:a16="http://schemas.microsoft.com/office/drawing/2014/main" id="{CD628017-ECB2-D593-8552-50BFE7E51E90}"/>
              </a:ext>
            </a:extLst>
          </p:cNvPr>
          <p:cNvSpPr/>
          <p:nvPr/>
        </p:nvSpPr>
        <p:spPr>
          <a:xfrm>
            <a:off x="685800" y="4914900"/>
            <a:ext cx="10820400" cy="1041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5" name="updated_text_16">
            <a:extLst>
              <a:ext uri="{FF2B5EF4-FFF2-40B4-BE49-F238E27FC236}">
                <a16:creationId xmlns:a16="http://schemas.microsoft.com/office/drawing/2014/main" id="{58F3027E-8B08-6D64-4709-9336564523FB}"/>
              </a:ext>
            </a:extLst>
          </p:cNvPr>
          <p:cNvSpPr txBox="1"/>
          <p:nvPr/>
        </p:nvSpPr>
        <p:spPr>
          <a:xfrm>
            <a:off x="889000" y="5168899"/>
            <a:ext cx="736600" cy="571500"/>
          </a:xfrm>
          <a:prstGeom prst="rect">
            <a:avLst/>
          </a:prstGeom>
          <a:noFill/>
        </p:spPr>
        <p:txBody>
          <a:bodyPr vert="horz" wrap="square" lIns="0" tIns="0" rIns="0" bIns="0" rtlCol="0" anchor="t">
            <a:noAutofit/>
          </a:bodyPr>
          <a:lstStyle/>
          <a:p>
            <a:r>
              <a:rPr lang="en-IL" sz="3000" b="1">
                <a:solidFill>
                  <a:srgbClr val="2459D3"/>
                </a:solidFill>
                <a:latin typeface="Aptos" panose="020B0004020202020204" pitchFamily="34" charset="0"/>
              </a:rPr>
              <a:t>03</a:t>
            </a:r>
          </a:p>
        </p:txBody>
      </p:sp>
      <p:sp>
        <p:nvSpPr>
          <p:cNvPr id="26" name="updated_text_17">
            <a:extLst>
              <a:ext uri="{FF2B5EF4-FFF2-40B4-BE49-F238E27FC236}">
                <a16:creationId xmlns:a16="http://schemas.microsoft.com/office/drawing/2014/main" id="{74CFE38F-9DD8-49C0-0205-2A983C9DA80A}"/>
              </a:ext>
            </a:extLst>
          </p:cNvPr>
          <p:cNvSpPr txBox="1"/>
          <p:nvPr/>
        </p:nvSpPr>
        <p:spPr>
          <a:xfrm>
            <a:off x="1841500" y="5003799"/>
            <a:ext cx="9436100" cy="4445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Interpolate smoothly</a:t>
            </a:r>
          </a:p>
        </p:txBody>
      </p:sp>
      <p:sp>
        <p:nvSpPr>
          <p:cNvPr id="27" name="updated_text_18">
            <a:extLst>
              <a:ext uri="{FF2B5EF4-FFF2-40B4-BE49-F238E27FC236}">
                <a16:creationId xmlns:a16="http://schemas.microsoft.com/office/drawing/2014/main" id="{F941D02D-7746-BA26-CDDD-EF372A9F6678}"/>
              </a:ext>
            </a:extLst>
          </p:cNvPr>
          <p:cNvSpPr txBox="1"/>
          <p:nvPr/>
        </p:nvSpPr>
        <p:spPr>
          <a:xfrm>
            <a:off x="1841500" y="5499099"/>
            <a:ext cx="9436100" cy="4064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SLERP gives smooth changes between orientations.</a:t>
            </a:r>
            <a:endParaRPr lang="en-IL" sz="2400">
              <a:solidFill>
                <a:srgbClr val="15283B"/>
              </a:solidFill>
              <a:latin typeface="Aptos" panose="020B0004020202020204" pitchFamily="34" charset="0"/>
            </a:endParaRPr>
          </a:p>
        </p:txBody>
      </p:sp>
    </p:spTree>
    <p:extLst>
      <p:ext uri="{BB962C8B-B14F-4D97-AF65-F5344CB8AC3E}">
        <p14:creationId xmlns:p14="http://schemas.microsoft.com/office/powerpoint/2010/main" val="11123530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6031D32B-5646-972A-3128-CD7FEA4E0EB6}"/>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02 / COORDINATE FRAMES</a:t>
            </a:r>
          </a:p>
        </p:txBody>
      </p:sp>
      <p:sp>
        <p:nvSpPr>
          <p:cNvPr id="3" name="text_2">
            <a:extLst>
              <a:ext uri="{FF2B5EF4-FFF2-40B4-BE49-F238E27FC236}">
                <a16:creationId xmlns:a16="http://schemas.microsoft.com/office/drawing/2014/main" id="{EAD86E19-F797-8CF3-826F-B69024197FD5}"/>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Quaternion representation</a:t>
            </a:r>
          </a:p>
        </p:txBody>
      </p:sp>
      <p:sp>
        <p:nvSpPr>
          <p:cNvPr id="4" name="text_3">
            <a:extLst>
              <a:ext uri="{FF2B5EF4-FFF2-40B4-BE49-F238E27FC236}">
                <a16:creationId xmlns:a16="http://schemas.microsoft.com/office/drawing/2014/main" id="{4559919C-1886-C667-1957-28A58BF1C13B}"/>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 quaternion has one scalar component and three vector components.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FA6FB500-1521-3A71-C4D8-8CE6B60B29A0}"/>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2AA1ADAA-0EF7-4E31-EF8D-6222D953CD6F}"/>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C51A3AA0-3D1C-CC11-AC5C-0DB7CE119E19}"/>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11</a:t>
            </a:r>
          </a:p>
        </p:txBody>
      </p:sp>
      <p:sp>
        <p:nvSpPr>
          <p:cNvPr id="16" name="Rectangle: Rounded Corners 15">
            <a:extLst>
              <a:ext uri="{FF2B5EF4-FFF2-40B4-BE49-F238E27FC236}">
                <a16:creationId xmlns:a16="http://schemas.microsoft.com/office/drawing/2014/main" id="{24636DB4-11BF-7B3C-71C4-182EC8A9DAB3}"/>
              </a:ext>
            </a:extLst>
          </p:cNvPr>
          <p:cNvSpPr/>
          <p:nvPr/>
        </p:nvSpPr>
        <p:spPr>
          <a:xfrm>
            <a:off x="685800" y="2527300"/>
            <a:ext cx="10820400" cy="9779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updated_text_8">
            <a:extLst>
              <a:ext uri="{FF2B5EF4-FFF2-40B4-BE49-F238E27FC236}">
                <a16:creationId xmlns:a16="http://schemas.microsoft.com/office/drawing/2014/main" id="{F82B1F77-FCE9-EE2B-4211-FF84BDF0E70D}"/>
              </a:ext>
            </a:extLst>
          </p:cNvPr>
          <p:cNvSpPr txBox="1"/>
          <p:nvPr/>
        </p:nvSpPr>
        <p:spPr>
          <a:xfrm>
            <a:off x="914400" y="2679699"/>
            <a:ext cx="10363200" cy="685800"/>
          </a:xfrm>
          <a:prstGeom prst="rect">
            <a:avLst/>
          </a:prstGeom>
          <a:noFill/>
        </p:spPr>
        <p:txBody>
          <a:bodyPr vert="horz" wrap="square" lIns="0" tIns="0" rIns="0" bIns="0" rtlCol="0" anchor="t">
            <a:noAutofit/>
          </a:bodyPr>
          <a:lstStyle/>
          <a:p>
            <a:pPr algn="ctr"/>
            <a:r>
              <a:rPr lang="pl-PL" sz="3600">
                <a:solidFill>
                  <a:srgbClr val="2459D3"/>
                </a:solidFill>
                <a:latin typeface="Cambria Math" panose="02040503050406030204" pitchFamily="18" charset="0"/>
              </a:rPr>
              <a:t>q = (w, </a:t>
            </a:r>
            <a:r>
              <a:rPr lang="pl-PL" sz="3600" b="1">
                <a:solidFill>
                  <a:srgbClr val="2459D3"/>
                </a:solidFill>
                <a:latin typeface="Cambria" panose="02040503050406030204" pitchFamily="18" charset="0"/>
              </a:rPr>
              <a:t>v</a:t>
            </a:r>
            <a:r>
              <a:rPr lang="pl-PL" sz="3600">
                <a:solidFill>
                  <a:srgbClr val="2459D3"/>
                </a:solidFill>
                <a:latin typeface="Cambria Math" panose="02040503050406030204" pitchFamily="18" charset="0"/>
              </a:rPr>
              <a:t>) = (w, x, y, z)</a:t>
            </a:r>
            <a:endParaRPr lang="en-IL" sz="3600">
              <a:solidFill>
                <a:srgbClr val="2459D3"/>
              </a:solidFill>
              <a:latin typeface="Cambria Math" panose="02040503050406030204" pitchFamily="18" charset="0"/>
            </a:endParaRPr>
          </a:p>
        </p:txBody>
      </p:sp>
      <p:sp>
        <p:nvSpPr>
          <p:cNvPr id="18" name="updated_text_9">
            <a:extLst>
              <a:ext uri="{FF2B5EF4-FFF2-40B4-BE49-F238E27FC236}">
                <a16:creationId xmlns:a16="http://schemas.microsoft.com/office/drawing/2014/main" id="{F859C062-ABED-2CAD-2E7C-ACB92857AB5C}"/>
              </a:ext>
            </a:extLst>
          </p:cNvPr>
          <p:cNvSpPr txBox="1"/>
          <p:nvPr/>
        </p:nvSpPr>
        <p:spPr>
          <a:xfrm>
            <a:off x="685800" y="3746499"/>
            <a:ext cx="5207000" cy="444500"/>
          </a:xfrm>
          <a:prstGeom prst="rect">
            <a:avLst/>
          </a:prstGeom>
          <a:noFill/>
        </p:spPr>
        <p:txBody>
          <a:bodyPr vert="horz" wrap="square" lIns="0" tIns="0" rIns="0" bIns="0" rtlCol="0" anchor="t">
            <a:noAutofit/>
          </a:bodyPr>
          <a:lstStyle/>
          <a:p>
            <a:r>
              <a:rPr lang="en-IL" sz="2600" b="1">
                <a:solidFill>
                  <a:srgbClr val="15283B"/>
                </a:solidFill>
                <a:latin typeface="Aptos" panose="020B0004020202020204" pitchFamily="34" charset="0"/>
              </a:rPr>
              <a:t>w: scalar part</a:t>
            </a:r>
          </a:p>
        </p:txBody>
      </p:sp>
      <p:sp>
        <p:nvSpPr>
          <p:cNvPr id="19" name="updated_text_10">
            <a:extLst>
              <a:ext uri="{FF2B5EF4-FFF2-40B4-BE49-F238E27FC236}">
                <a16:creationId xmlns:a16="http://schemas.microsoft.com/office/drawing/2014/main" id="{9F0DE125-F3CF-EB42-83EE-20FA1FA11176}"/>
              </a:ext>
            </a:extLst>
          </p:cNvPr>
          <p:cNvSpPr txBox="1"/>
          <p:nvPr/>
        </p:nvSpPr>
        <p:spPr>
          <a:xfrm>
            <a:off x="6172200" y="3695699"/>
            <a:ext cx="5334000" cy="546100"/>
          </a:xfrm>
          <a:prstGeom prst="rect">
            <a:avLst/>
          </a:prstGeom>
          <a:noFill/>
        </p:spPr>
        <p:txBody>
          <a:bodyPr vert="horz" wrap="square" lIns="0" tIns="0" rIns="0" bIns="0" rtlCol="0" anchor="t">
            <a:noAutofit/>
          </a:bodyPr>
          <a:lstStyle/>
          <a:p>
            <a:r>
              <a:rPr lang="es-ES" sz="2800" b="1">
                <a:solidFill>
                  <a:srgbClr val="137F79"/>
                </a:solidFill>
                <a:latin typeface="Cambria" panose="02040503050406030204" pitchFamily="18" charset="0"/>
              </a:rPr>
              <a:t>v</a:t>
            </a:r>
            <a:r>
              <a:rPr lang="es-ES" sz="2800">
                <a:solidFill>
                  <a:srgbClr val="137F79"/>
                </a:solidFill>
                <a:latin typeface="Cambria Math" panose="02040503050406030204" pitchFamily="18" charset="0"/>
              </a:rPr>
              <a:t> = (x, y, z): vector part</a:t>
            </a:r>
            <a:endParaRPr lang="en-IL" sz="2800">
              <a:solidFill>
                <a:srgbClr val="137F79"/>
              </a:solidFill>
              <a:latin typeface="Cambria Math" panose="02040503050406030204" pitchFamily="18" charset="0"/>
            </a:endParaRPr>
          </a:p>
        </p:txBody>
      </p:sp>
      <p:sp>
        <p:nvSpPr>
          <p:cNvPr id="20" name="updated_text_11">
            <a:extLst>
              <a:ext uri="{FF2B5EF4-FFF2-40B4-BE49-F238E27FC236}">
                <a16:creationId xmlns:a16="http://schemas.microsoft.com/office/drawing/2014/main" id="{C41138F3-CAF1-56D3-524B-C4029CBC4E7D}"/>
              </a:ext>
            </a:extLst>
          </p:cNvPr>
          <p:cNvSpPr txBox="1"/>
          <p:nvPr/>
        </p:nvSpPr>
        <p:spPr>
          <a:xfrm>
            <a:off x="685800" y="4406899"/>
            <a:ext cx="5207000" cy="622300"/>
          </a:xfrm>
          <a:prstGeom prst="rect">
            <a:avLst/>
          </a:prstGeom>
          <a:noFill/>
        </p:spPr>
        <p:txBody>
          <a:bodyPr vert="horz" wrap="square" lIns="0" tIns="0" rIns="0" bIns="0" rtlCol="0" anchor="t">
            <a:noAutofit/>
          </a:bodyPr>
          <a:lstStyle/>
          <a:p>
            <a:r>
              <a:rPr lang="en-IL" sz="3400">
                <a:solidFill>
                  <a:srgbClr val="2459D3"/>
                </a:solidFill>
                <a:latin typeface="Cambria Math" panose="02040503050406030204" pitchFamily="18" charset="0"/>
              </a:rPr>
              <a:t>w = cos(</a:t>
            </a:r>
            <a:r>
              <a:rPr lang="el-GR" sz="3400">
                <a:solidFill>
                  <a:srgbClr val="2459D3"/>
                </a:solidFill>
                <a:latin typeface="Cambria Math" panose="02040503050406030204" pitchFamily="18" charset="0"/>
              </a:rPr>
              <a:t>α/2)</a:t>
            </a:r>
            <a:endParaRPr lang="en-IL" sz="3400">
              <a:solidFill>
                <a:srgbClr val="2459D3"/>
              </a:solidFill>
              <a:latin typeface="Cambria Math" panose="02040503050406030204" pitchFamily="18" charset="0"/>
            </a:endParaRPr>
          </a:p>
        </p:txBody>
      </p:sp>
      <p:sp>
        <p:nvSpPr>
          <p:cNvPr id="21" name="updated_text_12">
            <a:extLst>
              <a:ext uri="{FF2B5EF4-FFF2-40B4-BE49-F238E27FC236}">
                <a16:creationId xmlns:a16="http://schemas.microsoft.com/office/drawing/2014/main" id="{950E1BA5-8136-D595-CFC8-F3D44675F998}"/>
              </a:ext>
            </a:extLst>
          </p:cNvPr>
          <p:cNvSpPr txBox="1"/>
          <p:nvPr/>
        </p:nvSpPr>
        <p:spPr>
          <a:xfrm>
            <a:off x="6172200" y="4406899"/>
            <a:ext cx="5334000" cy="622300"/>
          </a:xfrm>
          <a:prstGeom prst="rect">
            <a:avLst/>
          </a:prstGeom>
          <a:noFill/>
        </p:spPr>
        <p:txBody>
          <a:bodyPr vert="horz" wrap="square" lIns="0" tIns="0" rIns="0" bIns="0" rtlCol="0" anchor="t">
            <a:noAutofit/>
          </a:bodyPr>
          <a:lstStyle/>
          <a:p>
            <a:r>
              <a:rPr lang="en-IL" sz="3400" b="1">
                <a:solidFill>
                  <a:srgbClr val="137F79"/>
                </a:solidFill>
                <a:latin typeface="Cambria" panose="02040503050406030204" pitchFamily="18" charset="0"/>
              </a:rPr>
              <a:t>v</a:t>
            </a:r>
            <a:r>
              <a:rPr lang="en-IL" sz="3400">
                <a:solidFill>
                  <a:srgbClr val="137F79"/>
                </a:solidFill>
                <a:latin typeface="Cambria Math" panose="02040503050406030204" pitchFamily="18" charset="0"/>
              </a:rPr>
              <a:t> = </a:t>
            </a:r>
            <a:r>
              <a:rPr lang="en-IL" sz="3400" b="1">
                <a:solidFill>
                  <a:srgbClr val="137F79"/>
                </a:solidFill>
                <a:latin typeface="Cambria" panose="02040503050406030204" pitchFamily="18" charset="0"/>
              </a:rPr>
              <a:t>K</a:t>
            </a:r>
            <a:r>
              <a:rPr lang="en-IL" sz="3400">
                <a:solidFill>
                  <a:srgbClr val="137F79"/>
                </a:solidFill>
                <a:latin typeface="Cambria Math" panose="02040503050406030204" pitchFamily="18" charset="0"/>
              </a:rPr>
              <a:t> sin(</a:t>
            </a:r>
            <a:r>
              <a:rPr lang="el-GR" sz="3400">
                <a:solidFill>
                  <a:srgbClr val="137F79"/>
                </a:solidFill>
                <a:latin typeface="Cambria Math" panose="02040503050406030204" pitchFamily="18" charset="0"/>
              </a:rPr>
              <a:t>α/2)</a:t>
            </a:r>
            <a:endParaRPr lang="en-IL" sz="3400">
              <a:solidFill>
                <a:srgbClr val="137F79"/>
              </a:solidFill>
              <a:latin typeface="Cambria Math" panose="02040503050406030204" pitchFamily="18" charset="0"/>
            </a:endParaRPr>
          </a:p>
        </p:txBody>
      </p:sp>
      <p:sp>
        <p:nvSpPr>
          <p:cNvPr id="22" name="updated_text_13">
            <a:extLst>
              <a:ext uri="{FF2B5EF4-FFF2-40B4-BE49-F238E27FC236}">
                <a16:creationId xmlns:a16="http://schemas.microsoft.com/office/drawing/2014/main" id="{2C3464E5-DA0F-8DAB-D1F4-C5D3357A8E49}"/>
              </a:ext>
            </a:extLst>
          </p:cNvPr>
          <p:cNvSpPr txBox="1"/>
          <p:nvPr/>
        </p:nvSpPr>
        <p:spPr>
          <a:xfrm>
            <a:off x="685800" y="5130799"/>
            <a:ext cx="10820400" cy="495300"/>
          </a:xfrm>
          <a:prstGeom prst="rect">
            <a:avLst/>
          </a:prstGeom>
          <a:noFill/>
        </p:spPr>
        <p:txBody>
          <a:bodyPr vert="horz" wrap="square" lIns="0" tIns="0" rIns="0" bIns="0" rtlCol="0" anchor="t">
            <a:noAutofit/>
          </a:bodyPr>
          <a:lstStyle/>
          <a:p>
            <a:r>
              <a:rPr lang="en-IL" sz="2700" b="1">
                <a:solidFill>
                  <a:srgbClr val="526477"/>
                </a:solidFill>
                <a:latin typeface="Cambria" panose="02040503050406030204" pitchFamily="18" charset="0"/>
              </a:rPr>
              <a:t>K</a:t>
            </a:r>
            <a:r>
              <a:rPr lang="en-IL" sz="2700">
                <a:solidFill>
                  <a:srgbClr val="526477"/>
                </a:solidFill>
                <a:latin typeface="Cambria Math" panose="02040503050406030204" pitchFamily="18" charset="0"/>
              </a:rPr>
              <a:t> = (k</a:t>
            </a:r>
            <a:r>
              <a:rPr lang="en-IL" sz="1944" baseline="-22000">
                <a:solidFill>
                  <a:srgbClr val="526477"/>
                </a:solidFill>
                <a:latin typeface="Cambria Math" panose="02040503050406030204" pitchFamily="18" charset="0"/>
              </a:rPr>
              <a:t>x</a:t>
            </a:r>
            <a:r>
              <a:rPr lang="en-IL" sz="2700">
                <a:solidFill>
                  <a:srgbClr val="526477"/>
                </a:solidFill>
                <a:latin typeface="Cambria Math" panose="02040503050406030204" pitchFamily="18" charset="0"/>
              </a:rPr>
              <a:t>, k</a:t>
            </a:r>
            <a:r>
              <a:rPr lang="en-IL" sz="1944" baseline="-22000">
                <a:solidFill>
                  <a:srgbClr val="526477"/>
                </a:solidFill>
                <a:latin typeface="Cambria Math" panose="02040503050406030204" pitchFamily="18" charset="0"/>
              </a:rPr>
              <a:t>y</a:t>
            </a:r>
            <a:r>
              <a:rPr lang="en-IL" sz="2700">
                <a:solidFill>
                  <a:srgbClr val="526477"/>
                </a:solidFill>
                <a:latin typeface="Cambria Math" panose="02040503050406030204" pitchFamily="18" charset="0"/>
              </a:rPr>
              <a:t>, k</a:t>
            </a:r>
            <a:r>
              <a:rPr lang="en-IL" sz="1944" baseline="-22000">
                <a:solidFill>
                  <a:srgbClr val="526477"/>
                </a:solidFill>
                <a:latin typeface="Cambria Math" panose="02040503050406030204" pitchFamily="18" charset="0"/>
              </a:rPr>
              <a:t>z</a:t>
            </a:r>
            <a:r>
              <a:rPr lang="en-IL" sz="2700">
                <a:solidFill>
                  <a:srgbClr val="526477"/>
                </a:solidFill>
                <a:latin typeface="Cambria Math" panose="02040503050406030204" pitchFamily="18" charset="0"/>
              </a:rPr>
              <a:t>), ‖</a:t>
            </a:r>
            <a:r>
              <a:rPr lang="en-IL" sz="2700" b="1">
                <a:solidFill>
                  <a:srgbClr val="526477"/>
                </a:solidFill>
                <a:latin typeface="Cambria" panose="02040503050406030204" pitchFamily="18" charset="0"/>
              </a:rPr>
              <a:t>K</a:t>
            </a:r>
            <a:r>
              <a:rPr lang="en-IL" sz="2700">
                <a:solidFill>
                  <a:srgbClr val="526477"/>
                </a:solidFill>
                <a:latin typeface="Cambria Math" panose="02040503050406030204" pitchFamily="18" charset="0"/>
              </a:rPr>
              <a:t>‖ = 1 · </a:t>
            </a:r>
            <a:r>
              <a:rPr lang="el-GR" sz="2700">
                <a:solidFill>
                  <a:srgbClr val="526477"/>
                </a:solidFill>
                <a:latin typeface="Cambria Math" panose="02040503050406030204" pitchFamily="18" charset="0"/>
              </a:rPr>
              <a:t>α: </a:t>
            </a:r>
            <a:r>
              <a:rPr lang="en-IL" sz="2700">
                <a:solidFill>
                  <a:srgbClr val="526477"/>
                </a:solidFill>
                <a:latin typeface="Cambria Math" panose="02040503050406030204" pitchFamily="18" charset="0"/>
              </a:rPr>
              <a:t>rotation angle</a:t>
            </a:r>
          </a:p>
        </p:txBody>
      </p:sp>
      <p:sp>
        <p:nvSpPr>
          <p:cNvPr id="23" name="updated_text_14">
            <a:extLst>
              <a:ext uri="{FF2B5EF4-FFF2-40B4-BE49-F238E27FC236}">
                <a16:creationId xmlns:a16="http://schemas.microsoft.com/office/drawing/2014/main" id="{ACD726D0-CC44-BEA0-15C8-EF506942B594}"/>
              </a:ext>
            </a:extLst>
          </p:cNvPr>
          <p:cNvSpPr txBox="1"/>
          <p:nvPr/>
        </p:nvSpPr>
        <p:spPr>
          <a:xfrm>
            <a:off x="685800" y="5765799"/>
            <a:ext cx="5207000" cy="482600"/>
          </a:xfrm>
          <a:prstGeom prst="rect">
            <a:avLst/>
          </a:prstGeom>
          <a:noFill/>
        </p:spPr>
        <p:txBody>
          <a:bodyPr vert="horz" wrap="square" lIns="0" tIns="0" rIns="0" bIns="0" rtlCol="0" anchor="t">
            <a:noAutofit/>
          </a:bodyPr>
          <a:lstStyle/>
          <a:p>
            <a:r>
              <a:rPr lang="pl-PL" sz="2600">
                <a:solidFill>
                  <a:srgbClr val="2459D3"/>
                </a:solidFill>
                <a:latin typeface="Cambria Math" panose="02040503050406030204" pitchFamily="18" charset="0"/>
              </a:rPr>
              <a:t>w² + x² + y² + z² = 1</a:t>
            </a:r>
            <a:endParaRPr lang="en-IL" sz="2600">
              <a:solidFill>
                <a:srgbClr val="2459D3"/>
              </a:solidFill>
              <a:latin typeface="Cambria Math" panose="02040503050406030204" pitchFamily="18" charset="0"/>
            </a:endParaRPr>
          </a:p>
        </p:txBody>
      </p:sp>
      <p:sp>
        <p:nvSpPr>
          <p:cNvPr id="24" name="updated_text_15">
            <a:extLst>
              <a:ext uri="{FF2B5EF4-FFF2-40B4-BE49-F238E27FC236}">
                <a16:creationId xmlns:a16="http://schemas.microsoft.com/office/drawing/2014/main" id="{33BAFFCF-ECDE-DDAD-45DA-5D13DF243F06}"/>
              </a:ext>
            </a:extLst>
          </p:cNvPr>
          <p:cNvSpPr txBox="1"/>
          <p:nvPr/>
        </p:nvSpPr>
        <p:spPr>
          <a:xfrm>
            <a:off x="6172200" y="5778499"/>
            <a:ext cx="5334000" cy="457200"/>
          </a:xfrm>
          <a:prstGeom prst="rect">
            <a:avLst/>
          </a:prstGeom>
          <a:noFill/>
        </p:spPr>
        <p:txBody>
          <a:bodyPr vert="horz" wrap="square" lIns="0" tIns="0" rIns="0" bIns="0" rtlCol="0" anchor="t">
            <a:noAutofit/>
          </a:bodyPr>
          <a:lstStyle/>
          <a:p>
            <a:r>
              <a:rPr lang="en-US" sz="2400" b="1">
                <a:solidFill>
                  <a:srgbClr val="15283B"/>
                </a:solidFill>
                <a:latin typeface="Aptos" panose="020B0004020202020204" pitchFamily="34" charset="0"/>
              </a:rPr>
              <a:t>q and −q: same 3D rotation</a:t>
            </a:r>
            <a:endParaRPr lang="en-IL" sz="2400" b="1">
              <a:solidFill>
                <a:srgbClr val="15283B"/>
              </a:solidFill>
              <a:latin typeface="Aptos" panose="020B0004020202020204" pitchFamily="34" charset="0"/>
            </a:endParaRPr>
          </a:p>
        </p:txBody>
      </p:sp>
    </p:spTree>
    <p:extLst>
      <p:ext uri="{BB962C8B-B14F-4D97-AF65-F5344CB8AC3E}">
        <p14:creationId xmlns:p14="http://schemas.microsoft.com/office/powerpoint/2010/main" val="22904609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0BCE29EA-80A7-A2D5-2B9A-D61E3295A229}"/>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02 / COORDINATE FRAMES</a:t>
            </a:r>
          </a:p>
        </p:txBody>
      </p:sp>
      <p:sp>
        <p:nvSpPr>
          <p:cNvPr id="3" name="text_2">
            <a:extLst>
              <a:ext uri="{FF2B5EF4-FFF2-40B4-BE49-F238E27FC236}">
                <a16:creationId xmlns:a16="http://schemas.microsoft.com/office/drawing/2014/main" id="{83E06C8F-675B-E330-D14D-29CB749BE86F}"/>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Quaternion multiplication &amp; points</a:t>
            </a:r>
          </a:p>
        </p:txBody>
      </p:sp>
      <p:sp>
        <p:nvSpPr>
          <p:cNvPr id="4" name="text_3">
            <a:extLst>
              <a:ext uri="{FF2B5EF4-FFF2-40B4-BE49-F238E27FC236}">
                <a16:creationId xmlns:a16="http://schemas.microsoft.com/office/drawing/2014/main" id="{5E3E64FA-EA79-DAD2-572A-515B349E7CA5}"/>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The Hamilton product ⊗ composes rotations. Its order matters.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A27DBE5B-27D5-0228-9E27-00AF807FAEF0}"/>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0EDB5E55-6A1D-4A8E-9A3C-81FE8446A3CB}"/>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810AAECF-CB0B-074B-E092-1D925B78F759}"/>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12</a:t>
            </a:r>
          </a:p>
        </p:txBody>
      </p:sp>
      <p:sp>
        <p:nvSpPr>
          <p:cNvPr id="11" name="updated_text_7">
            <a:extLst>
              <a:ext uri="{FF2B5EF4-FFF2-40B4-BE49-F238E27FC236}">
                <a16:creationId xmlns:a16="http://schemas.microsoft.com/office/drawing/2014/main" id="{7E25B392-4BCE-7079-FD00-488DF341F233}"/>
              </a:ext>
            </a:extLst>
          </p:cNvPr>
          <p:cNvSpPr txBox="1"/>
          <p:nvPr/>
        </p:nvSpPr>
        <p:spPr>
          <a:xfrm>
            <a:off x="685800" y="2514599"/>
            <a:ext cx="10820400" cy="584200"/>
          </a:xfrm>
          <a:prstGeom prst="rect">
            <a:avLst/>
          </a:prstGeom>
          <a:noFill/>
        </p:spPr>
        <p:txBody>
          <a:bodyPr vert="horz" wrap="square" lIns="0" tIns="0" rIns="0" bIns="0" rtlCol="0" anchor="t">
            <a:noAutofit/>
          </a:bodyPr>
          <a:lstStyle/>
          <a:p>
            <a:r>
              <a:rPr lang="pl-PL" sz="3100">
                <a:solidFill>
                  <a:srgbClr val="2459D3"/>
                </a:solidFill>
                <a:latin typeface="Cambria Math" panose="02040503050406030204" pitchFamily="18" charset="0"/>
              </a:rPr>
              <a:t>q</a:t>
            </a:r>
            <a:r>
              <a:rPr lang="pl-PL" sz="2232" baseline="-22000">
                <a:solidFill>
                  <a:srgbClr val="2459D3"/>
                </a:solidFill>
                <a:latin typeface="Cambria Math" panose="02040503050406030204" pitchFamily="18" charset="0"/>
              </a:rPr>
              <a:t>1</a:t>
            </a:r>
            <a:r>
              <a:rPr lang="pl-PL" sz="3100">
                <a:solidFill>
                  <a:srgbClr val="2459D3"/>
                </a:solidFill>
                <a:latin typeface="Cambria Math" panose="02040503050406030204" pitchFamily="18" charset="0"/>
              </a:rPr>
              <a:t> ⊗ q</a:t>
            </a:r>
            <a:r>
              <a:rPr lang="pl-PL" sz="2232" baseline="-22000">
                <a:solidFill>
                  <a:srgbClr val="2459D3"/>
                </a:solidFill>
                <a:latin typeface="Cambria Math" panose="02040503050406030204" pitchFamily="18" charset="0"/>
              </a:rPr>
              <a:t>2</a:t>
            </a:r>
            <a:r>
              <a:rPr lang="pl-PL" sz="3100">
                <a:solidFill>
                  <a:srgbClr val="2459D3"/>
                </a:solidFill>
                <a:latin typeface="Cambria Math" panose="02040503050406030204" pitchFamily="18" charset="0"/>
              </a:rPr>
              <a:t> = (w</a:t>
            </a:r>
            <a:r>
              <a:rPr lang="pl-PL" sz="2232" baseline="-22000">
                <a:solidFill>
                  <a:srgbClr val="2459D3"/>
                </a:solidFill>
                <a:latin typeface="Cambria Math" panose="02040503050406030204" pitchFamily="18" charset="0"/>
              </a:rPr>
              <a:t>1</a:t>
            </a:r>
            <a:r>
              <a:rPr lang="pl-PL" sz="3100">
                <a:solidFill>
                  <a:srgbClr val="2459D3"/>
                </a:solidFill>
                <a:latin typeface="Cambria Math" panose="02040503050406030204" pitchFamily="18" charset="0"/>
              </a:rPr>
              <a:t>w</a:t>
            </a:r>
            <a:r>
              <a:rPr lang="pl-PL" sz="2232" baseline="-22000">
                <a:solidFill>
                  <a:srgbClr val="2459D3"/>
                </a:solidFill>
                <a:latin typeface="Cambria Math" panose="02040503050406030204" pitchFamily="18" charset="0"/>
              </a:rPr>
              <a:t>2</a:t>
            </a:r>
            <a:r>
              <a:rPr lang="pl-PL" sz="3100">
                <a:solidFill>
                  <a:srgbClr val="2459D3"/>
                </a:solidFill>
                <a:latin typeface="Cambria Math" panose="02040503050406030204" pitchFamily="18" charset="0"/>
              </a:rPr>
              <a:t> − </a:t>
            </a:r>
            <a:r>
              <a:rPr lang="pl-PL" sz="3100" b="1">
                <a:solidFill>
                  <a:srgbClr val="2459D3"/>
                </a:solidFill>
                <a:latin typeface="Cambria" panose="02040503050406030204" pitchFamily="18" charset="0"/>
              </a:rPr>
              <a:t>v</a:t>
            </a:r>
            <a:r>
              <a:rPr lang="pl-PL" sz="2232" baseline="-22000">
                <a:solidFill>
                  <a:srgbClr val="2459D3"/>
                </a:solidFill>
                <a:latin typeface="Cambria Math" panose="02040503050406030204" pitchFamily="18" charset="0"/>
              </a:rPr>
              <a:t>1</a:t>
            </a:r>
            <a:r>
              <a:rPr lang="pl-PL" sz="3100">
                <a:solidFill>
                  <a:srgbClr val="2459D3"/>
                </a:solidFill>
                <a:latin typeface="Cambria Math" panose="02040503050406030204" pitchFamily="18" charset="0"/>
              </a:rPr>
              <a:t>·</a:t>
            </a:r>
            <a:r>
              <a:rPr lang="pl-PL" sz="3100" b="1">
                <a:solidFill>
                  <a:srgbClr val="2459D3"/>
                </a:solidFill>
                <a:latin typeface="Cambria" panose="02040503050406030204" pitchFamily="18" charset="0"/>
              </a:rPr>
              <a:t>v</a:t>
            </a:r>
            <a:r>
              <a:rPr lang="pl-PL" sz="2232" baseline="-22000">
                <a:solidFill>
                  <a:srgbClr val="2459D3"/>
                </a:solidFill>
                <a:latin typeface="Cambria Math" panose="02040503050406030204" pitchFamily="18" charset="0"/>
              </a:rPr>
              <a:t>2</a:t>
            </a:r>
            <a:r>
              <a:rPr lang="pl-PL" sz="3100">
                <a:solidFill>
                  <a:srgbClr val="2459D3"/>
                </a:solidFill>
                <a:latin typeface="Cambria Math" panose="02040503050406030204" pitchFamily="18" charset="0"/>
              </a:rPr>
              <a:t>,</a:t>
            </a:r>
            <a:endParaRPr lang="en-IL" sz="3100">
              <a:solidFill>
                <a:srgbClr val="2459D3"/>
              </a:solidFill>
              <a:latin typeface="Cambria Math" panose="02040503050406030204" pitchFamily="18" charset="0"/>
            </a:endParaRPr>
          </a:p>
        </p:txBody>
      </p:sp>
      <p:sp>
        <p:nvSpPr>
          <p:cNvPr id="12" name="updated_text_8">
            <a:extLst>
              <a:ext uri="{FF2B5EF4-FFF2-40B4-BE49-F238E27FC236}">
                <a16:creationId xmlns:a16="http://schemas.microsoft.com/office/drawing/2014/main" id="{8F660650-A978-A025-6782-04E5B93B3F35}"/>
              </a:ext>
            </a:extLst>
          </p:cNvPr>
          <p:cNvSpPr txBox="1"/>
          <p:nvPr/>
        </p:nvSpPr>
        <p:spPr>
          <a:xfrm>
            <a:off x="685800" y="3149599"/>
            <a:ext cx="10820400" cy="596900"/>
          </a:xfrm>
          <a:prstGeom prst="rect">
            <a:avLst/>
          </a:prstGeom>
          <a:noFill/>
        </p:spPr>
        <p:txBody>
          <a:bodyPr vert="horz" wrap="square" lIns="0" tIns="0" rIns="0" bIns="0" rtlCol="0" anchor="t">
            <a:noAutofit/>
          </a:bodyPr>
          <a:lstStyle/>
          <a:p>
            <a:r>
              <a:rPr lang="en-IL" sz="3100">
                <a:solidFill>
                  <a:srgbClr val="137F79"/>
                </a:solidFill>
                <a:latin typeface="Cambria Math" panose="02040503050406030204" pitchFamily="18" charset="0"/>
              </a:rPr>
              <a:t>                  w</a:t>
            </a:r>
            <a:r>
              <a:rPr lang="en-IL" sz="2232" baseline="-22000">
                <a:solidFill>
                  <a:srgbClr val="137F79"/>
                </a:solidFill>
                <a:latin typeface="Cambria Math" panose="02040503050406030204" pitchFamily="18" charset="0"/>
              </a:rPr>
              <a:t>1</a:t>
            </a:r>
            <a:r>
              <a:rPr lang="en-IL" sz="3100" b="1">
                <a:solidFill>
                  <a:srgbClr val="137F79"/>
                </a:solidFill>
                <a:latin typeface="Cambria" panose="02040503050406030204" pitchFamily="18" charset="0"/>
              </a:rPr>
              <a:t>v</a:t>
            </a:r>
            <a:r>
              <a:rPr lang="en-IL" sz="2232" baseline="-22000">
                <a:solidFill>
                  <a:srgbClr val="137F79"/>
                </a:solidFill>
                <a:latin typeface="Cambria Math" panose="02040503050406030204" pitchFamily="18" charset="0"/>
              </a:rPr>
              <a:t>2</a:t>
            </a:r>
            <a:r>
              <a:rPr lang="en-IL" sz="3100">
                <a:solidFill>
                  <a:srgbClr val="137F79"/>
                </a:solidFill>
                <a:latin typeface="Cambria Math" panose="02040503050406030204" pitchFamily="18" charset="0"/>
              </a:rPr>
              <a:t> + w</a:t>
            </a:r>
            <a:r>
              <a:rPr lang="en-IL" sz="2232" baseline="-22000">
                <a:solidFill>
                  <a:srgbClr val="137F79"/>
                </a:solidFill>
                <a:latin typeface="Cambria Math" panose="02040503050406030204" pitchFamily="18" charset="0"/>
              </a:rPr>
              <a:t>2</a:t>
            </a:r>
            <a:r>
              <a:rPr lang="en-IL" sz="3100" b="1">
                <a:solidFill>
                  <a:srgbClr val="137F79"/>
                </a:solidFill>
                <a:latin typeface="Cambria" panose="02040503050406030204" pitchFamily="18" charset="0"/>
              </a:rPr>
              <a:t>v</a:t>
            </a:r>
            <a:r>
              <a:rPr lang="en-IL" sz="2232" baseline="-22000">
                <a:solidFill>
                  <a:srgbClr val="137F79"/>
                </a:solidFill>
                <a:latin typeface="Cambria Math" panose="02040503050406030204" pitchFamily="18" charset="0"/>
              </a:rPr>
              <a:t>1</a:t>
            </a:r>
            <a:r>
              <a:rPr lang="en-IL" sz="3100">
                <a:solidFill>
                  <a:srgbClr val="137F79"/>
                </a:solidFill>
                <a:latin typeface="Cambria Math" panose="02040503050406030204" pitchFamily="18" charset="0"/>
              </a:rPr>
              <a:t> + </a:t>
            </a:r>
            <a:r>
              <a:rPr lang="en-IL" sz="3100" b="1">
                <a:solidFill>
                  <a:srgbClr val="137F79"/>
                </a:solidFill>
                <a:latin typeface="Cambria" panose="02040503050406030204" pitchFamily="18" charset="0"/>
              </a:rPr>
              <a:t>v</a:t>
            </a:r>
            <a:r>
              <a:rPr lang="en-IL" sz="2232" baseline="-22000">
                <a:solidFill>
                  <a:srgbClr val="137F79"/>
                </a:solidFill>
                <a:latin typeface="Cambria Math" panose="02040503050406030204" pitchFamily="18" charset="0"/>
              </a:rPr>
              <a:t>1</a:t>
            </a:r>
            <a:r>
              <a:rPr lang="en-IL" sz="3100">
                <a:solidFill>
                  <a:srgbClr val="137F79"/>
                </a:solidFill>
                <a:latin typeface="Cambria Math" panose="02040503050406030204" pitchFamily="18" charset="0"/>
              </a:rPr>
              <a:t>×</a:t>
            </a:r>
            <a:r>
              <a:rPr lang="en-IL" sz="3100" b="1">
                <a:solidFill>
                  <a:srgbClr val="137F79"/>
                </a:solidFill>
                <a:latin typeface="Cambria" panose="02040503050406030204" pitchFamily="18" charset="0"/>
              </a:rPr>
              <a:t>v</a:t>
            </a:r>
            <a:r>
              <a:rPr lang="en-IL" sz="2232" baseline="-22000">
                <a:solidFill>
                  <a:srgbClr val="137F79"/>
                </a:solidFill>
                <a:latin typeface="Cambria Math" panose="02040503050406030204" pitchFamily="18" charset="0"/>
              </a:rPr>
              <a:t>2</a:t>
            </a:r>
            <a:r>
              <a:rPr lang="en-IL" sz="3100">
                <a:solidFill>
                  <a:srgbClr val="137F79"/>
                </a:solidFill>
                <a:latin typeface="Cambria Math" panose="02040503050406030204" pitchFamily="18" charset="0"/>
              </a:rPr>
              <a:t>)</a:t>
            </a:r>
          </a:p>
        </p:txBody>
      </p:sp>
      <p:sp>
        <p:nvSpPr>
          <p:cNvPr id="13" name="Rectangle: Rounded Corners 12">
            <a:extLst>
              <a:ext uri="{FF2B5EF4-FFF2-40B4-BE49-F238E27FC236}">
                <a16:creationId xmlns:a16="http://schemas.microsoft.com/office/drawing/2014/main" id="{501A66F2-6708-6075-8447-DA403D253717}"/>
              </a:ext>
            </a:extLst>
          </p:cNvPr>
          <p:cNvSpPr/>
          <p:nvPr/>
        </p:nvSpPr>
        <p:spPr>
          <a:xfrm>
            <a:off x="685800" y="3975100"/>
            <a:ext cx="10820400" cy="10287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updated_text_10">
            <a:extLst>
              <a:ext uri="{FF2B5EF4-FFF2-40B4-BE49-F238E27FC236}">
                <a16:creationId xmlns:a16="http://schemas.microsoft.com/office/drawing/2014/main" id="{857469B8-081E-1C4D-A4A9-240188CCDA46}"/>
              </a:ext>
            </a:extLst>
          </p:cNvPr>
          <p:cNvSpPr txBox="1"/>
          <p:nvPr/>
        </p:nvSpPr>
        <p:spPr>
          <a:xfrm>
            <a:off x="914400" y="4089399"/>
            <a:ext cx="10363200" cy="673100"/>
          </a:xfrm>
          <a:prstGeom prst="rect">
            <a:avLst/>
          </a:prstGeom>
          <a:noFill/>
        </p:spPr>
        <p:txBody>
          <a:bodyPr vert="horz" wrap="square" lIns="0" tIns="0" rIns="0" bIns="0" rtlCol="0" anchor="t">
            <a:noAutofit/>
          </a:bodyPr>
          <a:lstStyle/>
          <a:p>
            <a:pPr algn="ctr"/>
            <a:r>
              <a:rPr lang="en-IL" sz="3200">
                <a:solidFill>
                  <a:srgbClr val="2459D3"/>
                </a:solidFill>
                <a:latin typeface="Cambria Math" panose="02040503050406030204" pitchFamily="18" charset="0"/>
              </a:rPr>
              <a:t>(0, </a:t>
            </a:r>
            <a:r>
              <a:rPr lang="en-IL" sz="2304" baseline="32000">
                <a:solidFill>
                  <a:srgbClr val="2459D3"/>
                </a:solidFill>
                <a:latin typeface="Cambria Math" panose="02040503050406030204" pitchFamily="18" charset="0"/>
              </a:rPr>
              <a:t>A</a:t>
            </a:r>
            <a:r>
              <a:rPr lang="en-IL" sz="3200">
                <a:solidFill>
                  <a:srgbClr val="2459D3"/>
                </a:solidFill>
                <a:latin typeface="Cambria Math" panose="02040503050406030204" pitchFamily="18" charset="0"/>
              </a:rPr>
              <a:t>p</a:t>
            </a:r>
            <a:r>
              <a:rPr lang="en-IL" sz="2304" baseline="-22000">
                <a:solidFill>
                  <a:srgbClr val="2459D3"/>
                </a:solidFill>
                <a:latin typeface="Cambria Math" panose="02040503050406030204" pitchFamily="18" charset="0"/>
              </a:rPr>
              <a:t>rot</a:t>
            </a:r>
            <a:r>
              <a:rPr lang="en-IL" sz="3200">
                <a:solidFill>
                  <a:srgbClr val="2459D3"/>
                </a:solidFill>
                <a:latin typeface="Cambria Math" panose="02040503050406030204" pitchFamily="18" charset="0"/>
              </a:rPr>
              <a:t>) = q</a:t>
            </a:r>
            <a:r>
              <a:rPr lang="en-IL" sz="2304" baseline="-22000">
                <a:solidFill>
                  <a:srgbClr val="2459D3"/>
                </a:solidFill>
                <a:latin typeface="Cambria Math" panose="02040503050406030204" pitchFamily="18" charset="0"/>
              </a:rPr>
              <a:t>AB</a:t>
            </a:r>
            <a:r>
              <a:rPr lang="en-IL" sz="3200">
                <a:solidFill>
                  <a:srgbClr val="2459D3"/>
                </a:solidFill>
                <a:latin typeface="Cambria Math" panose="02040503050406030204" pitchFamily="18" charset="0"/>
              </a:rPr>
              <a:t> ⊗ (0, </a:t>
            </a:r>
            <a:r>
              <a:rPr lang="en-IL" sz="2304" baseline="32000">
                <a:solidFill>
                  <a:srgbClr val="2459D3"/>
                </a:solidFill>
                <a:latin typeface="Cambria Math" panose="02040503050406030204" pitchFamily="18" charset="0"/>
              </a:rPr>
              <a:t>B</a:t>
            </a:r>
            <a:r>
              <a:rPr lang="en-IL" sz="3200">
                <a:solidFill>
                  <a:srgbClr val="2459D3"/>
                </a:solidFill>
                <a:latin typeface="Cambria Math" panose="02040503050406030204" pitchFamily="18" charset="0"/>
              </a:rPr>
              <a:t>p) ⊗ q</a:t>
            </a:r>
            <a:r>
              <a:rPr lang="en-IL" sz="2304" baseline="-22000">
                <a:solidFill>
                  <a:srgbClr val="2459D3"/>
                </a:solidFill>
                <a:latin typeface="Cambria Math" panose="02040503050406030204" pitchFamily="18" charset="0"/>
              </a:rPr>
              <a:t>AB</a:t>
            </a:r>
            <a:r>
              <a:rPr lang="en-IL" sz="2304" baseline="32000">
                <a:solidFill>
                  <a:srgbClr val="2459D3"/>
                </a:solidFill>
                <a:latin typeface="Cambria Math" panose="02040503050406030204" pitchFamily="18" charset="0"/>
              </a:rPr>
              <a:t>-1</a:t>
            </a:r>
          </a:p>
        </p:txBody>
      </p:sp>
      <p:sp>
        <p:nvSpPr>
          <p:cNvPr id="15" name="updated_text_11">
            <a:extLst>
              <a:ext uri="{FF2B5EF4-FFF2-40B4-BE49-F238E27FC236}">
                <a16:creationId xmlns:a16="http://schemas.microsoft.com/office/drawing/2014/main" id="{F2024577-A3F3-575A-3B24-089D25A04906}"/>
              </a:ext>
            </a:extLst>
          </p:cNvPr>
          <p:cNvSpPr txBox="1"/>
          <p:nvPr/>
        </p:nvSpPr>
        <p:spPr>
          <a:xfrm>
            <a:off x="685800" y="5232399"/>
            <a:ext cx="10820400" cy="609600"/>
          </a:xfrm>
          <a:prstGeom prst="rect">
            <a:avLst/>
          </a:prstGeom>
          <a:noFill/>
        </p:spPr>
        <p:txBody>
          <a:bodyPr vert="horz" wrap="square" lIns="0" tIns="0" rIns="0" bIns="0" rtlCol="0" anchor="t">
            <a:noAutofit/>
          </a:bodyPr>
          <a:lstStyle/>
          <a:p>
            <a:pPr algn="ctr"/>
            <a:r>
              <a:rPr lang="en-IL" sz="2448" baseline="32000">
                <a:solidFill>
                  <a:srgbClr val="137F79"/>
                </a:solidFill>
                <a:latin typeface="Cambria Math" panose="02040503050406030204" pitchFamily="18" charset="0"/>
              </a:rPr>
              <a:t>A</a:t>
            </a:r>
            <a:r>
              <a:rPr lang="en-IL" sz="3400">
                <a:solidFill>
                  <a:srgbClr val="137F79"/>
                </a:solidFill>
                <a:latin typeface="Cambria Math" panose="02040503050406030204" pitchFamily="18" charset="0"/>
              </a:rPr>
              <a:t>p = </a:t>
            </a:r>
            <a:r>
              <a:rPr lang="en-IL" sz="2448" baseline="32000">
                <a:solidFill>
                  <a:srgbClr val="137F79"/>
                </a:solidFill>
                <a:latin typeface="Cambria Math" panose="02040503050406030204" pitchFamily="18" charset="0"/>
              </a:rPr>
              <a:t>A</a:t>
            </a:r>
            <a:r>
              <a:rPr lang="en-IL" sz="3400">
                <a:solidFill>
                  <a:srgbClr val="137F79"/>
                </a:solidFill>
                <a:latin typeface="Cambria Math" panose="02040503050406030204" pitchFamily="18" charset="0"/>
              </a:rPr>
              <a:t>p</a:t>
            </a:r>
            <a:r>
              <a:rPr lang="en-IL" sz="2448" baseline="-22000">
                <a:solidFill>
                  <a:srgbClr val="137F79"/>
                </a:solidFill>
                <a:latin typeface="Cambria Math" panose="02040503050406030204" pitchFamily="18" charset="0"/>
              </a:rPr>
              <a:t>rot</a:t>
            </a:r>
            <a:r>
              <a:rPr lang="en-IL" sz="3400">
                <a:solidFill>
                  <a:srgbClr val="137F79"/>
                </a:solidFill>
                <a:latin typeface="Cambria Math" panose="02040503050406030204" pitchFamily="18" charset="0"/>
              </a:rPr>
              <a:t> + </a:t>
            </a:r>
            <a:r>
              <a:rPr lang="en-IL" sz="2448" baseline="32000">
                <a:solidFill>
                  <a:srgbClr val="137F79"/>
                </a:solidFill>
                <a:latin typeface="Cambria Math" panose="02040503050406030204" pitchFamily="18" charset="0"/>
              </a:rPr>
              <a:t>A</a:t>
            </a:r>
            <a:r>
              <a:rPr lang="en-IL" sz="3400">
                <a:solidFill>
                  <a:srgbClr val="137F79"/>
                </a:solidFill>
                <a:latin typeface="Cambria Math" panose="02040503050406030204" pitchFamily="18" charset="0"/>
              </a:rPr>
              <a:t>t</a:t>
            </a:r>
            <a:r>
              <a:rPr lang="en-IL" sz="2448" baseline="-22000">
                <a:solidFill>
                  <a:srgbClr val="137F79"/>
                </a:solidFill>
                <a:latin typeface="Cambria Math" panose="02040503050406030204" pitchFamily="18" charset="0"/>
              </a:rPr>
              <a:t>B</a:t>
            </a:r>
          </a:p>
        </p:txBody>
      </p:sp>
      <p:sp>
        <p:nvSpPr>
          <p:cNvPr id="16" name="updated_text_12">
            <a:extLst>
              <a:ext uri="{FF2B5EF4-FFF2-40B4-BE49-F238E27FC236}">
                <a16:creationId xmlns:a16="http://schemas.microsoft.com/office/drawing/2014/main" id="{AA75F243-4216-B715-667B-7EFC632896B3}"/>
              </a:ext>
            </a:extLst>
          </p:cNvPr>
          <p:cNvSpPr txBox="1"/>
          <p:nvPr/>
        </p:nvSpPr>
        <p:spPr>
          <a:xfrm>
            <a:off x="685800" y="5880099"/>
            <a:ext cx="10820400" cy="381000"/>
          </a:xfrm>
          <a:prstGeom prst="rect">
            <a:avLst/>
          </a:prstGeom>
          <a:noFill/>
        </p:spPr>
        <p:txBody>
          <a:bodyPr vert="horz" wrap="square" lIns="0" tIns="0" rIns="0" bIns="0" rtlCol="0" anchor="t">
            <a:noAutofit/>
          </a:bodyPr>
          <a:lstStyle/>
          <a:p>
            <a:r>
              <a:rPr lang="en-US" sz="2400">
                <a:solidFill>
                  <a:srgbClr val="526477"/>
                </a:solidFill>
                <a:latin typeface="Aptos" panose="020B0004020202020204" pitchFamily="34" charset="0"/>
              </a:rPr>
              <a:t>Unit q: inverse = conjugate · rotate first, then add translation.</a:t>
            </a:r>
            <a:endParaRPr lang="en-IL" sz="2400">
              <a:solidFill>
                <a:srgbClr val="526477"/>
              </a:solidFill>
              <a:latin typeface="Aptos" panose="020B0004020202020204" pitchFamily="34" charset="0"/>
            </a:endParaRPr>
          </a:p>
        </p:txBody>
      </p:sp>
    </p:spTree>
    <p:extLst>
      <p:ext uri="{BB962C8B-B14F-4D97-AF65-F5344CB8AC3E}">
        <p14:creationId xmlns:p14="http://schemas.microsoft.com/office/powerpoint/2010/main" val="27057830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6031D32B-5646-972A-3128-CD7FEA4E0EB6}"/>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02 / COORDINATE FRAMES</a:t>
            </a:r>
          </a:p>
        </p:txBody>
      </p:sp>
      <p:sp>
        <p:nvSpPr>
          <p:cNvPr id="3" name="text_2">
            <a:extLst>
              <a:ext uri="{FF2B5EF4-FFF2-40B4-BE49-F238E27FC236}">
                <a16:creationId xmlns:a16="http://schemas.microsoft.com/office/drawing/2014/main" id="{EAD86E19-F797-8CF3-826F-B69024197FD5}"/>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How tf2 uses quaternions</a:t>
            </a:r>
          </a:p>
        </p:txBody>
      </p:sp>
      <p:sp>
        <p:nvSpPr>
          <p:cNvPr id="4" name="text_3">
            <a:extLst>
              <a:ext uri="{FF2B5EF4-FFF2-40B4-BE49-F238E27FC236}">
                <a16:creationId xmlns:a16="http://schemas.microsoft.com/office/drawing/2014/main" id="{4559919C-1886-C667-1957-28A58BF1C13B}"/>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The library handles the rotation algebra for you.</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FA6FB500-1521-3A71-C4D8-8CE6B60B29A0}"/>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2AA1ADAA-0EF7-4E31-EF8D-6222D953CD6F}"/>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C51A3AA0-3D1C-CC11-AC5C-0DB7CE119E19}"/>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13</a:t>
            </a:r>
          </a:p>
        </p:txBody>
      </p:sp>
      <p:sp>
        <p:nvSpPr>
          <p:cNvPr id="16" name="Rectangle: Rounded Corners 15">
            <a:extLst>
              <a:ext uri="{FF2B5EF4-FFF2-40B4-BE49-F238E27FC236}">
                <a16:creationId xmlns:a16="http://schemas.microsoft.com/office/drawing/2014/main" id="{9F37EA17-B69E-6617-E4BB-1AFCE0C3E664}"/>
              </a:ext>
            </a:extLst>
          </p:cNvPr>
          <p:cNvSpPr/>
          <p:nvPr/>
        </p:nvSpPr>
        <p:spPr>
          <a:xfrm>
            <a:off x="685800" y="2527300"/>
            <a:ext cx="10820400" cy="10795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updated_text_8">
            <a:extLst>
              <a:ext uri="{FF2B5EF4-FFF2-40B4-BE49-F238E27FC236}">
                <a16:creationId xmlns:a16="http://schemas.microsoft.com/office/drawing/2014/main" id="{D90D05DA-D924-E465-640F-9D87FE6D333C}"/>
              </a:ext>
            </a:extLst>
          </p:cNvPr>
          <p:cNvSpPr txBox="1"/>
          <p:nvPr/>
        </p:nvSpPr>
        <p:spPr>
          <a:xfrm>
            <a:off x="914400" y="2666999"/>
            <a:ext cx="10363200" cy="889000"/>
          </a:xfrm>
          <a:prstGeom prst="rect">
            <a:avLst/>
          </a:prstGeom>
          <a:noFill/>
        </p:spPr>
        <p:txBody>
          <a:bodyPr vert="horz" wrap="square" lIns="0" tIns="0" rIns="0" bIns="0" rtlCol="0" anchor="t">
            <a:noAutofit/>
          </a:bodyPr>
          <a:lstStyle/>
          <a:p>
            <a:r>
              <a:rPr lang="en-US" sz="2600" b="1">
                <a:solidFill>
                  <a:srgbClr val="2459D3"/>
                </a:solidFill>
                <a:latin typeface="Aptos" panose="020B0004020202020204" pitchFamily="34" charset="0"/>
              </a:rPr>
              <a:t>tf2 uses quaternions behind the scenes for rotations.
Translation remains a separate 3D vector.</a:t>
            </a:r>
            <a:endParaRPr lang="en-IL" sz="2600" b="1">
              <a:solidFill>
                <a:srgbClr val="2459D3"/>
              </a:solidFill>
              <a:latin typeface="Aptos" panose="020B0004020202020204" pitchFamily="34" charset="0"/>
            </a:endParaRPr>
          </a:p>
        </p:txBody>
      </p:sp>
      <p:sp>
        <p:nvSpPr>
          <p:cNvPr id="18" name="Rectangle: Rounded Corners 17">
            <a:extLst>
              <a:ext uri="{FF2B5EF4-FFF2-40B4-BE49-F238E27FC236}">
                <a16:creationId xmlns:a16="http://schemas.microsoft.com/office/drawing/2014/main" id="{37143D3D-C7DB-3510-DE7F-06C0425237B1}"/>
              </a:ext>
            </a:extLst>
          </p:cNvPr>
          <p:cNvSpPr/>
          <p:nvPr/>
        </p:nvSpPr>
        <p:spPr>
          <a:xfrm>
            <a:off x="685800" y="3898900"/>
            <a:ext cx="5207000" cy="13843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Rectangle: Rounded Corners 18">
            <a:extLst>
              <a:ext uri="{FF2B5EF4-FFF2-40B4-BE49-F238E27FC236}">
                <a16:creationId xmlns:a16="http://schemas.microsoft.com/office/drawing/2014/main" id="{F1592628-52CE-FAF6-8484-0292CE5D63FC}"/>
              </a:ext>
            </a:extLst>
          </p:cNvPr>
          <p:cNvSpPr/>
          <p:nvPr/>
        </p:nvSpPr>
        <p:spPr>
          <a:xfrm>
            <a:off x="6172200" y="3898900"/>
            <a:ext cx="5334000" cy="13843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updated_text_11">
            <a:extLst>
              <a:ext uri="{FF2B5EF4-FFF2-40B4-BE49-F238E27FC236}">
                <a16:creationId xmlns:a16="http://schemas.microsoft.com/office/drawing/2014/main" id="{351A4FA5-111F-AB4C-283A-2E6F4E6ED8DB}"/>
              </a:ext>
            </a:extLst>
          </p:cNvPr>
          <p:cNvSpPr txBox="1"/>
          <p:nvPr/>
        </p:nvSpPr>
        <p:spPr>
          <a:xfrm>
            <a:off x="914400" y="4013199"/>
            <a:ext cx="4749800" cy="4318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ROS component order</a:t>
            </a:r>
          </a:p>
        </p:txBody>
      </p:sp>
      <p:sp>
        <p:nvSpPr>
          <p:cNvPr id="21" name="updated_text_12">
            <a:extLst>
              <a:ext uri="{FF2B5EF4-FFF2-40B4-BE49-F238E27FC236}">
                <a16:creationId xmlns:a16="http://schemas.microsoft.com/office/drawing/2014/main" id="{6074774D-DCC1-1849-FC3B-A5329C29148C}"/>
              </a:ext>
            </a:extLst>
          </p:cNvPr>
          <p:cNvSpPr txBox="1"/>
          <p:nvPr/>
        </p:nvSpPr>
        <p:spPr>
          <a:xfrm>
            <a:off x="914400" y="4559299"/>
            <a:ext cx="4749800" cy="558800"/>
          </a:xfrm>
          <a:prstGeom prst="rect">
            <a:avLst/>
          </a:prstGeom>
          <a:noFill/>
        </p:spPr>
        <p:txBody>
          <a:bodyPr vert="horz" wrap="square" lIns="0" tIns="0" rIns="0" bIns="0" rtlCol="0" anchor="t">
            <a:noAutofit/>
          </a:bodyPr>
          <a:lstStyle/>
          <a:p>
            <a:pPr algn="ctr"/>
            <a:r>
              <a:rPr lang="en-IL" sz="3200">
                <a:solidFill>
                  <a:srgbClr val="2459D3"/>
                </a:solidFill>
                <a:latin typeface="Cambria Math" panose="02040503050406030204" pitchFamily="18" charset="0"/>
              </a:rPr>
              <a:t>(x, y, z, w)</a:t>
            </a:r>
          </a:p>
        </p:txBody>
      </p:sp>
      <p:sp>
        <p:nvSpPr>
          <p:cNvPr id="22" name="updated_text_13">
            <a:extLst>
              <a:ext uri="{FF2B5EF4-FFF2-40B4-BE49-F238E27FC236}">
                <a16:creationId xmlns:a16="http://schemas.microsoft.com/office/drawing/2014/main" id="{EC6BAF7A-111C-8E9B-AAFB-45A57370FF26}"/>
              </a:ext>
            </a:extLst>
          </p:cNvPr>
          <p:cNvSpPr txBox="1"/>
          <p:nvPr/>
        </p:nvSpPr>
        <p:spPr>
          <a:xfrm>
            <a:off x="6400800" y="4013199"/>
            <a:ext cx="4876800" cy="431800"/>
          </a:xfrm>
          <a:prstGeom prst="rect">
            <a:avLst/>
          </a:prstGeom>
          <a:noFill/>
        </p:spPr>
        <p:txBody>
          <a:bodyPr vert="horz" wrap="square" lIns="0" tIns="0" rIns="0" bIns="0" rtlCol="0" anchor="t">
            <a:noAutofit/>
          </a:bodyPr>
          <a:lstStyle/>
          <a:p>
            <a:r>
              <a:rPr lang="en-IL" sz="2600" b="1">
                <a:solidFill>
                  <a:srgbClr val="137F79"/>
                </a:solidFill>
                <a:latin typeface="Aptos" panose="020B0004020202020204" pitchFamily="34" charset="0"/>
              </a:rPr>
              <a:t>Identity rotation</a:t>
            </a:r>
          </a:p>
        </p:txBody>
      </p:sp>
      <p:sp>
        <p:nvSpPr>
          <p:cNvPr id="23" name="updated_text_14">
            <a:extLst>
              <a:ext uri="{FF2B5EF4-FFF2-40B4-BE49-F238E27FC236}">
                <a16:creationId xmlns:a16="http://schemas.microsoft.com/office/drawing/2014/main" id="{3FE1BA4D-7678-2124-5491-2F872AE68B7F}"/>
              </a:ext>
            </a:extLst>
          </p:cNvPr>
          <p:cNvSpPr txBox="1"/>
          <p:nvPr/>
        </p:nvSpPr>
        <p:spPr>
          <a:xfrm>
            <a:off x="6400800" y="4559299"/>
            <a:ext cx="4876800" cy="558800"/>
          </a:xfrm>
          <a:prstGeom prst="rect">
            <a:avLst/>
          </a:prstGeom>
          <a:noFill/>
        </p:spPr>
        <p:txBody>
          <a:bodyPr vert="horz" wrap="square" lIns="0" tIns="0" rIns="0" bIns="0" rtlCol="0" anchor="t">
            <a:noAutofit/>
          </a:bodyPr>
          <a:lstStyle/>
          <a:p>
            <a:pPr algn="ctr"/>
            <a:r>
              <a:rPr lang="en-IL" sz="3200">
                <a:solidFill>
                  <a:srgbClr val="137F79"/>
                </a:solidFill>
                <a:latin typeface="Cambria Math" panose="02040503050406030204" pitchFamily="18" charset="0"/>
              </a:rPr>
              <a:t>(0, 0, 0, 1)</a:t>
            </a:r>
          </a:p>
        </p:txBody>
      </p:sp>
      <p:sp>
        <p:nvSpPr>
          <p:cNvPr id="24" name="updated_text_15">
            <a:extLst>
              <a:ext uri="{FF2B5EF4-FFF2-40B4-BE49-F238E27FC236}">
                <a16:creationId xmlns:a16="http://schemas.microsoft.com/office/drawing/2014/main" id="{B4FEA17A-5495-4728-D45F-E1F577BC7182}"/>
              </a:ext>
            </a:extLst>
          </p:cNvPr>
          <p:cNvSpPr txBox="1"/>
          <p:nvPr/>
        </p:nvSpPr>
        <p:spPr>
          <a:xfrm>
            <a:off x="685800" y="5524499"/>
            <a:ext cx="10820400" cy="7493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Unit norm is required. tf2 handles composition and inversion
when you look up transforms between frames.</a:t>
            </a:r>
            <a:endParaRPr lang="en-IL" sz="2400">
              <a:solidFill>
                <a:srgbClr val="15283B"/>
              </a:solidFill>
              <a:latin typeface="Aptos" panose="020B0004020202020204" pitchFamily="34" charset="0"/>
            </a:endParaRPr>
          </a:p>
        </p:txBody>
      </p:sp>
    </p:spTree>
    <p:extLst>
      <p:ext uri="{BB962C8B-B14F-4D97-AF65-F5344CB8AC3E}">
        <p14:creationId xmlns:p14="http://schemas.microsoft.com/office/powerpoint/2010/main" val="24180774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0C4FF108-0D19-BA2E-871C-F139755A774B}"/>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02 / COORDINATE FRAMES</a:t>
            </a:r>
          </a:p>
        </p:txBody>
      </p:sp>
      <p:sp>
        <p:nvSpPr>
          <p:cNvPr id="3" name="text_2">
            <a:extLst>
              <a:ext uri="{FF2B5EF4-FFF2-40B4-BE49-F238E27FC236}">
                <a16:creationId xmlns:a16="http://schemas.microsoft.com/office/drawing/2014/main" id="{B3CBE66A-6C67-D385-00B7-FA1936D99EC0}"/>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The frame tree</a:t>
            </a:r>
          </a:p>
        </p:txBody>
      </p:sp>
      <p:sp>
        <p:nvSpPr>
          <p:cNvPr id="4" name="text_3">
            <a:extLst>
              <a:ext uri="{FF2B5EF4-FFF2-40B4-BE49-F238E27FC236}">
                <a16:creationId xmlns:a16="http://schemas.microsoft.com/office/drawing/2014/main" id="{2C4CDF88-ADD4-24C2-99EA-A35C2484C034}"/>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Parent → child edges describe the frame relationships.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4F4ECBF6-1EF1-4DCC-E720-03B0D8290865}"/>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0FE0A5D8-F1B3-D5E4-AA7C-F19D024961BD}"/>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583E51FA-D790-D1BF-5026-D33B3165C5E0}"/>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14</a:t>
            </a:r>
          </a:p>
        </p:txBody>
      </p:sp>
      <p:sp>
        <p:nvSpPr>
          <p:cNvPr id="23" name="Rectangle: Rounded Corners 22">
            <a:extLst>
              <a:ext uri="{FF2B5EF4-FFF2-40B4-BE49-F238E27FC236}">
                <a16:creationId xmlns:a16="http://schemas.microsoft.com/office/drawing/2014/main" id="{A080A94D-D254-3EA9-0110-46417CF581B7}"/>
              </a:ext>
            </a:extLst>
          </p:cNvPr>
          <p:cNvSpPr/>
          <p:nvPr/>
        </p:nvSpPr>
        <p:spPr>
          <a:xfrm>
            <a:off x="685800" y="3060700"/>
            <a:ext cx="2362200" cy="6096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4" name="updated_text_8">
            <a:extLst>
              <a:ext uri="{FF2B5EF4-FFF2-40B4-BE49-F238E27FC236}">
                <a16:creationId xmlns:a16="http://schemas.microsoft.com/office/drawing/2014/main" id="{036CB44B-DCAB-A0C2-A355-F0B63AB0A1CC}"/>
              </a:ext>
            </a:extLst>
          </p:cNvPr>
          <p:cNvSpPr txBox="1"/>
          <p:nvPr/>
        </p:nvSpPr>
        <p:spPr>
          <a:xfrm>
            <a:off x="736600" y="3174999"/>
            <a:ext cx="2260600" cy="406400"/>
          </a:xfrm>
          <a:prstGeom prst="rect">
            <a:avLst/>
          </a:prstGeom>
          <a:noFill/>
        </p:spPr>
        <p:txBody>
          <a:bodyPr vert="horz" wrap="square" lIns="0" tIns="0" rIns="0" bIns="0" rtlCol="0" anchor="t">
            <a:noAutofit/>
          </a:bodyPr>
          <a:lstStyle/>
          <a:p>
            <a:pPr algn="ctr"/>
            <a:r>
              <a:rPr lang="en-IL" sz="2400" b="1">
                <a:solidFill>
                  <a:srgbClr val="15283B"/>
                </a:solidFill>
                <a:latin typeface="Aptos" panose="020B0004020202020204" pitchFamily="34" charset="0"/>
              </a:rPr>
              <a:t>world</a:t>
            </a:r>
          </a:p>
        </p:txBody>
      </p:sp>
      <p:cxnSp>
        <p:nvCxnSpPr>
          <p:cNvPr id="25" name="Straight Connector 24">
            <a:extLst>
              <a:ext uri="{FF2B5EF4-FFF2-40B4-BE49-F238E27FC236}">
                <a16:creationId xmlns:a16="http://schemas.microsoft.com/office/drawing/2014/main" id="{98485468-4D0E-E2C9-8E93-08E290622F40}"/>
              </a:ext>
            </a:extLst>
          </p:cNvPr>
          <p:cNvCxnSpPr/>
          <p:nvPr/>
        </p:nvCxnSpPr>
        <p:spPr>
          <a:xfrm>
            <a:off x="3048000" y="3365500"/>
            <a:ext cx="4572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26" name="Rectangle: Rounded Corners 25">
            <a:extLst>
              <a:ext uri="{FF2B5EF4-FFF2-40B4-BE49-F238E27FC236}">
                <a16:creationId xmlns:a16="http://schemas.microsoft.com/office/drawing/2014/main" id="{B835840C-03F7-9F24-5852-31D9E61881B8}"/>
              </a:ext>
            </a:extLst>
          </p:cNvPr>
          <p:cNvSpPr/>
          <p:nvPr/>
        </p:nvSpPr>
        <p:spPr>
          <a:xfrm>
            <a:off x="3505200" y="3060700"/>
            <a:ext cx="2362200" cy="6096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7" name="updated_text_11">
            <a:extLst>
              <a:ext uri="{FF2B5EF4-FFF2-40B4-BE49-F238E27FC236}">
                <a16:creationId xmlns:a16="http://schemas.microsoft.com/office/drawing/2014/main" id="{2FD9887D-737A-0E49-4310-43E72C6B8204}"/>
              </a:ext>
            </a:extLst>
          </p:cNvPr>
          <p:cNvSpPr txBox="1"/>
          <p:nvPr/>
        </p:nvSpPr>
        <p:spPr>
          <a:xfrm>
            <a:off x="3556000" y="3174999"/>
            <a:ext cx="2260600" cy="406400"/>
          </a:xfrm>
          <a:prstGeom prst="rect">
            <a:avLst/>
          </a:prstGeom>
          <a:noFill/>
        </p:spPr>
        <p:txBody>
          <a:bodyPr vert="horz" wrap="square" lIns="0" tIns="0" rIns="0" bIns="0" rtlCol="0" anchor="t">
            <a:noAutofit/>
          </a:bodyPr>
          <a:lstStyle/>
          <a:p>
            <a:pPr algn="ctr"/>
            <a:r>
              <a:rPr lang="en-IL" sz="2400" b="1">
                <a:solidFill>
                  <a:srgbClr val="15283B"/>
                </a:solidFill>
                <a:latin typeface="Aptos" panose="020B0004020202020204" pitchFamily="34" charset="0"/>
              </a:rPr>
              <a:t>base_link</a:t>
            </a:r>
          </a:p>
        </p:txBody>
      </p:sp>
      <p:cxnSp>
        <p:nvCxnSpPr>
          <p:cNvPr id="28" name="Straight Connector 27">
            <a:extLst>
              <a:ext uri="{FF2B5EF4-FFF2-40B4-BE49-F238E27FC236}">
                <a16:creationId xmlns:a16="http://schemas.microsoft.com/office/drawing/2014/main" id="{11F818AA-BCC1-2119-22C1-A73810AA3FFC}"/>
              </a:ext>
            </a:extLst>
          </p:cNvPr>
          <p:cNvCxnSpPr/>
          <p:nvPr/>
        </p:nvCxnSpPr>
        <p:spPr>
          <a:xfrm>
            <a:off x="5867400" y="3365500"/>
            <a:ext cx="457200" cy="0"/>
          </a:xfrm>
          <a:prstGeom prst="line">
            <a:avLst/>
          </a:prstGeom>
          <a:ln w="27940">
            <a:solidFill>
              <a:srgbClr val="137F79"/>
            </a:solidFill>
            <a:prstDash val="dash"/>
            <a:tailEnd type="arrow"/>
          </a:ln>
        </p:spPr>
        <p:style>
          <a:lnRef idx="2">
            <a:schemeClr val="accent1"/>
          </a:lnRef>
          <a:fillRef idx="0">
            <a:schemeClr val="accent1"/>
          </a:fillRef>
          <a:effectRef idx="1">
            <a:schemeClr val="accent1"/>
          </a:effectRef>
          <a:fontRef idx="minor">
            <a:schemeClr val="tx1"/>
          </a:fontRef>
        </p:style>
      </p:cxnSp>
      <p:sp>
        <p:nvSpPr>
          <p:cNvPr id="29" name="Rectangle: Rounded Corners 28">
            <a:extLst>
              <a:ext uri="{FF2B5EF4-FFF2-40B4-BE49-F238E27FC236}">
                <a16:creationId xmlns:a16="http://schemas.microsoft.com/office/drawing/2014/main" id="{18E2142A-B515-1409-A8B9-29E7491A5D71}"/>
              </a:ext>
            </a:extLst>
          </p:cNvPr>
          <p:cNvSpPr/>
          <p:nvPr/>
        </p:nvSpPr>
        <p:spPr>
          <a:xfrm>
            <a:off x="6324600" y="3060700"/>
            <a:ext cx="2362200" cy="6096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0" name="updated_text_14">
            <a:extLst>
              <a:ext uri="{FF2B5EF4-FFF2-40B4-BE49-F238E27FC236}">
                <a16:creationId xmlns:a16="http://schemas.microsoft.com/office/drawing/2014/main" id="{AD9BBDA1-1478-0751-2A28-6F88099E9062}"/>
              </a:ext>
            </a:extLst>
          </p:cNvPr>
          <p:cNvSpPr txBox="1"/>
          <p:nvPr/>
        </p:nvSpPr>
        <p:spPr>
          <a:xfrm>
            <a:off x="6375400" y="3174999"/>
            <a:ext cx="2260600" cy="406400"/>
          </a:xfrm>
          <a:prstGeom prst="rect">
            <a:avLst/>
          </a:prstGeom>
          <a:noFill/>
        </p:spPr>
        <p:txBody>
          <a:bodyPr vert="horz" wrap="square" lIns="0" tIns="0" rIns="0" bIns="0" rtlCol="0" anchor="t">
            <a:noAutofit/>
          </a:bodyPr>
          <a:lstStyle/>
          <a:p>
            <a:pPr algn="ctr"/>
            <a:r>
              <a:rPr lang="en-IL" sz="2400" b="1">
                <a:solidFill>
                  <a:srgbClr val="15283B"/>
                </a:solidFill>
                <a:latin typeface="Aptos" panose="020B0004020202020204" pitchFamily="34" charset="0"/>
              </a:rPr>
              <a:t>camera_mount</a:t>
            </a:r>
          </a:p>
        </p:txBody>
      </p:sp>
      <p:cxnSp>
        <p:nvCxnSpPr>
          <p:cNvPr id="31" name="Straight Connector 30">
            <a:extLst>
              <a:ext uri="{FF2B5EF4-FFF2-40B4-BE49-F238E27FC236}">
                <a16:creationId xmlns:a16="http://schemas.microsoft.com/office/drawing/2014/main" id="{4C59F9F2-4722-E26C-C498-DEA514C1DB17}"/>
              </a:ext>
            </a:extLst>
          </p:cNvPr>
          <p:cNvCxnSpPr/>
          <p:nvPr/>
        </p:nvCxnSpPr>
        <p:spPr>
          <a:xfrm>
            <a:off x="8686800" y="3365500"/>
            <a:ext cx="457200" cy="0"/>
          </a:xfrm>
          <a:prstGeom prst="line">
            <a:avLst/>
          </a:prstGeom>
          <a:ln w="27940">
            <a:solidFill>
              <a:srgbClr val="137F79"/>
            </a:solidFill>
            <a:prstDash val="dash"/>
            <a:tailEnd type="arrow"/>
          </a:ln>
        </p:spPr>
        <p:style>
          <a:lnRef idx="2">
            <a:schemeClr val="accent1"/>
          </a:lnRef>
          <a:fillRef idx="0">
            <a:schemeClr val="accent1"/>
          </a:fillRef>
          <a:effectRef idx="1">
            <a:schemeClr val="accent1"/>
          </a:effectRef>
          <a:fontRef idx="minor">
            <a:schemeClr val="tx1"/>
          </a:fontRef>
        </p:style>
      </p:cxnSp>
      <p:sp>
        <p:nvSpPr>
          <p:cNvPr id="32" name="Rectangle: Rounded Corners 31">
            <a:extLst>
              <a:ext uri="{FF2B5EF4-FFF2-40B4-BE49-F238E27FC236}">
                <a16:creationId xmlns:a16="http://schemas.microsoft.com/office/drawing/2014/main" id="{6B424DA3-FCC1-7537-5FD5-7C71DFEDA46E}"/>
              </a:ext>
            </a:extLst>
          </p:cNvPr>
          <p:cNvSpPr/>
          <p:nvPr/>
        </p:nvSpPr>
        <p:spPr>
          <a:xfrm>
            <a:off x="9144000" y="3060700"/>
            <a:ext cx="2362200" cy="6096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3" name="updated_text_17">
            <a:extLst>
              <a:ext uri="{FF2B5EF4-FFF2-40B4-BE49-F238E27FC236}">
                <a16:creationId xmlns:a16="http://schemas.microsoft.com/office/drawing/2014/main" id="{6A54BC44-606E-B899-C407-31A77E9BFDC4}"/>
              </a:ext>
            </a:extLst>
          </p:cNvPr>
          <p:cNvSpPr txBox="1"/>
          <p:nvPr/>
        </p:nvSpPr>
        <p:spPr>
          <a:xfrm>
            <a:off x="9194800" y="3174999"/>
            <a:ext cx="2260600" cy="406400"/>
          </a:xfrm>
          <a:prstGeom prst="rect">
            <a:avLst/>
          </a:prstGeom>
          <a:noFill/>
        </p:spPr>
        <p:txBody>
          <a:bodyPr vert="horz" wrap="square" lIns="0" tIns="0" rIns="0" bIns="0" rtlCol="0" anchor="t">
            <a:noAutofit/>
          </a:bodyPr>
          <a:lstStyle/>
          <a:p>
            <a:pPr algn="ctr"/>
            <a:r>
              <a:rPr lang="en-IL" sz="2400" b="1">
                <a:solidFill>
                  <a:srgbClr val="15283B"/>
                </a:solidFill>
                <a:latin typeface="Aptos" panose="020B0004020202020204" pitchFamily="34" charset="0"/>
              </a:rPr>
              <a:t>camera_frame</a:t>
            </a:r>
          </a:p>
        </p:txBody>
      </p:sp>
      <p:sp>
        <p:nvSpPr>
          <p:cNvPr id="34" name="updated_text_18">
            <a:extLst>
              <a:ext uri="{FF2B5EF4-FFF2-40B4-BE49-F238E27FC236}">
                <a16:creationId xmlns:a16="http://schemas.microsoft.com/office/drawing/2014/main" id="{6910FA5A-85C5-7DE0-A2D9-386034C23BAB}"/>
              </a:ext>
            </a:extLst>
          </p:cNvPr>
          <p:cNvSpPr txBox="1"/>
          <p:nvPr/>
        </p:nvSpPr>
        <p:spPr>
          <a:xfrm>
            <a:off x="685800" y="2628899"/>
            <a:ext cx="5181600" cy="381000"/>
          </a:xfrm>
          <a:prstGeom prst="rect">
            <a:avLst/>
          </a:prstGeom>
          <a:noFill/>
        </p:spPr>
        <p:txBody>
          <a:bodyPr vert="horz" wrap="square" lIns="0" tIns="0" rIns="0" bIns="0" rtlCol="0" anchor="t">
            <a:noAutofit/>
          </a:bodyPr>
          <a:lstStyle/>
          <a:p>
            <a:pPr algn="ctr"/>
            <a:r>
              <a:rPr lang="en-IL" sz="2400">
                <a:solidFill>
                  <a:srgbClr val="2459D3"/>
                </a:solidFill>
                <a:latin typeface="Aptos" panose="020B0004020202020204" pitchFamily="34" charset="0"/>
              </a:rPr>
              <a:t>dynamic · moving_base</a:t>
            </a:r>
          </a:p>
        </p:txBody>
      </p:sp>
      <p:sp>
        <p:nvSpPr>
          <p:cNvPr id="35" name="updated_text_19">
            <a:extLst>
              <a:ext uri="{FF2B5EF4-FFF2-40B4-BE49-F238E27FC236}">
                <a16:creationId xmlns:a16="http://schemas.microsoft.com/office/drawing/2014/main" id="{D75D712B-25D2-653A-FC4A-EEDBDEAC2843}"/>
              </a:ext>
            </a:extLst>
          </p:cNvPr>
          <p:cNvSpPr txBox="1"/>
          <p:nvPr/>
        </p:nvSpPr>
        <p:spPr>
          <a:xfrm>
            <a:off x="6324600" y="2628899"/>
            <a:ext cx="5181600" cy="381000"/>
          </a:xfrm>
          <a:prstGeom prst="rect">
            <a:avLst/>
          </a:prstGeom>
          <a:noFill/>
        </p:spPr>
        <p:txBody>
          <a:bodyPr vert="horz" wrap="square" lIns="0" tIns="0" rIns="0" bIns="0" rtlCol="0" anchor="t">
            <a:noAutofit/>
          </a:bodyPr>
          <a:lstStyle/>
          <a:p>
            <a:pPr algn="ctr"/>
            <a:r>
              <a:rPr lang="en-IL" sz="2400">
                <a:solidFill>
                  <a:srgbClr val="137F79"/>
                </a:solidFill>
                <a:latin typeface="Aptos" panose="020B0004020202020204" pitchFamily="34" charset="0"/>
              </a:rPr>
              <a:t>static · static_frames</a:t>
            </a:r>
          </a:p>
        </p:txBody>
      </p:sp>
      <p:sp>
        <p:nvSpPr>
          <p:cNvPr id="36" name="updated_text_20">
            <a:extLst>
              <a:ext uri="{FF2B5EF4-FFF2-40B4-BE49-F238E27FC236}">
                <a16:creationId xmlns:a16="http://schemas.microsoft.com/office/drawing/2014/main" id="{FC32CF4A-0027-D59A-CD69-7482BA8C8536}"/>
              </a:ext>
            </a:extLst>
          </p:cNvPr>
          <p:cNvSpPr txBox="1"/>
          <p:nvPr/>
        </p:nvSpPr>
        <p:spPr>
          <a:xfrm>
            <a:off x="685800" y="3924299"/>
            <a:ext cx="10820400" cy="457200"/>
          </a:xfrm>
          <a:prstGeom prst="rect">
            <a:avLst/>
          </a:prstGeom>
          <a:noFill/>
        </p:spPr>
        <p:txBody>
          <a:bodyPr vert="horz" wrap="square" lIns="0" tIns="0" rIns="0" bIns="0" rtlCol="0" anchor="t">
            <a:noAutofit/>
          </a:bodyPr>
          <a:lstStyle/>
          <a:p>
            <a:r>
              <a:rPr lang="en-US" sz="2500">
                <a:solidFill>
                  <a:srgbClr val="15283B"/>
                </a:solidFill>
                <a:latin typeface="Aptos" panose="020B0004020202020204" pitchFamily="34" charset="0"/>
              </a:rPr>
              <a:t>One parent per child · one authority per edge · no cycles</a:t>
            </a:r>
            <a:endParaRPr lang="en-IL" sz="2500">
              <a:solidFill>
                <a:srgbClr val="15283B"/>
              </a:solidFill>
              <a:latin typeface="Aptos" panose="020B0004020202020204" pitchFamily="34" charset="0"/>
            </a:endParaRPr>
          </a:p>
        </p:txBody>
      </p:sp>
      <p:sp>
        <p:nvSpPr>
          <p:cNvPr id="37" name="updated_text_21">
            <a:extLst>
              <a:ext uri="{FF2B5EF4-FFF2-40B4-BE49-F238E27FC236}">
                <a16:creationId xmlns:a16="http://schemas.microsoft.com/office/drawing/2014/main" id="{5A18807E-F65F-470E-18A2-8E63C9B35A1B}"/>
              </a:ext>
            </a:extLst>
          </p:cNvPr>
          <p:cNvSpPr txBox="1"/>
          <p:nvPr/>
        </p:nvSpPr>
        <p:spPr>
          <a:xfrm>
            <a:off x="685800" y="4483099"/>
            <a:ext cx="10820400" cy="4572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Disconnected trees have no transform path.</a:t>
            </a:r>
            <a:endParaRPr lang="en-IL" sz="2600">
              <a:solidFill>
                <a:srgbClr val="526477"/>
              </a:solidFill>
              <a:latin typeface="Aptos" panose="020B0004020202020204" pitchFamily="34" charset="0"/>
            </a:endParaRPr>
          </a:p>
        </p:txBody>
      </p:sp>
      <p:sp>
        <p:nvSpPr>
          <p:cNvPr id="38" name="Rectangle: Rounded Corners 37">
            <a:extLst>
              <a:ext uri="{FF2B5EF4-FFF2-40B4-BE49-F238E27FC236}">
                <a16:creationId xmlns:a16="http://schemas.microsoft.com/office/drawing/2014/main" id="{800407BB-2152-4B1A-2D58-335B27235FB0}"/>
              </a:ext>
            </a:extLst>
          </p:cNvPr>
          <p:cNvSpPr/>
          <p:nvPr/>
        </p:nvSpPr>
        <p:spPr>
          <a:xfrm>
            <a:off x="685800" y="5156200"/>
            <a:ext cx="10820400" cy="10033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9" name="updated_text_23">
            <a:extLst>
              <a:ext uri="{FF2B5EF4-FFF2-40B4-BE49-F238E27FC236}">
                <a16:creationId xmlns:a16="http://schemas.microsoft.com/office/drawing/2014/main" id="{EC9C9129-ADEB-1CE7-172B-F09E31798F7A}"/>
              </a:ext>
            </a:extLst>
          </p:cNvPr>
          <p:cNvSpPr txBox="1"/>
          <p:nvPr/>
        </p:nvSpPr>
        <p:spPr>
          <a:xfrm>
            <a:off x="889000" y="5232399"/>
            <a:ext cx="10414000" cy="8382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Robot joints create dynamic transforms between neighboring links.
Chain them to obtain the end-effector pose: forward kinematics.</a:t>
            </a:r>
            <a:endParaRPr lang="en-IL" sz="2400">
              <a:solidFill>
                <a:srgbClr val="15283B"/>
              </a:solidFill>
              <a:latin typeface="Aptos" panose="020B0004020202020204" pitchFamily="34" charset="0"/>
            </a:endParaRPr>
          </a:p>
        </p:txBody>
      </p:sp>
    </p:spTree>
    <p:extLst>
      <p:ext uri="{BB962C8B-B14F-4D97-AF65-F5344CB8AC3E}">
        <p14:creationId xmlns:p14="http://schemas.microsoft.com/office/powerpoint/2010/main" val="25032570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CC9E96D6-DD06-FFAA-7584-0243BD41D60C}"/>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02 / COORDINATE FRAMES</a:t>
            </a:r>
          </a:p>
        </p:txBody>
      </p:sp>
      <p:sp>
        <p:nvSpPr>
          <p:cNvPr id="3" name="text_2">
            <a:extLst>
              <a:ext uri="{FF2B5EF4-FFF2-40B4-BE49-F238E27FC236}">
                <a16:creationId xmlns:a16="http://schemas.microsoft.com/office/drawing/2014/main" id="{971E8672-7FC0-9B8E-7E3F-19A98D391F7B}"/>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How tf2 works</a:t>
            </a:r>
          </a:p>
        </p:txBody>
      </p:sp>
      <p:sp>
        <p:nvSpPr>
          <p:cNvPr id="4" name="text_3">
            <a:extLst>
              <a:ext uri="{FF2B5EF4-FFF2-40B4-BE49-F238E27FC236}">
                <a16:creationId xmlns:a16="http://schemas.microsoft.com/office/drawing/2014/main" id="{8BF38729-E871-331E-940C-66C3EF04AB5B}"/>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Publish edges. Buffer samples. Look up a connected path.</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EBFE2B33-4BCB-1AEC-4920-30C2DF15AB41}"/>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0274CBD6-2921-D12F-E5D0-AC5D6790015D}"/>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66D11AFB-CCBD-5936-1EA7-ACBF0DEEC86D}"/>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15</a:t>
            </a:r>
          </a:p>
        </p:txBody>
      </p:sp>
      <p:sp>
        <p:nvSpPr>
          <p:cNvPr id="8" name="Rectangle: Rounded Corners 7">
            <a:extLst>
              <a:ext uri="{FF2B5EF4-FFF2-40B4-BE49-F238E27FC236}">
                <a16:creationId xmlns:a16="http://schemas.microsoft.com/office/drawing/2014/main" id="{E68578DD-13E2-D0CC-9004-701AF29B685D}"/>
              </a:ext>
            </a:extLst>
          </p:cNvPr>
          <p:cNvSpPr/>
          <p:nvPr/>
        </p:nvSpPr>
        <p:spPr>
          <a:xfrm>
            <a:off x="685800" y="2565400"/>
            <a:ext cx="3238500" cy="13970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7CF39AD1-3B9C-0EB2-2D30-BCC6731EAE19}"/>
              </a:ext>
            </a:extLst>
          </p:cNvPr>
          <p:cNvSpPr txBox="1"/>
          <p:nvPr/>
        </p:nvSpPr>
        <p:spPr>
          <a:xfrm>
            <a:off x="914400" y="2755899"/>
            <a:ext cx="27813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static_frames</a:t>
            </a:r>
          </a:p>
        </p:txBody>
      </p:sp>
      <p:sp>
        <p:nvSpPr>
          <p:cNvPr id="10" name="text_9">
            <a:extLst>
              <a:ext uri="{FF2B5EF4-FFF2-40B4-BE49-F238E27FC236}">
                <a16:creationId xmlns:a16="http://schemas.microsoft.com/office/drawing/2014/main" id="{B0DFE32C-5CDA-6E1D-8970-C44C38FE66DD}"/>
              </a:ext>
            </a:extLst>
          </p:cNvPr>
          <p:cNvSpPr txBox="1"/>
          <p:nvPr/>
        </p:nvSpPr>
        <p:spPr>
          <a:xfrm>
            <a:off x="914400" y="3441699"/>
            <a:ext cx="2781300" cy="4318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/tf_static</a:t>
            </a:r>
          </a:p>
        </p:txBody>
      </p:sp>
      <p:sp>
        <p:nvSpPr>
          <p:cNvPr id="11" name="Rectangle: Rounded Corners 10">
            <a:extLst>
              <a:ext uri="{FF2B5EF4-FFF2-40B4-BE49-F238E27FC236}">
                <a16:creationId xmlns:a16="http://schemas.microsoft.com/office/drawing/2014/main" id="{1FB62486-B7D0-D5B9-4843-863EFD6D943D}"/>
              </a:ext>
            </a:extLst>
          </p:cNvPr>
          <p:cNvSpPr/>
          <p:nvPr/>
        </p:nvSpPr>
        <p:spPr>
          <a:xfrm>
            <a:off x="685800" y="4102100"/>
            <a:ext cx="3238500" cy="13970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EE5AFAF9-A1FB-8981-B341-FDC686588FF6}"/>
              </a:ext>
            </a:extLst>
          </p:cNvPr>
          <p:cNvSpPr txBox="1"/>
          <p:nvPr/>
        </p:nvSpPr>
        <p:spPr>
          <a:xfrm>
            <a:off x="914400" y="4292599"/>
            <a:ext cx="27813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moving_base</a:t>
            </a:r>
          </a:p>
        </p:txBody>
      </p:sp>
      <p:sp>
        <p:nvSpPr>
          <p:cNvPr id="13" name="text_12">
            <a:extLst>
              <a:ext uri="{FF2B5EF4-FFF2-40B4-BE49-F238E27FC236}">
                <a16:creationId xmlns:a16="http://schemas.microsoft.com/office/drawing/2014/main" id="{57510781-C919-FD00-5368-B1C9DFA13D78}"/>
              </a:ext>
            </a:extLst>
          </p:cNvPr>
          <p:cNvSpPr txBox="1"/>
          <p:nvPr/>
        </p:nvSpPr>
        <p:spPr>
          <a:xfrm>
            <a:off x="914400" y="4978399"/>
            <a:ext cx="2781300" cy="4318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/tf</a:t>
            </a:r>
          </a:p>
        </p:txBody>
      </p:sp>
      <p:sp>
        <p:nvSpPr>
          <p:cNvPr id="14" name="Rectangle: Rounded Corners 13">
            <a:extLst>
              <a:ext uri="{FF2B5EF4-FFF2-40B4-BE49-F238E27FC236}">
                <a16:creationId xmlns:a16="http://schemas.microsoft.com/office/drawing/2014/main" id="{6B8352C2-7AEC-0E73-716F-E63F149D78EF}"/>
              </a:ext>
            </a:extLst>
          </p:cNvPr>
          <p:cNvSpPr/>
          <p:nvPr/>
        </p:nvSpPr>
        <p:spPr>
          <a:xfrm>
            <a:off x="5143500" y="3098800"/>
            <a:ext cx="3035300" cy="1676400"/>
          </a:xfrm>
          <a:prstGeom prst="roundRect">
            <a:avLst>
              <a:gd name="adj" fmla="val 9000"/>
            </a:avLst>
          </a:prstGeom>
          <a:solidFill>
            <a:srgbClr val="FFFFFF"/>
          </a:solidFill>
          <a:ln w="16510">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F90AE279-300A-90AC-C1C4-D32F92D74910}"/>
              </a:ext>
            </a:extLst>
          </p:cNvPr>
          <p:cNvSpPr txBox="1"/>
          <p:nvPr/>
        </p:nvSpPr>
        <p:spPr>
          <a:xfrm>
            <a:off x="5372100" y="3301999"/>
            <a:ext cx="2578100" cy="1155700"/>
          </a:xfrm>
          <a:prstGeom prst="rect">
            <a:avLst/>
          </a:prstGeom>
          <a:noFill/>
        </p:spPr>
        <p:txBody>
          <a:bodyPr vert="horz" wrap="square" lIns="0" tIns="0" rIns="0" bIns="0" rtlCol="0" anchor="t">
            <a:noAutofit/>
          </a:bodyPr>
          <a:lstStyle/>
          <a:p>
            <a:pPr algn="ctr"/>
            <a:r>
              <a:rPr lang="en-IL" sz="2800" b="1">
                <a:solidFill>
                  <a:srgbClr val="15283B"/>
                </a:solidFill>
                <a:latin typeface="Aptos" panose="020B0004020202020204" pitchFamily="34" charset="0"/>
              </a:rPr>
              <a:t>Listener
+ Buffer</a:t>
            </a:r>
          </a:p>
        </p:txBody>
      </p:sp>
      <p:sp>
        <p:nvSpPr>
          <p:cNvPr id="16" name="Rectangle: Rounded Corners 15">
            <a:extLst>
              <a:ext uri="{FF2B5EF4-FFF2-40B4-BE49-F238E27FC236}">
                <a16:creationId xmlns:a16="http://schemas.microsoft.com/office/drawing/2014/main" id="{1ECCD69E-1EBC-BC99-94D2-8593586C173C}"/>
              </a:ext>
            </a:extLst>
          </p:cNvPr>
          <p:cNvSpPr/>
          <p:nvPr/>
        </p:nvSpPr>
        <p:spPr>
          <a:xfrm>
            <a:off x="9258300" y="3416300"/>
            <a:ext cx="2247900" cy="10160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text_16">
            <a:extLst>
              <a:ext uri="{FF2B5EF4-FFF2-40B4-BE49-F238E27FC236}">
                <a16:creationId xmlns:a16="http://schemas.microsoft.com/office/drawing/2014/main" id="{B4DFB0C0-3C2D-ED48-A4B8-8F11474D351D}"/>
              </a:ext>
            </a:extLst>
          </p:cNvPr>
          <p:cNvSpPr txBox="1"/>
          <p:nvPr/>
        </p:nvSpPr>
        <p:spPr>
          <a:xfrm>
            <a:off x="9410700" y="3708399"/>
            <a:ext cx="1943100" cy="558800"/>
          </a:xfrm>
          <a:prstGeom prst="rect">
            <a:avLst/>
          </a:prstGeom>
          <a:noFill/>
        </p:spPr>
        <p:txBody>
          <a:bodyPr vert="horz" wrap="square" lIns="0" tIns="0" rIns="0" bIns="0" rtlCol="0" anchor="t">
            <a:noAutofit/>
          </a:bodyPr>
          <a:lstStyle/>
          <a:p>
            <a:pPr algn="ctr"/>
            <a:r>
              <a:rPr lang="en-IL" sz="2800" b="1">
                <a:solidFill>
                  <a:srgbClr val="137F79"/>
                </a:solidFill>
                <a:latin typeface="Aptos" panose="020B0004020202020204" pitchFamily="34" charset="0"/>
              </a:rPr>
              <a:t>Lookup</a:t>
            </a:r>
          </a:p>
        </p:txBody>
      </p:sp>
      <p:cxnSp>
        <p:nvCxnSpPr>
          <p:cNvPr id="18" name="Straight Connector 17">
            <a:extLst>
              <a:ext uri="{FF2B5EF4-FFF2-40B4-BE49-F238E27FC236}">
                <a16:creationId xmlns:a16="http://schemas.microsoft.com/office/drawing/2014/main" id="{AED77D90-7394-1E24-A346-A5C4DBAAFD7F}"/>
              </a:ext>
            </a:extLst>
          </p:cNvPr>
          <p:cNvCxnSpPr/>
          <p:nvPr/>
        </p:nvCxnSpPr>
        <p:spPr>
          <a:xfrm>
            <a:off x="3924300" y="3175000"/>
            <a:ext cx="1054100" cy="48260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C06EBDA-85E0-2155-8CDA-97DF10433198}"/>
              </a:ext>
            </a:extLst>
          </p:cNvPr>
          <p:cNvCxnSpPr/>
          <p:nvPr/>
        </p:nvCxnSpPr>
        <p:spPr>
          <a:xfrm flipV="1">
            <a:off x="3924300" y="4216400"/>
            <a:ext cx="1054100" cy="48260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F8DE51C3-558A-2691-BFD9-62F2E840D157}"/>
              </a:ext>
            </a:extLst>
          </p:cNvPr>
          <p:cNvCxnSpPr/>
          <p:nvPr/>
        </p:nvCxnSpPr>
        <p:spPr>
          <a:xfrm>
            <a:off x="8178800" y="3924300"/>
            <a:ext cx="9144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21" name="text_20">
            <a:extLst>
              <a:ext uri="{FF2B5EF4-FFF2-40B4-BE49-F238E27FC236}">
                <a16:creationId xmlns:a16="http://schemas.microsoft.com/office/drawing/2014/main" id="{215990F3-107D-219E-9317-94CE9EFAC5F3}"/>
              </a:ext>
            </a:extLst>
          </p:cNvPr>
          <p:cNvSpPr txBox="1"/>
          <p:nvPr/>
        </p:nvSpPr>
        <p:spPr>
          <a:xfrm>
            <a:off x="685800" y="5562599"/>
            <a:ext cx="10820400" cy="5080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Several publishers  ·  each listener has its own buffer</a:t>
            </a:r>
            <a:endParaRPr lang="en-IL" sz="2600">
              <a:solidFill>
                <a:srgbClr val="526477"/>
              </a:solidFill>
              <a:latin typeface="Aptos" panose="020B0004020202020204" pitchFamily="34" charset="0"/>
            </a:endParaRPr>
          </a:p>
        </p:txBody>
      </p:sp>
    </p:spTree>
    <p:extLst>
      <p:ext uri="{BB962C8B-B14F-4D97-AF65-F5344CB8AC3E}">
        <p14:creationId xmlns:p14="http://schemas.microsoft.com/office/powerpoint/2010/main" val="40378006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92F5CC98-CD1C-D7FE-4926-055310B4C61A}"/>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02 / COORDINATE FRAMES</a:t>
            </a:r>
          </a:p>
        </p:txBody>
      </p:sp>
      <p:sp>
        <p:nvSpPr>
          <p:cNvPr id="3" name="text_2">
            <a:extLst>
              <a:ext uri="{FF2B5EF4-FFF2-40B4-BE49-F238E27FC236}">
                <a16:creationId xmlns:a16="http://schemas.microsoft.com/office/drawing/2014/main" id="{3FCBA269-B06C-8240-C981-E72448F6DCF0}"/>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Transform at the measurement time</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FA87BCA9-5A11-5B55-DBFC-759D5FB8C620}"/>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 moving robot makes an old observation different from a new one.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761797BA-9D06-BE5E-6BB6-6366B1F5024A}"/>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7C007E2B-6578-3483-A814-F1D3D4731D19}"/>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85AC63EB-1921-77D1-367B-FE50E29C0E5E}"/>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16</a:t>
            </a:r>
          </a:p>
        </p:txBody>
      </p:sp>
      <p:cxnSp>
        <p:nvCxnSpPr>
          <p:cNvPr id="8" name="Straight Connector 7">
            <a:extLst>
              <a:ext uri="{FF2B5EF4-FFF2-40B4-BE49-F238E27FC236}">
                <a16:creationId xmlns:a16="http://schemas.microsoft.com/office/drawing/2014/main" id="{6059E06D-5137-AFA6-1003-94C79B09E348}"/>
              </a:ext>
            </a:extLst>
          </p:cNvPr>
          <p:cNvCxnSpPr/>
          <p:nvPr/>
        </p:nvCxnSpPr>
        <p:spPr>
          <a:xfrm>
            <a:off x="1447800" y="3657600"/>
            <a:ext cx="94234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9" name="Oval 8">
            <a:extLst>
              <a:ext uri="{FF2B5EF4-FFF2-40B4-BE49-F238E27FC236}">
                <a16:creationId xmlns:a16="http://schemas.microsoft.com/office/drawing/2014/main" id="{56836A04-8060-65D3-F888-084672C3F4E8}"/>
              </a:ext>
            </a:extLst>
          </p:cNvPr>
          <p:cNvSpPr/>
          <p:nvPr/>
        </p:nvSpPr>
        <p:spPr>
          <a:xfrm>
            <a:off x="3098800" y="3556000"/>
            <a:ext cx="203200" cy="2032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Oval 9">
            <a:extLst>
              <a:ext uri="{FF2B5EF4-FFF2-40B4-BE49-F238E27FC236}">
                <a16:creationId xmlns:a16="http://schemas.microsoft.com/office/drawing/2014/main" id="{C1ADC5AB-59CC-824D-D8CA-E0787931156A}"/>
              </a:ext>
            </a:extLst>
          </p:cNvPr>
          <p:cNvSpPr/>
          <p:nvPr/>
        </p:nvSpPr>
        <p:spPr>
          <a:xfrm>
            <a:off x="8890000" y="3556000"/>
            <a:ext cx="203200" cy="2032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10">
            <a:extLst>
              <a:ext uri="{FF2B5EF4-FFF2-40B4-BE49-F238E27FC236}">
                <a16:creationId xmlns:a16="http://schemas.microsoft.com/office/drawing/2014/main" id="{A704F0BF-055B-5C9E-7ADF-B4A38F88C03D}"/>
              </a:ext>
            </a:extLst>
          </p:cNvPr>
          <p:cNvSpPr txBox="1"/>
          <p:nvPr/>
        </p:nvSpPr>
        <p:spPr>
          <a:xfrm>
            <a:off x="1371600" y="2666999"/>
            <a:ext cx="4445000" cy="736600"/>
          </a:xfrm>
          <a:prstGeom prst="rect">
            <a:avLst/>
          </a:prstGeom>
          <a:noFill/>
        </p:spPr>
        <p:txBody>
          <a:bodyPr vert="horz" wrap="square" lIns="0" tIns="0" rIns="0" bIns="0" rtlCol="0" anchor="t">
            <a:noAutofit/>
          </a:bodyPr>
          <a:lstStyle/>
          <a:p>
            <a:pPr algn="ctr"/>
            <a:r>
              <a:rPr lang="en-IL" sz="2800" b="1">
                <a:solidFill>
                  <a:srgbClr val="137F79"/>
                </a:solidFill>
                <a:latin typeface="Aptos" panose="020B0004020202020204" pitchFamily="34" charset="0"/>
              </a:rPr>
              <a:t>Observation at tₘ</a:t>
            </a:r>
          </a:p>
        </p:txBody>
      </p:sp>
      <p:sp>
        <p:nvSpPr>
          <p:cNvPr id="12" name="text_11">
            <a:extLst>
              <a:ext uri="{FF2B5EF4-FFF2-40B4-BE49-F238E27FC236}">
                <a16:creationId xmlns:a16="http://schemas.microsoft.com/office/drawing/2014/main" id="{C5F44489-9452-BF5D-0B4F-FE237ABC4AAD}"/>
              </a:ext>
            </a:extLst>
          </p:cNvPr>
          <p:cNvSpPr txBox="1"/>
          <p:nvPr/>
        </p:nvSpPr>
        <p:spPr>
          <a:xfrm>
            <a:off x="7327900" y="2666999"/>
            <a:ext cx="3619500" cy="736600"/>
          </a:xfrm>
          <a:prstGeom prst="rect">
            <a:avLst/>
          </a:prstGeom>
          <a:noFill/>
        </p:spPr>
        <p:txBody>
          <a:bodyPr vert="horz" wrap="square" lIns="0" tIns="0" rIns="0" bIns="0" rtlCol="0" anchor="t">
            <a:noAutofit/>
          </a:bodyPr>
          <a:lstStyle/>
          <a:p>
            <a:pPr algn="ctr"/>
            <a:r>
              <a:rPr lang="en-IL" sz="2800" b="1">
                <a:solidFill>
                  <a:srgbClr val="2459D3"/>
                </a:solidFill>
                <a:latin typeface="Aptos" panose="020B0004020202020204" pitchFamily="34" charset="0"/>
              </a:rPr>
              <a:t>Now</a:t>
            </a:r>
          </a:p>
        </p:txBody>
      </p:sp>
      <p:sp>
        <p:nvSpPr>
          <p:cNvPr id="13" name="text_12">
            <a:extLst>
              <a:ext uri="{FF2B5EF4-FFF2-40B4-BE49-F238E27FC236}">
                <a16:creationId xmlns:a16="http://schemas.microsoft.com/office/drawing/2014/main" id="{7CDDBB26-5358-9175-55D0-E7059932C159}"/>
              </a:ext>
            </a:extLst>
          </p:cNvPr>
          <p:cNvSpPr txBox="1"/>
          <p:nvPr/>
        </p:nvSpPr>
        <p:spPr>
          <a:xfrm>
            <a:off x="1066800" y="3975099"/>
            <a:ext cx="4711700" cy="825500"/>
          </a:xfrm>
          <a:prstGeom prst="rect">
            <a:avLst/>
          </a:prstGeom>
          <a:noFill/>
        </p:spPr>
        <p:txBody>
          <a:bodyPr vert="horz" wrap="square" lIns="0" tIns="0" rIns="0" bIns="0" rtlCol="0" anchor="t">
            <a:noAutofit/>
          </a:bodyPr>
          <a:lstStyle/>
          <a:p>
            <a:pPr algn="ctr"/>
            <a:r>
              <a:rPr lang="en-US" sz="2600">
                <a:solidFill>
                  <a:srgbClr val="137F79"/>
                </a:solidFill>
                <a:latin typeface="Aptos" panose="020B0004020202020204" pitchFamily="34" charset="0"/>
              </a:rPr>
              <a:t>Use the transform at tₘ.</a:t>
            </a:r>
            <a:endParaRPr lang="en-IL" sz="2600">
              <a:solidFill>
                <a:srgbClr val="137F79"/>
              </a:solidFill>
              <a:latin typeface="Aptos" panose="020B0004020202020204" pitchFamily="34" charset="0"/>
            </a:endParaRPr>
          </a:p>
        </p:txBody>
      </p:sp>
      <p:sp>
        <p:nvSpPr>
          <p:cNvPr id="14" name="text_13">
            <a:extLst>
              <a:ext uri="{FF2B5EF4-FFF2-40B4-BE49-F238E27FC236}">
                <a16:creationId xmlns:a16="http://schemas.microsoft.com/office/drawing/2014/main" id="{7C7297AF-305D-120F-AEB0-A34D75B4D292}"/>
              </a:ext>
            </a:extLst>
          </p:cNvPr>
          <p:cNvSpPr txBox="1"/>
          <p:nvPr/>
        </p:nvSpPr>
        <p:spPr>
          <a:xfrm>
            <a:off x="6654800" y="3975099"/>
            <a:ext cx="4851400" cy="825500"/>
          </a:xfrm>
          <a:prstGeom prst="rect">
            <a:avLst/>
          </a:prstGeom>
          <a:noFill/>
        </p:spPr>
        <p:txBody>
          <a:bodyPr vert="horz" wrap="square" lIns="0" tIns="0" rIns="0" bIns="0" rtlCol="0" anchor="t">
            <a:noAutofit/>
          </a:bodyPr>
          <a:lstStyle/>
          <a:p>
            <a:pPr algn="ctr"/>
            <a:r>
              <a:rPr lang="en-US" sz="2600">
                <a:solidFill>
                  <a:srgbClr val="2459D3"/>
                </a:solidFill>
                <a:latin typeface="Aptos" panose="020B0004020202020204" pitchFamily="34" charset="0"/>
              </a:rPr>
              <a:t>Latest is not acquisition time.</a:t>
            </a:r>
            <a:endParaRPr lang="en-IL" sz="2600">
              <a:solidFill>
                <a:srgbClr val="2459D3"/>
              </a:solidFill>
              <a:latin typeface="Aptos" panose="020B0004020202020204" pitchFamily="34" charset="0"/>
            </a:endParaRPr>
          </a:p>
        </p:txBody>
      </p:sp>
      <p:sp>
        <p:nvSpPr>
          <p:cNvPr id="15" name="Rectangle: Rounded Corners 14">
            <a:extLst>
              <a:ext uri="{FF2B5EF4-FFF2-40B4-BE49-F238E27FC236}">
                <a16:creationId xmlns:a16="http://schemas.microsoft.com/office/drawing/2014/main" id="{BDE85D9B-3F56-EA29-8540-63F4D5277109}"/>
              </a:ext>
            </a:extLst>
          </p:cNvPr>
          <p:cNvSpPr/>
          <p:nvPr/>
        </p:nvSpPr>
        <p:spPr>
          <a:xfrm>
            <a:off x="685800" y="5245100"/>
            <a:ext cx="10820400" cy="8001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text_15">
            <a:extLst>
              <a:ext uri="{FF2B5EF4-FFF2-40B4-BE49-F238E27FC236}">
                <a16:creationId xmlns:a16="http://schemas.microsoft.com/office/drawing/2014/main" id="{B1D46AF2-7A78-64F2-97DC-B708F0137BF1}"/>
              </a:ext>
            </a:extLst>
          </p:cNvPr>
          <p:cNvSpPr txBox="1"/>
          <p:nvPr/>
        </p:nvSpPr>
        <p:spPr>
          <a:xfrm>
            <a:off x="901700" y="5422899"/>
            <a:ext cx="10388600" cy="508000"/>
          </a:xfrm>
          <a:prstGeom prst="rect">
            <a:avLst/>
          </a:prstGeom>
          <a:noFill/>
        </p:spPr>
        <p:txBody>
          <a:bodyPr vert="horz" wrap="square" lIns="0" tIns="0" rIns="0" bIns="0" rtlCol="0" anchor="t">
            <a:noAutofit/>
          </a:bodyPr>
          <a:lstStyle/>
          <a:p>
            <a:r>
              <a:rPr lang="en-US" sz="2600">
                <a:solidFill>
                  <a:srgbClr val="15283B"/>
                </a:solidFill>
                <a:latin typeface="Aptos" panose="020B0004020202020204" pitchFamily="34" charset="0"/>
              </a:rPr>
              <a:t>Finite history  ·  consistent clocks  ·  preserve the stamp</a:t>
            </a:r>
            <a:endParaRPr lang="en-IL" sz="2600">
              <a:solidFill>
                <a:srgbClr val="15283B"/>
              </a:solidFill>
              <a:latin typeface="Aptos" panose="020B0004020202020204" pitchFamily="34" charset="0"/>
            </a:endParaRPr>
          </a:p>
        </p:txBody>
      </p:sp>
    </p:spTree>
    <p:extLst>
      <p:ext uri="{BB962C8B-B14F-4D97-AF65-F5344CB8AC3E}">
        <p14:creationId xmlns:p14="http://schemas.microsoft.com/office/powerpoint/2010/main" val="6183803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177F3183-D185-2C52-9A69-42F7337A155C}"/>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02 / COORDINATE FRAMES</a:t>
            </a:r>
          </a:p>
        </p:txBody>
      </p:sp>
      <p:sp>
        <p:nvSpPr>
          <p:cNvPr id="3" name="text_2">
            <a:extLst>
              <a:ext uri="{FF2B5EF4-FFF2-40B4-BE49-F238E27FC236}">
                <a16:creationId xmlns:a16="http://schemas.microsoft.com/office/drawing/2014/main" id="{9C7F13B5-1FC5-A794-B3BD-C8604B08CFE0}"/>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Inspect and predict</a:t>
            </a:r>
          </a:p>
        </p:txBody>
      </p:sp>
      <p:sp>
        <p:nvSpPr>
          <p:cNvPr id="4" name="text_3">
            <a:extLst>
              <a:ext uri="{FF2B5EF4-FFF2-40B4-BE49-F238E27FC236}">
                <a16:creationId xmlns:a16="http://schemas.microsoft.com/office/drawing/2014/main" id="{E9FD4C76-1486-4408-8DE1-BA1054ED699A}"/>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Predict the display before changing its reference frame.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72FBEDDC-86FF-7806-2171-7FA266E0FC0A}"/>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969839A8-255C-0F39-4EA2-87EE1E4F652E}"/>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0F59FA91-7FF6-4B8F-6132-50C0251702AD}"/>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17</a:t>
            </a:r>
          </a:p>
        </p:txBody>
      </p:sp>
      <p:sp>
        <p:nvSpPr>
          <p:cNvPr id="13" name="Rectangle: Rounded Corners 12">
            <a:extLst>
              <a:ext uri="{FF2B5EF4-FFF2-40B4-BE49-F238E27FC236}">
                <a16:creationId xmlns:a16="http://schemas.microsoft.com/office/drawing/2014/main" id="{F632FD1C-8436-FA8C-EA41-83A97032C842}"/>
              </a:ext>
            </a:extLst>
          </p:cNvPr>
          <p:cNvSpPr/>
          <p:nvPr/>
        </p:nvSpPr>
        <p:spPr>
          <a:xfrm>
            <a:off x="685800" y="2514600"/>
            <a:ext cx="10820400" cy="15113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updated_text_8">
            <a:extLst>
              <a:ext uri="{FF2B5EF4-FFF2-40B4-BE49-F238E27FC236}">
                <a16:creationId xmlns:a16="http://schemas.microsoft.com/office/drawing/2014/main" id="{BE99BB77-14DD-6631-4A34-FE5B2AC5A0B9}"/>
              </a:ext>
            </a:extLst>
          </p:cNvPr>
          <p:cNvSpPr txBox="1"/>
          <p:nvPr/>
        </p:nvSpPr>
        <p:spPr>
          <a:xfrm>
            <a:off x="914400" y="2666999"/>
            <a:ext cx="10363200" cy="533400"/>
          </a:xfrm>
          <a:prstGeom prst="rect">
            <a:avLst/>
          </a:prstGeom>
          <a:noFill/>
        </p:spPr>
        <p:txBody>
          <a:bodyPr vert="horz" wrap="square" lIns="0" tIns="0" rIns="0" bIns="0" rtlCol="0" anchor="t">
            <a:noAutofit/>
          </a:bodyPr>
          <a:lstStyle/>
          <a:p>
            <a:r>
              <a:rPr lang="en-IL" sz="2400">
                <a:solidFill>
                  <a:srgbClr val="2459D3"/>
                </a:solidFill>
                <a:latin typeface="Consolas" panose="020B0609020204030204" pitchFamily="49" charset="0"/>
              </a:rPr>
              <a:t>ros2 run tf2_ros tf2_echo base_link camera_frame</a:t>
            </a:r>
          </a:p>
        </p:txBody>
      </p:sp>
      <p:sp>
        <p:nvSpPr>
          <p:cNvPr id="15" name="updated_text_9">
            <a:extLst>
              <a:ext uri="{FF2B5EF4-FFF2-40B4-BE49-F238E27FC236}">
                <a16:creationId xmlns:a16="http://schemas.microsoft.com/office/drawing/2014/main" id="{9D37FDA9-83F6-38ED-5E32-40C302BAA95B}"/>
              </a:ext>
            </a:extLst>
          </p:cNvPr>
          <p:cNvSpPr txBox="1"/>
          <p:nvPr/>
        </p:nvSpPr>
        <p:spPr>
          <a:xfrm>
            <a:off x="914400" y="3390899"/>
            <a:ext cx="10363200" cy="533400"/>
          </a:xfrm>
          <a:prstGeom prst="rect">
            <a:avLst/>
          </a:prstGeom>
          <a:noFill/>
        </p:spPr>
        <p:txBody>
          <a:bodyPr vert="horz" wrap="square" lIns="0" tIns="0" rIns="0" bIns="0" rtlCol="0" anchor="t">
            <a:noAutofit/>
          </a:bodyPr>
          <a:lstStyle/>
          <a:p>
            <a:r>
              <a:rPr lang="en-US" sz="2400">
                <a:solidFill>
                  <a:srgbClr val="137F79"/>
                </a:solidFill>
                <a:latin typeface="Consolas" panose="020B0609020204030204" pitchFamily="49" charset="0"/>
              </a:rPr>
              <a:t>ros2 run tf2_ros tf2_echo world base_link</a:t>
            </a:r>
            <a:endParaRPr lang="en-IL" sz="2400">
              <a:solidFill>
                <a:srgbClr val="137F79"/>
              </a:solidFill>
              <a:latin typeface="Consolas" panose="020B0609020204030204" pitchFamily="49" charset="0"/>
            </a:endParaRPr>
          </a:p>
        </p:txBody>
      </p:sp>
      <p:sp>
        <p:nvSpPr>
          <p:cNvPr id="16" name="updated_text_10">
            <a:extLst>
              <a:ext uri="{FF2B5EF4-FFF2-40B4-BE49-F238E27FC236}">
                <a16:creationId xmlns:a16="http://schemas.microsoft.com/office/drawing/2014/main" id="{F0B356D6-8B84-5064-ECAD-D13D2A2CAA8A}"/>
              </a:ext>
            </a:extLst>
          </p:cNvPr>
          <p:cNvSpPr txBox="1"/>
          <p:nvPr/>
        </p:nvSpPr>
        <p:spPr>
          <a:xfrm>
            <a:off x="685800" y="4254499"/>
            <a:ext cx="10820400" cy="546100"/>
          </a:xfrm>
          <a:prstGeom prst="rect">
            <a:avLst/>
          </a:prstGeom>
          <a:noFill/>
        </p:spPr>
        <p:txBody>
          <a:bodyPr vert="horz" wrap="square" lIns="0" tIns="0" rIns="0" bIns="0" rtlCol="0" anchor="t">
            <a:noAutofit/>
          </a:bodyPr>
          <a:lstStyle/>
          <a:p>
            <a:r>
              <a:rPr lang="en-US" sz="2900">
                <a:solidFill>
                  <a:srgbClr val="15283B"/>
                </a:solidFill>
                <a:latin typeface="Consolas" panose="020B0609020204030204" pitchFamily="49" charset="0"/>
              </a:rPr>
              <a:t>lookup_transform(target, source, time)</a:t>
            </a:r>
            <a:endParaRPr lang="en-IL" sz="2900">
              <a:solidFill>
                <a:srgbClr val="15283B"/>
              </a:solidFill>
              <a:latin typeface="Consolas" panose="020B0609020204030204" pitchFamily="49" charset="0"/>
            </a:endParaRPr>
          </a:p>
        </p:txBody>
      </p:sp>
      <p:sp>
        <p:nvSpPr>
          <p:cNvPr id="17" name="Rectangle: Rounded Corners 16">
            <a:extLst>
              <a:ext uri="{FF2B5EF4-FFF2-40B4-BE49-F238E27FC236}">
                <a16:creationId xmlns:a16="http://schemas.microsoft.com/office/drawing/2014/main" id="{57DEE918-D285-4345-30EB-DBD51F58022A}"/>
              </a:ext>
            </a:extLst>
          </p:cNvPr>
          <p:cNvSpPr/>
          <p:nvPr/>
        </p:nvSpPr>
        <p:spPr>
          <a:xfrm>
            <a:off x="685800" y="5054600"/>
            <a:ext cx="10820400" cy="11049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updated_text_12">
            <a:extLst>
              <a:ext uri="{FF2B5EF4-FFF2-40B4-BE49-F238E27FC236}">
                <a16:creationId xmlns:a16="http://schemas.microsoft.com/office/drawing/2014/main" id="{DE82C7C5-C680-810F-74AB-4C11182A314A}"/>
              </a:ext>
            </a:extLst>
          </p:cNvPr>
          <p:cNvSpPr txBox="1"/>
          <p:nvPr/>
        </p:nvSpPr>
        <p:spPr>
          <a:xfrm>
            <a:off x="889000" y="5168899"/>
            <a:ext cx="10414000" cy="889000"/>
          </a:xfrm>
          <a:prstGeom prst="rect">
            <a:avLst/>
          </a:prstGeom>
          <a:noFill/>
        </p:spPr>
        <p:txBody>
          <a:bodyPr vert="horz" wrap="square" lIns="0" tIns="0" rIns="0" bIns="0" rtlCol="0" anchor="t">
            <a:noAutofit/>
          </a:bodyPr>
          <a:lstStyle/>
          <a:p>
            <a:r>
              <a:rPr lang="en-US" sz="2700" b="1">
                <a:solidFill>
                  <a:srgbClr val="137F79"/>
                </a:solidFill>
                <a:latin typeface="Aptos" panose="020B0004020202020204" pitchFamily="34" charset="0"/>
              </a:rPr>
              <a:t>Predict: what happens when we change the RViz Fixed Frame
from base_link to world?</a:t>
            </a:r>
            <a:endParaRPr lang="en-IL" sz="2700" b="1">
              <a:solidFill>
                <a:srgbClr val="137F79"/>
              </a:solidFill>
              <a:latin typeface="Aptos" panose="020B0004020202020204" pitchFamily="34" charset="0"/>
            </a:endParaRPr>
          </a:p>
        </p:txBody>
      </p:sp>
    </p:spTree>
    <p:extLst>
      <p:ext uri="{BB962C8B-B14F-4D97-AF65-F5344CB8AC3E}">
        <p14:creationId xmlns:p14="http://schemas.microsoft.com/office/powerpoint/2010/main" val="32329584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CE1DC04A-A9FA-372C-2D9F-054DF54333BD}"/>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02 / COORDINATE FRAMES</a:t>
            </a:r>
          </a:p>
        </p:txBody>
      </p:sp>
      <p:sp>
        <p:nvSpPr>
          <p:cNvPr id="3" name="text_2">
            <a:extLst>
              <a:ext uri="{FF2B5EF4-FFF2-40B4-BE49-F238E27FC236}">
                <a16:creationId xmlns:a16="http://schemas.microsoft.com/office/drawing/2014/main" id="{47995491-23C4-3FB4-9704-245B4E330956}"/>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Live demo: read, run, predict</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E91E4FD6-5FCF-3807-CE3B-CFE987948245}"/>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Three steps · predict first, then connect the output to the mathematics.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527EB79B-EBE2-F5D9-D172-7E07C834B313}"/>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4F22979C-33B0-971D-C2C0-6F669707A5B9}"/>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1E54FED0-63E8-44C7-129A-3B82BA579957}"/>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18</a:t>
            </a:r>
          </a:p>
        </p:txBody>
      </p:sp>
      <p:sp>
        <p:nvSpPr>
          <p:cNvPr id="23" name="Rectangle: Rounded Corners 22">
            <a:extLst>
              <a:ext uri="{FF2B5EF4-FFF2-40B4-BE49-F238E27FC236}">
                <a16:creationId xmlns:a16="http://schemas.microsoft.com/office/drawing/2014/main" id="{6DF2540F-BF55-1B3C-0DEA-7941ABE53388}"/>
              </a:ext>
            </a:extLst>
          </p:cNvPr>
          <p:cNvSpPr/>
          <p:nvPr/>
        </p:nvSpPr>
        <p:spPr>
          <a:xfrm>
            <a:off x="685800" y="2857500"/>
            <a:ext cx="2362200" cy="6096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4" name="updated_text_8">
            <a:extLst>
              <a:ext uri="{FF2B5EF4-FFF2-40B4-BE49-F238E27FC236}">
                <a16:creationId xmlns:a16="http://schemas.microsoft.com/office/drawing/2014/main" id="{5804700D-AE89-83E9-E360-64799D39B6DD}"/>
              </a:ext>
            </a:extLst>
          </p:cNvPr>
          <p:cNvSpPr txBox="1"/>
          <p:nvPr/>
        </p:nvSpPr>
        <p:spPr>
          <a:xfrm>
            <a:off x="736600" y="2971799"/>
            <a:ext cx="2260600" cy="406400"/>
          </a:xfrm>
          <a:prstGeom prst="rect">
            <a:avLst/>
          </a:prstGeom>
          <a:noFill/>
        </p:spPr>
        <p:txBody>
          <a:bodyPr vert="horz" wrap="square" lIns="0" tIns="0" rIns="0" bIns="0" rtlCol="0" anchor="t">
            <a:noAutofit/>
          </a:bodyPr>
          <a:lstStyle/>
          <a:p>
            <a:pPr algn="ctr"/>
            <a:r>
              <a:rPr lang="en-IL" sz="2400" b="1">
                <a:solidFill>
                  <a:srgbClr val="15283B"/>
                </a:solidFill>
                <a:latin typeface="Aptos" panose="020B0004020202020204" pitchFamily="34" charset="0"/>
              </a:rPr>
              <a:t>world</a:t>
            </a:r>
          </a:p>
        </p:txBody>
      </p:sp>
      <p:cxnSp>
        <p:nvCxnSpPr>
          <p:cNvPr id="25" name="Straight Connector 24">
            <a:extLst>
              <a:ext uri="{FF2B5EF4-FFF2-40B4-BE49-F238E27FC236}">
                <a16:creationId xmlns:a16="http://schemas.microsoft.com/office/drawing/2014/main" id="{D78A81F2-D1B0-9FD2-4648-C9903DFC8F07}"/>
              </a:ext>
            </a:extLst>
          </p:cNvPr>
          <p:cNvCxnSpPr/>
          <p:nvPr/>
        </p:nvCxnSpPr>
        <p:spPr>
          <a:xfrm>
            <a:off x="3048000" y="3162300"/>
            <a:ext cx="4572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26" name="Rectangle: Rounded Corners 25">
            <a:extLst>
              <a:ext uri="{FF2B5EF4-FFF2-40B4-BE49-F238E27FC236}">
                <a16:creationId xmlns:a16="http://schemas.microsoft.com/office/drawing/2014/main" id="{DD83B6C8-90B7-3ABB-4DA7-102622C13B80}"/>
              </a:ext>
            </a:extLst>
          </p:cNvPr>
          <p:cNvSpPr/>
          <p:nvPr/>
        </p:nvSpPr>
        <p:spPr>
          <a:xfrm>
            <a:off x="3505200" y="2857500"/>
            <a:ext cx="2362200" cy="6096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7" name="updated_text_11">
            <a:extLst>
              <a:ext uri="{FF2B5EF4-FFF2-40B4-BE49-F238E27FC236}">
                <a16:creationId xmlns:a16="http://schemas.microsoft.com/office/drawing/2014/main" id="{491BCA22-EFA5-640F-FFF6-73AA3EA98163}"/>
              </a:ext>
            </a:extLst>
          </p:cNvPr>
          <p:cNvSpPr txBox="1"/>
          <p:nvPr/>
        </p:nvSpPr>
        <p:spPr>
          <a:xfrm>
            <a:off x="3556000" y="2971799"/>
            <a:ext cx="2260600" cy="406400"/>
          </a:xfrm>
          <a:prstGeom prst="rect">
            <a:avLst/>
          </a:prstGeom>
          <a:noFill/>
        </p:spPr>
        <p:txBody>
          <a:bodyPr vert="horz" wrap="square" lIns="0" tIns="0" rIns="0" bIns="0" rtlCol="0" anchor="t">
            <a:noAutofit/>
          </a:bodyPr>
          <a:lstStyle/>
          <a:p>
            <a:pPr algn="ctr"/>
            <a:r>
              <a:rPr lang="en-IL" sz="2400" b="1">
                <a:solidFill>
                  <a:srgbClr val="15283B"/>
                </a:solidFill>
                <a:latin typeface="Aptos" panose="020B0004020202020204" pitchFamily="34" charset="0"/>
              </a:rPr>
              <a:t>base_link</a:t>
            </a:r>
          </a:p>
        </p:txBody>
      </p:sp>
      <p:cxnSp>
        <p:nvCxnSpPr>
          <p:cNvPr id="28" name="Straight Connector 27">
            <a:extLst>
              <a:ext uri="{FF2B5EF4-FFF2-40B4-BE49-F238E27FC236}">
                <a16:creationId xmlns:a16="http://schemas.microsoft.com/office/drawing/2014/main" id="{4279DF7D-E2E3-8A8B-E4AB-C7597BF47137}"/>
              </a:ext>
            </a:extLst>
          </p:cNvPr>
          <p:cNvCxnSpPr/>
          <p:nvPr/>
        </p:nvCxnSpPr>
        <p:spPr>
          <a:xfrm>
            <a:off x="5867400" y="3162300"/>
            <a:ext cx="457200" cy="0"/>
          </a:xfrm>
          <a:prstGeom prst="line">
            <a:avLst/>
          </a:prstGeom>
          <a:ln w="27940">
            <a:solidFill>
              <a:srgbClr val="137F79"/>
            </a:solidFill>
            <a:prstDash val="dash"/>
            <a:tailEnd type="arrow"/>
          </a:ln>
        </p:spPr>
        <p:style>
          <a:lnRef idx="2">
            <a:schemeClr val="accent1"/>
          </a:lnRef>
          <a:fillRef idx="0">
            <a:schemeClr val="accent1"/>
          </a:fillRef>
          <a:effectRef idx="1">
            <a:schemeClr val="accent1"/>
          </a:effectRef>
          <a:fontRef idx="minor">
            <a:schemeClr val="tx1"/>
          </a:fontRef>
        </p:style>
      </p:cxnSp>
      <p:sp>
        <p:nvSpPr>
          <p:cNvPr id="29" name="Rectangle: Rounded Corners 28">
            <a:extLst>
              <a:ext uri="{FF2B5EF4-FFF2-40B4-BE49-F238E27FC236}">
                <a16:creationId xmlns:a16="http://schemas.microsoft.com/office/drawing/2014/main" id="{D4867553-0679-B649-62E3-E542CF405795}"/>
              </a:ext>
            </a:extLst>
          </p:cNvPr>
          <p:cNvSpPr/>
          <p:nvPr/>
        </p:nvSpPr>
        <p:spPr>
          <a:xfrm>
            <a:off x="6324600" y="2857500"/>
            <a:ext cx="2362200" cy="6096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0" name="updated_text_14">
            <a:extLst>
              <a:ext uri="{FF2B5EF4-FFF2-40B4-BE49-F238E27FC236}">
                <a16:creationId xmlns:a16="http://schemas.microsoft.com/office/drawing/2014/main" id="{D9F17E23-CFB6-DCAC-ECEE-5327A735CB98}"/>
              </a:ext>
            </a:extLst>
          </p:cNvPr>
          <p:cNvSpPr txBox="1"/>
          <p:nvPr/>
        </p:nvSpPr>
        <p:spPr>
          <a:xfrm>
            <a:off x="6375400" y="2971799"/>
            <a:ext cx="2260600" cy="406400"/>
          </a:xfrm>
          <a:prstGeom prst="rect">
            <a:avLst/>
          </a:prstGeom>
          <a:noFill/>
        </p:spPr>
        <p:txBody>
          <a:bodyPr vert="horz" wrap="square" lIns="0" tIns="0" rIns="0" bIns="0" rtlCol="0" anchor="t">
            <a:noAutofit/>
          </a:bodyPr>
          <a:lstStyle/>
          <a:p>
            <a:pPr algn="ctr"/>
            <a:r>
              <a:rPr lang="en-IL" sz="2400" b="1">
                <a:solidFill>
                  <a:srgbClr val="15283B"/>
                </a:solidFill>
                <a:latin typeface="Aptos" panose="020B0004020202020204" pitchFamily="34" charset="0"/>
              </a:rPr>
              <a:t>camera_mount</a:t>
            </a:r>
          </a:p>
        </p:txBody>
      </p:sp>
      <p:cxnSp>
        <p:nvCxnSpPr>
          <p:cNvPr id="31" name="Straight Connector 30">
            <a:extLst>
              <a:ext uri="{FF2B5EF4-FFF2-40B4-BE49-F238E27FC236}">
                <a16:creationId xmlns:a16="http://schemas.microsoft.com/office/drawing/2014/main" id="{4CDD24C5-76C6-41E7-E82B-BC0E36392AF9}"/>
              </a:ext>
            </a:extLst>
          </p:cNvPr>
          <p:cNvCxnSpPr/>
          <p:nvPr/>
        </p:nvCxnSpPr>
        <p:spPr>
          <a:xfrm>
            <a:off x="8686800" y="3162300"/>
            <a:ext cx="457200" cy="0"/>
          </a:xfrm>
          <a:prstGeom prst="line">
            <a:avLst/>
          </a:prstGeom>
          <a:ln w="27940">
            <a:solidFill>
              <a:srgbClr val="137F79"/>
            </a:solidFill>
            <a:prstDash val="dash"/>
            <a:tailEnd type="arrow"/>
          </a:ln>
        </p:spPr>
        <p:style>
          <a:lnRef idx="2">
            <a:schemeClr val="accent1"/>
          </a:lnRef>
          <a:fillRef idx="0">
            <a:schemeClr val="accent1"/>
          </a:fillRef>
          <a:effectRef idx="1">
            <a:schemeClr val="accent1"/>
          </a:effectRef>
          <a:fontRef idx="minor">
            <a:schemeClr val="tx1"/>
          </a:fontRef>
        </p:style>
      </p:cxnSp>
      <p:sp>
        <p:nvSpPr>
          <p:cNvPr id="32" name="Rectangle: Rounded Corners 31">
            <a:extLst>
              <a:ext uri="{FF2B5EF4-FFF2-40B4-BE49-F238E27FC236}">
                <a16:creationId xmlns:a16="http://schemas.microsoft.com/office/drawing/2014/main" id="{41E64DAD-9FB0-7F14-DD9A-B45E9E3F16A7}"/>
              </a:ext>
            </a:extLst>
          </p:cNvPr>
          <p:cNvSpPr/>
          <p:nvPr/>
        </p:nvSpPr>
        <p:spPr>
          <a:xfrm>
            <a:off x="9144000" y="2857500"/>
            <a:ext cx="2362200" cy="6096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3" name="updated_text_17">
            <a:extLst>
              <a:ext uri="{FF2B5EF4-FFF2-40B4-BE49-F238E27FC236}">
                <a16:creationId xmlns:a16="http://schemas.microsoft.com/office/drawing/2014/main" id="{C43EABC9-3C29-14CD-69DA-579AEE802B34}"/>
              </a:ext>
            </a:extLst>
          </p:cNvPr>
          <p:cNvSpPr txBox="1"/>
          <p:nvPr/>
        </p:nvSpPr>
        <p:spPr>
          <a:xfrm>
            <a:off x="9194800" y="2971799"/>
            <a:ext cx="2260600" cy="406400"/>
          </a:xfrm>
          <a:prstGeom prst="rect">
            <a:avLst/>
          </a:prstGeom>
          <a:noFill/>
        </p:spPr>
        <p:txBody>
          <a:bodyPr vert="horz" wrap="square" lIns="0" tIns="0" rIns="0" bIns="0" rtlCol="0" anchor="t">
            <a:noAutofit/>
          </a:bodyPr>
          <a:lstStyle/>
          <a:p>
            <a:pPr algn="ctr"/>
            <a:r>
              <a:rPr lang="en-IL" sz="2400" b="1">
                <a:solidFill>
                  <a:srgbClr val="15283B"/>
                </a:solidFill>
                <a:latin typeface="Aptos" panose="020B0004020202020204" pitchFamily="34" charset="0"/>
              </a:rPr>
              <a:t>camera_frame</a:t>
            </a:r>
          </a:p>
        </p:txBody>
      </p:sp>
      <p:sp>
        <p:nvSpPr>
          <p:cNvPr id="34" name="updated_text_18">
            <a:extLst>
              <a:ext uri="{FF2B5EF4-FFF2-40B4-BE49-F238E27FC236}">
                <a16:creationId xmlns:a16="http://schemas.microsoft.com/office/drawing/2014/main" id="{47A132F1-6728-42D2-4CE0-0307B3E186D0}"/>
              </a:ext>
            </a:extLst>
          </p:cNvPr>
          <p:cNvSpPr txBox="1"/>
          <p:nvPr/>
        </p:nvSpPr>
        <p:spPr>
          <a:xfrm>
            <a:off x="685800" y="2425699"/>
            <a:ext cx="5181600" cy="381000"/>
          </a:xfrm>
          <a:prstGeom prst="rect">
            <a:avLst/>
          </a:prstGeom>
          <a:noFill/>
        </p:spPr>
        <p:txBody>
          <a:bodyPr vert="horz" wrap="square" lIns="0" tIns="0" rIns="0" bIns="0" rtlCol="0" anchor="t">
            <a:noAutofit/>
          </a:bodyPr>
          <a:lstStyle/>
          <a:p>
            <a:pPr algn="ctr"/>
            <a:r>
              <a:rPr lang="en-IL" sz="2400">
                <a:solidFill>
                  <a:srgbClr val="2459D3"/>
                </a:solidFill>
                <a:latin typeface="Aptos" panose="020B0004020202020204" pitchFamily="34" charset="0"/>
              </a:rPr>
              <a:t>dynamic · moving_base</a:t>
            </a:r>
          </a:p>
        </p:txBody>
      </p:sp>
      <p:sp>
        <p:nvSpPr>
          <p:cNvPr id="35" name="updated_text_19">
            <a:extLst>
              <a:ext uri="{FF2B5EF4-FFF2-40B4-BE49-F238E27FC236}">
                <a16:creationId xmlns:a16="http://schemas.microsoft.com/office/drawing/2014/main" id="{E197D0C4-3E84-6700-2A3A-581C712FD0C7}"/>
              </a:ext>
            </a:extLst>
          </p:cNvPr>
          <p:cNvSpPr txBox="1"/>
          <p:nvPr/>
        </p:nvSpPr>
        <p:spPr>
          <a:xfrm>
            <a:off x="6324600" y="2425699"/>
            <a:ext cx="5181600" cy="381000"/>
          </a:xfrm>
          <a:prstGeom prst="rect">
            <a:avLst/>
          </a:prstGeom>
          <a:noFill/>
        </p:spPr>
        <p:txBody>
          <a:bodyPr vert="horz" wrap="square" lIns="0" tIns="0" rIns="0" bIns="0" rtlCol="0" anchor="t">
            <a:noAutofit/>
          </a:bodyPr>
          <a:lstStyle/>
          <a:p>
            <a:pPr algn="ctr"/>
            <a:r>
              <a:rPr lang="en-IL" sz="2400">
                <a:solidFill>
                  <a:srgbClr val="137F79"/>
                </a:solidFill>
                <a:latin typeface="Aptos" panose="020B0004020202020204" pitchFamily="34" charset="0"/>
              </a:rPr>
              <a:t>static · static_frames</a:t>
            </a:r>
          </a:p>
        </p:txBody>
      </p:sp>
      <p:sp>
        <p:nvSpPr>
          <p:cNvPr id="36" name="updated_text_20">
            <a:extLst>
              <a:ext uri="{FF2B5EF4-FFF2-40B4-BE49-F238E27FC236}">
                <a16:creationId xmlns:a16="http://schemas.microsoft.com/office/drawing/2014/main" id="{51DCD244-7555-4722-13CD-B895BE12F467}"/>
              </a:ext>
            </a:extLst>
          </p:cNvPr>
          <p:cNvSpPr txBox="1"/>
          <p:nvPr/>
        </p:nvSpPr>
        <p:spPr>
          <a:xfrm>
            <a:off x="685800" y="3644899"/>
            <a:ext cx="10820400" cy="406400"/>
          </a:xfrm>
          <a:prstGeom prst="rect">
            <a:avLst/>
          </a:prstGeom>
          <a:noFill/>
        </p:spPr>
        <p:txBody>
          <a:bodyPr vert="horz" wrap="square" lIns="0" tIns="0" rIns="0" bIns="0" rtlCol="0" anchor="t">
            <a:noAutofit/>
          </a:bodyPr>
          <a:lstStyle/>
          <a:p>
            <a:r>
              <a:rPr lang="en-IL" sz="2500" b="1">
                <a:solidFill>
                  <a:srgbClr val="2459D3"/>
                </a:solidFill>
                <a:latin typeface="Aptos" panose="020B0004020202020204" pitchFamily="34" charset="0"/>
              </a:rPr>
              <a:t>1  Inspect the transform · camera coordinates → base coordinates</a:t>
            </a:r>
          </a:p>
        </p:txBody>
      </p:sp>
      <p:sp>
        <p:nvSpPr>
          <p:cNvPr id="37" name="updated_text_21">
            <a:extLst>
              <a:ext uri="{FF2B5EF4-FFF2-40B4-BE49-F238E27FC236}">
                <a16:creationId xmlns:a16="http://schemas.microsoft.com/office/drawing/2014/main" id="{E4B44A5C-D07A-67FB-CE3E-55A348667AE9}"/>
              </a:ext>
            </a:extLst>
          </p:cNvPr>
          <p:cNvSpPr txBox="1"/>
          <p:nvPr/>
        </p:nvSpPr>
        <p:spPr>
          <a:xfrm>
            <a:off x="1003300" y="4127499"/>
            <a:ext cx="10502900" cy="419100"/>
          </a:xfrm>
          <a:prstGeom prst="rect">
            <a:avLst/>
          </a:prstGeom>
          <a:noFill/>
        </p:spPr>
        <p:txBody>
          <a:bodyPr vert="horz" wrap="square" lIns="0" tIns="0" rIns="0" bIns="0" rtlCol="0" anchor="t">
            <a:noAutofit/>
          </a:bodyPr>
          <a:lstStyle/>
          <a:p>
            <a:r>
              <a:rPr lang="en-IL" sz="2400">
                <a:solidFill>
                  <a:srgbClr val="2459D3"/>
                </a:solidFill>
                <a:latin typeface="Consolas" panose="020B0609020204030204" pitchFamily="49" charset="0"/>
              </a:rPr>
              <a:t>ros2 run tf2_ros tf2_echo base_link camera_frame</a:t>
            </a:r>
          </a:p>
        </p:txBody>
      </p:sp>
      <p:sp>
        <p:nvSpPr>
          <p:cNvPr id="38" name="updated_text_22">
            <a:extLst>
              <a:ext uri="{FF2B5EF4-FFF2-40B4-BE49-F238E27FC236}">
                <a16:creationId xmlns:a16="http://schemas.microsoft.com/office/drawing/2014/main" id="{2E776B51-E9B7-9F15-07FA-261071F5A8EC}"/>
              </a:ext>
            </a:extLst>
          </p:cNvPr>
          <p:cNvSpPr txBox="1"/>
          <p:nvPr/>
        </p:nvSpPr>
        <p:spPr>
          <a:xfrm>
            <a:off x="685800" y="4660899"/>
            <a:ext cx="10820400" cy="419100"/>
          </a:xfrm>
          <a:prstGeom prst="rect">
            <a:avLst/>
          </a:prstGeom>
          <a:noFill/>
        </p:spPr>
        <p:txBody>
          <a:bodyPr vert="horz" wrap="square" lIns="0" tIns="0" rIns="0" bIns="0" rtlCol="0" anchor="t">
            <a:noAutofit/>
          </a:bodyPr>
          <a:lstStyle/>
          <a:p>
            <a:r>
              <a:rPr lang="en-US" sz="2500" b="1">
                <a:solidFill>
                  <a:srgbClr val="137F79"/>
                </a:solidFill>
                <a:latin typeface="Aptos" panose="020B0004020202020204" pitchFamily="34" charset="0"/>
              </a:rPr>
              <a:t>2  Transform the point · compare with the mathematics</a:t>
            </a:r>
            <a:endParaRPr lang="en-IL" sz="2500" b="1">
              <a:solidFill>
                <a:srgbClr val="137F79"/>
              </a:solidFill>
              <a:latin typeface="Aptos" panose="020B0004020202020204" pitchFamily="34" charset="0"/>
            </a:endParaRPr>
          </a:p>
        </p:txBody>
      </p:sp>
      <p:sp>
        <p:nvSpPr>
          <p:cNvPr id="39" name="updated_text_23">
            <a:extLst>
              <a:ext uri="{FF2B5EF4-FFF2-40B4-BE49-F238E27FC236}">
                <a16:creationId xmlns:a16="http://schemas.microsoft.com/office/drawing/2014/main" id="{66FAF8B5-82CF-0405-2667-DE1071181EB9}"/>
              </a:ext>
            </a:extLst>
          </p:cNvPr>
          <p:cNvSpPr txBox="1"/>
          <p:nvPr/>
        </p:nvSpPr>
        <p:spPr>
          <a:xfrm>
            <a:off x="1003300" y="5130799"/>
            <a:ext cx="10502900" cy="482600"/>
          </a:xfrm>
          <a:prstGeom prst="rect">
            <a:avLst/>
          </a:prstGeom>
          <a:noFill/>
        </p:spPr>
        <p:txBody>
          <a:bodyPr vert="horz" wrap="square" lIns="0" tIns="0" rIns="0" bIns="0" rtlCol="0" anchor="t">
            <a:noAutofit/>
          </a:bodyPr>
          <a:lstStyle/>
          <a:p>
            <a:r>
              <a:rPr lang="en-IL" sz="2088" baseline="32000">
                <a:solidFill>
                  <a:srgbClr val="137F79"/>
                </a:solidFill>
                <a:latin typeface="Cambria Math" panose="02040503050406030204" pitchFamily="18" charset="0"/>
              </a:rPr>
              <a:t>C</a:t>
            </a:r>
            <a:r>
              <a:rPr lang="en-IL" sz="2900">
                <a:solidFill>
                  <a:srgbClr val="137F79"/>
                </a:solidFill>
                <a:latin typeface="Cambria Math" panose="02040503050406030204" pitchFamily="18" charset="0"/>
              </a:rPr>
              <a:t>p = (0.2, 0, 1)   →   </a:t>
            </a:r>
            <a:r>
              <a:rPr lang="en-IL" sz="2088" baseline="32000">
                <a:solidFill>
                  <a:srgbClr val="137F79"/>
                </a:solidFill>
                <a:latin typeface="Cambria Math" panose="02040503050406030204" pitchFamily="18" charset="0"/>
              </a:rPr>
              <a:t>B</a:t>
            </a:r>
            <a:r>
              <a:rPr lang="en-IL" sz="2900">
                <a:solidFill>
                  <a:srgbClr val="137F79"/>
                </a:solidFill>
                <a:latin typeface="Cambria Math" panose="02040503050406030204" pitchFamily="18" charset="0"/>
              </a:rPr>
              <a:t>p = (0, 0.2, 1.5)</a:t>
            </a:r>
          </a:p>
        </p:txBody>
      </p:sp>
      <p:sp>
        <p:nvSpPr>
          <p:cNvPr id="40" name="updated_text_24">
            <a:extLst>
              <a:ext uri="{FF2B5EF4-FFF2-40B4-BE49-F238E27FC236}">
                <a16:creationId xmlns:a16="http://schemas.microsoft.com/office/drawing/2014/main" id="{4E633BD9-75D5-98CF-F590-763BF13AE29E}"/>
              </a:ext>
            </a:extLst>
          </p:cNvPr>
          <p:cNvSpPr txBox="1"/>
          <p:nvPr/>
        </p:nvSpPr>
        <p:spPr>
          <a:xfrm>
            <a:off x="685800" y="5702299"/>
            <a:ext cx="10820400" cy="457200"/>
          </a:xfrm>
          <a:prstGeom prst="rect">
            <a:avLst/>
          </a:prstGeom>
          <a:noFill/>
        </p:spPr>
        <p:txBody>
          <a:bodyPr vert="horz" wrap="square" lIns="0" tIns="0" rIns="0" bIns="0" rtlCol="0" anchor="t">
            <a:noAutofit/>
          </a:bodyPr>
          <a:lstStyle/>
          <a:p>
            <a:r>
              <a:rPr lang="en-US" sz="2500" b="1">
                <a:solidFill>
                  <a:srgbClr val="15283B"/>
                </a:solidFill>
                <a:latin typeface="Aptos" panose="020B0004020202020204" pitchFamily="34" charset="0"/>
              </a:rPr>
              <a:t>3  Explain a failure · missing frame or disconnected tree?</a:t>
            </a:r>
            <a:endParaRPr lang="en-IL" sz="2500" b="1">
              <a:solidFill>
                <a:srgbClr val="15283B"/>
              </a:solidFill>
              <a:latin typeface="Aptos" panose="020B0004020202020204" pitchFamily="34" charset="0"/>
            </a:endParaRPr>
          </a:p>
        </p:txBody>
      </p:sp>
    </p:spTree>
    <p:extLst>
      <p:ext uri="{BB962C8B-B14F-4D97-AF65-F5344CB8AC3E}">
        <p14:creationId xmlns:p14="http://schemas.microsoft.com/office/powerpoint/2010/main" val="42112751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3881</Words>
  <Application>Microsoft Office PowerPoint</Application>
  <PresentationFormat>Widescreen</PresentationFormat>
  <Paragraphs>371</Paragraphs>
  <Slides>18</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Aptos</vt:lpstr>
      <vt:lpstr>Aptos Display</vt:lpstr>
      <vt:lpstr>Arial</vt:lpstr>
      <vt:lpstr>Cambria</vt:lpstr>
      <vt:lpstr>Cambria Math</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גלעד ליפשיץ</dc:creator>
  <cp:lastModifiedBy>גלעד ליפשיץ</cp:lastModifiedBy>
  <cp:revision>2</cp:revision>
  <dcterms:created xsi:type="dcterms:W3CDTF">2026-10-04T15:37:57Z</dcterms:created>
  <dcterms:modified xsi:type="dcterms:W3CDTF">2026-10-25T10:10:50Z</dcterms:modified>
</cp:coreProperties>
</file>