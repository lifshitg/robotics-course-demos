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1FEB37-C3B5-4FB5-887B-96AB7674ED05}" type="datetimeFigureOut">
              <a:rPr lang="en-IL" smtClean="0"/>
              <a:t>04/10/2026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2F1C07-231E-4321-B1C7-65F55A071F2E}" type="slidenum">
              <a:rPr lang="en-IL" smtClean="0"/>
              <a:t>‹#›</a:t>
            </a:fld>
            <a:endParaRPr lang="en-IL"/>
          </a:p>
        </p:txBody>
      </p:sp>
    </p:spTree>
    <p:extLst>
      <p:ext uri="{BB962C8B-B14F-4D97-AF65-F5344CB8AC3E}">
        <p14:creationId xmlns:p14="http://schemas.microsoft.com/office/powerpoint/2010/main" val="1274639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a:t>
            </a:r>
          </a:p>
          <a:p>
            <a:endParaRPr lang="en-US">
              <a:latin typeface="Aptos" panose="020B0004020202020204" pitchFamily="34" charset="0"/>
            </a:endParaRPr>
          </a:p>
          <a:p>
            <a:r>
              <a:rPr lang="en-US">
                <a:latin typeface="Aptos" panose="020B0004020202020204" pitchFamily="34" charset="0"/>
              </a:rPr>
              <a:t>Week 2: understand why coordinates need a frame, how rotation and translation are represented, and how tf2 maintains relationships over time. Audience knows Python and has little geometry/networking background. Title is untimed. Teaching slides total 20 minutes; demo is 25 minutes: 5 code, 10 static/RViz, 5 moving/time, 5 checkpoint. Ten hidden derivation slides are outside that schedule. Use the reference sheet for deeper study instead of trying to derive all conversions live. All seven existing Week 2 files were read. The separately supplied Robotics_AutonomousSystems.pdf was not found; retain its existing printed-slide references without claiming it was reviewed. Demo code, README, RViz and teaching notes remain unchanged.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https://docs.ros.org/en/jazzy/Concepts/Intermediate/About-Tf2.html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a:t>
            </a:fld>
            <a:endParaRPr lang="en-IL"/>
          </a:p>
        </p:txBody>
      </p:sp>
    </p:spTree>
    <p:extLst>
      <p:ext uri="{BB962C8B-B14F-4D97-AF65-F5344CB8AC3E}">
        <p14:creationId xmlns:p14="http://schemas.microsoft.com/office/powerpoint/2010/main" val="3957014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three labelled coordinate axes looking at one target. A frame is an origin plus axes; the target is unchanged, but its coordinates depend on that origin and basis. A camera can report a point without telling the arm where it is in robot coordinates. Ask what happens if the robot treats camera coordinates as base coordinates. Frame conversions connect sensor drivers, perception, localization and camera-guided motion. PointStamped carries both frame_id and observation time; an unlabelled three-number tuple is ambiguous. The illustration is conceptual, not a calibration of the demo camera. Do not confuse movement of a physical object with a change in its coordinate description.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https://docs.ros.org/en/jazzy/Concepts/Intermediate/About-Tf2.html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2</a:t>
            </a:fld>
            <a:endParaRPr lang="en-IL"/>
          </a:p>
        </p:txBody>
      </p:sp>
    </p:spTree>
    <p:extLst>
      <p:ext uri="{BB962C8B-B14F-4D97-AF65-F5344CB8AC3E}">
        <p14:creationId xmlns:p14="http://schemas.microsoft.com/office/powerpoint/2010/main" val="520958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frame, transform and tf2 cards. A coordinate frame defines an origin and three basis directions. A rigid transform gives rotation and translation between two frames. TF often refers to the ROS transform/frame system; tf2 is the library that tracks relationships over time, traverses paths, composes/inverts transforms and converts stamped data. It is not a localization or calibration algorithm: another component must supply estimated or measured relationships. The robot can have many frames and ROS nodes can publish different edges. Rigid transforms preserve distances and angles. Orientations may be stored as matrices, Euler angles or quaternions, while translation remains a separate quantity.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https://docs.ros.org/en/jazzy/Concepts/Intermediate/About-Tf2.html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3</a:t>
            </a:fld>
            <a:endParaRPr lang="en-IL"/>
          </a:p>
        </p:txBody>
      </p:sp>
    </p:spTree>
    <p:extLst>
      <p:ext uri="{BB962C8B-B14F-4D97-AF65-F5344CB8AC3E}">
        <p14:creationId xmlns:p14="http://schemas.microsoft.com/office/powerpoint/2010/main" val="1000907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a:t>
            </a:r>
          </a:p>
          <a:p>
            <a:endParaRPr lang="en-US">
              <a:latin typeface="Aptos" panose="020B0004020202020204" pitchFamily="34" charset="0"/>
            </a:endParaRPr>
          </a:p>
          <a:p>
            <a:r>
              <a:rPr lang="en-US">
                <a:latin typeface="Aptos" panose="020B0004020202020204" pitchFamily="34" charset="0"/>
              </a:rPr>
              <a:t>Visual: ROS body and optical axes plus a seven-item checklist. ROS body axes are x forward, y left, z up; optical axes are x right, y down, z forward. Both are right-handed. Metres and radians are ROS defaults; slide examples explicitly marked degrees are converted in code. Check axes/handedness, units, transform direction, fixed versus moving Euler axes and sequence, quaternion order, and row versus column vectors. This deck uses column vectors, right-handed rotations, Hamilton multiplication, fixed-axis XYZ RPY. Mathematical quaternion notation is (w,x,y,z); ROS message fields are (x,y,z,w). Parent/child is a tree relationship; target/source is the coordinate mapping requested from tf2. Different libraries and domains can use other conventions, so check their documentation; ROS has standards rather than arbitrary local choices. The demo camera_frame is simplified, not optical. Do not apply an optical correction to it without changing the actual model.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https://github.com/ros-infrastructure/rep/blob/master/rep-0103.rst</a:t>
            </a:r>
          </a:p>
          <a:p>
            <a:r>
              <a:rPr lang="en-US">
                <a:latin typeface="Aptos" panose="020B0004020202020204" pitchFamily="34" charset="0"/>
              </a:rPr>
              <a:t>https://docs.ros.org/en/jazzy/Tutorials/Intermediate/Tf2/Quaternion-Fundamentals.html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4</a:t>
            </a:fld>
            <a:endParaRPr lang="en-IL"/>
          </a:p>
        </p:txBody>
      </p:sp>
    </p:spTree>
    <p:extLst>
      <p:ext uri="{BB962C8B-B14F-4D97-AF65-F5344CB8AC3E}">
        <p14:creationId xmlns:p14="http://schemas.microsoft.com/office/powerpoint/2010/main" val="2689975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Define ^A T_B as the pose of frame B expressed in A. It maps coordinates written in B into coordinates written in A. ^A t_B is the B origin in A; the columns of ^A R_B are B axes written in A. Formula: p_A=R_AB p_B+t_AB. Superscript denotes destination/reference; subscript denotes source frame for T and R. A tree arrow parent→child names an edge, while the stored pose maps child coordinates→parent coordinates. For ROS lookup_transform(target,source,time), target is the destination coordinate system. Moving the frame axes changes the point coordinates without moving the physical point. Reverse the coordinate map by inverting the whole rigid transform, including the rotated translation.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https://docs.ros.org/en/jazzy/Tutorials/Intermediate/Tf2/Writing-A-Tf2-Listener-Py.html</a:t>
            </a:r>
          </a:p>
          <a:p>
            <a:r>
              <a:rPr lang="en-US">
                <a:latin typeface="Aptos" panose="020B0004020202020204" pitchFamily="34" charset="0"/>
              </a:rPr>
              <a:t>https://github.com/ros2/geometry2/blob/jazzy/tf2/include/tf2/LinearMath/Matrix3x3.hpp</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5</a:t>
            </a:fld>
            <a:endParaRPr lang="en-IL"/>
          </a:p>
        </p:txBody>
      </p:sp>
    </p:spTree>
    <p:extLst>
      <p:ext uri="{BB962C8B-B14F-4D97-AF65-F5344CB8AC3E}">
        <p14:creationId xmlns:p14="http://schemas.microsoft.com/office/powerpoint/2010/main" val="4140440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a:t>
            </a:r>
          </a:p>
          <a:p>
            <a:endParaRPr lang="en-US">
              <a:latin typeface="Aptos" panose="020B0004020202020204" pitchFamily="34" charset="0"/>
            </a:endParaRPr>
          </a:p>
          <a:p>
            <a:r>
              <a:rPr lang="en-US">
                <a:latin typeface="Aptos" panose="020B0004020202020204" pitchFamily="34" charset="0"/>
              </a:rPr>
              <a:t>Visual: three editable elementary 3×3 matrices and an editable 4×4 homogeneous block matrix. Right-hand positive rotations determine the sine signs. Use Rz(+90°)e_x=e_y as an intuitive check. A proper rotation obeys RᵀR=I and det R=+1; its nine entries have only three independent orientation degrees of freedom. R alone transforms free direction vectors. A homogeneous point [p;1] includes translation; [d;0] excludes it. T combines R with t in one matrix and ends with row 0,0,0,1. Do not read every element aloud. Highlight the z matrix and point/direction distinction; the reference sheet has every formula. These 3-vector rules are not the general transformation law for six-component twists or wrenches.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https://github.com/ros2/geometry2/blob/jazzy/tf2/include/tf2/LinearMath/Matrix3x3.hpp</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6</a:t>
            </a:fld>
            <a:endParaRPr lang="en-IL"/>
          </a:p>
        </p:txBody>
      </p:sp>
    </p:spTree>
    <p:extLst>
      <p:ext uri="{BB962C8B-B14F-4D97-AF65-F5344CB8AC3E}">
        <p14:creationId xmlns:p14="http://schemas.microsoft.com/office/powerpoint/2010/main" val="2873498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coordinate arrows C→B→A, then composition and inverse equations. T_AC=T_AB T_BC. Expanded composition is R_AC=R_AB R_BC and t_AC=R_AB t_BC+t_AB; translation from the inner frame must rotate before adding the outer translation. From p_A=Rp_B+t, subtract t, then multiply by Rᵀ. Therefore inverse translation is −Rᵀt, not simply −t. The inverse rotation is Rᵀ because a proper rotation is orthogonal. tf2 computes this chain automatically when frames are connected. The same rightmost-first ordering applies to Hamilton quaternion orientation composition. The static demo provides two edges whose composed camera-to-base result we will check later.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https://github.com/ros2/geometry2/blob/jazzy/tf2/include/tf2/LinearMath/Matrix3x3.hpp</a:t>
            </a:r>
          </a:p>
          <a:p>
            <a:r>
              <a:rPr lang="en-US">
                <a:latin typeface="Aptos" panose="020B0004020202020204" pitchFamily="34" charset="0"/>
              </a:rPr>
              <a:t>https://docs.ros.org/en/jazzy/Concepts/Intermediate/About-Tf2.html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7</a:t>
            </a:fld>
            <a:endParaRPr lang="en-IL"/>
          </a:p>
        </p:txBody>
      </p:sp>
    </p:spTree>
    <p:extLst>
      <p:ext uri="{BB962C8B-B14F-4D97-AF65-F5344CB8AC3E}">
        <p14:creationId xmlns:p14="http://schemas.microsoft.com/office/powerpoint/2010/main" val="1495618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a:t>
            </a:r>
          </a:p>
          <a:p>
            <a:endParaRPr lang="en-US">
              <a:latin typeface="Aptos" panose="020B0004020202020204" pitchFamily="34" charset="0"/>
            </a:endParaRPr>
          </a:p>
          <a:p>
            <a:r>
              <a:rPr lang="en-US">
                <a:latin typeface="Aptos" panose="020B0004020202020204" pitchFamily="34" charset="0"/>
              </a:rPr>
              <a:t>Visual: roll x, pitch y, yaw z cards followed by R=Rz(ψ)Ry(θ)Rx(φ). Fixed/extrinsic XYZ means rotate about the original unmoving x, y, then z axes; matrices act rightmost first on column vectors. The equivalent intrinsic description is moving-axis ZYX with angles ψ,θ,φ. Intrinsic XYZ is different. At +90° each, RzRx e_x=e_y but RxRz e_x=e_z. Angles are convenient to read but multiple tuples can represent the same orientation. At pitch ±90° the representation is singular: roll and yaw cannot be recovered separately. This is gimbal lock in coordinates, not loss of physical rotation. Other Euler sequences require their own ordered products and inverse formulas. Use the hidden slides for expanded matrix and extraction ranges rather than deriving them during the core.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https://github.com/ros-infrastructure/rep/blob/master/rep-0103.rst</a:t>
            </a:r>
          </a:p>
          <a:p>
            <a:r>
              <a:rPr lang="en-US">
                <a:latin typeface="Aptos" panose="020B0004020202020204" pitchFamily="34" charset="0"/>
              </a:rPr>
              <a:t>https://docs.ros.org/en/jazzy/Tutorials/Intermediate/Tf2/Quaternion-Fundamentals.html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8</a:t>
            </a:fld>
            <a:endParaRPr lang="en-IL"/>
          </a:p>
        </p:txBody>
      </p:sp>
    </p:spTree>
    <p:extLst>
      <p:ext uri="{BB962C8B-B14F-4D97-AF65-F5344CB8AC3E}">
        <p14:creationId xmlns:p14="http://schemas.microsoft.com/office/powerpoint/2010/main" val="1871592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a:t>
            </a:r>
          </a:p>
          <a:p>
            <a:endParaRPr lang="en-US">
              <a:latin typeface="Aptos" panose="020B0004020202020204" pitchFamily="34" charset="0"/>
            </a:endParaRPr>
          </a:p>
          <a:p>
            <a:r>
              <a:rPr lang="en-US">
                <a:latin typeface="Aptos" panose="020B0004020202020204" pitchFamily="34" charset="0"/>
              </a:rPr>
              <a:t>Visual: unit axis k and half-angle formula with mathematical and ROS order cards. For rotation α about unit k, scalar-first Hamilton q=(cos(α/2),k sin(α/2)). Four numbers subject to unit norm leave three orientation degrees of freedom. q and −q represent the same orientation; they are not inverse orientations. Identity is mathematical (1,0,0,0), ROS (0,0,0,1); all-zero is invalid. Normalize nonzero numerical input. Quaternions avoid the Euler singularity and interpolate well, but still require a convention and a separate translation. The demo uses α=π/2, so z=sin(π/4),w=cos(π/4); x=y=0. Field order in a message does not change mathematical multiplication if components are explicitly mapped correctly.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https://docs.ros.org/en/jazzy/Tutorials/Intermediate/Tf2/Quaternion-Fundamentals.html</a:t>
            </a:r>
          </a:p>
          <a:p>
            <a:r>
              <a:rPr lang="en-US">
                <a:latin typeface="Aptos" panose="020B0004020202020204" pitchFamily="34" charset="0"/>
              </a:rPr>
              <a:t>https://github.com/ros2/geometry2/blob/jazzy/tf2/include/tf2/LinearMath/Quaternion.hpp</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9</a:t>
            </a:fld>
            <a:endParaRPr lang="en-IL"/>
          </a:p>
        </p:txBody>
      </p:sp>
    </p:spTree>
    <p:extLst>
      <p:ext uri="{BB962C8B-B14F-4D97-AF65-F5344CB8AC3E}">
        <p14:creationId xmlns:p14="http://schemas.microsoft.com/office/powerpoint/2010/main" val="1961360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1 minutes. </a:t>
            </a:r>
          </a:p>
          <a:p>
            <a:endParaRPr lang="en-IL">
              <a:latin typeface="Aptos" panose="020B0004020202020204" pitchFamily="34" charset="0"/>
            </a:endParaRPr>
          </a:p>
          <a:p>
            <a:r>
              <a:rPr lang="en-IL">
                <a:latin typeface="Aptos" panose="020B0004020202020204" pitchFamily="34" charset="0"/>
              </a:rPr>
              <a:t>Visual: pure quaternion (0,p) → quaternion sandwich → rotated vector → add t. Under Hamilton convention, (0,p_rot)=q⊗(0,p)⊗q⁻¹. The scalar output is zero; read its vector part. For unit q, inverse is conjugate (w,−x,−y,−z). For nonunit q the general inverse divides the conjugate by squared norm. Negating all four components gives an equivalent orientation, not the inverse operation. Then p_A=p_rot+t_AB. Orientation composition follows q_AC=q_AB⊗q_BC, matching matrix order. Libraries optimize this computation; students do not need to implement the sandwich in the demo. Complete component formulas and intermediate numerical products are in the reference sheet.</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https://github.com/ros2/geometry2/blob/jazzy/tf2/include/tf2/LinearMath/Quaternion.hpp</a:t>
            </a:r>
          </a:p>
          <a:p>
            <a:r>
              <a:rPr lang="en-IL">
                <a:latin typeface="Aptos" panose="020B0004020202020204" pitchFamily="34" charset="0"/>
              </a:rPr>
              <a:t>https://docs.ros.org/en/jazzy/Tutorials/Intermediate/Tf2/Quaternion-Fundamentals.html</a:t>
            </a:r>
          </a:p>
        </p:txBody>
      </p:sp>
      <p:sp>
        <p:nvSpPr>
          <p:cNvPr id="4" name="Slide Number Placeholder 3"/>
          <p:cNvSpPr>
            <a:spLocks noGrp="1"/>
          </p:cNvSpPr>
          <p:nvPr>
            <p:ph type="sldNum" sz="quarter" idx="5"/>
          </p:nvPr>
        </p:nvSpPr>
        <p:spPr/>
        <p:txBody>
          <a:bodyPr/>
          <a:lstStyle/>
          <a:p>
            <a:fld id="{3B2F1C07-231E-4321-B1C7-65F55A071F2E}" type="slidenum">
              <a:rPr lang="en-IL" smtClean="0"/>
              <a:t>10</a:t>
            </a:fld>
            <a:endParaRPr lang="en-IL"/>
          </a:p>
        </p:txBody>
      </p:sp>
    </p:spTree>
    <p:extLst>
      <p:ext uri="{BB962C8B-B14F-4D97-AF65-F5344CB8AC3E}">
        <p14:creationId xmlns:p14="http://schemas.microsoft.com/office/powerpoint/2010/main" val="968407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matrix, Euler and quaternion cards converging on the same camera→base result. static_frames.py publishes base_link→camera_mount with identity rotation and +0.5 m z translation, then camera_mount→camera_frame with zero translation and +90° rotation about z. Camera point (0.2,0,1) rotates to (0,0.2,1), then becomes base point (0,0.2,1.5). Euler is roll=0,pitch=0,yaw=π/2. Mathematical q=(√2/2,0,0,√2/2); ROS fields=(0,0,√2/2,√2/2). All three forms require the same translation. Inverse: subtract (0,0,0.5), multiply by Rᵀ, recover (0.2,0,1). Direct and composed transforms agree. Exact identifiers and values come from demo/static_frames.py and demo/transform_point.py. The camera is simplified rather than optical. The reference sheet shows the full homogeneous matrix and intermediate quaternion products.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https://docs.ros.org/en/jazzy/Tutorials/Intermediate/Tf2/Quaternion-Fundamentals.html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11</a:t>
            </a:fld>
            <a:endParaRPr lang="en-IL"/>
          </a:p>
        </p:txBody>
      </p:sp>
    </p:spTree>
    <p:extLst>
      <p:ext uri="{BB962C8B-B14F-4D97-AF65-F5344CB8AC3E}">
        <p14:creationId xmlns:p14="http://schemas.microsoft.com/office/powerpoint/2010/main" val="3209710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world→base_link→camera_mount→camera_frame. Arrows here mean parent→child relationship, not coordinate mapping direction. moving_base publishes the dynamic world→base_link edge; static_frames publishes both static camera/base edges. A frame is not a node: one node can publish several frames and several nodes can collectively supply a tree. A child has one parent at a time; avoid cycles. Give each edge one authoritative broadcaster; conflicting broadcasters produce inconsistent data, not useful consensus. Multiple disconnected trees can exist, but lookup cannot cross roots without a connecting edge. Demo world is a generic reference; it does not implement REP 105 map/odom localization. The sensor-to-base chain remains static even when the base moves in world.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https://docs.ros.org/en/jazzy/Concepts/Intermediate/About-Tf2.html</a:t>
            </a:r>
          </a:p>
          <a:p>
            <a:r>
              <a:rPr lang="en-US">
                <a:latin typeface="Aptos" panose="020B0004020202020204" pitchFamily="34" charset="0"/>
              </a:rPr>
              <a:t>https://github.com/ros-infrastructure/rep/blob/master/rep-0105.rst</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12</a:t>
            </a:fld>
            <a:endParaRPr lang="en-IL"/>
          </a:p>
        </p:txBody>
      </p:sp>
    </p:spTree>
    <p:extLst>
      <p:ext uri="{BB962C8B-B14F-4D97-AF65-F5344CB8AC3E}">
        <p14:creationId xmlns:p14="http://schemas.microsoft.com/office/powerpoint/2010/main" val="3135184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static_frames and moving_base feed /tf_static and /tf, then listener/buffer and lookup. StaticTransformBroadcaster uses durable static data suitable for late listeners; TransformBroadcaster streams dynamic samples. TransformStamped includes header.frame_id parent, child_frame_id child, timestamp, translation and quaternion. Several nodes can publish different edges. Each TransformListener populates its own Buffer; there is no central lookup server. DDS transports samples between endpoints; executor callbacks consume them and fill the buffer. Lookup then performs geometry and time selection locally. These responsibilities are distinct. In the scripts, point_transformer creates Buffer and TransformListener, receives data while spinning, and calls lookup in its timer. Static data is time-independent, but publisher lifetime matters for late discovery; leave the existing static script spinning.</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https://docs.ros.org/en/jazzy/Tutorials/Intermediate/Tf2/Writing-A-Tf2-Static-Broadcaster-Py.html</a:t>
            </a:r>
          </a:p>
          <a:p>
            <a:r>
              <a:rPr lang="en-US">
                <a:latin typeface="Aptos" panose="020B0004020202020204" pitchFamily="34" charset="0"/>
              </a:rPr>
              <a:t>https://docs.ros.org/en/jazzy/Tutorials/Intermediate/Tf2/Writing-A-Tf2-Listener-Py.html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13</a:t>
            </a:fld>
            <a:endParaRPr lang="en-IL"/>
          </a:p>
        </p:txBody>
      </p:sp>
    </p:spTree>
    <p:extLst>
      <p:ext uri="{BB962C8B-B14F-4D97-AF65-F5344CB8AC3E}">
        <p14:creationId xmlns:p14="http://schemas.microsoft.com/office/powerpoint/2010/main" val="1008431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acquisition time and current time on a timeline. Time() requests latest common usable transform, not necessarily now. Real observations need the transform at their acquisition timestamp when the chain is dynamic. The demo camera-to-base relationship is static, so latest lookup there is valid. moving_base adds time dependence only between world and base_link. transform_point.py restores the input stamp after do_transform_point, so RViz can convert both point messages into world at the same measurement time. The synthetic point stays fixed in camera coordinates and moves with the robot; a real world-fixed target would change its camera coordinates. History is finite; requests too old or newer than buffered dynamic samples raise extrapolation. Missing frames and disconnected paths fail too. Match clock sources and use_sim_time; bounded waiting/retry can allow data to arrive, while blocking the only executor thread may prevent listener callbacks. Existing code does not simulate delayed camera observations.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https://github.com/ros2/geometry2/blob/jazzy/tf2/src/cache.cpp</a:t>
            </a:r>
          </a:p>
          <a:p>
            <a:r>
              <a:rPr lang="en-US">
                <a:latin typeface="Aptos" panose="020B0004020202020204" pitchFamily="34" charset="0"/>
              </a:rPr>
              <a:t>https://docs.ros.org/en/jazzy/Tutorials/Intermediate/Tf2/Writing-A-Tf2-Listener-Py.html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14</a:t>
            </a:fld>
            <a:endParaRPr lang="en-IL"/>
          </a:p>
        </p:txBody>
      </p:sp>
    </p:spTree>
    <p:extLst>
      <p:ext uri="{BB962C8B-B14F-4D97-AF65-F5344CB8AC3E}">
        <p14:creationId xmlns:p14="http://schemas.microsoft.com/office/powerpoint/2010/main" val="2167829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tf2_echo commands, lookup target/source labels and RViz fixed-frame badge. ros2 run tf2_ros tf2_echo base_link camera_frame shows camera pose in base, matching lookup_transform('base_link','camera_frame',Time()). Reverse arguments reverse the mapping. RViz starts Fixed Frame=base_link; switch to world after moving_base runs. The blue camera point and orange base point differ numerically but coincide physically. Start point_transformer before static_frames for a recoverable missing-frame warning: the timer catches TransformException, returns without blocking, and retries on later ticks while listener callbacks fill the buffer. Also inspect ros2 interface show geometry_msgs/msg/TransformStamped and topic endpoints using the existing README. The demo code publishes /point_camera and /point_base. Sources include the unchanged demo/README.md; classroom command execution is separate from deck generation checks.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https://docs.ros.org/en/jazzy/Tutorials/Intermediate/Tf2/Debugging-Tf2-Problems.html</a:t>
            </a:r>
          </a:p>
          <a:p>
            <a:r>
              <a:rPr lang="en-US">
                <a:latin typeface="Aptos" panose="020B0004020202020204" pitchFamily="34" charset="0"/>
              </a:rPr>
              <a:t>https://docs.ros.org/en/jazzy/Tutorials/Intermediate/Tf2/Writing-A-Tf2-Listener-Py.html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15</a:t>
            </a:fld>
            <a:endParaRPr lang="en-IL"/>
          </a:p>
        </p:txBody>
      </p:sp>
    </p:spTree>
    <p:extLst>
      <p:ext uri="{BB962C8B-B14F-4D97-AF65-F5344CB8AC3E}">
        <p14:creationId xmlns:p14="http://schemas.microsoft.com/office/powerpoint/2010/main" val="1599002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25 minutes. </a:t>
            </a:r>
          </a:p>
          <a:p>
            <a:endParaRPr lang="en-IL">
              <a:latin typeface="Aptos" panose="020B0004020202020204" pitchFamily="34" charset="0"/>
            </a:endParaRPr>
          </a:p>
          <a:p>
            <a:r>
              <a:rPr lang="en-IL">
                <a:latin typeface="Aptos" panose="020B0004020202020204" pitchFamily="34" charset="0"/>
              </a:rPr>
              <a:t>5 minutes CODE: read static_frames.py, transform_point.py, moving_base.py. Identify node names static_frames, point_transformer, moving_base; parent/child fields, ROS quaternion order, broadcaster types, Buffer/TransformListener, timer callbacks, spin and cleanup. Explain static latest lookup, TransformException recovery, do_transform_point and restored input stamp.
10 minutes STATIC/RVIZ: follow existing README commands unchanged. Source Jazzy and existing ROS_DOMAIN_ID=42/localhost setup in each terminal. Start point node before static broadcaster; observe recovery. Echo base_link camera_frame, open RViz with existing config, inspect point topics and message definition. Camera (0.2,0,1) becomes base (0,0.2,1.5); points overlap. Explain frame/node distinction and late-listener static data.
5 minutes MOVING/TIME: run moving_base.py, echo world base_link, switch RViz fixed frame to world. Yaw=0.2·elapsed radians; timer=0.1 s (10 Hz). Ask why world point moves but base coordinates stay constant. Synthetic point moves with camera. Explain measurement-time world conversion, unavailable history, clock mismatch and wait/retry; this is not a delayed-image demo.
5 minutes CHECKPOINT: select lookup target/source, predict inversion and rotation order, check optical/body axes and quaternion order, explain frames/transforms/tf2. Recap and questions. Keep hidden derivations outside this 45-minute session. Existing professor PDF reference retained, not reviewed.</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https://docs.ros.org/en/jazzy/Tutorials/Intermediate/Tf2/Writing-A-Tf2-Listener-Py.html</a:t>
            </a:r>
          </a:p>
          <a:p>
            <a:r>
              <a:rPr lang="en-IL">
                <a:latin typeface="Aptos" panose="020B0004020202020204" pitchFamily="34" charset="0"/>
              </a:rPr>
              <a:t>https://docs.ros.org/en/jazzy/Tutorials/Intermediate/Tf2/Debugging-Tf2-Problems.html</a:t>
            </a:r>
          </a:p>
        </p:txBody>
      </p:sp>
      <p:sp>
        <p:nvSpPr>
          <p:cNvPr id="4" name="Slide Number Placeholder 3"/>
          <p:cNvSpPr>
            <a:spLocks noGrp="1"/>
          </p:cNvSpPr>
          <p:nvPr>
            <p:ph type="sldNum" sz="quarter" idx="5"/>
          </p:nvPr>
        </p:nvSpPr>
        <p:spPr/>
        <p:txBody>
          <a:bodyPr/>
          <a:lstStyle/>
          <a:p>
            <a:fld id="{3B2F1C07-231E-4321-B1C7-65F55A071F2E}" type="slidenum">
              <a:rPr lang="en-IL" smtClean="0"/>
              <a:t>16</a:t>
            </a:fld>
            <a:endParaRPr lang="en-IL"/>
          </a:p>
        </p:txBody>
      </p:sp>
    </p:spTree>
    <p:extLst>
      <p:ext uri="{BB962C8B-B14F-4D97-AF65-F5344CB8AC3E}">
        <p14:creationId xmlns:p14="http://schemas.microsoft.com/office/powerpoint/2010/main" val="429847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Hidden optional reference, outside the 45-minute lesson.</a:t>
            </a:r>
          </a:p>
          <a:p>
            <a:endParaRPr lang="en-US">
              <a:latin typeface="Aptos" panose="020B0004020202020204" pitchFamily="34" charset="0"/>
            </a:endParaRPr>
          </a:p>
          <a:p>
            <a:r>
              <a:rPr lang="en-US">
                <a:latin typeface="Aptos" panose="020B0004020202020204" pitchFamily="34" charset="0"/>
              </a:rPr>
              <a:t>Untimed backup. In these entries c and s mean full-angle cosine and sine, unlike the half-angle notation on the quaternion conversion slide. Derive by multiplying RyRx first, then premultiplying Rz. This is specifically fixed XYZ RPY, equivalent to intrinsic ZYX; different sequences require different products. All nine entries and elementary matrices appear in TF_MATH_REFERENCE.md. Test RᵀR=I and det R=1, then compare the expanded matrix to elementary-matrix multiplication and quaternion conversion. Avoid checking rounded display entries at very tight tolerance.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https://github.com/ros2/geometry2/blob/jazzy/tf2/include/tf2/LinearMath/Matrix3x3.hpp</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17</a:t>
            </a:fld>
            <a:endParaRPr lang="en-IL"/>
          </a:p>
        </p:txBody>
      </p:sp>
    </p:spTree>
    <p:extLst>
      <p:ext uri="{BB962C8B-B14F-4D97-AF65-F5344CB8AC3E}">
        <p14:creationId xmlns:p14="http://schemas.microsoft.com/office/powerpoint/2010/main" val="1833327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reference, outside the 45-minute lesson.</a:t>
            </a:r>
          </a:p>
          <a:p>
            <a:endParaRPr lang="en-IL">
              <a:latin typeface="Aptos" panose="020B0004020202020204" pitchFamily="34" charset="0"/>
            </a:endParaRPr>
          </a:p>
          <a:p>
            <a:r>
              <a:rPr lang="en-IL">
                <a:latin typeface="Aptos" panose="020B0004020202020204" pitchFamily="34" charset="0"/>
              </a:rPr>
              <a:t>Untimed backup. For fixed XYZ RPY use pitch=atan2(−r31,sqrt(r11²+r21²)), roll=atan2(r32,r33), yaw=atan2(r21,r11). Principal pitch lies in [−</a:t>
            </a:r>
            <a:r>
              <a:rPr lang="el-GR">
                <a:latin typeface="Aptos" panose="020B0004020202020204" pitchFamily="34" charset="0"/>
              </a:rPr>
              <a:t>π/2,π/2], </a:t>
            </a:r>
            <a:r>
              <a:rPr lang="en-IL">
                <a:latin typeface="Aptos" panose="020B0004020202020204" pitchFamily="34" charset="0"/>
              </a:rPr>
              <a:t>roll/yaw in (−</a:t>
            </a:r>
            <a:r>
              <a:rPr lang="el-GR">
                <a:latin typeface="Aptos" panose="020B0004020202020204" pitchFamily="34" charset="0"/>
              </a:rPr>
              <a:t>π,π] </a:t>
            </a:r>
            <a:r>
              <a:rPr lang="en-IL">
                <a:latin typeface="Aptos" panose="020B0004020202020204" pitchFamily="34" charset="0"/>
              </a:rPr>
              <a:t>with consistent boundary handling. At cos(pitch)≈0 set roll=0 and yaw=atan2(−r12,r22); pitch retains its atan2 value. At +90° only yaw−roll is identifiable; at −90° yaw+roll. Roll30/yaw45 at pitch+90 reconstructs with roll0/yaw15; at −90 reconstructs with roll0/yaw75. This is a coordinate singularity. Reconstruct and compare matrices rather than assuming Euler angles are unique. Reference sheet includes singular branch and examples.</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https://github.com/ros2/geometry2/blob/jazzy/tf2/include/tf2/LinearMath/Matrix3x3.hpp</a:t>
            </a:r>
          </a:p>
        </p:txBody>
      </p:sp>
      <p:sp>
        <p:nvSpPr>
          <p:cNvPr id="4" name="Slide Number Placeholder 3"/>
          <p:cNvSpPr>
            <a:spLocks noGrp="1"/>
          </p:cNvSpPr>
          <p:nvPr>
            <p:ph type="sldNum" sz="quarter" idx="5"/>
          </p:nvPr>
        </p:nvSpPr>
        <p:spPr/>
        <p:txBody>
          <a:bodyPr/>
          <a:lstStyle/>
          <a:p>
            <a:fld id="{3B2F1C07-231E-4321-B1C7-65F55A071F2E}" type="slidenum">
              <a:rPr lang="en-IL" smtClean="0"/>
              <a:t>18</a:t>
            </a:fld>
            <a:endParaRPr lang="en-IL"/>
          </a:p>
        </p:txBody>
      </p:sp>
    </p:spTree>
    <p:extLst>
      <p:ext uri="{BB962C8B-B14F-4D97-AF65-F5344CB8AC3E}">
        <p14:creationId xmlns:p14="http://schemas.microsoft.com/office/powerpoint/2010/main" val="21065341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Hidden optional reference, outside the 45-minute lesson.</a:t>
            </a:r>
          </a:p>
          <a:p>
            <a:endParaRPr lang="en-US">
              <a:latin typeface="Aptos" panose="020B0004020202020204" pitchFamily="34" charset="0"/>
            </a:endParaRPr>
          </a:p>
          <a:p>
            <a:r>
              <a:rPr lang="en-US">
                <a:latin typeface="Aptos" panose="020B0004020202020204" pitchFamily="34" charset="0"/>
              </a:rPr>
              <a:t>Untimed backup. The full editable matrix uses mathematical scalar-first q and column-vector right-hand rotations. Normalize nonzero q first; all-zero is invalid. Each entry is quadratic, so negating all four components preserves R. Check identity and ±90° rotations about each axis, then a mixed-axis example. Cross-check against independently multiplied elementary matrices. Orthogonality and determinant tests check that conversion yields SO(3), not merely a plausible set of entries. The scalar-first formulas must not be applied to a raw xyzw array without reordering named components. Reference sheet contains the complete formula.</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https://github.com/ros2/geometry2/blob/jazzy/tf2/include/tf2/LinearMath/Matrix3x3.hpp</a:t>
            </a:r>
          </a:p>
          <a:p>
            <a:r>
              <a:rPr lang="en-US">
                <a:latin typeface="Aptos" panose="020B0004020202020204" pitchFamily="34" charset="0"/>
              </a:rPr>
              <a:t>https://docs.ros.org/en/jazzy/Tutorials/Intermediate/Tf2/Quaternion-Fundamentals.html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19</a:t>
            </a:fld>
            <a:endParaRPr lang="en-IL"/>
          </a:p>
        </p:txBody>
      </p:sp>
    </p:spTree>
    <p:extLst>
      <p:ext uri="{BB962C8B-B14F-4D97-AF65-F5344CB8AC3E}">
        <p14:creationId xmlns:p14="http://schemas.microsoft.com/office/powerpoint/2010/main" val="2703550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reference, outside the 45-minute lesson.</a:t>
            </a:r>
          </a:p>
          <a:p>
            <a:endParaRPr lang="en-IL">
              <a:latin typeface="Aptos" panose="020B0004020202020204" pitchFamily="34" charset="0"/>
            </a:endParaRPr>
          </a:p>
          <a:p>
            <a:r>
              <a:rPr lang="en-IL">
                <a:latin typeface="Aptos" panose="020B0004020202020204" pitchFamily="34" charset="0"/>
              </a:rPr>
              <a:t>Untimed backup. Compute aw=(1+r11+r22+r33)/4, ax=(1+r11−r22−r33)/4, ay=(1−r11+r22−r33)/4, az=(1−r11−r22+r33)/4. Choose largest, take positive square root, recover others, normalize. If w largest: x=(r32−r23)/(4w), y=(r13−r31)/(4w), z=(r21−r12)/(4w). If x largest: w=(r32−r23)/(4x), y=(r12+r21)/(4x), z=(r13+r31)/(4x). If y largest: w=(r13−r31)/(4y), x=(r12+r21)/(4y), z=(r23+r32)/(4y). If z largest: w=(r21−r12)/(4z), x=(r13+r31)/(4z), y=(r23+r32)/(4z). At 180° about x candidates=(0,1,0,0), q=(0,1,0,0). Validate R first; only clamp tiny negative roundoff. Avoid trace-only division by w near zero. q or −q may be returned; compare reconstructed R. All branches in reference.</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https://github.com/ros2/geometry2/blob/jazzy/tf2/include/tf2/LinearMath/Matrix3x3.hpp</a:t>
            </a:r>
          </a:p>
        </p:txBody>
      </p:sp>
      <p:sp>
        <p:nvSpPr>
          <p:cNvPr id="4" name="Slide Number Placeholder 3"/>
          <p:cNvSpPr>
            <a:spLocks noGrp="1"/>
          </p:cNvSpPr>
          <p:nvPr>
            <p:ph type="sldNum" sz="quarter" idx="5"/>
          </p:nvPr>
        </p:nvSpPr>
        <p:spPr/>
        <p:txBody>
          <a:bodyPr/>
          <a:lstStyle/>
          <a:p>
            <a:fld id="{3B2F1C07-231E-4321-B1C7-65F55A071F2E}" type="slidenum">
              <a:rPr lang="en-IL" smtClean="0"/>
              <a:t>20</a:t>
            </a:fld>
            <a:endParaRPr lang="en-IL"/>
          </a:p>
        </p:txBody>
      </p:sp>
    </p:spTree>
    <p:extLst>
      <p:ext uri="{BB962C8B-B14F-4D97-AF65-F5344CB8AC3E}">
        <p14:creationId xmlns:p14="http://schemas.microsoft.com/office/powerpoint/2010/main" val="2769558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reference, outside the 45-minute lesson.</a:t>
            </a:r>
          </a:p>
          <a:p>
            <a:endParaRPr lang="en-IL">
              <a:latin typeface="Aptos" panose="020B0004020202020204" pitchFamily="34" charset="0"/>
            </a:endParaRPr>
          </a:p>
          <a:p>
            <a:r>
              <a:rPr lang="en-IL">
                <a:latin typeface="Aptos" panose="020B0004020202020204" pitchFamily="34" charset="0"/>
              </a:rPr>
              <a:t>Untimed backup. Here c</a:t>
            </a:r>
            <a:r>
              <a:rPr lang="el-GR">
                <a:latin typeface="Aptos" panose="020B0004020202020204" pitchFamily="34" charset="0"/>
              </a:rPr>
              <a:t>φ=</a:t>
            </a:r>
            <a:r>
              <a:rPr lang="en-IL">
                <a:latin typeface="Aptos" panose="020B0004020202020204" pitchFamily="34" charset="0"/>
              </a:rPr>
              <a:t>cos(</a:t>
            </a:r>
            <a:r>
              <a:rPr lang="el-GR">
                <a:latin typeface="Aptos" panose="020B0004020202020204" pitchFamily="34" charset="0"/>
              </a:rPr>
              <a:t>φ/2),</a:t>
            </a:r>
            <a:r>
              <a:rPr lang="en-IL">
                <a:latin typeface="Aptos" panose="020B0004020202020204" pitchFamily="34" charset="0"/>
              </a:rPr>
              <a:t>s</a:t>
            </a:r>
            <a:r>
              <a:rPr lang="el-GR">
                <a:latin typeface="Aptos" panose="020B0004020202020204" pitchFamily="34" charset="0"/>
              </a:rPr>
              <a:t>φ=</a:t>
            </a:r>
            <a:r>
              <a:rPr lang="en-IL">
                <a:latin typeface="Aptos" panose="020B0004020202020204" pitchFamily="34" charset="0"/>
              </a:rPr>
              <a:t>sin(</a:t>
            </a:r>
            <a:r>
              <a:rPr lang="el-GR">
                <a:latin typeface="Aptos" panose="020B0004020202020204" pitchFamily="34" charset="0"/>
              </a:rPr>
              <a:t>φ/2), </a:t>
            </a:r>
            <a:r>
              <a:rPr lang="en-IL">
                <a:latin typeface="Aptos" panose="020B0004020202020204" pitchFamily="34" charset="0"/>
              </a:rPr>
              <a:t>and similarly </a:t>
            </a:r>
            <a:r>
              <a:rPr lang="el-GR">
                <a:latin typeface="Aptos" panose="020B0004020202020204" pitchFamily="34" charset="0"/>
              </a:rPr>
              <a:t>θ,ψ. </a:t>
            </a:r>
            <a:r>
              <a:rPr lang="en-IL">
                <a:latin typeface="Aptos" panose="020B0004020202020204" pitchFamily="34" charset="0"/>
              </a:rPr>
              <a:t>Derive scalar-first q=qz(</a:t>
            </a:r>
            <a:r>
              <a:rPr lang="el-GR">
                <a:latin typeface="Aptos" panose="020B0004020202020204" pitchFamily="34" charset="0"/>
              </a:rPr>
              <a:t>ψ)⊗</a:t>
            </a:r>
            <a:r>
              <a:rPr lang="en-IL">
                <a:latin typeface="Aptos" panose="020B0004020202020204" pitchFamily="34" charset="0"/>
              </a:rPr>
              <a:t>qy(</a:t>
            </a:r>
            <a:r>
              <a:rPr lang="el-GR">
                <a:latin typeface="Aptos" panose="020B0004020202020204" pitchFamily="34" charset="0"/>
              </a:rPr>
              <a:t>θ)⊗</a:t>
            </a:r>
            <a:r>
              <a:rPr lang="en-IL">
                <a:latin typeface="Aptos" panose="020B0004020202020204" pitchFamily="34" charset="0"/>
              </a:rPr>
              <a:t>qx(</a:t>
            </a:r>
            <a:r>
              <a:rPr lang="el-GR">
                <a:latin typeface="Aptos" panose="020B0004020202020204" pitchFamily="34" charset="0"/>
              </a:rPr>
              <a:t>φ). </a:t>
            </a:r>
            <a:r>
              <a:rPr lang="en-IL">
                <a:latin typeface="Aptos" panose="020B0004020202020204" pitchFamily="34" charset="0"/>
              </a:rPr>
              <a:t>Components: w=c</a:t>
            </a:r>
            <a:r>
              <a:rPr lang="el-GR">
                <a:latin typeface="Aptos" panose="020B0004020202020204" pitchFamily="34" charset="0"/>
              </a:rPr>
              <a:t>φ</a:t>
            </a:r>
            <a:r>
              <a:rPr lang="en-IL">
                <a:latin typeface="Aptos" panose="020B0004020202020204" pitchFamily="34" charset="0"/>
              </a:rPr>
              <a:t>c</a:t>
            </a:r>
            <a:r>
              <a:rPr lang="el-GR">
                <a:latin typeface="Aptos" panose="020B0004020202020204" pitchFamily="34" charset="0"/>
              </a:rPr>
              <a:t>θ</a:t>
            </a:r>
            <a:r>
              <a:rPr lang="en-IL">
                <a:latin typeface="Aptos" panose="020B0004020202020204" pitchFamily="34" charset="0"/>
              </a:rPr>
              <a:t>c</a:t>
            </a:r>
            <a:r>
              <a:rPr lang="el-GR">
                <a:latin typeface="Aptos" panose="020B0004020202020204" pitchFamily="34" charset="0"/>
              </a:rPr>
              <a:t>ψ+</a:t>
            </a:r>
            <a:r>
              <a:rPr lang="en-IL">
                <a:latin typeface="Aptos" panose="020B0004020202020204" pitchFamily="34" charset="0"/>
              </a:rPr>
              <a:t>s</a:t>
            </a:r>
            <a:r>
              <a:rPr lang="el-GR">
                <a:latin typeface="Aptos" panose="020B0004020202020204" pitchFamily="34" charset="0"/>
              </a:rPr>
              <a:t>φ</a:t>
            </a:r>
            <a:r>
              <a:rPr lang="en-IL">
                <a:latin typeface="Aptos" panose="020B0004020202020204" pitchFamily="34" charset="0"/>
              </a:rPr>
              <a:t>s</a:t>
            </a:r>
            <a:r>
              <a:rPr lang="el-GR">
                <a:latin typeface="Aptos" panose="020B0004020202020204" pitchFamily="34" charset="0"/>
              </a:rPr>
              <a:t>θ</a:t>
            </a:r>
            <a:r>
              <a:rPr lang="en-IL">
                <a:latin typeface="Aptos" panose="020B0004020202020204" pitchFamily="34" charset="0"/>
              </a:rPr>
              <a:t>s</a:t>
            </a:r>
            <a:r>
              <a:rPr lang="el-GR">
                <a:latin typeface="Aptos" panose="020B0004020202020204" pitchFamily="34" charset="0"/>
              </a:rPr>
              <a:t>ψ; </a:t>
            </a:r>
            <a:r>
              <a:rPr lang="en-IL">
                <a:latin typeface="Aptos" panose="020B0004020202020204" pitchFamily="34" charset="0"/>
              </a:rPr>
              <a:t>x=s</a:t>
            </a:r>
            <a:r>
              <a:rPr lang="el-GR">
                <a:latin typeface="Aptos" panose="020B0004020202020204" pitchFamily="34" charset="0"/>
              </a:rPr>
              <a:t>φ</a:t>
            </a:r>
            <a:r>
              <a:rPr lang="en-IL">
                <a:latin typeface="Aptos" panose="020B0004020202020204" pitchFamily="34" charset="0"/>
              </a:rPr>
              <a:t>c</a:t>
            </a:r>
            <a:r>
              <a:rPr lang="el-GR">
                <a:latin typeface="Aptos" panose="020B0004020202020204" pitchFamily="34" charset="0"/>
              </a:rPr>
              <a:t>θ</a:t>
            </a:r>
            <a:r>
              <a:rPr lang="en-IL">
                <a:latin typeface="Aptos" panose="020B0004020202020204" pitchFamily="34" charset="0"/>
              </a:rPr>
              <a:t>c</a:t>
            </a:r>
            <a:r>
              <a:rPr lang="el-GR">
                <a:latin typeface="Aptos" panose="020B0004020202020204" pitchFamily="34" charset="0"/>
              </a:rPr>
              <a:t>ψ−</a:t>
            </a:r>
            <a:r>
              <a:rPr lang="en-IL">
                <a:latin typeface="Aptos" panose="020B0004020202020204" pitchFamily="34" charset="0"/>
              </a:rPr>
              <a:t>c</a:t>
            </a:r>
            <a:r>
              <a:rPr lang="el-GR">
                <a:latin typeface="Aptos" panose="020B0004020202020204" pitchFamily="34" charset="0"/>
              </a:rPr>
              <a:t>φ</a:t>
            </a:r>
            <a:r>
              <a:rPr lang="en-IL">
                <a:latin typeface="Aptos" panose="020B0004020202020204" pitchFamily="34" charset="0"/>
              </a:rPr>
              <a:t>s</a:t>
            </a:r>
            <a:r>
              <a:rPr lang="el-GR">
                <a:latin typeface="Aptos" panose="020B0004020202020204" pitchFamily="34" charset="0"/>
              </a:rPr>
              <a:t>θ</a:t>
            </a:r>
            <a:r>
              <a:rPr lang="en-IL">
                <a:latin typeface="Aptos" panose="020B0004020202020204" pitchFamily="34" charset="0"/>
              </a:rPr>
              <a:t>s</a:t>
            </a:r>
            <a:r>
              <a:rPr lang="el-GR">
                <a:latin typeface="Aptos" panose="020B0004020202020204" pitchFamily="34" charset="0"/>
              </a:rPr>
              <a:t>ψ; </a:t>
            </a:r>
            <a:r>
              <a:rPr lang="en-IL">
                <a:latin typeface="Aptos" panose="020B0004020202020204" pitchFamily="34" charset="0"/>
              </a:rPr>
              <a:t>y=c</a:t>
            </a:r>
            <a:r>
              <a:rPr lang="el-GR">
                <a:latin typeface="Aptos" panose="020B0004020202020204" pitchFamily="34" charset="0"/>
              </a:rPr>
              <a:t>φ</a:t>
            </a:r>
            <a:r>
              <a:rPr lang="en-IL">
                <a:latin typeface="Aptos" panose="020B0004020202020204" pitchFamily="34" charset="0"/>
              </a:rPr>
              <a:t>s</a:t>
            </a:r>
            <a:r>
              <a:rPr lang="el-GR">
                <a:latin typeface="Aptos" panose="020B0004020202020204" pitchFamily="34" charset="0"/>
              </a:rPr>
              <a:t>θ</a:t>
            </a:r>
            <a:r>
              <a:rPr lang="en-IL">
                <a:latin typeface="Aptos" panose="020B0004020202020204" pitchFamily="34" charset="0"/>
              </a:rPr>
              <a:t>c</a:t>
            </a:r>
            <a:r>
              <a:rPr lang="el-GR">
                <a:latin typeface="Aptos" panose="020B0004020202020204" pitchFamily="34" charset="0"/>
              </a:rPr>
              <a:t>ψ+</a:t>
            </a:r>
            <a:r>
              <a:rPr lang="en-IL">
                <a:latin typeface="Aptos" panose="020B0004020202020204" pitchFamily="34" charset="0"/>
              </a:rPr>
              <a:t>s</a:t>
            </a:r>
            <a:r>
              <a:rPr lang="el-GR">
                <a:latin typeface="Aptos" panose="020B0004020202020204" pitchFamily="34" charset="0"/>
              </a:rPr>
              <a:t>φ</a:t>
            </a:r>
            <a:r>
              <a:rPr lang="en-IL">
                <a:latin typeface="Aptos" panose="020B0004020202020204" pitchFamily="34" charset="0"/>
              </a:rPr>
              <a:t>c</a:t>
            </a:r>
            <a:r>
              <a:rPr lang="el-GR">
                <a:latin typeface="Aptos" panose="020B0004020202020204" pitchFamily="34" charset="0"/>
              </a:rPr>
              <a:t>θ</a:t>
            </a:r>
            <a:r>
              <a:rPr lang="en-IL">
                <a:latin typeface="Aptos" panose="020B0004020202020204" pitchFamily="34" charset="0"/>
              </a:rPr>
              <a:t>s</a:t>
            </a:r>
            <a:r>
              <a:rPr lang="el-GR">
                <a:latin typeface="Aptos" panose="020B0004020202020204" pitchFamily="34" charset="0"/>
              </a:rPr>
              <a:t>ψ; </a:t>
            </a:r>
            <a:r>
              <a:rPr lang="en-IL">
                <a:latin typeface="Aptos" panose="020B0004020202020204" pitchFamily="34" charset="0"/>
              </a:rPr>
              <a:t>z=c</a:t>
            </a:r>
            <a:r>
              <a:rPr lang="el-GR">
                <a:latin typeface="Aptos" panose="020B0004020202020204" pitchFamily="34" charset="0"/>
              </a:rPr>
              <a:t>φ</a:t>
            </a:r>
            <a:r>
              <a:rPr lang="en-IL">
                <a:latin typeface="Aptos" panose="020B0004020202020204" pitchFamily="34" charset="0"/>
              </a:rPr>
              <a:t>c</a:t>
            </a:r>
            <a:r>
              <a:rPr lang="el-GR">
                <a:latin typeface="Aptos" panose="020B0004020202020204" pitchFamily="34" charset="0"/>
              </a:rPr>
              <a:t>θ</a:t>
            </a:r>
            <a:r>
              <a:rPr lang="en-IL">
                <a:latin typeface="Aptos" panose="020B0004020202020204" pitchFamily="34" charset="0"/>
              </a:rPr>
              <a:t>s</a:t>
            </a:r>
            <a:r>
              <a:rPr lang="el-GR">
                <a:latin typeface="Aptos" panose="020B0004020202020204" pitchFamily="34" charset="0"/>
              </a:rPr>
              <a:t>ψ−</a:t>
            </a:r>
            <a:r>
              <a:rPr lang="en-IL">
                <a:latin typeface="Aptos" panose="020B0004020202020204" pitchFamily="34" charset="0"/>
              </a:rPr>
              <a:t>s</a:t>
            </a:r>
            <a:r>
              <a:rPr lang="el-GR">
                <a:latin typeface="Aptos" panose="020B0004020202020204" pitchFamily="34" charset="0"/>
              </a:rPr>
              <a:t>φ</a:t>
            </a:r>
            <a:r>
              <a:rPr lang="en-IL">
                <a:latin typeface="Aptos" panose="020B0004020202020204" pitchFamily="34" charset="0"/>
              </a:rPr>
              <a:t>s</a:t>
            </a:r>
            <a:r>
              <a:rPr lang="el-GR">
                <a:latin typeface="Aptos" panose="020B0004020202020204" pitchFamily="34" charset="0"/>
              </a:rPr>
              <a:t>θ</a:t>
            </a:r>
            <a:r>
              <a:rPr lang="en-IL">
                <a:latin typeface="Aptos" panose="020B0004020202020204" pitchFamily="34" charset="0"/>
              </a:rPr>
              <a:t>c</a:t>
            </a:r>
            <a:r>
              <a:rPr lang="el-GR">
                <a:latin typeface="Aptos" panose="020B0004020202020204" pitchFamily="34" charset="0"/>
              </a:rPr>
              <a:t>ψ. </a:t>
            </a:r>
            <a:r>
              <a:rPr lang="en-IL">
                <a:latin typeface="Aptos" panose="020B0004020202020204" pitchFamily="34" charset="0"/>
              </a:rPr>
              <a:t>These are not universal for intrinsic XYZ or another Euler sequence. Convert radians correctly. Reverse: normalize quaternion, build R(q), recover Euler with singular handling. ROS message fields take x,y,z,w from these named components; message layout does not change this algebra. Reference sheet includes derivation and reverse conversion.</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https://github.com/ros2/geometry2/blob/jazzy/tf2/include/tf2/LinearMath/Quaternion.hpp</a:t>
            </a:r>
          </a:p>
          <a:p>
            <a:r>
              <a:rPr lang="en-IL">
                <a:latin typeface="Aptos" panose="020B0004020202020204" pitchFamily="34" charset="0"/>
              </a:rPr>
              <a:t>https://docs.ros.org/en/jazzy/Tutorials/Intermediate/Tf2/Quaternion-Fundamentals.html</a:t>
            </a:r>
          </a:p>
        </p:txBody>
      </p:sp>
      <p:sp>
        <p:nvSpPr>
          <p:cNvPr id="4" name="Slide Number Placeholder 3"/>
          <p:cNvSpPr>
            <a:spLocks noGrp="1"/>
          </p:cNvSpPr>
          <p:nvPr>
            <p:ph type="sldNum" sz="quarter" idx="5"/>
          </p:nvPr>
        </p:nvSpPr>
        <p:spPr/>
        <p:txBody>
          <a:bodyPr/>
          <a:lstStyle/>
          <a:p>
            <a:fld id="{3B2F1C07-231E-4321-B1C7-65F55A071F2E}" type="slidenum">
              <a:rPr lang="en-IL" smtClean="0"/>
              <a:t>21</a:t>
            </a:fld>
            <a:endParaRPr lang="en-IL"/>
          </a:p>
        </p:txBody>
      </p:sp>
    </p:spTree>
    <p:extLst>
      <p:ext uri="{BB962C8B-B14F-4D97-AF65-F5344CB8AC3E}">
        <p14:creationId xmlns:p14="http://schemas.microsoft.com/office/powerpoint/2010/main" val="28633302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reference, outside the 45-minute lesson.</a:t>
            </a:r>
          </a:p>
          <a:p>
            <a:endParaRPr lang="en-IL">
              <a:latin typeface="Aptos" panose="020B0004020202020204" pitchFamily="34" charset="0"/>
            </a:endParaRPr>
          </a:p>
          <a:p>
            <a:r>
              <a:rPr lang="en-IL">
                <a:latin typeface="Aptos" panose="020B0004020202020204" pitchFamily="34" charset="0"/>
              </a:rPr>
              <a:t>Untimed backup. Product (w1,v1)⊗(w2,v2)=(w1w2−v1·v2,w1v2+w2v1+v1×v2). Expanded components and all signs are in the reference. Conjugate=(w,−v); general inverse=q*/norm², unit inverse=q*. Composition qAC=qAB⊗qBC follows matrix order. If q2=qrel⊗q1 with both in the same reference, relative qrel=q2⊗q1⁻¹. Negating all four entries gives an equivalent orientation, not inverse; conjugating changes orientation to inverse except special cases. Verify sandwich rotation against R(q), norm of product, inverse-to-identity and R(q)=R(−q).</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https://github.com/ros2/geometry2/blob/jazzy/tf2/include/tf2/LinearMath/Quaternion.hpp</a:t>
            </a:r>
          </a:p>
          <a:p>
            <a:r>
              <a:rPr lang="en-IL">
                <a:latin typeface="Aptos" panose="020B0004020202020204" pitchFamily="34" charset="0"/>
              </a:rPr>
              <a:t>https://docs.ros.org/en/jazzy/Tutorials/Intermediate/Tf2/Quaternion-Fundamentals.html</a:t>
            </a:r>
          </a:p>
        </p:txBody>
      </p:sp>
      <p:sp>
        <p:nvSpPr>
          <p:cNvPr id="4" name="Slide Number Placeholder 3"/>
          <p:cNvSpPr>
            <a:spLocks noGrp="1"/>
          </p:cNvSpPr>
          <p:nvPr>
            <p:ph type="sldNum" sz="quarter" idx="5"/>
          </p:nvPr>
        </p:nvSpPr>
        <p:spPr/>
        <p:txBody>
          <a:bodyPr/>
          <a:lstStyle/>
          <a:p>
            <a:fld id="{3B2F1C07-231E-4321-B1C7-65F55A071F2E}" type="slidenum">
              <a:rPr lang="en-IL" smtClean="0"/>
              <a:t>22</a:t>
            </a:fld>
            <a:endParaRPr lang="en-IL"/>
          </a:p>
        </p:txBody>
      </p:sp>
    </p:spTree>
    <p:extLst>
      <p:ext uri="{BB962C8B-B14F-4D97-AF65-F5344CB8AC3E}">
        <p14:creationId xmlns:p14="http://schemas.microsoft.com/office/powerpoint/2010/main" val="699676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Hidden optional reference, outside the 45-minute lesson.</a:t>
            </a:r>
          </a:p>
          <a:p>
            <a:endParaRPr lang="en-US">
              <a:latin typeface="Aptos" panose="020B0004020202020204" pitchFamily="34" charset="0"/>
            </a:endParaRPr>
          </a:p>
          <a:p>
            <a:r>
              <a:rPr lang="en-US">
                <a:latin typeface="Aptos" panose="020B0004020202020204" pitchFamily="34" charset="0"/>
              </a:rPr>
              <a:t>Untimed backup. Active rotation physically rotates a vector in a fixed basis p'=Rp; passive basis change expresses the same vector in rotated axes, using inverse/transpose relative to that basis orientation. Define source/target explicitly. Row-vector form is p'ᵀ=pᵀRᵀ+tᵀ and homogeneous matrix Tᵀ; transposition reverses multiplication order. If pnew=S pold with same basis conversion both sides, Rnew=S Rold S⁻¹, tnew=S told. For distinct source/target changes Rnew=SA Rold SB⁻¹, tnew=SA told. A reflection changing handedness cannot itself be encoded by a unit quaternion. Fixed XYZ matches intrinsic ZYX with reversed angles; other sequences require ordered products appropriate to that convention. Reference section on conventions expands these cases.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https://github.com/ros-infrastructure/rep/blob/master/rep-0103.rst</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23</a:t>
            </a:fld>
            <a:endParaRPr lang="en-IL"/>
          </a:p>
        </p:txBody>
      </p:sp>
    </p:spTree>
    <p:extLst>
      <p:ext uri="{BB962C8B-B14F-4D97-AF65-F5344CB8AC3E}">
        <p14:creationId xmlns:p14="http://schemas.microsoft.com/office/powerpoint/2010/main" val="29788802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Hidden optional reference, outside the 45-minute lesson.</a:t>
            </a:r>
          </a:p>
          <a:p>
            <a:endParaRPr lang="en-US">
              <a:latin typeface="Aptos" panose="020B0004020202020204" pitchFamily="34" charset="0"/>
            </a:endParaRPr>
          </a:p>
          <a:p>
            <a:r>
              <a:rPr lang="en-US">
                <a:latin typeface="Aptos" panose="020B0004020202020204" pitchFamily="34" charset="0"/>
              </a:rPr>
              <a:t>Untimed backup. REP103 body axes: x forward,y left,z up; optical: x right,y down,z forward. For aligned axes the coordinates convert p_opt=(−y_body,−z_body,x_body), using S=[[0,−1,0],[0,0,−1],[1,0,0]]. This is a convention example, not an extra edge in our simplified demo. REP105 map is a long-term world reference, typically drift-bounded but may jump after corrections; odom is continuous but can drift; base_link is attached to the robot. Common tree map→odom→base_link→sensor separates corrections from smooth odometry. Our world is generic and no localization node estimates map/odom. Names alone do not guarantee semantics: check the actual publisher and documentation.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https://github.com/ros-infrastructure/rep/blob/master/rep-0103.rst</a:t>
            </a:r>
          </a:p>
          <a:p>
            <a:r>
              <a:rPr lang="en-US">
                <a:latin typeface="Aptos" panose="020B0004020202020204" pitchFamily="34" charset="0"/>
              </a:rPr>
              <a:t>https://github.com/ros-infrastructure/rep/blob/master/rep-0105.rst</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3B2F1C07-231E-4321-B1C7-65F55A071F2E}" type="slidenum">
              <a:rPr lang="en-IL" smtClean="0"/>
              <a:t>24</a:t>
            </a:fld>
            <a:endParaRPr lang="en-IL"/>
          </a:p>
        </p:txBody>
      </p:sp>
    </p:spTree>
    <p:extLst>
      <p:ext uri="{BB962C8B-B14F-4D97-AF65-F5344CB8AC3E}">
        <p14:creationId xmlns:p14="http://schemas.microsoft.com/office/powerpoint/2010/main" val="987770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reference, outside the 45-minute lesson.</a:t>
            </a:r>
          </a:p>
          <a:p>
            <a:endParaRPr lang="en-IL">
              <a:latin typeface="Aptos" panose="020B0004020202020204" pitchFamily="34" charset="0"/>
            </a:endParaRPr>
          </a:p>
          <a:p>
            <a:r>
              <a:rPr lang="en-IL">
                <a:latin typeface="Aptos" panose="020B0004020202020204" pitchFamily="34" charset="0"/>
              </a:rPr>
              <a:t>Untimed backup. With timestamps </a:t>
            </a:r>
            <a:r>
              <a:rPr lang="el-GR">
                <a:latin typeface="Aptos" panose="020B0004020202020204" pitchFamily="34" charset="0"/>
              </a:rPr>
              <a:t>τ0,τ1 </a:t>
            </a:r>
            <a:r>
              <a:rPr lang="en-IL">
                <a:latin typeface="Aptos" panose="020B0004020202020204" pitchFamily="34" charset="0"/>
              </a:rPr>
              <a:t>and </a:t>
            </a:r>
            <a:r>
              <a:rPr lang="el-GR">
                <a:latin typeface="Aptos" panose="020B0004020202020204" pitchFamily="34" charset="0"/>
              </a:rPr>
              <a:t>τ </a:t>
            </a:r>
            <a:r>
              <a:rPr lang="en-IL">
                <a:latin typeface="Aptos" panose="020B0004020202020204" pitchFamily="34" charset="0"/>
              </a:rPr>
              <a:t>between them, u=(</a:t>
            </a:r>
            <a:r>
              <a:rPr lang="el-GR">
                <a:latin typeface="Aptos" panose="020B0004020202020204" pitchFamily="34" charset="0"/>
              </a:rPr>
              <a:t>τ−τ0)/(τ1−τ0). </a:t>
            </a:r>
            <a:r>
              <a:rPr lang="en-IL">
                <a:latin typeface="Aptos" panose="020B0004020202020204" pitchFamily="34" charset="0"/>
              </a:rPr>
              <a:t>Translation interpolates linearly t(u)=(1−u)t0+ut1. For unit q0,q1, if their dot is negative replace q1 by its equivalent −q1. Clamp dot to [−1,1] before acos; </a:t>
            </a:r>
            <a:r>
              <a:rPr lang="el-GR">
                <a:latin typeface="Aptos" panose="020B0004020202020204" pitchFamily="34" charset="0"/>
              </a:rPr>
              <a:t>Ω=</a:t>
            </a:r>
            <a:r>
              <a:rPr lang="en-IL">
                <a:latin typeface="Aptos" panose="020B0004020202020204" pitchFamily="34" charset="0"/>
              </a:rPr>
              <a:t>acos(dot). SLERP uses sin((1−u)</a:t>
            </a:r>
            <a:r>
              <a:rPr lang="el-GR">
                <a:latin typeface="Aptos" panose="020B0004020202020204" pitchFamily="34" charset="0"/>
              </a:rPr>
              <a:t>Ω)/</a:t>
            </a:r>
            <a:r>
              <a:rPr lang="en-IL">
                <a:latin typeface="Aptos" panose="020B0004020202020204" pitchFamily="34" charset="0"/>
              </a:rPr>
              <a:t>sin</a:t>
            </a:r>
            <a:r>
              <a:rPr lang="el-GR">
                <a:latin typeface="Aptos" panose="020B0004020202020204" pitchFamily="34" charset="0"/>
              </a:rPr>
              <a:t>Ω </a:t>
            </a:r>
            <a:r>
              <a:rPr lang="en-IL">
                <a:latin typeface="Aptos" panose="020B0004020202020204" pitchFamily="34" charset="0"/>
              </a:rPr>
              <a:t>and sin(u</a:t>
            </a:r>
            <a:r>
              <a:rPr lang="el-GR">
                <a:latin typeface="Aptos" panose="020B0004020202020204" pitchFamily="34" charset="0"/>
              </a:rPr>
              <a:t>Ω)/</a:t>
            </a:r>
            <a:r>
              <a:rPr lang="en-IL">
                <a:latin typeface="Aptos" panose="020B0004020202020204" pitchFamily="34" charset="0"/>
              </a:rPr>
              <a:t>sin</a:t>
            </a:r>
            <a:r>
              <a:rPr lang="el-GR">
                <a:latin typeface="Aptos" panose="020B0004020202020204" pitchFamily="34" charset="0"/>
              </a:rPr>
              <a:t>Ω </a:t>
            </a:r>
            <a:r>
              <a:rPr lang="en-IL">
                <a:latin typeface="Aptos" panose="020B0004020202020204" pitchFamily="34" charset="0"/>
              </a:rPr>
              <a:t>weights. Near equality use normalized linear blending to avoid a small denominator. q1=−q0 represents no physical rotation after sign choice. Endpoints and norms should check correctly. tf2 interpolates buffered compatible dynamic samples; unavailable past/future still raises extrapolation and static edges remain constant. Interpolation is an approximation of motion, not arbitrary extrapolation. Reference includes full formula and sign discussion.</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https://github.com/ros2/geometry2/blob/jazzy/tf2/src/cache.cpp</a:t>
            </a:r>
          </a:p>
          <a:p>
            <a:r>
              <a:rPr lang="en-IL">
                <a:latin typeface="Aptos" panose="020B0004020202020204" pitchFamily="34" charset="0"/>
              </a:rPr>
              <a:t>https://github.com/ros2/geometry2/blob/jazzy/tf2/include/tf2/LinearMath/Quaternion.hpp</a:t>
            </a:r>
          </a:p>
        </p:txBody>
      </p:sp>
      <p:sp>
        <p:nvSpPr>
          <p:cNvPr id="4" name="Slide Number Placeholder 3"/>
          <p:cNvSpPr>
            <a:spLocks noGrp="1"/>
          </p:cNvSpPr>
          <p:nvPr>
            <p:ph type="sldNum" sz="quarter" idx="5"/>
          </p:nvPr>
        </p:nvSpPr>
        <p:spPr/>
        <p:txBody>
          <a:bodyPr/>
          <a:lstStyle/>
          <a:p>
            <a:fld id="{3B2F1C07-231E-4321-B1C7-65F55A071F2E}" type="slidenum">
              <a:rPr lang="en-IL" smtClean="0"/>
              <a:t>25</a:t>
            </a:fld>
            <a:endParaRPr lang="en-IL"/>
          </a:p>
        </p:txBody>
      </p:sp>
    </p:spTree>
    <p:extLst>
      <p:ext uri="{BB962C8B-B14F-4D97-AF65-F5344CB8AC3E}">
        <p14:creationId xmlns:p14="http://schemas.microsoft.com/office/powerpoint/2010/main" val="277102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reference, outside the 45-minute lesson.</a:t>
            </a:r>
          </a:p>
          <a:p>
            <a:endParaRPr lang="en-IL">
              <a:latin typeface="Aptos" panose="020B0004020202020204" pitchFamily="34" charset="0"/>
            </a:endParaRPr>
          </a:p>
          <a:p>
            <a:r>
              <a:rPr lang="en-IL">
                <a:latin typeface="Aptos" panose="020B0004020202020204" pitchFamily="34" charset="0"/>
              </a:rPr>
              <a:t>Untimed backup. Mixed fixedXYZ RPY=(30°,−20°,45°) gives math q≈(0.861642,0.299673,−0.057422,0.405550); full R is on slide and in reference. Point (1,2,3) rotates to approximately (−0.369798,−0.041628,3.723106); adding (0.4,−0.2,0.7) gives (0.030202,−0.241628,4.423106). Inverse recovers original using unrounded values. Demo forward: (0.2,0,1)→(0,0.2,1.5) and back. Noncommuting +90° x/z rotations send e_x to e_y or e_z depending on order. Test identity, ±90° axes, mixed axes, direct/composed transform, RᵀR=I, det=1, unit quaternion, q/−q same matrix, largest-component conversion near/exact180°, singularEuler reconstruction and SLERP. Run validate_math.ps1. Classroom ROS/RViz execution is separate from these slide-generation/math checks.</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https://github.com/ros2/geometry2/blob/jazzy/tf2/include/tf2/LinearMath/Matrix3x3.hpp</a:t>
            </a:r>
          </a:p>
          <a:p>
            <a:r>
              <a:rPr lang="en-IL">
                <a:latin typeface="Aptos" panose="020B0004020202020204" pitchFamily="34" charset="0"/>
              </a:rPr>
              <a:t>https://github.com/ros2/geometry2/blob/jazzy/tf2/include/tf2/LinearMath/Quaternion.hpp</a:t>
            </a:r>
          </a:p>
        </p:txBody>
      </p:sp>
      <p:sp>
        <p:nvSpPr>
          <p:cNvPr id="4" name="Slide Number Placeholder 3"/>
          <p:cNvSpPr>
            <a:spLocks noGrp="1"/>
          </p:cNvSpPr>
          <p:nvPr>
            <p:ph type="sldNum" sz="quarter" idx="5"/>
          </p:nvPr>
        </p:nvSpPr>
        <p:spPr/>
        <p:txBody>
          <a:bodyPr/>
          <a:lstStyle/>
          <a:p>
            <a:fld id="{3B2F1C07-231E-4321-B1C7-65F55A071F2E}" type="slidenum">
              <a:rPr lang="en-IL" smtClean="0"/>
              <a:t>26</a:t>
            </a:fld>
            <a:endParaRPr lang="en-IL"/>
          </a:p>
        </p:txBody>
      </p:sp>
    </p:spTree>
    <p:extLst>
      <p:ext uri="{BB962C8B-B14F-4D97-AF65-F5344CB8AC3E}">
        <p14:creationId xmlns:p14="http://schemas.microsoft.com/office/powerpoint/2010/main" val="720228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07F5-E0A9-9180-348A-1DA749AEAA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06F11B9-3533-2086-540E-3A067EA847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A3CFDF51-AE5A-14C1-1745-08034EB09A82}"/>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5" name="Footer Placeholder 4">
            <a:extLst>
              <a:ext uri="{FF2B5EF4-FFF2-40B4-BE49-F238E27FC236}">
                <a16:creationId xmlns:a16="http://schemas.microsoft.com/office/drawing/2014/main" id="{21073200-82EB-2220-571C-5BCA9EFFEE2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8CD749E-5E75-1AF4-1790-062D045179D1}"/>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966488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03E9-2B98-1ABF-2BDF-3FF96F78E0B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2C196DB6-C1DF-DE34-B484-2BC72B07F9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9DB93CE-3573-4D4B-BFD6-D179DED20CE7}"/>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5" name="Footer Placeholder 4">
            <a:extLst>
              <a:ext uri="{FF2B5EF4-FFF2-40B4-BE49-F238E27FC236}">
                <a16:creationId xmlns:a16="http://schemas.microsoft.com/office/drawing/2014/main" id="{752BEB5C-5423-B17E-C48C-0DC2F1CBA83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107658B-411C-7BC8-B31C-BA24E3405A62}"/>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2016902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1851F-BAE2-F907-3018-6E3EA3D041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36A80D48-39DA-ACBE-E959-9A7BAB7027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F9D555-28A5-3D22-240B-4E8962F281D3}"/>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5" name="Footer Placeholder 4">
            <a:extLst>
              <a:ext uri="{FF2B5EF4-FFF2-40B4-BE49-F238E27FC236}">
                <a16:creationId xmlns:a16="http://schemas.microsoft.com/office/drawing/2014/main" id="{E845BE46-71BA-D120-D891-7E41F9A66D0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267AE8D-6EB3-7446-CDAB-FF0DA0602261}"/>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915396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8A16D-418C-4946-0DA6-4E55129D2CFD}"/>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C293DF3-6281-1C06-4970-D312E8C82D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91CD6680-5961-0AA5-BEFE-C98C2611BF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08EBC3FC-C5E6-51F4-D5C7-2C0C8EC51D44}"/>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6" name="Footer Placeholder 5">
            <a:extLst>
              <a:ext uri="{FF2B5EF4-FFF2-40B4-BE49-F238E27FC236}">
                <a16:creationId xmlns:a16="http://schemas.microsoft.com/office/drawing/2014/main" id="{B32117B0-AB18-1008-9E3D-CCD85C394A4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926122B-1EA6-3946-0825-CC94DA11E0F3}"/>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65292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B15B4-7731-3C2E-54E7-BF025FA384C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10D9BDC-8D0B-083B-FE9E-91F839591D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1090C5-AC70-BA38-F766-7866375A7D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316B1D64-20F3-3575-3F55-9CD63FFF5D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AA60F7-4715-B1BE-2A82-FF861A54F0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245D8FE1-54EA-1A23-5A06-C80E46072A3F}"/>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8" name="Footer Placeholder 7">
            <a:extLst>
              <a:ext uri="{FF2B5EF4-FFF2-40B4-BE49-F238E27FC236}">
                <a16:creationId xmlns:a16="http://schemas.microsoft.com/office/drawing/2014/main" id="{CCE0E15B-2EC3-AD65-044C-B107ACEEE671}"/>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15F3FAF1-FAD7-5E4D-8574-55EA1680B3DD}"/>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683299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A0035-C79C-CEED-DD7F-E69A1C5AFD8D}"/>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1C47855-5886-8EE2-2A66-D283536855B8}"/>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4" name="Footer Placeholder 3">
            <a:extLst>
              <a:ext uri="{FF2B5EF4-FFF2-40B4-BE49-F238E27FC236}">
                <a16:creationId xmlns:a16="http://schemas.microsoft.com/office/drawing/2014/main" id="{3016A7E6-8782-3681-0290-DF57094B54D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B0738708-FD3F-0F32-C7D0-F2B0CDCAE0DA}"/>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089997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8BC57C-3592-E9D5-B6F5-5921FF76EC4D}"/>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3" name="Footer Placeholder 2">
            <a:extLst>
              <a:ext uri="{FF2B5EF4-FFF2-40B4-BE49-F238E27FC236}">
                <a16:creationId xmlns:a16="http://schemas.microsoft.com/office/drawing/2014/main" id="{8FE74CBF-7CB3-4985-04EB-915AA5017A6C}"/>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B4DB431B-8454-D0AD-5685-FD3C54B6A030}"/>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2537171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6624C-BD06-5450-0108-64F004944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626337C-42D0-4512-96CE-B85E99A4EA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C976DB20-F7D3-1E05-2B11-915F125EC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B2E746-F1A0-4EDB-42B4-18C58D7E75F6}"/>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6" name="Footer Placeholder 5">
            <a:extLst>
              <a:ext uri="{FF2B5EF4-FFF2-40B4-BE49-F238E27FC236}">
                <a16:creationId xmlns:a16="http://schemas.microsoft.com/office/drawing/2014/main" id="{AF5FD55D-D34A-DDA5-E53B-3BF8BF0D51E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EA9DB94-643D-AD26-CD90-3935C8980A70}"/>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083845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8086A-2529-FA88-618C-0C40226BF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B85A78A-E31F-303B-EB41-0920E0454A6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EAB59519-0E39-6B98-928D-1E5484C9B2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D095BF-0E9F-A364-96EE-8531747EECB0}"/>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6" name="Footer Placeholder 5">
            <a:extLst>
              <a:ext uri="{FF2B5EF4-FFF2-40B4-BE49-F238E27FC236}">
                <a16:creationId xmlns:a16="http://schemas.microsoft.com/office/drawing/2014/main" id="{E64D35CA-ED02-9743-63E5-C530E9CA5BF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81C6525-AA8E-6805-97B1-B7C43B4F12C4}"/>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3607132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EA57D-F5D4-4E29-4CAB-AD5D8FE43E0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1C11ACD-2048-C658-04EC-F5B9A52932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B23BB089-B853-3B7D-47FD-2C2165C55367}"/>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5" name="Footer Placeholder 4">
            <a:extLst>
              <a:ext uri="{FF2B5EF4-FFF2-40B4-BE49-F238E27FC236}">
                <a16:creationId xmlns:a16="http://schemas.microsoft.com/office/drawing/2014/main" id="{8A83B8F9-B5E0-C7EF-5BD6-316A634594C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5509413-F75D-D6CF-082B-145570D8EC80}"/>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1813743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23883-E711-2637-D55F-E1C51520B8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8759426-3709-797C-3A07-CC3AB09BEC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0890696-A38F-FF05-A237-EA911FD072B8}"/>
              </a:ext>
            </a:extLst>
          </p:cNvPr>
          <p:cNvSpPr>
            <a:spLocks noGrp="1"/>
          </p:cNvSpPr>
          <p:nvPr>
            <p:ph type="dt" sz="half" idx="10"/>
          </p:nvPr>
        </p:nvSpPr>
        <p:spPr/>
        <p:txBody>
          <a:bodyPr/>
          <a:lstStyle/>
          <a:p>
            <a:fld id="{F185961F-EEA5-44F0-87BF-E39A9E8FE045}" type="datetimeFigureOut">
              <a:rPr lang="en-IL" smtClean="0"/>
              <a:t>04/10/2026</a:t>
            </a:fld>
            <a:endParaRPr lang="en-IL"/>
          </a:p>
        </p:txBody>
      </p:sp>
      <p:sp>
        <p:nvSpPr>
          <p:cNvPr id="5" name="Footer Placeholder 4">
            <a:extLst>
              <a:ext uri="{FF2B5EF4-FFF2-40B4-BE49-F238E27FC236}">
                <a16:creationId xmlns:a16="http://schemas.microsoft.com/office/drawing/2014/main" id="{B5DE7B2C-5826-8A47-7285-8A29A75C698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B8E639E-0D56-5548-FC48-C8BB758A6774}"/>
              </a:ext>
            </a:extLst>
          </p:cNvPr>
          <p:cNvSpPr>
            <a:spLocks noGrp="1"/>
          </p:cNvSpPr>
          <p:nvPr>
            <p:ph type="sldNum" sz="quarter" idx="12"/>
          </p:nvPr>
        </p:nvSpPr>
        <p:spPr/>
        <p:txBody>
          <a:bodyPr/>
          <a:lstStyle/>
          <a:p>
            <a:fld id="{4E641991-51C3-4002-A3B5-9C3921E0AD74}" type="slidenum">
              <a:rPr lang="en-IL" smtClean="0"/>
              <a:t>‹#›</a:t>
            </a:fld>
            <a:endParaRPr lang="en-IL"/>
          </a:p>
        </p:txBody>
      </p:sp>
    </p:spTree>
    <p:extLst>
      <p:ext uri="{BB962C8B-B14F-4D97-AF65-F5344CB8AC3E}">
        <p14:creationId xmlns:p14="http://schemas.microsoft.com/office/powerpoint/2010/main" val="575097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5DAE54-FFD6-CE0D-FA0D-961A851145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B3641E7E-ED55-2080-A4B7-78F175AB4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C91D7EF-5002-A877-72D2-5C2036C145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85961F-EEA5-44F0-87BF-E39A9E8FE045}" type="datetimeFigureOut">
              <a:rPr lang="en-IL" smtClean="0"/>
              <a:t>04/10/2026</a:t>
            </a:fld>
            <a:endParaRPr lang="en-IL"/>
          </a:p>
        </p:txBody>
      </p:sp>
      <p:sp>
        <p:nvSpPr>
          <p:cNvPr id="5" name="Footer Placeholder 4">
            <a:extLst>
              <a:ext uri="{FF2B5EF4-FFF2-40B4-BE49-F238E27FC236}">
                <a16:creationId xmlns:a16="http://schemas.microsoft.com/office/drawing/2014/main" id="{F5BF0762-F056-0C92-3D45-881C20954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8A79F9DD-EF48-2578-9676-64D0FB701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641991-51C3-4002-A3B5-9C3921E0AD74}" type="slidenum">
              <a:rPr lang="en-IL" smtClean="0"/>
              <a:t>‹#›</a:t>
            </a:fld>
            <a:endParaRPr lang="en-IL"/>
          </a:p>
        </p:txBody>
      </p:sp>
    </p:spTree>
    <p:extLst>
      <p:ext uri="{BB962C8B-B14F-4D97-AF65-F5344CB8AC3E}">
        <p14:creationId xmlns:p14="http://schemas.microsoft.com/office/powerpoint/2010/main" val="2444795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9D78F1A-EADB-9096-9298-720A2E7E7AD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5B424991-79B8-8FD5-EEFA-2A999CBC98C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Coordinate frames &amp; tf2</a:t>
            </a:r>
          </a:p>
        </p:txBody>
      </p:sp>
      <p:sp>
        <p:nvSpPr>
          <p:cNvPr id="4" name="text_3">
            <a:extLst>
              <a:ext uri="{FF2B5EF4-FFF2-40B4-BE49-F238E27FC236}">
                <a16:creationId xmlns:a16="http://schemas.microsoft.com/office/drawing/2014/main" id="{DAB62725-93F7-4886-FC8A-69CE6664445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Describe the same point. Move between frames.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8DCDC5C-F02A-9C48-E3FC-98B74EF756A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52DDFA2-B8C0-9F54-4520-89BF4C3BA69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5EE1972-CCCB-A9D7-2769-3D9D7F35F17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FC17E3D7-622A-78E2-A21A-190A8E7D3257}"/>
              </a:ext>
            </a:extLst>
          </p:cNvPr>
          <p:cNvSpPr/>
          <p:nvPr/>
        </p:nvSpPr>
        <p:spPr>
          <a:xfrm>
            <a:off x="685800" y="2819400"/>
            <a:ext cx="31115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1591A8F9-5A6C-87FA-EDAD-E4861B4AA6CC}"/>
              </a:ext>
            </a:extLst>
          </p:cNvPr>
          <p:cNvSpPr txBox="1"/>
          <p:nvPr/>
        </p:nvSpPr>
        <p:spPr>
          <a:xfrm>
            <a:off x="838200" y="2908299"/>
            <a:ext cx="28067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Understand frames</a:t>
            </a:r>
          </a:p>
        </p:txBody>
      </p:sp>
      <p:sp>
        <p:nvSpPr>
          <p:cNvPr id="10" name="Rectangle: Rounded Corners 9">
            <a:extLst>
              <a:ext uri="{FF2B5EF4-FFF2-40B4-BE49-F238E27FC236}">
                <a16:creationId xmlns:a16="http://schemas.microsoft.com/office/drawing/2014/main" id="{A9990F29-8A17-47B8-1F74-12DA574E5C52}"/>
              </a:ext>
            </a:extLst>
          </p:cNvPr>
          <p:cNvSpPr/>
          <p:nvPr/>
        </p:nvSpPr>
        <p:spPr>
          <a:xfrm>
            <a:off x="4051300" y="2819400"/>
            <a:ext cx="31369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4EFFD215-AC64-574E-774F-06AE511ACC8C}"/>
              </a:ext>
            </a:extLst>
          </p:cNvPr>
          <p:cNvSpPr txBox="1"/>
          <p:nvPr/>
        </p:nvSpPr>
        <p:spPr>
          <a:xfrm>
            <a:off x="4203700" y="2908299"/>
            <a:ext cx="28321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Read the math</a:t>
            </a:r>
          </a:p>
        </p:txBody>
      </p:sp>
      <p:sp>
        <p:nvSpPr>
          <p:cNvPr id="12" name="Rectangle: Rounded Corners 11">
            <a:extLst>
              <a:ext uri="{FF2B5EF4-FFF2-40B4-BE49-F238E27FC236}">
                <a16:creationId xmlns:a16="http://schemas.microsoft.com/office/drawing/2014/main" id="{7535873E-EFEE-4C0A-8C94-975757D57E4C}"/>
              </a:ext>
            </a:extLst>
          </p:cNvPr>
          <p:cNvSpPr/>
          <p:nvPr/>
        </p:nvSpPr>
        <p:spPr>
          <a:xfrm>
            <a:off x="7442200" y="2819400"/>
            <a:ext cx="4064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6289FAB0-065E-E370-8428-A337A643F4A5}"/>
              </a:ext>
            </a:extLst>
          </p:cNvPr>
          <p:cNvSpPr txBox="1"/>
          <p:nvPr/>
        </p:nvSpPr>
        <p:spPr>
          <a:xfrm>
            <a:off x="7594600" y="2908299"/>
            <a:ext cx="3759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Inspect the demo</a:t>
            </a:r>
          </a:p>
        </p:txBody>
      </p:sp>
      <p:sp>
        <p:nvSpPr>
          <p:cNvPr id="14" name="text_13">
            <a:extLst>
              <a:ext uri="{FF2B5EF4-FFF2-40B4-BE49-F238E27FC236}">
                <a16:creationId xmlns:a16="http://schemas.microsoft.com/office/drawing/2014/main" id="{1E7EFC07-43BD-391F-1DB4-7F8708C25E33}"/>
              </a:ext>
            </a:extLst>
          </p:cNvPr>
          <p:cNvSpPr txBox="1"/>
          <p:nvPr/>
        </p:nvSpPr>
        <p:spPr>
          <a:xfrm>
            <a:off x="939800" y="4114799"/>
            <a:ext cx="10312400" cy="800100"/>
          </a:xfrm>
          <a:prstGeom prst="rect">
            <a:avLst/>
          </a:prstGeom>
          <a:noFill/>
        </p:spPr>
        <p:txBody>
          <a:bodyPr vert="horz" wrap="square" lIns="0" tIns="0" rIns="0" bIns="0" rtlCol="0" anchor="t">
            <a:noAutofit/>
          </a:bodyPr>
          <a:lstStyle/>
          <a:p>
            <a:r>
              <a:rPr lang="en-IL" sz="4000">
                <a:solidFill>
                  <a:srgbClr val="2459D3"/>
                </a:solidFill>
                <a:latin typeface="Cambria Math" panose="02040503050406030204" pitchFamily="18" charset="0"/>
              </a:rPr>
              <a:t>p</a:t>
            </a:r>
            <a:r>
              <a:rPr lang="en-IL" sz="2880" baseline="-22000">
                <a:solidFill>
                  <a:srgbClr val="2459D3"/>
                </a:solidFill>
                <a:latin typeface="Cambria Math" panose="02040503050406030204" pitchFamily="18" charset="0"/>
              </a:rPr>
              <a:t>A</a:t>
            </a:r>
            <a:r>
              <a:rPr lang="en-IL" sz="4000">
                <a:solidFill>
                  <a:srgbClr val="2459D3"/>
                </a:solidFill>
                <a:latin typeface="Cambria Math" panose="02040503050406030204" pitchFamily="18" charset="0"/>
              </a:rPr>
              <a:t> = R</a:t>
            </a:r>
            <a:r>
              <a:rPr lang="en-IL" sz="2880" baseline="-22000">
                <a:solidFill>
                  <a:srgbClr val="2459D3"/>
                </a:solidFill>
                <a:latin typeface="Cambria Math" panose="02040503050406030204" pitchFamily="18" charset="0"/>
              </a:rPr>
              <a:t>AB</a:t>
            </a:r>
            <a:r>
              <a:rPr lang="en-IL" sz="4000">
                <a:solidFill>
                  <a:srgbClr val="2459D3"/>
                </a:solidFill>
                <a:latin typeface="Cambria Math" panose="02040503050406030204" pitchFamily="18" charset="0"/>
              </a:rPr>
              <a:t> p</a:t>
            </a:r>
            <a:r>
              <a:rPr lang="en-IL" sz="2880" baseline="-22000">
                <a:solidFill>
                  <a:srgbClr val="2459D3"/>
                </a:solidFill>
                <a:latin typeface="Cambria Math" panose="02040503050406030204" pitchFamily="18" charset="0"/>
              </a:rPr>
              <a:t>B</a:t>
            </a:r>
            <a:r>
              <a:rPr lang="en-IL" sz="4000">
                <a:solidFill>
                  <a:srgbClr val="2459D3"/>
                </a:solidFill>
                <a:latin typeface="Cambria Math" panose="02040503050406030204" pitchFamily="18" charset="0"/>
              </a:rPr>
              <a:t> + t</a:t>
            </a:r>
            <a:r>
              <a:rPr lang="en-IL" sz="2880" baseline="-22000">
                <a:solidFill>
                  <a:srgbClr val="2459D3"/>
                </a:solidFill>
                <a:latin typeface="Cambria Math" panose="02040503050406030204" pitchFamily="18" charset="0"/>
              </a:rPr>
              <a:t>AB</a:t>
            </a:r>
          </a:p>
        </p:txBody>
      </p:sp>
      <p:sp>
        <p:nvSpPr>
          <p:cNvPr id="15" name="text_14">
            <a:extLst>
              <a:ext uri="{FF2B5EF4-FFF2-40B4-BE49-F238E27FC236}">
                <a16:creationId xmlns:a16="http://schemas.microsoft.com/office/drawing/2014/main" id="{804712FE-9514-B324-9D29-EC13FEA3002B}"/>
              </a:ext>
            </a:extLst>
          </p:cNvPr>
          <p:cNvSpPr txBox="1"/>
          <p:nvPr/>
        </p:nvSpPr>
        <p:spPr>
          <a:xfrm>
            <a:off x="939800" y="5257799"/>
            <a:ext cx="10312400" cy="508000"/>
          </a:xfrm>
          <a:prstGeom prst="rect">
            <a:avLst/>
          </a:prstGeom>
          <a:noFill/>
        </p:spPr>
        <p:txBody>
          <a:bodyPr vert="horz" wrap="square" lIns="0" tIns="0" rIns="0" bIns="0" rtlCol="0" anchor="t">
            <a:noAutofit/>
          </a:bodyPr>
          <a:lstStyle/>
          <a:p>
            <a:r>
              <a:rPr lang="fr-FR" sz="2600">
                <a:solidFill>
                  <a:srgbClr val="526477"/>
                </a:solidFill>
                <a:latin typeface="Aptos" panose="020B0004020202020204" pitchFamily="34" charset="0"/>
              </a:rPr>
              <a:t>20 min concepts  ·  25 min code, demo &amp; questions</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2574260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59A5B64-83CB-39A8-DD12-A339978D46FE}"/>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562A35BB-FD68-AC30-E957-20A13BC912D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Why do coordinates need a frame?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0C0A934F-1207-78B1-BD1C-3E835E86B74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physical target. Several coordinate descriptions.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674EA33-6C82-7D98-E5C9-F80F02863F7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0A00F52-512D-3D63-B247-BE7259CDCCC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2AC450B-5C10-D4EB-53A5-39F0BD3FDE5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Oval 7">
            <a:extLst>
              <a:ext uri="{FF2B5EF4-FFF2-40B4-BE49-F238E27FC236}">
                <a16:creationId xmlns:a16="http://schemas.microsoft.com/office/drawing/2014/main" id="{8DB800CD-C7C6-AD8B-92CA-89BD0EDF978F}"/>
              </a:ext>
            </a:extLst>
          </p:cNvPr>
          <p:cNvSpPr/>
          <p:nvPr/>
        </p:nvSpPr>
        <p:spPr>
          <a:xfrm>
            <a:off x="1600200" y="414020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9" name="Straight Connector 8">
            <a:extLst>
              <a:ext uri="{FF2B5EF4-FFF2-40B4-BE49-F238E27FC236}">
                <a16:creationId xmlns:a16="http://schemas.microsoft.com/office/drawing/2014/main" id="{3274C153-0465-33F9-A02D-AEEC9280EC42}"/>
              </a:ext>
            </a:extLst>
          </p:cNvPr>
          <p:cNvCxnSpPr/>
          <p:nvPr/>
        </p:nvCxnSpPr>
        <p:spPr>
          <a:xfrm>
            <a:off x="1651000" y="4191000"/>
            <a:ext cx="965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B92C0B4-FE05-A9E0-6809-5A35347C2ADD}"/>
              </a:ext>
            </a:extLst>
          </p:cNvPr>
          <p:cNvCxnSpPr/>
          <p:nvPr/>
        </p:nvCxnSpPr>
        <p:spPr>
          <a:xfrm flipV="1">
            <a:off x="1651000" y="3302000"/>
            <a:ext cx="0" cy="8890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5D237E2-35A9-4212-4865-6D79E594105F}"/>
              </a:ext>
            </a:extLst>
          </p:cNvPr>
          <p:cNvCxnSpPr/>
          <p:nvPr/>
        </p:nvCxnSpPr>
        <p:spPr>
          <a:xfrm flipH="1">
            <a:off x="1168400" y="4191000"/>
            <a:ext cx="482600" cy="4064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2" name="text_11">
            <a:extLst>
              <a:ext uri="{FF2B5EF4-FFF2-40B4-BE49-F238E27FC236}">
                <a16:creationId xmlns:a16="http://schemas.microsoft.com/office/drawing/2014/main" id="{18EDC697-333B-E18D-2DA8-74BB73E10148}"/>
              </a:ext>
            </a:extLst>
          </p:cNvPr>
          <p:cNvSpPr txBox="1"/>
          <p:nvPr/>
        </p:nvSpPr>
        <p:spPr>
          <a:xfrm>
            <a:off x="2641600" y="4000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x</a:t>
            </a:r>
          </a:p>
        </p:txBody>
      </p:sp>
      <p:sp>
        <p:nvSpPr>
          <p:cNvPr id="13" name="text_12">
            <a:extLst>
              <a:ext uri="{FF2B5EF4-FFF2-40B4-BE49-F238E27FC236}">
                <a16:creationId xmlns:a16="http://schemas.microsoft.com/office/drawing/2014/main" id="{72D85366-BB2B-8AF7-687F-BF07159BB7AC}"/>
              </a:ext>
            </a:extLst>
          </p:cNvPr>
          <p:cNvSpPr txBox="1"/>
          <p:nvPr/>
        </p:nvSpPr>
        <p:spPr>
          <a:xfrm>
            <a:off x="1498600" y="2857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z</a:t>
            </a:r>
          </a:p>
        </p:txBody>
      </p:sp>
      <p:sp>
        <p:nvSpPr>
          <p:cNvPr id="14" name="text_13">
            <a:extLst>
              <a:ext uri="{FF2B5EF4-FFF2-40B4-BE49-F238E27FC236}">
                <a16:creationId xmlns:a16="http://schemas.microsoft.com/office/drawing/2014/main" id="{1FD7CE95-A5CB-0A1A-BAAE-1FCFF23D2AAA}"/>
              </a:ext>
            </a:extLst>
          </p:cNvPr>
          <p:cNvSpPr txBox="1"/>
          <p:nvPr/>
        </p:nvSpPr>
        <p:spPr>
          <a:xfrm>
            <a:off x="812800" y="44449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y</a:t>
            </a:r>
          </a:p>
        </p:txBody>
      </p:sp>
      <p:sp>
        <p:nvSpPr>
          <p:cNvPr id="15" name="text_14">
            <a:extLst>
              <a:ext uri="{FF2B5EF4-FFF2-40B4-BE49-F238E27FC236}">
                <a16:creationId xmlns:a16="http://schemas.microsoft.com/office/drawing/2014/main" id="{08F1E893-56DD-8D77-7FDE-237996DE86FF}"/>
              </a:ext>
            </a:extLst>
          </p:cNvPr>
          <p:cNvSpPr txBox="1"/>
          <p:nvPr/>
        </p:nvSpPr>
        <p:spPr>
          <a:xfrm>
            <a:off x="1117600" y="5016499"/>
            <a:ext cx="2286000" cy="4826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world</a:t>
            </a:r>
          </a:p>
        </p:txBody>
      </p:sp>
      <p:sp>
        <p:nvSpPr>
          <p:cNvPr id="16" name="Oval 15">
            <a:extLst>
              <a:ext uri="{FF2B5EF4-FFF2-40B4-BE49-F238E27FC236}">
                <a16:creationId xmlns:a16="http://schemas.microsoft.com/office/drawing/2014/main" id="{8BC4F9C1-839A-6421-4CCD-0629FA9BFB34}"/>
              </a:ext>
            </a:extLst>
          </p:cNvPr>
          <p:cNvSpPr/>
          <p:nvPr/>
        </p:nvSpPr>
        <p:spPr>
          <a:xfrm>
            <a:off x="5041900" y="4140200"/>
            <a:ext cx="101600" cy="101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Straight Connector 16">
            <a:extLst>
              <a:ext uri="{FF2B5EF4-FFF2-40B4-BE49-F238E27FC236}">
                <a16:creationId xmlns:a16="http://schemas.microsoft.com/office/drawing/2014/main" id="{5A224B35-B6BA-91B2-0301-59CD0D7BBA3C}"/>
              </a:ext>
            </a:extLst>
          </p:cNvPr>
          <p:cNvCxnSpPr/>
          <p:nvPr/>
        </p:nvCxnSpPr>
        <p:spPr>
          <a:xfrm>
            <a:off x="5092700" y="4191000"/>
            <a:ext cx="965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C543FAF1-5088-68D3-9CB9-E890A76C3FD2}"/>
              </a:ext>
            </a:extLst>
          </p:cNvPr>
          <p:cNvCxnSpPr/>
          <p:nvPr/>
        </p:nvCxnSpPr>
        <p:spPr>
          <a:xfrm flipV="1">
            <a:off x="5092700" y="3302000"/>
            <a:ext cx="0" cy="8890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93A2FC5-6DBB-A87D-B4C3-32D1B19CEE41}"/>
              </a:ext>
            </a:extLst>
          </p:cNvPr>
          <p:cNvCxnSpPr/>
          <p:nvPr/>
        </p:nvCxnSpPr>
        <p:spPr>
          <a:xfrm flipH="1">
            <a:off x="4610100" y="4191000"/>
            <a:ext cx="482600" cy="4064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0" name="text_19">
            <a:extLst>
              <a:ext uri="{FF2B5EF4-FFF2-40B4-BE49-F238E27FC236}">
                <a16:creationId xmlns:a16="http://schemas.microsoft.com/office/drawing/2014/main" id="{0CDD26C2-818A-6DB1-F3D9-89FAB86D660D}"/>
              </a:ext>
            </a:extLst>
          </p:cNvPr>
          <p:cNvSpPr txBox="1"/>
          <p:nvPr/>
        </p:nvSpPr>
        <p:spPr>
          <a:xfrm>
            <a:off x="6083300" y="4000499"/>
            <a:ext cx="381000" cy="4445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x</a:t>
            </a:r>
          </a:p>
        </p:txBody>
      </p:sp>
      <p:sp>
        <p:nvSpPr>
          <p:cNvPr id="21" name="text_20">
            <a:extLst>
              <a:ext uri="{FF2B5EF4-FFF2-40B4-BE49-F238E27FC236}">
                <a16:creationId xmlns:a16="http://schemas.microsoft.com/office/drawing/2014/main" id="{0E0E64AF-2287-E0B1-4D98-13876F9FEDCA}"/>
              </a:ext>
            </a:extLst>
          </p:cNvPr>
          <p:cNvSpPr txBox="1"/>
          <p:nvPr/>
        </p:nvSpPr>
        <p:spPr>
          <a:xfrm>
            <a:off x="4940300" y="2857499"/>
            <a:ext cx="381000" cy="4445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z</a:t>
            </a:r>
          </a:p>
        </p:txBody>
      </p:sp>
      <p:sp>
        <p:nvSpPr>
          <p:cNvPr id="22" name="text_21">
            <a:extLst>
              <a:ext uri="{FF2B5EF4-FFF2-40B4-BE49-F238E27FC236}">
                <a16:creationId xmlns:a16="http://schemas.microsoft.com/office/drawing/2014/main" id="{8249DB49-3CFC-E21C-3460-B0FBDCF743A6}"/>
              </a:ext>
            </a:extLst>
          </p:cNvPr>
          <p:cNvSpPr txBox="1"/>
          <p:nvPr/>
        </p:nvSpPr>
        <p:spPr>
          <a:xfrm>
            <a:off x="4254500" y="4444999"/>
            <a:ext cx="381000" cy="4445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y</a:t>
            </a:r>
          </a:p>
        </p:txBody>
      </p:sp>
      <p:sp>
        <p:nvSpPr>
          <p:cNvPr id="23" name="text_22">
            <a:extLst>
              <a:ext uri="{FF2B5EF4-FFF2-40B4-BE49-F238E27FC236}">
                <a16:creationId xmlns:a16="http://schemas.microsoft.com/office/drawing/2014/main" id="{FF778350-4DA3-43E3-E52B-B65952A70414}"/>
              </a:ext>
            </a:extLst>
          </p:cNvPr>
          <p:cNvSpPr txBox="1"/>
          <p:nvPr/>
        </p:nvSpPr>
        <p:spPr>
          <a:xfrm>
            <a:off x="4559300" y="5016499"/>
            <a:ext cx="2286000" cy="4826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robot</a:t>
            </a:r>
          </a:p>
        </p:txBody>
      </p:sp>
      <p:sp>
        <p:nvSpPr>
          <p:cNvPr id="24" name="Oval 23">
            <a:extLst>
              <a:ext uri="{FF2B5EF4-FFF2-40B4-BE49-F238E27FC236}">
                <a16:creationId xmlns:a16="http://schemas.microsoft.com/office/drawing/2014/main" id="{4A5925CD-A85B-AD6B-9A79-40E8529B9222}"/>
              </a:ext>
            </a:extLst>
          </p:cNvPr>
          <p:cNvSpPr/>
          <p:nvPr/>
        </p:nvSpPr>
        <p:spPr>
          <a:xfrm>
            <a:off x="8763000" y="414020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5" name="Straight Connector 24">
            <a:extLst>
              <a:ext uri="{FF2B5EF4-FFF2-40B4-BE49-F238E27FC236}">
                <a16:creationId xmlns:a16="http://schemas.microsoft.com/office/drawing/2014/main" id="{F87FA47C-9C34-FE27-9B9D-CEFAB78A4E77}"/>
              </a:ext>
            </a:extLst>
          </p:cNvPr>
          <p:cNvCxnSpPr/>
          <p:nvPr/>
        </p:nvCxnSpPr>
        <p:spPr>
          <a:xfrm>
            <a:off x="8813800" y="4191000"/>
            <a:ext cx="965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31D41F6-A39E-AA62-A0E4-6A061E9F49AE}"/>
              </a:ext>
            </a:extLst>
          </p:cNvPr>
          <p:cNvCxnSpPr/>
          <p:nvPr/>
        </p:nvCxnSpPr>
        <p:spPr>
          <a:xfrm flipV="1">
            <a:off x="8813800" y="3302000"/>
            <a:ext cx="0" cy="8890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FCB69ED-7C44-D67A-D0BC-3C5D56D11DA3}"/>
              </a:ext>
            </a:extLst>
          </p:cNvPr>
          <p:cNvCxnSpPr/>
          <p:nvPr/>
        </p:nvCxnSpPr>
        <p:spPr>
          <a:xfrm flipH="1">
            <a:off x="8331200" y="4191000"/>
            <a:ext cx="482600" cy="4064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8" name="text_27">
            <a:extLst>
              <a:ext uri="{FF2B5EF4-FFF2-40B4-BE49-F238E27FC236}">
                <a16:creationId xmlns:a16="http://schemas.microsoft.com/office/drawing/2014/main" id="{C289C86E-7A2D-37EE-E9FE-5B0A5D2DDC69}"/>
              </a:ext>
            </a:extLst>
          </p:cNvPr>
          <p:cNvSpPr txBox="1"/>
          <p:nvPr/>
        </p:nvSpPr>
        <p:spPr>
          <a:xfrm>
            <a:off x="9804400" y="4000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x</a:t>
            </a:r>
          </a:p>
        </p:txBody>
      </p:sp>
      <p:sp>
        <p:nvSpPr>
          <p:cNvPr id="29" name="text_28">
            <a:extLst>
              <a:ext uri="{FF2B5EF4-FFF2-40B4-BE49-F238E27FC236}">
                <a16:creationId xmlns:a16="http://schemas.microsoft.com/office/drawing/2014/main" id="{53210F9B-43C9-9CEA-2669-229ABDBDB79B}"/>
              </a:ext>
            </a:extLst>
          </p:cNvPr>
          <p:cNvSpPr txBox="1"/>
          <p:nvPr/>
        </p:nvSpPr>
        <p:spPr>
          <a:xfrm>
            <a:off x="8661400" y="28574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z</a:t>
            </a:r>
          </a:p>
        </p:txBody>
      </p:sp>
      <p:sp>
        <p:nvSpPr>
          <p:cNvPr id="30" name="text_29">
            <a:extLst>
              <a:ext uri="{FF2B5EF4-FFF2-40B4-BE49-F238E27FC236}">
                <a16:creationId xmlns:a16="http://schemas.microsoft.com/office/drawing/2014/main" id="{91A20264-13DA-D343-67AE-1A0CEFFC3CB3}"/>
              </a:ext>
            </a:extLst>
          </p:cNvPr>
          <p:cNvSpPr txBox="1"/>
          <p:nvPr/>
        </p:nvSpPr>
        <p:spPr>
          <a:xfrm>
            <a:off x="7975600" y="4444999"/>
            <a:ext cx="381000" cy="444500"/>
          </a:xfrm>
          <a:prstGeom prst="rect">
            <a:avLst/>
          </a:prstGeom>
          <a:noFill/>
        </p:spPr>
        <p:txBody>
          <a:bodyPr vert="horz" wrap="square" lIns="0" tIns="0" rIns="0" bIns="0" rtlCol="0" anchor="t">
            <a:noAutofit/>
          </a:bodyPr>
          <a:lstStyle/>
          <a:p>
            <a:r>
              <a:rPr lang="en-IL" sz="2400">
                <a:solidFill>
                  <a:srgbClr val="2459D3"/>
                </a:solidFill>
                <a:latin typeface="Aptos" panose="020B0004020202020204" pitchFamily="34" charset="0"/>
              </a:rPr>
              <a:t>y</a:t>
            </a:r>
          </a:p>
        </p:txBody>
      </p:sp>
      <p:sp>
        <p:nvSpPr>
          <p:cNvPr id="31" name="text_30">
            <a:extLst>
              <a:ext uri="{FF2B5EF4-FFF2-40B4-BE49-F238E27FC236}">
                <a16:creationId xmlns:a16="http://schemas.microsoft.com/office/drawing/2014/main" id="{7726B8C9-1BF0-B5CD-19E3-534D073C35AB}"/>
              </a:ext>
            </a:extLst>
          </p:cNvPr>
          <p:cNvSpPr txBox="1"/>
          <p:nvPr/>
        </p:nvSpPr>
        <p:spPr>
          <a:xfrm>
            <a:off x="8280400" y="5016499"/>
            <a:ext cx="2286000" cy="4826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camera</a:t>
            </a:r>
          </a:p>
        </p:txBody>
      </p:sp>
      <p:sp>
        <p:nvSpPr>
          <p:cNvPr id="32" name="Oval 31">
            <a:extLst>
              <a:ext uri="{FF2B5EF4-FFF2-40B4-BE49-F238E27FC236}">
                <a16:creationId xmlns:a16="http://schemas.microsoft.com/office/drawing/2014/main" id="{9DB7910B-F39D-F461-006B-03C286AF70D2}"/>
              </a:ext>
            </a:extLst>
          </p:cNvPr>
          <p:cNvSpPr/>
          <p:nvPr/>
        </p:nvSpPr>
        <p:spPr>
          <a:xfrm>
            <a:off x="10388600" y="2641600"/>
            <a:ext cx="304800" cy="304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EF295984-707E-5AE1-1F1C-BC90835EC4CC}"/>
              </a:ext>
            </a:extLst>
          </p:cNvPr>
          <p:cNvSpPr txBox="1"/>
          <p:nvPr/>
        </p:nvSpPr>
        <p:spPr>
          <a:xfrm>
            <a:off x="9474200" y="2324099"/>
            <a:ext cx="2032000" cy="444500"/>
          </a:xfrm>
          <a:prstGeom prst="rect">
            <a:avLst/>
          </a:prstGeom>
          <a:noFill/>
        </p:spPr>
        <p:txBody>
          <a:bodyPr vert="horz" wrap="square" lIns="0" tIns="0" rIns="0" bIns="0" rtlCol="0" anchor="t">
            <a:noAutofit/>
          </a:bodyPr>
          <a:lstStyle/>
          <a:p>
            <a:r>
              <a:rPr lang="en-IL" sz="2400" b="1">
                <a:solidFill>
                  <a:srgbClr val="AE651D"/>
                </a:solidFill>
                <a:latin typeface="Aptos" panose="020B0004020202020204" pitchFamily="34" charset="0"/>
              </a:rPr>
              <a:t>same target</a:t>
            </a:r>
          </a:p>
        </p:txBody>
      </p:sp>
      <p:cxnSp>
        <p:nvCxnSpPr>
          <p:cNvPr id="34" name="Straight Connector 33">
            <a:extLst>
              <a:ext uri="{FF2B5EF4-FFF2-40B4-BE49-F238E27FC236}">
                <a16:creationId xmlns:a16="http://schemas.microsoft.com/office/drawing/2014/main" id="{3C780171-1920-29A6-0472-6D40E91B3ECF}"/>
              </a:ext>
            </a:extLst>
          </p:cNvPr>
          <p:cNvCxnSpPr/>
          <p:nvPr/>
        </p:nvCxnSpPr>
        <p:spPr>
          <a:xfrm flipV="1">
            <a:off x="1651000" y="2844800"/>
            <a:ext cx="8813800" cy="13462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C018471-6B2A-A3F8-8066-D93B6E089B43}"/>
              </a:ext>
            </a:extLst>
          </p:cNvPr>
          <p:cNvCxnSpPr/>
          <p:nvPr/>
        </p:nvCxnSpPr>
        <p:spPr>
          <a:xfrm flipV="1">
            <a:off x="5092700" y="2844800"/>
            <a:ext cx="5372100" cy="13462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892E84-9766-27F8-8C0E-A35550D689BC}"/>
              </a:ext>
            </a:extLst>
          </p:cNvPr>
          <p:cNvCxnSpPr/>
          <p:nvPr/>
        </p:nvCxnSpPr>
        <p:spPr>
          <a:xfrm flipV="1">
            <a:off x="8813800" y="2844800"/>
            <a:ext cx="1651000" cy="13462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37" name="text_36">
            <a:extLst>
              <a:ext uri="{FF2B5EF4-FFF2-40B4-BE49-F238E27FC236}">
                <a16:creationId xmlns:a16="http://schemas.microsoft.com/office/drawing/2014/main" id="{A5AC4EF7-F011-B076-DECB-F0CFF7ABD6BA}"/>
              </a:ext>
            </a:extLst>
          </p:cNvPr>
          <p:cNvSpPr txBox="1"/>
          <p:nvPr/>
        </p:nvSpPr>
        <p:spPr>
          <a:xfrm>
            <a:off x="685800" y="5587999"/>
            <a:ext cx="10820400" cy="5080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A camera measurement needs a robot-frame destination.</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825640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B12270D-718C-7F3A-DE12-1CFC84D9D56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4855E0AA-FC8F-3CA0-6427-F63AD078E08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are TF and tf2?</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8F376E5E-D016-D7C7-B995-5817A7A1D5C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Geometry describes the relationship; tf2 manages it over time.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2207A10-0AA9-5513-8866-89EB18BCC2A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9EA339C-DCFB-558A-9124-D30E03EB0C7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535CDC5-F7CA-0576-6AB6-29DA3BB7026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4A11C0E6-3CE5-28F9-0A70-14C1BB1A39C2}"/>
              </a:ext>
            </a:extLst>
          </p:cNvPr>
          <p:cNvSpPr/>
          <p:nvPr/>
        </p:nvSpPr>
        <p:spPr>
          <a:xfrm>
            <a:off x="685800" y="2730500"/>
            <a:ext cx="3429000" cy="2870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A5BDD179-D24F-16BA-614E-03453D18DE32}"/>
              </a:ext>
            </a:extLst>
          </p:cNvPr>
          <p:cNvSpPr txBox="1"/>
          <p:nvPr/>
        </p:nvSpPr>
        <p:spPr>
          <a:xfrm>
            <a:off x="914400" y="2920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Frame</a:t>
            </a:r>
          </a:p>
        </p:txBody>
      </p:sp>
      <p:sp>
        <p:nvSpPr>
          <p:cNvPr id="10" name="text_9">
            <a:extLst>
              <a:ext uri="{FF2B5EF4-FFF2-40B4-BE49-F238E27FC236}">
                <a16:creationId xmlns:a16="http://schemas.microsoft.com/office/drawing/2014/main" id="{A27F872D-008A-F169-7D13-55A632B8F776}"/>
              </a:ext>
            </a:extLst>
          </p:cNvPr>
          <p:cNvSpPr txBox="1"/>
          <p:nvPr/>
        </p:nvSpPr>
        <p:spPr>
          <a:xfrm>
            <a:off x="914400" y="3606799"/>
            <a:ext cx="2971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Origin + axes
Where are coordinates measured?</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D5081E71-9AD0-2CD7-1134-2618973E9BEA}"/>
              </a:ext>
            </a:extLst>
          </p:cNvPr>
          <p:cNvSpPr/>
          <p:nvPr/>
        </p:nvSpPr>
        <p:spPr>
          <a:xfrm>
            <a:off x="4381500" y="2730500"/>
            <a:ext cx="3429000" cy="2870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4E8D002-B4E6-70DF-22F6-8148E00E99E1}"/>
              </a:ext>
            </a:extLst>
          </p:cNvPr>
          <p:cNvSpPr txBox="1"/>
          <p:nvPr/>
        </p:nvSpPr>
        <p:spPr>
          <a:xfrm>
            <a:off x="4610100" y="2920999"/>
            <a:ext cx="2971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Transform</a:t>
            </a:r>
          </a:p>
        </p:txBody>
      </p:sp>
      <p:sp>
        <p:nvSpPr>
          <p:cNvPr id="13" name="text_12">
            <a:extLst>
              <a:ext uri="{FF2B5EF4-FFF2-40B4-BE49-F238E27FC236}">
                <a16:creationId xmlns:a16="http://schemas.microsoft.com/office/drawing/2014/main" id="{D4AD802B-A56B-3D54-C550-8CB6A77076D9}"/>
              </a:ext>
            </a:extLst>
          </p:cNvPr>
          <p:cNvSpPr txBox="1"/>
          <p:nvPr/>
        </p:nvSpPr>
        <p:spPr>
          <a:xfrm>
            <a:off x="4610100" y="3606799"/>
            <a:ext cx="2971800" cy="1905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Rotate + translate
Between frames.</a:t>
            </a:r>
          </a:p>
        </p:txBody>
      </p:sp>
      <p:sp>
        <p:nvSpPr>
          <p:cNvPr id="14" name="Rectangle: Rounded Corners 13">
            <a:extLst>
              <a:ext uri="{FF2B5EF4-FFF2-40B4-BE49-F238E27FC236}">
                <a16:creationId xmlns:a16="http://schemas.microsoft.com/office/drawing/2014/main" id="{85A20C17-0D41-A4E2-F5E3-40E25A75AB36}"/>
              </a:ext>
            </a:extLst>
          </p:cNvPr>
          <p:cNvSpPr/>
          <p:nvPr/>
        </p:nvSpPr>
        <p:spPr>
          <a:xfrm>
            <a:off x="8077200" y="2730500"/>
            <a:ext cx="3429000" cy="2870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DA94CAF3-E0E2-85E4-49FD-A411B1BFCA68}"/>
              </a:ext>
            </a:extLst>
          </p:cNvPr>
          <p:cNvSpPr txBox="1"/>
          <p:nvPr/>
        </p:nvSpPr>
        <p:spPr>
          <a:xfrm>
            <a:off x="8305800" y="2920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tf2</a:t>
            </a:r>
          </a:p>
        </p:txBody>
      </p:sp>
      <p:sp>
        <p:nvSpPr>
          <p:cNvPr id="16" name="text_15">
            <a:extLst>
              <a:ext uri="{FF2B5EF4-FFF2-40B4-BE49-F238E27FC236}">
                <a16:creationId xmlns:a16="http://schemas.microsoft.com/office/drawing/2014/main" id="{634A2157-FFE5-AC8D-E9F1-F84D09CFDCE1}"/>
              </a:ext>
            </a:extLst>
          </p:cNvPr>
          <p:cNvSpPr txBox="1"/>
          <p:nvPr/>
        </p:nvSpPr>
        <p:spPr>
          <a:xfrm>
            <a:off x="8305800" y="3606799"/>
            <a:ext cx="29718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Time-aware library
Find and apply the relationship.</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3014992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5442A41-FCBD-3D87-6972-4DF3B0AF629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F7D5CCC0-9660-ED72-4514-91D17DB3083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Always check the conventions</a:t>
            </a:r>
          </a:p>
        </p:txBody>
      </p:sp>
      <p:sp>
        <p:nvSpPr>
          <p:cNvPr id="4" name="text_3">
            <a:extLst>
              <a:ext uri="{FF2B5EF4-FFF2-40B4-BE49-F238E27FC236}">
                <a16:creationId xmlns:a16="http://schemas.microsoft.com/office/drawing/2014/main" id="{54AAE71B-6AD6-94FA-0328-2D814D04388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Read the standard and the API before combining data.</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CAC0478-1FD7-70FB-2677-E2B6FCE0A89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C96FF8A-DBF6-BE16-3262-FD4BB1D1343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C0662FF-CD38-29A5-2FCB-D8690499D09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Rectangle: Rounded Corners 7">
            <a:extLst>
              <a:ext uri="{FF2B5EF4-FFF2-40B4-BE49-F238E27FC236}">
                <a16:creationId xmlns:a16="http://schemas.microsoft.com/office/drawing/2014/main" id="{A60F1864-9251-D499-0AEE-0A800AAB1F23}"/>
              </a:ext>
            </a:extLst>
          </p:cNvPr>
          <p:cNvSpPr/>
          <p:nvPr/>
        </p:nvSpPr>
        <p:spPr>
          <a:xfrm>
            <a:off x="685800" y="2565400"/>
            <a:ext cx="3429000" cy="2032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710ADD9-84AF-933F-ECE0-F17F2EB6743F}"/>
              </a:ext>
            </a:extLst>
          </p:cNvPr>
          <p:cNvSpPr txBox="1"/>
          <p:nvPr/>
        </p:nvSpPr>
        <p:spPr>
          <a:xfrm>
            <a:off x="914400" y="27558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ROS body</a:t>
            </a:r>
          </a:p>
        </p:txBody>
      </p:sp>
      <p:sp>
        <p:nvSpPr>
          <p:cNvPr id="10" name="text_9">
            <a:extLst>
              <a:ext uri="{FF2B5EF4-FFF2-40B4-BE49-F238E27FC236}">
                <a16:creationId xmlns:a16="http://schemas.microsoft.com/office/drawing/2014/main" id="{A851D2A9-2BE4-5BA9-F980-0AAE3B81E6C9}"/>
              </a:ext>
            </a:extLst>
          </p:cNvPr>
          <p:cNvSpPr txBox="1"/>
          <p:nvPr/>
        </p:nvSpPr>
        <p:spPr>
          <a:xfrm>
            <a:off x="914400" y="3441699"/>
            <a:ext cx="2971800" cy="1066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x forward · y left · z up</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40C6625B-A238-397F-26D9-7043AC09A92A}"/>
              </a:ext>
            </a:extLst>
          </p:cNvPr>
          <p:cNvSpPr/>
          <p:nvPr/>
        </p:nvSpPr>
        <p:spPr>
          <a:xfrm>
            <a:off x="4381500" y="2565400"/>
            <a:ext cx="3429000" cy="2032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6A835935-8124-3DDD-8012-8C0D1A761AAD}"/>
              </a:ext>
            </a:extLst>
          </p:cNvPr>
          <p:cNvSpPr txBox="1"/>
          <p:nvPr/>
        </p:nvSpPr>
        <p:spPr>
          <a:xfrm>
            <a:off x="4610100" y="2755899"/>
            <a:ext cx="2971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Optical</a:t>
            </a:r>
          </a:p>
        </p:txBody>
      </p:sp>
      <p:sp>
        <p:nvSpPr>
          <p:cNvPr id="13" name="text_12">
            <a:extLst>
              <a:ext uri="{FF2B5EF4-FFF2-40B4-BE49-F238E27FC236}">
                <a16:creationId xmlns:a16="http://schemas.microsoft.com/office/drawing/2014/main" id="{C6F27A98-1CB3-729D-9210-0344DBCDE74C}"/>
              </a:ext>
            </a:extLst>
          </p:cNvPr>
          <p:cNvSpPr txBox="1"/>
          <p:nvPr/>
        </p:nvSpPr>
        <p:spPr>
          <a:xfrm>
            <a:off x="4610100" y="3441699"/>
            <a:ext cx="2971800" cy="1066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x right · y down · z forward</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F7E196B1-59E4-68BB-B878-E288C67BFD11}"/>
              </a:ext>
            </a:extLst>
          </p:cNvPr>
          <p:cNvSpPr txBox="1"/>
          <p:nvPr/>
        </p:nvSpPr>
        <p:spPr>
          <a:xfrm>
            <a:off x="8153400" y="2616199"/>
            <a:ext cx="3352800" cy="2057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 Right-handed · m/rad
✓ Transform direction
✓ Euler sequence/axes
✓ Column/row vectors</a:t>
            </a:r>
          </a:p>
        </p:txBody>
      </p:sp>
      <p:sp>
        <p:nvSpPr>
          <p:cNvPr id="15" name="Rectangle: Rounded Corners 14">
            <a:extLst>
              <a:ext uri="{FF2B5EF4-FFF2-40B4-BE49-F238E27FC236}">
                <a16:creationId xmlns:a16="http://schemas.microsoft.com/office/drawing/2014/main" id="{C5BF6A25-FE71-B255-A043-7E18C9393B24}"/>
              </a:ext>
            </a:extLst>
          </p:cNvPr>
          <p:cNvSpPr/>
          <p:nvPr/>
        </p:nvSpPr>
        <p:spPr>
          <a:xfrm>
            <a:off x="685800" y="4889500"/>
            <a:ext cx="10820400" cy="10414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9A1DEB72-0526-9E48-001B-6BF85ECC357B}"/>
              </a:ext>
            </a:extLst>
          </p:cNvPr>
          <p:cNvSpPr txBox="1"/>
          <p:nvPr/>
        </p:nvSpPr>
        <p:spPr>
          <a:xfrm>
            <a:off x="914400" y="5092699"/>
            <a:ext cx="5156200" cy="685800"/>
          </a:xfrm>
          <a:prstGeom prst="rect">
            <a:avLst/>
          </a:prstGeom>
          <a:noFill/>
        </p:spPr>
        <p:txBody>
          <a:bodyPr vert="horz" wrap="square" lIns="0" tIns="0" rIns="0" bIns="0" rtlCol="0" anchor="t">
            <a:noAutofit/>
          </a:bodyPr>
          <a:lstStyle/>
          <a:p>
            <a:r>
              <a:rPr lang="pl-PL" sz="2600" b="1">
                <a:solidFill>
                  <a:srgbClr val="2459D3"/>
                </a:solidFill>
                <a:latin typeface="Aptos" panose="020B0004020202020204" pitchFamily="34" charset="0"/>
              </a:rPr>
              <a:t>Math q: (w, x, y, z)</a:t>
            </a:r>
            <a:endParaRPr lang="en-IL" sz="2600" b="1">
              <a:solidFill>
                <a:srgbClr val="2459D3"/>
              </a:solidFill>
              <a:latin typeface="Aptos" panose="020B0004020202020204" pitchFamily="34" charset="0"/>
            </a:endParaRPr>
          </a:p>
        </p:txBody>
      </p:sp>
      <p:sp>
        <p:nvSpPr>
          <p:cNvPr id="17" name="text_16">
            <a:extLst>
              <a:ext uri="{FF2B5EF4-FFF2-40B4-BE49-F238E27FC236}">
                <a16:creationId xmlns:a16="http://schemas.microsoft.com/office/drawing/2014/main" id="{83CED6F1-C981-2D52-59DF-BF645A0F78F7}"/>
              </a:ext>
            </a:extLst>
          </p:cNvPr>
          <p:cNvSpPr txBox="1"/>
          <p:nvPr/>
        </p:nvSpPr>
        <p:spPr>
          <a:xfrm>
            <a:off x="6248400" y="5092699"/>
            <a:ext cx="4953000" cy="685800"/>
          </a:xfrm>
          <a:prstGeom prst="rect">
            <a:avLst/>
          </a:prstGeom>
          <a:noFill/>
        </p:spPr>
        <p:txBody>
          <a:bodyPr vert="horz" wrap="square" lIns="0" tIns="0" rIns="0" bIns="0" rtlCol="0" anchor="t">
            <a:noAutofit/>
          </a:bodyPr>
          <a:lstStyle/>
          <a:p>
            <a:r>
              <a:rPr lang="pl-PL" sz="2600" b="1">
                <a:solidFill>
                  <a:srgbClr val="137F79"/>
                </a:solidFill>
                <a:latin typeface="Aptos" panose="020B0004020202020204" pitchFamily="34" charset="0"/>
              </a:rPr>
              <a:t>ROS q: (x, y, z, w)</a:t>
            </a:r>
            <a:endParaRPr lang="en-IL" sz="2600" b="1">
              <a:solidFill>
                <a:srgbClr val="137F79"/>
              </a:solidFill>
              <a:latin typeface="Aptos" panose="020B0004020202020204" pitchFamily="34" charset="0"/>
            </a:endParaRPr>
          </a:p>
        </p:txBody>
      </p:sp>
    </p:spTree>
    <p:extLst>
      <p:ext uri="{BB962C8B-B14F-4D97-AF65-F5344CB8AC3E}">
        <p14:creationId xmlns:p14="http://schemas.microsoft.com/office/powerpoint/2010/main" val="2659703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289C880-B59B-A1EF-9884-BE10848F511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C2105842-9363-CDB0-1E8D-F91B7B73392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 the direction correctly</a:t>
            </a:r>
          </a:p>
        </p:txBody>
      </p:sp>
      <p:sp>
        <p:nvSpPr>
          <p:cNvPr id="4" name="text_3">
            <a:extLst>
              <a:ext uri="{FF2B5EF4-FFF2-40B4-BE49-F238E27FC236}">
                <a16:creationId xmlns:a16="http://schemas.microsoft.com/office/drawing/2014/main" id="{61F9DA9F-FFEB-4A4D-F236-58C3E980308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point stays still; its coordinate tuple changes.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45C4E64-511B-6824-EDC9-7F0515B7C24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75EA9AC-B5EE-36BE-69CA-38D974ED5A9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BC75E89-7BBD-8697-942C-2A29809322E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Rectangle: Rounded Corners 7">
            <a:extLst>
              <a:ext uri="{FF2B5EF4-FFF2-40B4-BE49-F238E27FC236}">
                <a16:creationId xmlns:a16="http://schemas.microsoft.com/office/drawing/2014/main" id="{8C39B222-57EB-DC9F-4D2E-C6E3A5CE9F2E}"/>
              </a:ext>
            </a:extLst>
          </p:cNvPr>
          <p:cNvSpPr/>
          <p:nvPr/>
        </p:nvSpPr>
        <p:spPr>
          <a:xfrm>
            <a:off x="685800" y="2730500"/>
            <a:ext cx="10820400" cy="1193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56FAAC7E-0F8F-1C6F-FC38-1E50F21AB6CC}"/>
              </a:ext>
            </a:extLst>
          </p:cNvPr>
          <p:cNvSpPr txBox="1"/>
          <p:nvPr/>
        </p:nvSpPr>
        <p:spPr>
          <a:xfrm>
            <a:off x="952500" y="2971799"/>
            <a:ext cx="10350500" cy="825500"/>
          </a:xfrm>
          <a:prstGeom prst="rect">
            <a:avLst/>
          </a:prstGeom>
          <a:noFill/>
        </p:spPr>
        <p:txBody>
          <a:bodyPr vert="horz" wrap="square" lIns="0" tIns="0" rIns="0" bIns="0" rtlCol="0" anchor="t">
            <a:noAutofit/>
          </a:bodyPr>
          <a:lstStyle/>
          <a:p>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p = </a:t>
            </a:r>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R</a:t>
            </a:r>
            <a:r>
              <a:rPr lang="en-IL" sz="2736" baseline="-22000">
                <a:solidFill>
                  <a:srgbClr val="2459D3"/>
                </a:solidFill>
                <a:latin typeface="Cambria Math" panose="02040503050406030204" pitchFamily="18" charset="0"/>
              </a:rPr>
              <a:t>B</a:t>
            </a:r>
            <a:r>
              <a:rPr lang="en-IL" sz="3800">
                <a:solidFill>
                  <a:srgbClr val="2459D3"/>
                </a:solidFill>
                <a:latin typeface="Cambria Math" panose="02040503050406030204" pitchFamily="18" charset="0"/>
              </a:rPr>
              <a:t> </a:t>
            </a:r>
            <a:r>
              <a:rPr lang="en-IL" sz="2736" baseline="32000">
                <a:solidFill>
                  <a:srgbClr val="2459D3"/>
                </a:solidFill>
                <a:latin typeface="Cambria Math" panose="02040503050406030204" pitchFamily="18" charset="0"/>
              </a:rPr>
              <a:t>B</a:t>
            </a:r>
            <a:r>
              <a:rPr lang="en-IL" sz="3800">
                <a:solidFill>
                  <a:srgbClr val="2459D3"/>
                </a:solidFill>
                <a:latin typeface="Cambria Math" panose="02040503050406030204" pitchFamily="18" charset="0"/>
              </a:rPr>
              <a:t>p + </a:t>
            </a:r>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t</a:t>
            </a:r>
            <a:r>
              <a:rPr lang="en-IL" sz="2736" baseline="-22000">
                <a:solidFill>
                  <a:srgbClr val="2459D3"/>
                </a:solidFill>
                <a:latin typeface="Cambria Math" panose="02040503050406030204" pitchFamily="18" charset="0"/>
              </a:rPr>
              <a:t>B</a:t>
            </a:r>
          </a:p>
        </p:txBody>
      </p:sp>
      <p:sp>
        <p:nvSpPr>
          <p:cNvPr id="10" name="Rectangle: Rounded Corners 9">
            <a:extLst>
              <a:ext uri="{FF2B5EF4-FFF2-40B4-BE49-F238E27FC236}">
                <a16:creationId xmlns:a16="http://schemas.microsoft.com/office/drawing/2014/main" id="{49EF5339-7939-CFD7-9E26-87C3F3148179}"/>
              </a:ext>
            </a:extLst>
          </p:cNvPr>
          <p:cNvSpPr/>
          <p:nvPr/>
        </p:nvSpPr>
        <p:spPr>
          <a:xfrm>
            <a:off x="685800" y="4483100"/>
            <a:ext cx="3175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6ACF9D5C-50CD-8E35-379F-D78AE6C3471A}"/>
              </a:ext>
            </a:extLst>
          </p:cNvPr>
          <p:cNvSpPr txBox="1"/>
          <p:nvPr/>
        </p:nvSpPr>
        <p:spPr>
          <a:xfrm>
            <a:off x="838200" y="4571999"/>
            <a:ext cx="2870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B coordinates</a:t>
            </a:r>
          </a:p>
        </p:txBody>
      </p:sp>
      <p:sp>
        <p:nvSpPr>
          <p:cNvPr id="12" name="Rectangle: Rounded Corners 11">
            <a:extLst>
              <a:ext uri="{FF2B5EF4-FFF2-40B4-BE49-F238E27FC236}">
                <a16:creationId xmlns:a16="http://schemas.microsoft.com/office/drawing/2014/main" id="{5D62D14C-3CBE-806B-4D43-83BF89CFCCAC}"/>
              </a:ext>
            </a:extLst>
          </p:cNvPr>
          <p:cNvSpPr/>
          <p:nvPr/>
        </p:nvSpPr>
        <p:spPr>
          <a:xfrm>
            <a:off x="8331200" y="4483100"/>
            <a:ext cx="31750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5448609A-9AC3-BC03-C714-3CD08B3F23DA}"/>
              </a:ext>
            </a:extLst>
          </p:cNvPr>
          <p:cNvSpPr txBox="1"/>
          <p:nvPr/>
        </p:nvSpPr>
        <p:spPr>
          <a:xfrm>
            <a:off x="8483600" y="4571999"/>
            <a:ext cx="28702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A coordinates</a:t>
            </a:r>
          </a:p>
        </p:txBody>
      </p:sp>
      <p:cxnSp>
        <p:nvCxnSpPr>
          <p:cNvPr id="14" name="Straight Connector 13">
            <a:extLst>
              <a:ext uri="{FF2B5EF4-FFF2-40B4-BE49-F238E27FC236}">
                <a16:creationId xmlns:a16="http://schemas.microsoft.com/office/drawing/2014/main" id="{28C54B25-936C-20AC-067F-0111676F6496}"/>
              </a:ext>
            </a:extLst>
          </p:cNvPr>
          <p:cNvCxnSpPr/>
          <p:nvPr/>
        </p:nvCxnSpPr>
        <p:spPr>
          <a:xfrm>
            <a:off x="4038600" y="4749800"/>
            <a:ext cx="4089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0E482DBC-D7F2-AF31-5618-440ACD6AD51B}"/>
              </a:ext>
            </a:extLst>
          </p:cNvPr>
          <p:cNvSpPr txBox="1"/>
          <p:nvPr/>
        </p:nvSpPr>
        <p:spPr>
          <a:xfrm>
            <a:off x="4597400" y="4102099"/>
            <a:ext cx="3378200" cy="660400"/>
          </a:xfrm>
          <a:prstGeom prst="rect">
            <a:avLst/>
          </a:prstGeom>
          <a:noFill/>
        </p:spPr>
        <p:txBody>
          <a:bodyPr vert="horz" wrap="square" lIns="0" tIns="0" rIns="0" bIns="0" rtlCol="0" anchor="t">
            <a:noAutofit/>
          </a:bodyPr>
          <a:lstStyle/>
          <a:p>
            <a:pPr algn="ctr"/>
            <a:r>
              <a:rPr lang="en-IL" sz="2448" baseline="32000">
                <a:solidFill>
                  <a:srgbClr val="15283B"/>
                </a:solidFill>
                <a:latin typeface="Cambria Math" panose="02040503050406030204" pitchFamily="18" charset="0"/>
              </a:rPr>
              <a:t>A</a:t>
            </a:r>
            <a:r>
              <a:rPr lang="en-IL" sz="3400">
                <a:solidFill>
                  <a:srgbClr val="15283B"/>
                </a:solidFill>
                <a:latin typeface="Cambria Math" panose="02040503050406030204" pitchFamily="18" charset="0"/>
              </a:rPr>
              <a:t>T</a:t>
            </a:r>
            <a:r>
              <a:rPr lang="en-IL" sz="2448" baseline="-22000">
                <a:solidFill>
                  <a:srgbClr val="15283B"/>
                </a:solidFill>
                <a:latin typeface="Cambria Math" panose="02040503050406030204" pitchFamily="18" charset="0"/>
              </a:rPr>
              <a:t>B</a:t>
            </a:r>
          </a:p>
        </p:txBody>
      </p:sp>
      <p:sp>
        <p:nvSpPr>
          <p:cNvPr id="16" name="text_15">
            <a:extLst>
              <a:ext uri="{FF2B5EF4-FFF2-40B4-BE49-F238E27FC236}">
                <a16:creationId xmlns:a16="http://schemas.microsoft.com/office/drawing/2014/main" id="{4663A6EB-6017-814C-47D8-0C898994F775}"/>
              </a:ext>
            </a:extLst>
          </p:cNvPr>
          <p:cNvSpPr txBox="1"/>
          <p:nvPr/>
        </p:nvSpPr>
        <p:spPr>
          <a:xfrm>
            <a:off x="685800" y="5410199"/>
            <a:ext cx="10820400" cy="5715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Pose of B in A  ·  maps B → A  ·  same physical point</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1456153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6F60CA1-D88A-8A96-7F15-DFE7F638BFF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35DD28C9-2AB1-6368-94DE-9E8E2A7D60A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Matrix representation</a:t>
            </a:r>
          </a:p>
        </p:txBody>
      </p:sp>
      <p:sp>
        <p:nvSpPr>
          <p:cNvPr id="4" name="text_3">
            <a:extLst>
              <a:ext uri="{FF2B5EF4-FFF2-40B4-BE49-F238E27FC236}">
                <a16:creationId xmlns:a16="http://schemas.microsoft.com/office/drawing/2014/main" id="{F4C571A5-4573-5268-C134-918F772927B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Rotation preserves geometry. Translation moves the origin.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67E2717-7A6C-85B0-CEC0-CA199C71523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DB8319B-66F0-56D1-E3AB-A2FDD563C86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722396E-5FC6-88F6-A46A-764875699FF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text_7">
            <a:extLst>
              <a:ext uri="{FF2B5EF4-FFF2-40B4-BE49-F238E27FC236}">
                <a16:creationId xmlns:a16="http://schemas.microsoft.com/office/drawing/2014/main" id="{AD38DD23-156B-26C9-030A-F4B6EB12F0AE}"/>
              </a:ext>
            </a:extLst>
          </p:cNvPr>
          <p:cNvSpPr txBox="1"/>
          <p:nvPr/>
        </p:nvSpPr>
        <p:spPr>
          <a:xfrm>
            <a:off x="685800" y="2451099"/>
            <a:ext cx="3175000" cy="533400"/>
          </a:xfrm>
          <a:prstGeom prst="rect">
            <a:avLst/>
          </a:prstGeom>
          <a:noFill/>
        </p:spPr>
        <p:txBody>
          <a:bodyPr vert="horz" wrap="square" lIns="0" tIns="0" rIns="0" bIns="0" rtlCol="0" anchor="t">
            <a:noAutofit/>
          </a:bodyPr>
          <a:lstStyle/>
          <a:p>
            <a:pPr algn="ctr"/>
            <a:r>
              <a:rPr lang="en-IL" sz="2700">
                <a:solidFill>
                  <a:srgbClr val="2459D3"/>
                </a:solidFill>
                <a:latin typeface="Cambria Math" panose="02040503050406030204" pitchFamily="18" charset="0"/>
              </a:rPr>
              <a:t>R</a:t>
            </a:r>
            <a:r>
              <a:rPr lang="en-IL" sz="1944" baseline="-22000">
                <a:solidFill>
                  <a:srgbClr val="2459D3"/>
                </a:solidFill>
                <a:latin typeface="Cambria Math" panose="02040503050406030204" pitchFamily="18" charset="0"/>
              </a:rPr>
              <a:t>x</a:t>
            </a:r>
            <a:r>
              <a:rPr lang="en-IL" sz="2700">
                <a:solidFill>
                  <a:srgbClr val="2459D3"/>
                </a:solidFill>
                <a:latin typeface="Cambria Math" panose="02040503050406030204" pitchFamily="18" charset="0"/>
              </a:rPr>
              <a:t>(</a:t>
            </a:r>
            <a:r>
              <a:rPr lang="el-GR" sz="2700">
                <a:solidFill>
                  <a:srgbClr val="2459D3"/>
                </a:solidFill>
                <a:latin typeface="Cambria Math" panose="02040503050406030204" pitchFamily="18" charset="0"/>
              </a:rPr>
              <a:t>φ)</a:t>
            </a:r>
            <a:endParaRPr lang="en-IL" sz="27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1BF8E907-69F0-F814-B607-EC6668207E0B}"/>
              </a:ext>
            </a:extLst>
          </p:cNvPr>
          <p:cNvSpPr txBox="1"/>
          <p:nvPr/>
        </p:nvSpPr>
        <p:spPr>
          <a:xfrm>
            <a:off x="4457700" y="2451099"/>
            <a:ext cx="3175000" cy="533400"/>
          </a:xfrm>
          <a:prstGeom prst="rect">
            <a:avLst/>
          </a:prstGeom>
          <a:noFill/>
        </p:spPr>
        <p:txBody>
          <a:bodyPr vert="horz" wrap="square" lIns="0" tIns="0" rIns="0" bIns="0" rtlCol="0" anchor="t">
            <a:noAutofit/>
          </a:bodyPr>
          <a:lstStyle/>
          <a:p>
            <a:pPr algn="ctr"/>
            <a:r>
              <a:rPr lang="en-IL" sz="2700">
                <a:solidFill>
                  <a:srgbClr val="137F79"/>
                </a:solidFill>
                <a:latin typeface="Cambria Math" panose="02040503050406030204" pitchFamily="18" charset="0"/>
              </a:rPr>
              <a:t>R</a:t>
            </a:r>
            <a:r>
              <a:rPr lang="en-IL" sz="1944" baseline="-22000">
                <a:solidFill>
                  <a:srgbClr val="137F79"/>
                </a:solidFill>
                <a:latin typeface="Cambria Math" panose="02040503050406030204" pitchFamily="18" charset="0"/>
              </a:rPr>
              <a:t>y</a:t>
            </a:r>
            <a:r>
              <a:rPr lang="en-IL" sz="2700">
                <a:solidFill>
                  <a:srgbClr val="137F79"/>
                </a:solidFill>
                <a:latin typeface="Cambria Math" panose="02040503050406030204" pitchFamily="18" charset="0"/>
              </a:rPr>
              <a:t>(</a:t>
            </a:r>
            <a:r>
              <a:rPr lang="el-GR" sz="2700">
                <a:solidFill>
                  <a:srgbClr val="137F79"/>
                </a:solidFill>
                <a:latin typeface="Cambria Math" panose="02040503050406030204" pitchFamily="18" charset="0"/>
              </a:rPr>
              <a:t>θ)</a:t>
            </a:r>
            <a:endParaRPr lang="en-IL" sz="2700">
              <a:solidFill>
                <a:srgbClr val="137F79"/>
              </a:solidFill>
              <a:latin typeface="Cambria Math" panose="02040503050406030204" pitchFamily="18" charset="0"/>
            </a:endParaRPr>
          </a:p>
        </p:txBody>
      </p:sp>
      <p:sp>
        <p:nvSpPr>
          <p:cNvPr id="10" name="text_9">
            <a:extLst>
              <a:ext uri="{FF2B5EF4-FFF2-40B4-BE49-F238E27FC236}">
                <a16:creationId xmlns:a16="http://schemas.microsoft.com/office/drawing/2014/main" id="{C133573F-0970-924D-8162-CF50AAF42EA9}"/>
              </a:ext>
            </a:extLst>
          </p:cNvPr>
          <p:cNvSpPr txBox="1"/>
          <p:nvPr/>
        </p:nvSpPr>
        <p:spPr>
          <a:xfrm>
            <a:off x="8229600" y="2451099"/>
            <a:ext cx="3175000" cy="533400"/>
          </a:xfrm>
          <a:prstGeom prst="rect">
            <a:avLst/>
          </a:prstGeom>
          <a:noFill/>
        </p:spPr>
        <p:txBody>
          <a:bodyPr vert="horz" wrap="square" lIns="0" tIns="0" rIns="0" bIns="0" rtlCol="0" anchor="t">
            <a:noAutofit/>
          </a:bodyPr>
          <a:lstStyle/>
          <a:p>
            <a:pPr algn="ctr"/>
            <a:r>
              <a:rPr lang="en-IL" sz="2700">
                <a:solidFill>
                  <a:srgbClr val="2459D3"/>
                </a:solidFill>
                <a:latin typeface="Cambria Math" panose="02040503050406030204" pitchFamily="18" charset="0"/>
              </a:rPr>
              <a:t>R</a:t>
            </a:r>
            <a:r>
              <a:rPr lang="en-IL" sz="1944" baseline="-22000">
                <a:solidFill>
                  <a:srgbClr val="2459D3"/>
                </a:solidFill>
                <a:latin typeface="Cambria Math" panose="02040503050406030204" pitchFamily="18" charset="0"/>
              </a:rPr>
              <a:t>z</a:t>
            </a:r>
            <a:r>
              <a:rPr lang="en-IL" sz="2700">
                <a:solidFill>
                  <a:srgbClr val="2459D3"/>
                </a:solidFill>
                <a:latin typeface="Cambria Math" panose="02040503050406030204" pitchFamily="18" charset="0"/>
              </a:rPr>
              <a:t>(</a:t>
            </a:r>
            <a:r>
              <a:rPr lang="el-GR" sz="2700">
                <a:solidFill>
                  <a:srgbClr val="2459D3"/>
                </a:solidFill>
                <a:latin typeface="Cambria Math" panose="02040503050406030204" pitchFamily="18" charset="0"/>
              </a:rPr>
              <a:t>ψ)</a:t>
            </a:r>
            <a:endParaRPr lang="en-IL" sz="2700">
              <a:solidFill>
                <a:srgbClr val="2459D3"/>
              </a:solidFill>
              <a:latin typeface="Cambria Math" panose="02040503050406030204" pitchFamily="18" charset="0"/>
            </a:endParaRPr>
          </a:p>
        </p:txBody>
      </p:sp>
      <p:cxnSp>
        <p:nvCxnSpPr>
          <p:cNvPr id="11" name="Straight Connector 10">
            <a:extLst>
              <a:ext uri="{FF2B5EF4-FFF2-40B4-BE49-F238E27FC236}">
                <a16:creationId xmlns:a16="http://schemas.microsoft.com/office/drawing/2014/main" id="{6A20F77D-2502-A232-E65A-1A71070A6E37}"/>
              </a:ext>
            </a:extLst>
          </p:cNvPr>
          <p:cNvCxnSpPr/>
          <p:nvPr/>
        </p:nvCxnSpPr>
        <p:spPr>
          <a:xfrm>
            <a:off x="685800" y="30353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24E1EE3-EE18-9D72-48D7-A4E74B683805}"/>
              </a:ext>
            </a:extLst>
          </p:cNvPr>
          <p:cNvCxnSpPr/>
          <p:nvPr/>
        </p:nvCxnSpPr>
        <p:spPr>
          <a:xfrm>
            <a:off x="685800" y="3035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974C028-4D48-37A0-2D8B-49266EF32E49}"/>
              </a:ext>
            </a:extLst>
          </p:cNvPr>
          <p:cNvCxnSpPr/>
          <p:nvPr/>
        </p:nvCxnSpPr>
        <p:spPr>
          <a:xfrm>
            <a:off x="685800" y="44450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B5E06E2-4B79-E836-5B95-7867373C31F8}"/>
              </a:ext>
            </a:extLst>
          </p:cNvPr>
          <p:cNvCxnSpPr/>
          <p:nvPr/>
        </p:nvCxnSpPr>
        <p:spPr>
          <a:xfrm>
            <a:off x="3860800" y="30353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CDC29F3-E43D-9D2A-DB51-507785F8B97E}"/>
              </a:ext>
            </a:extLst>
          </p:cNvPr>
          <p:cNvCxnSpPr/>
          <p:nvPr/>
        </p:nvCxnSpPr>
        <p:spPr>
          <a:xfrm flipH="1">
            <a:off x="3759200" y="3035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EC346C6-398A-F915-1C88-D1508E86D5E9}"/>
              </a:ext>
            </a:extLst>
          </p:cNvPr>
          <p:cNvCxnSpPr/>
          <p:nvPr/>
        </p:nvCxnSpPr>
        <p:spPr>
          <a:xfrm flipH="1">
            <a:off x="3759200" y="44450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7" name="text_16">
            <a:extLst>
              <a:ext uri="{FF2B5EF4-FFF2-40B4-BE49-F238E27FC236}">
                <a16:creationId xmlns:a16="http://schemas.microsoft.com/office/drawing/2014/main" id="{1B169B2C-2D84-8FC5-751F-C99307A2B806}"/>
              </a:ext>
            </a:extLst>
          </p:cNvPr>
          <p:cNvSpPr txBox="1"/>
          <p:nvPr/>
        </p:nvSpPr>
        <p:spPr>
          <a:xfrm>
            <a:off x="8255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1</a:t>
            </a:r>
          </a:p>
        </p:txBody>
      </p:sp>
      <p:sp>
        <p:nvSpPr>
          <p:cNvPr id="18" name="text_17">
            <a:extLst>
              <a:ext uri="{FF2B5EF4-FFF2-40B4-BE49-F238E27FC236}">
                <a16:creationId xmlns:a16="http://schemas.microsoft.com/office/drawing/2014/main" id="{1C4F4815-4D44-E3BF-FEA5-FE3983E1410A}"/>
              </a:ext>
            </a:extLst>
          </p:cNvPr>
          <p:cNvSpPr txBox="1"/>
          <p:nvPr/>
        </p:nvSpPr>
        <p:spPr>
          <a:xfrm>
            <a:off x="17907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19" name="text_18">
            <a:extLst>
              <a:ext uri="{FF2B5EF4-FFF2-40B4-BE49-F238E27FC236}">
                <a16:creationId xmlns:a16="http://schemas.microsoft.com/office/drawing/2014/main" id="{79451CE2-0D0B-6EB0-32EF-0284C4AD86FB}"/>
              </a:ext>
            </a:extLst>
          </p:cNvPr>
          <p:cNvSpPr txBox="1"/>
          <p:nvPr/>
        </p:nvSpPr>
        <p:spPr>
          <a:xfrm>
            <a:off x="27559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20" name="text_19">
            <a:extLst>
              <a:ext uri="{FF2B5EF4-FFF2-40B4-BE49-F238E27FC236}">
                <a16:creationId xmlns:a16="http://schemas.microsoft.com/office/drawing/2014/main" id="{8BC4449C-047C-9B19-5000-F6F6B5056F85}"/>
              </a:ext>
            </a:extLst>
          </p:cNvPr>
          <p:cNvSpPr txBox="1"/>
          <p:nvPr/>
        </p:nvSpPr>
        <p:spPr>
          <a:xfrm>
            <a:off x="8255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21" name="text_20">
            <a:extLst>
              <a:ext uri="{FF2B5EF4-FFF2-40B4-BE49-F238E27FC236}">
                <a16:creationId xmlns:a16="http://schemas.microsoft.com/office/drawing/2014/main" id="{F043E20D-A2FE-E86C-5D0B-3554F50613DD}"/>
              </a:ext>
            </a:extLst>
          </p:cNvPr>
          <p:cNvSpPr txBox="1"/>
          <p:nvPr/>
        </p:nvSpPr>
        <p:spPr>
          <a:xfrm>
            <a:off x="17907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22" name="text_21">
            <a:extLst>
              <a:ext uri="{FF2B5EF4-FFF2-40B4-BE49-F238E27FC236}">
                <a16:creationId xmlns:a16="http://schemas.microsoft.com/office/drawing/2014/main" id="{64200CF9-0BDE-2376-E054-AEBB47784EEF}"/>
              </a:ext>
            </a:extLst>
          </p:cNvPr>
          <p:cNvSpPr txBox="1"/>
          <p:nvPr/>
        </p:nvSpPr>
        <p:spPr>
          <a:xfrm>
            <a:off x="27559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23" name="text_22">
            <a:extLst>
              <a:ext uri="{FF2B5EF4-FFF2-40B4-BE49-F238E27FC236}">
                <a16:creationId xmlns:a16="http://schemas.microsoft.com/office/drawing/2014/main" id="{94C7AE30-E77E-72A3-599B-3E3B8C1F44B9}"/>
              </a:ext>
            </a:extLst>
          </p:cNvPr>
          <p:cNvSpPr txBox="1"/>
          <p:nvPr/>
        </p:nvSpPr>
        <p:spPr>
          <a:xfrm>
            <a:off x="8255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24" name="text_23">
            <a:extLst>
              <a:ext uri="{FF2B5EF4-FFF2-40B4-BE49-F238E27FC236}">
                <a16:creationId xmlns:a16="http://schemas.microsoft.com/office/drawing/2014/main" id="{E7B31E99-BB1E-A3A4-08B2-D76ECA7CBEA8}"/>
              </a:ext>
            </a:extLst>
          </p:cNvPr>
          <p:cNvSpPr txBox="1"/>
          <p:nvPr/>
        </p:nvSpPr>
        <p:spPr>
          <a:xfrm>
            <a:off x="17907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25" name="text_24">
            <a:extLst>
              <a:ext uri="{FF2B5EF4-FFF2-40B4-BE49-F238E27FC236}">
                <a16:creationId xmlns:a16="http://schemas.microsoft.com/office/drawing/2014/main" id="{62F0261E-7099-1FF6-9323-D820F496FD2D}"/>
              </a:ext>
            </a:extLst>
          </p:cNvPr>
          <p:cNvSpPr txBox="1"/>
          <p:nvPr/>
        </p:nvSpPr>
        <p:spPr>
          <a:xfrm>
            <a:off x="27559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cxnSp>
        <p:nvCxnSpPr>
          <p:cNvPr id="26" name="Straight Connector 25">
            <a:extLst>
              <a:ext uri="{FF2B5EF4-FFF2-40B4-BE49-F238E27FC236}">
                <a16:creationId xmlns:a16="http://schemas.microsoft.com/office/drawing/2014/main" id="{08C8D5B4-4010-C66F-6258-FC65FC11C235}"/>
              </a:ext>
            </a:extLst>
          </p:cNvPr>
          <p:cNvCxnSpPr/>
          <p:nvPr/>
        </p:nvCxnSpPr>
        <p:spPr>
          <a:xfrm>
            <a:off x="4457700" y="30353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4E6F7F6-ED62-7CFA-645D-DFBBB43648CE}"/>
              </a:ext>
            </a:extLst>
          </p:cNvPr>
          <p:cNvCxnSpPr/>
          <p:nvPr/>
        </p:nvCxnSpPr>
        <p:spPr>
          <a:xfrm>
            <a:off x="4457700" y="3035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7AF114D-B8F9-D908-609C-AF36DC06DF21}"/>
              </a:ext>
            </a:extLst>
          </p:cNvPr>
          <p:cNvCxnSpPr/>
          <p:nvPr/>
        </p:nvCxnSpPr>
        <p:spPr>
          <a:xfrm>
            <a:off x="4457700" y="44450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3331D58-B2B3-C4BC-2C7A-B2266EEF95ED}"/>
              </a:ext>
            </a:extLst>
          </p:cNvPr>
          <p:cNvCxnSpPr/>
          <p:nvPr/>
        </p:nvCxnSpPr>
        <p:spPr>
          <a:xfrm>
            <a:off x="7632700" y="30353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A0554AA-4488-3A48-27C8-7E8608BE863C}"/>
              </a:ext>
            </a:extLst>
          </p:cNvPr>
          <p:cNvCxnSpPr/>
          <p:nvPr/>
        </p:nvCxnSpPr>
        <p:spPr>
          <a:xfrm flipH="1">
            <a:off x="7531100" y="3035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5943EFD8-120E-028E-7249-CB0528EA5E55}"/>
              </a:ext>
            </a:extLst>
          </p:cNvPr>
          <p:cNvCxnSpPr/>
          <p:nvPr/>
        </p:nvCxnSpPr>
        <p:spPr>
          <a:xfrm flipH="1">
            <a:off x="7531100" y="44450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32" name="text_31">
            <a:extLst>
              <a:ext uri="{FF2B5EF4-FFF2-40B4-BE49-F238E27FC236}">
                <a16:creationId xmlns:a16="http://schemas.microsoft.com/office/drawing/2014/main" id="{82E04DAD-0513-A54D-57CF-38FC5D52EA23}"/>
              </a:ext>
            </a:extLst>
          </p:cNvPr>
          <p:cNvSpPr txBox="1"/>
          <p:nvPr/>
        </p:nvSpPr>
        <p:spPr>
          <a:xfrm>
            <a:off x="45974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33" name="text_32">
            <a:extLst>
              <a:ext uri="{FF2B5EF4-FFF2-40B4-BE49-F238E27FC236}">
                <a16:creationId xmlns:a16="http://schemas.microsoft.com/office/drawing/2014/main" id="{F6210FE9-4651-88BE-5512-2908CC88C7E6}"/>
              </a:ext>
            </a:extLst>
          </p:cNvPr>
          <p:cNvSpPr txBox="1"/>
          <p:nvPr/>
        </p:nvSpPr>
        <p:spPr>
          <a:xfrm>
            <a:off x="55626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34" name="text_33">
            <a:extLst>
              <a:ext uri="{FF2B5EF4-FFF2-40B4-BE49-F238E27FC236}">
                <a16:creationId xmlns:a16="http://schemas.microsoft.com/office/drawing/2014/main" id="{89BF5FCC-D15D-C665-CC7A-3E437EB24EE8}"/>
              </a:ext>
            </a:extLst>
          </p:cNvPr>
          <p:cNvSpPr txBox="1"/>
          <p:nvPr/>
        </p:nvSpPr>
        <p:spPr>
          <a:xfrm>
            <a:off x="65278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35" name="text_34">
            <a:extLst>
              <a:ext uri="{FF2B5EF4-FFF2-40B4-BE49-F238E27FC236}">
                <a16:creationId xmlns:a16="http://schemas.microsoft.com/office/drawing/2014/main" id="{1201BFAC-C153-3CD6-8C63-A1ADE626BBD7}"/>
              </a:ext>
            </a:extLst>
          </p:cNvPr>
          <p:cNvSpPr txBox="1"/>
          <p:nvPr/>
        </p:nvSpPr>
        <p:spPr>
          <a:xfrm>
            <a:off x="45974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36" name="text_35">
            <a:extLst>
              <a:ext uri="{FF2B5EF4-FFF2-40B4-BE49-F238E27FC236}">
                <a16:creationId xmlns:a16="http://schemas.microsoft.com/office/drawing/2014/main" id="{C83396A8-50ED-041E-EECC-64032F751437}"/>
              </a:ext>
            </a:extLst>
          </p:cNvPr>
          <p:cNvSpPr txBox="1"/>
          <p:nvPr/>
        </p:nvSpPr>
        <p:spPr>
          <a:xfrm>
            <a:off x="55626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1</a:t>
            </a:r>
          </a:p>
        </p:txBody>
      </p:sp>
      <p:sp>
        <p:nvSpPr>
          <p:cNvPr id="37" name="text_36">
            <a:extLst>
              <a:ext uri="{FF2B5EF4-FFF2-40B4-BE49-F238E27FC236}">
                <a16:creationId xmlns:a16="http://schemas.microsoft.com/office/drawing/2014/main" id="{2992C002-0E62-BB33-FE8A-74CE42243506}"/>
              </a:ext>
            </a:extLst>
          </p:cNvPr>
          <p:cNvSpPr txBox="1"/>
          <p:nvPr/>
        </p:nvSpPr>
        <p:spPr>
          <a:xfrm>
            <a:off x="65278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38" name="text_37">
            <a:extLst>
              <a:ext uri="{FF2B5EF4-FFF2-40B4-BE49-F238E27FC236}">
                <a16:creationId xmlns:a16="http://schemas.microsoft.com/office/drawing/2014/main" id="{BCCA499B-FA0E-1F8B-A405-010B688F2051}"/>
              </a:ext>
            </a:extLst>
          </p:cNvPr>
          <p:cNvSpPr txBox="1"/>
          <p:nvPr/>
        </p:nvSpPr>
        <p:spPr>
          <a:xfrm>
            <a:off x="45974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39" name="text_38">
            <a:extLst>
              <a:ext uri="{FF2B5EF4-FFF2-40B4-BE49-F238E27FC236}">
                <a16:creationId xmlns:a16="http://schemas.microsoft.com/office/drawing/2014/main" id="{C7711BAF-0F8F-3C8E-F8B6-B6A7C490CA8F}"/>
              </a:ext>
            </a:extLst>
          </p:cNvPr>
          <p:cNvSpPr txBox="1"/>
          <p:nvPr/>
        </p:nvSpPr>
        <p:spPr>
          <a:xfrm>
            <a:off x="55626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40" name="text_39">
            <a:extLst>
              <a:ext uri="{FF2B5EF4-FFF2-40B4-BE49-F238E27FC236}">
                <a16:creationId xmlns:a16="http://schemas.microsoft.com/office/drawing/2014/main" id="{91499FF3-9AC8-901B-30F0-E041FAAA4804}"/>
              </a:ext>
            </a:extLst>
          </p:cNvPr>
          <p:cNvSpPr txBox="1"/>
          <p:nvPr/>
        </p:nvSpPr>
        <p:spPr>
          <a:xfrm>
            <a:off x="65278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cxnSp>
        <p:nvCxnSpPr>
          <p:cNvPr id="41" name="Straight Connector 40">
            <a:extLst>
              <a:ext uri="{FF2B5EF4-FFF2-40B4-BE49-F238E27FC236}">
                <a16:creationId xmlns:a16="http://schemas.microsoft.com/office/drawing/2014/main" id="{36543435-C5FD-0EDE-A520-AF1F5D66E6BB}"/>
              </a:ext>
            </a:extLst>
          </p:cNvPr>
          <p:cNvCxnSpPr/>
          <p:nvPr/>
        </p:nvCxnSpPr>
        <p:spPr>
          <a:xfrm>
            <a:off x="8229600" y="30353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4C418D4-C10D-EF70-84C1-0CBB476D5218}"/>
              </a:ext>
            </a:extLst>
          </p:cNvPr>
          <p:cNvCxnSpPr/>
          <p:nvPr/>
        </p:nvCxnSpPr>
        <p:spPr>
          <a:xfrm>
            <a:off x="8229600" y="3035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BFE3B19-5D43-3ACD-1DEE-250181086CAD}"/>
              </a:ext>
            </a:extLst>
          </p:cNvPr>
          <p:cNvCxnSpPr/>
          <p:nvPr/>
        </p:nvCxnSpPr>
        <p:spPr>
          <a:xfrm>
            <a:off x="8229600" y="44450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8A826217-5ACD-00ED-9BE2-9697EFF26638}"/>
              </a:ext>
            </a:extLst>
          </p:cNvPr>
          <p:cNvCxnSpPr/>
          <p:nvPr/>
        </p:nvCxnSpPr>
        <p:spPr>
          <a:xfrm>
            <a:off x="11404600" y="30353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EA4FDC17-2F78-C204-91A9-95749EB5EC17}"/>
              </a:ext>
            </a:extLst>
          </p:cNvPr>
          <p:cNvCxnSpPr/>
          <p:nvPr/>
        </p:nvCxnSpPr>
        <p:spPr>
          <a:xfrm flipH="1">
            <a:off x="11303000" y="3035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2235A7ED-CB93-ECC7-3430-984E97CA5048}"/>
              </a:ext>
            </a:extLst>
          </p:cNvPr>
          <p:cNvCxnSpPr/>
          <p:nvPr/>
        </p:nvCxnSpPr>
        <p:spPr>
          <a:xfrm flipH="1">
            <a:off x="11303000" y="44450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47" name="text_46">
            <a:extLst>
              <a:ext uri="{FF2B5EF4-FFF2-40B4-BE49-F238E27FC236}">
                <a16:creationId xmlns:a16="http://schemas.microsoft.com/office/drawing/2014/main" id="{797559BA-F21D-7835-014F-0A18708299CC}"/>
              </a:ext>
            </a:extLst>
          </p:cNvPr>
          <p:cNvSpPr txBox="1"/>
          <p:nvPr/>
        </p:nvSpPr>
        <p:spPr>
          <a:xfrm>
            <a:off x="83693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48" name="text_47">
            <a:extLst>
              <a:ext uri="{FF2B5EF4-FFF2-40B4-BE49-F238E27FC236}">
                <a16:creationId xmlns:a16="http://schemas.microsoft.com/office/drawing/2014/main" id="{E9443EB6-13FB-489D-D4C1-AB6112046BCD}"/>
              </a:ext>
            </a:extLst>
          </p:cNvPr>
          <p:cNvSpPr txBox="1"/>
          <p:nvPr/>
        </p:nvSpPr>
        <p:spPr>
          <a:xfrm>
            <a:off x="93345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49" name="text_48">
            <a:extLst>
              <a:ext uri="{FF2B5EF4-FFF2-40B4-BE49-F238E27FC236}">
                <a16:creationId xmlns:a16="http://schemas.microsoft.com/office/drawing/2014/main" id="{9458F6C0-E8F0-776E-7704-82B23D5B7E87}"/>
              </a:ext>
            </a:extLst>
          </p:cNvPr>
          <p:cNvSpPr txBox="1"/>
          <p:nvPr/>
        </p:nvSpPr>
        <p:spPr>
          <a:xfrm>
            <a:off x="10299700" y="30860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50" name="text_49">
            <a:extLst>
              <a:ext uri="{FF2B5EF4-FFF2-40B4-BE49-F238E27FC236}">
                <a16:creationId xmlns:a16="http://schemas.microsoft.com/office/drawing/2014/main" id="{662C6639-1BE4-A95C-7604-A4AFD3C0399E}"/>
              </a:ext>
            </a:extLst>
          </p:cNvPr>
          <p:cNvSpPr txBox="1"/>
          <p:nvPr/>
        </p:nvSpPr>
        <p:spPr>
          <a:xfrm>
            <a:off x="83693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51" name="text_50">
            <a:extLst>
              <a:ext uri="{FF2B5EF4-FFF2-40B4-BE49-F238E27FC236}">
                <a16:creationId xmlns:a16="http://schemas.microsoft.com/office/drawing/2014/main" id="{92BE3E6C-70AE-0C02-6E32-2816D0367E92}"/>
              </a:ext>
            </a:extLst>
          </p:cNvPr>
          <p:cNvSpPr txBox="1"/>
          <p:nvPr/>
        </p:nvSpPr>
        <p:spPr>
          <a:xfrm>
            <a:off x="93345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endParaRPr lang="en-IL" sz="1728" baseline="-22000">
              <a:solidFill>
                <a:srgbClr val="15283B"/>
              </a:solidFill>
              <a:latin typeface="Cambria Math" panose="02040503050406030204" pitchFamily="18" charset="0"/>
            </a:endParaRPr>
          </a:p>
        </p:txBody>
      </p:sp>
      <p:sp>
        <p:nvSpPr>
          <p:cNvPr id="52" name="text_51">
            <a:extLst>
              <a:ext uri="{FF2B5EF4-FFF2-40B4-BE49-F238E27FC236}">
                <a16:creationId xmlns:a16="http://schemas.microsoft.com/office/drawing/2014/main" id="{530DED45-748F-CB6B-55E8-16213ED0114E}"/>
              </a:ext>
            </a:extLst>
          </p:cNvPr>
          <p:cNvSpPr txBox="1"/>
          <p:nvPr/>
        </p:nvSpPr>
        <p:spPr>
          <a:xfrm>
            <a:off x="10299700" y="35559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53" name="text_52">
            <a:extLst>
              <a:ext uri="{FF2B5EF4-FFF2-40B4-BE49-F238E27FC236}">
                <a16:creationId xmlns:a16="http://schemas.microsoft.com/office/drawing/2014/main" id="{358EB700-B948-BC1B-47C5-809820FD03A2}"/>
              </a:ext>
            </a:extLst>
          </p:cNvPr>
          <p:cNvSpPr txBox="1"/>
          <p:nvPr/>
        </p:nvSpPr>
        <p:spPr>
          <a:xfrm>
            <a:off x="83693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54" name="text_53">
            <a:extLst>
              <a:ext uri="{FF2B5EF4-FFF2-40B4-BE49-F238E27FC236}">
                <a16:creationId xmlns:a16="http://schemas.microsoft.com/office/drawing/2014/main" id="{506B856A-ED87-59A0-F6C6-868F8209614E}"/>
              </a:ext>
            </a:extLst>
          </p:cNvPr>
          <p:cNvSpPr txBox="1"/>
          <p:nvPr/>
        </p:nvSpPr>
        <p:spPr>
          <a:xfrm>
            <a:off x="93345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a:t>
            </a:r>
          </a:p>
        </p:txBody>
      </p:sp>
      <p:sp>
        <p:nvSpPr>
          <p:cNvPr id="55" name="text_54">
            <a:extLst>
              <a:ext uri="{FF2B5EF4-FFF2-40B4-BE49-F238E27FC236}">
                <a16:creationId xmlns:a16="http://schemas.microsoft.com/office/drawing/2014/main" id="{81CA2D6F-14F5-5581-2ACE-DA8026EFB047}"/>
              </a:ext>
            </a:extLst>
          </p:cNvPr>
          <p:cNvSpPr txBox="1"/>
          <p:nvPr/>
        </p:nvSpPr>
        <p:spPr>
          <a:xfrm>
            <a:off x="10299700" y="4025899"/>
            <a:ext cx="965200" cy="4191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1</a:t>
            </a:r>
          </a:p>
        </p:txBody>
      </p:sp>
      <p:sp>
        <p:nvSpPr>
          <p:cNvPr id="56" name="text_55">
            <a:extLst>
              <a:ext uri="{FF2B5EF4-FFF2-40B4-BE49-F238E27FC236}">
                <a16:creationId xmlns:a16="http://schemas.microsoft.com/office/drawing/2014/main" id="{7A64D5C3-05E2-7A04-4F20-E593D7C7DD47}"/>
              </a:ext>
            </a:extLst>
          </p:cNvPr>
          <p:cNvSpPr txBox="1"/>
          <p:nvPr/>
        </p:nvSpPr>
        <p:spPr>
          <a:xfrm>
            <a:off x="685800" y="4876799"/>
            <a:ext cx="1498600" cy="8890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T =</a:t>
            </a:r>
          </a:p>
        </p:txBody>
      </p:sp>
      <p:cxnSp>
        <p:nvCxnSpPr>
          <p:cNvPr id="57" name="Straight Connector 56">
            <a:extLst>
              <a:ext uri="{FF2B5EF4-FFF2-40B4-BE49-F238E27FC236}">
                <a16:creationId xmlns:a16="http://schemas.microsoft.com/office/drawing/2014/main" id="{A3CFC235-AD7B-82CE-1F03-5F416DC14B32}"/>
              </a:ext>
            </a:extLst>
          </p:cNvPr>
          <p:cNvCxnSpPr/>
          <p:nvPr/>
        </p:nvCxnSpPr>
        <p:spPr>
          <a:xfrm>
            <a:off x="2006600" y="4775200"/>
            <a:ext cx="0" cy="11684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5F930C1C-BDEA-1350-3292-787250F9C67D}"/>
              </a:ext>
            </a:extLst>
          </p:cNvPr>
          <p:cNvCxnSpPr/>
          <p:nvPr/>
        </p:nvCxnSpPr>
        <p:spPr>
          <a:xfrm>
            <a:off x="2006600" y="4775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89F7750E-3266-74AE-0EAE-70519D10BBE1}"/>
              </a:ext>
            </a:extLst>
          </p:cNvPr>
          <p:cNvCxnSpPr/>
          <p:nvPr/>
        </p:nvCxnSpPr>
        <p:spPr>
          <a:xfrm>
            <a:off x="2006600" y="59436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208BC40-C790-8494-5E6B-560581BD28C0}"/>
              </a:ext>
            </a:extLst>
          </p:cNvPr>
          <p:cNvCxnSpPr/>
          <p:nvPr/>
        </p:nvCxnSpPr>
        <p:spPr>
          <a:xfrm>
            <a:off x="4191000" y="4775200"/>
            <a:ext cx="0" cy="11684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96E4C49-BD39-B9B5-4AF4-E024F2E6011A}"/>
              </a:ext>
            </a:extLst>
          </p:cNvPr>
          <p:cNvCxnSpPr/>
          <p:nvPr/>
        </p:nvCxnSpPr>
        <p:spPr>
          <a:xfrm flipH="1">
            <a:off x="4089400" y="4775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CDA47D66-9F7A-25BD-2151-4445DFAA9E92}"/>
              </a:ext>
            </a:extLst>
          </p:cNvPr>
          <p:cNvCxnSpPr/>
          <p:nvPr/>
        </p:nvCxnSpPr>
        <p:spPr>
          <a:xfrm flipH="1">
            <a:off x="4089400" y="59436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63" name="text_62">
            <a:extLst>
              <a:ext uri="{FF2B5EF4-FFF2-40B4-BE49-F238E27FC236}">
                <a16:creationId xmlns:a16="http://schemas.microsoft.com/office/drawing/2014/main" id="{0E855991-A03A-5094-8FFB-1335D1D1D732}"/>
              </a:ext>
            </a:extLst>
          </p:cNvPr>
          <p:cNvSpPr txBox="1"/>
          <p:nvPr/>
        </p:nvSpPr>
        <p:spPr>
          <a:xfrm>
            <a:off x="2146300" y="4825999"/>
            <a:ext cx="952500" cy="533400"/>
          </a:xfrm>
          <a:prstGeom prst="rect">
            <a:avLst/>
          </a:prstGeom>
          <a:noFill/>
        </p:spPr>
        <p:txBody>
          <a:bodyPr vert="horz" wrap="square" lIns="0" tIns="0" rIns="0" bIns="0" rtlCol="0" anchor="t">
            <a:noAutofit/>
          </a:bodyPr>
          <a:lstStyle/>
          <a:p>
            <a:pPr algn="ctr"/>
            <a:r>
              <a:rPr lang="en-IL" sz="3000">
                <a:solidFill>
                  <a:srgbClr val="15283B"/>
                </a:solidFill>
                <a:latin typeface="Cambria Math" panose="02040503050406030204" pitchFamily="18" charset="0"/>
              </a:rPr>
              <a:t>R</a:t>
            </a:r>
          </a:p>
        </p:txBody>
      </p:sp>
      <p:sp>
        <p:nvSpPr>
          <p:cNvPr id="64" name="text_63">
            <a:extLst>
              <a:ext uri="{FF2B5EF4-FFF2-40B4-BE49-F238E27FC236}">
                <a16:creationId xmlns:a16="http://schemas.microsoft.com/office/drawing/2014/main" id="{9422D643-D7F1-8B50-C5D4-CC82A54A5394}"/>
              </a:ext>
            </a:extLst>
          </p:cNvPr>
          <p:cNvSpPr txBox="1"/>
          <p:nvPr/>
        </p:nvSpPr>
        <p:spPr>
          <a:xfrm>
            <a:off x="3098800" y="4825999"/>
            <a:ext cx="952500" cy="533400"/>
          </a:xfrm>
          <a:prstGeom prst="rect">
            <a:avLst/>
          </a:prstGeom>
          <a:noFill/>
        </p:spPr>
        <p:txBody>
          <a:bodyPr vert="horz" wrap="square" lIns="0" tIns="0" rIns="0" bIns="0" rtlCol="0" anchor="t">
            <a:noAutofit/>
          </a:bodyPr>
          <a:lstStyle/>
          <a:p>
            <a:pPr algn="ctr"/>
            <a:r>
              <a:rPr lang="en-IL" sz="3000">
                <a:solidFill>
                  <a:srgbClr val="15283B"/>
                </a:solidFill>
                <a:latin typeface="Cambria Math" panose="02040503050406030204" pitchFamily="18" charset="0"/>
              </a:rPr>
              <a:t>t</a:t>
            </a:r>
          </a:p>
        </p:txBody>
      </p:sp>
      <p:sp>
        <p:nvSpPr>
          <p:cNvPr id="65" name="text_64">
            <a:extLst>
              <a:ext uri="{FF2B5EF4-FFF2-40B4-BE49-F238E27FC236}">
                <a16:creationId xmlns:a16="http://schemas.microsoft.com/office/drawing/2014/main" id="{30335745-A8BF-AF99-797F-68C276E677BA}"/>
              </a:ext>
            </a:extLst>
          </p:cNvPr>
          <p:cNvSpPr txBox="1"/>
          <p:nvPr/>
        </p:nvSpPr>
        <p:spPr>
          <a:xfrm>
            <a:off x="2146300" y="5410199"/>
            <a:ext cx="952500" cy="533400"/>
          </a:xfrm>
          <a:prstGeom prst="rect">
            <a:avLst/>
          </a:prstGeom>
          <a:noFill/>
        </p:spPr>
        <p:txBody>
          <a:bodyPr vert="horz" wrap="square" lIns="0" tIns="0" rIns="0" bIns="0" rtlCol="0" anchor="t">
            <a:noAutofit/>
          </a:bodyPr>
          <a:lstStyle/>
          <a:p>
            <a:pPr algn="ctr"/>
            <a:r>
              <a:rPr lang="en-IL" sz="3000">
                <a:solidFill>
                  <a:srgbClr val="15283B"/>
                </a:solidFill>
                <a:latin typeface="Cambria Math" panose="02040503050406030204" pitchFamily="18" charset="0"/>
              </a:rPr>
              <a:t>0</a:t>
            </a:r>
          </a:p>
        </p:txBody>
      </p:sp>
      <p:sp>
        <p:nvSpPr>
          <p:cNvPr id="66" name="text_65">
            <a:extLst>
              <a:ext uri="{FF2B5EF4-FFF2-40B4-BE49-F238E27FC236}">
                <a16:creationId xmlns:a16="http://schemas.microsoft.com/office/drawing/2014/main" id="{E322C58F-1848-00BF-641F-B07D5AEA5280}"/>
              </a:ext>
            </a:extLst>
          </p:cNvPr>
          <p:cNvSpPr txBox="1"/>
          <p:nvPr/>
        </p:nvSpPr>
        <p:spPr>
          <a:xfrm>
            <a:off x="3098800" y="5410199"/>
            <a:ext cx="952500" cy="533400"/>
          </a:xfrm>
          <a:prstGeom prst="rect">
            <a:avLst/>
          </a:prstGeom>
          <a:noFill/>
        </p:spPr>
        <p:txBody>
          <a:bodyPr vert="horz" wrap="square" lIns="0" tIns="0" rIns="0" bIns="0" rtlCol="0" anchor="t">
            <a:noAutofit/>
          </a:bodyPr>
          <a:lstStyle/>
          <a:p>
            <a:pPr algn="ctr"/>
            <a:r>
              <a:rPr lang="en-IL" sz="3000">
                <a:solidFill>
                  <a:srgbClr val="15283B"/>
                </a:solidFill>
                <a:latin typeface="Cambria Math" panose="02040503050406030204" pitchFamily="18" charset="0"/>
              </a:rPr>
              <a:t>1</a:t>
            </a:r>
          </a:p>
        </p:txBody>
      </p:sp>
      <p:sp>
        <p:nvSpPr>
          <p:cNvPr id="67" name="text_66">
            <a:extLst>
              <a:ext uri="{FF2B5EF4-FFF2-40B4-BE49-F238E27FC236}">
                <a16:creationId xmlns:a16="http://schemas.microsoft.com/office/drawing/2014/main" id="{001D0791-97A8-8284-A985-54971BD1673F}"/>
              </a:ext>
            </a:extLst>
          </p:cNvPr>
          <p:cNvSpPr txBox="1"/>
          <p:nvPr/>
        </p:nvSpPr>
        <p:spPr>
          <a:xfrm>
            <a:off x="4775200" y="4787899"/>
            <a:ext cx="6477000" cy="596900"/>
          </a:xfrm>
          <a:prstGeom prst="rect">
            <a:avLst/>
          </a:prstGeom>
          <a:noFill/>
        </p:spPr>
        <p:txBody>
          <a:bodyPr vert="horz" wrap="square" lIns="0" tIns="0" rIns="0" bIns="0" rtlCol="0" anchor="t">
            <a:noAutofit/>
          </a:bodyPr>
          <a:lstStyle/>
          <a:p>
            <a:r>
              <a:rPr lang="en-IL" sz="2800">
                <a:solidFill>
                  <a:srgbClr val="15283B"/>
                </a:solidFill>
                <a:latin typeface="Cambria Math" panose="02040503050406030204" pitchFamily="18" charset="0"/>
              </a:rPr>
              <a:t>R</a:t>
            </a:r>
            <a:r>
              <a:rPr lang="en-IL" sz="2016" baseline="32000">
                <a:solidFill>
                  <a:srgbClr val="15283B"/>
                </a:solidFill>
                <a:latin typeface="Cambria Math" panose="02040503050406030204" pitchFamily="18" charset="0"/>
              </a:rPr>
              <a:t>T</a:t>
            </a:r>
            <a:r>
              <a:rPr lang="en-IL" sz="2800">
                <a:solidFill>
                  <a:srgbClr val="15283B"/>
                </a:solidFill>
                <a:latin typeface="Cambria Math" panose="02040503050406030204" pitchFamily="18" charset="0"/>
              </a:rPr>
              <a:t>R = I      det R = +1</a:t>
            </a:r>
          </a:p>
        </p:txBody>
      </p:sp>
      <p:sp>
        <p:nvSpPr>
          <p:cNvPr id="68" name="text_67">
            <a:extLst>
              <a:ext uri="{FF2B5EF4-FFF2-40B4-BE49-F238E27FC236}">
                <a16:creationId xmlns:a16="http://schemas.microsoft.com/office/drawing/2014/main" id="{5AEFF2E7-BB11-BA1A-1494-ECFF869D03E6}"/>
              </a:ext>
            </a:extLst>
          </p:cNvPr>
          <p:cNvSpPr txBox="1"/>
          <p:nvPr/>
        </p:nvSpPr>
        <p:spPr>
          <a:xfrm>
            <a:off x="4775200" y="5460999"/>
            <a:ext cx="6477000" cy="508000"/>
          </a:xfrm>
          <a:prstGeom prst="rect">
            <a:avLst/>
          </a:prstGeom>
          <a:noFill/>
        </p:spPr>
        <p:txBody>
          <a:bodyPr vert="horz" wrap="square" lIns="0" tIns="0" rIns="0" bIns="0" rtlCol="0" anchor="t">
            <a:noAutofit/>
          </a:bodyPr>
          <a:lstStyle/>
          <a:p>
            <a:r>
              <a:rPr lang="fr-FR" sz="2400">
                <a:solidFill>
                  <a:srgbClr val="526477"/>
                </a:solidFill>
                <a:latin typeface="Aptos" panose="020B0004020202020204" pitchFamily="34" charset="0"/>
              </a:rPr>
              <a:t>Point [p; 1]   ·   Direction [d; 0]</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552407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A2555ED-9C0A-03ED-9AD9-9BB6316B39E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D21E7657-3E32-73C6-B902-3706F047151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Compose and invert</a:t>
            </a:r>
          </a:p>
        </p:txBody>
      </p:sp>
      <p:sp>
        <p:nvSpPr>
          <p:cNvPr id="4" name="text_3">
            <a:extLst>
              <a:ext uri="{FF2B5EF4-FFF2-40B4-BE49-F238E27FC236}">
                <a16:creationId xmlns:a16="http://schemas.microsoft.com/office/drawing/2014/main" id="{D088E5D6-33C2-F510-F633-C6A8AA258BD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Follow the frame chain. Apply the rightmost transform first.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4175B6B-844A-66ED-3F1A-10BFE87FF06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CD19C55-D138-C761-0A5A-1454FC3EFDA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B17B5E4-EFF8-49B2-3580-A9CECB35EDA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Rectangle: Rounded Corners 7">
            <a:extLst>
              <a:ext uri="{FF2B5EF4-FFF2-40B4-BE49-F238E27FC236}">
                <a16:creationId xmlns:a16="http://schemas.microsoft.com/office/drawing/2014/main" id="{AA7996B1-80D3-18E6-161D-0B41522E181A}"/>
              </a:ext>
            </a:extLst>
          </p:cNvPr>
          <p:cNvSpPr/>
          <p:nvPr/>
        </p:nvSpPr>
        <p:spPr>
          <a:xfrm>
            <a:off x="685800" y="2692400"/>
            <a:ext cx="2286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4D92E93-5719-00A7-7340-806109A24F80}"/>
              </a:ext>
            </a:extLst>
          </p:cNvPr>
          <p:cNvSpPr txBox="1"/>
          <p:nvPr/>
        </p:nvSpPr>
        <p:spPr>
          <a:xfrm>
            <a:off x="838200" y="2781299"/>
            <a:ext cx="1981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A</a:t>
            </a:r>
          </a:p>
        </p:txBody>
      </p:sp>
      <p:sp>
        <p:nvSpPr>
          <p:cNvPr id="10" name="Rectangle: Rounded Corners 9">
            <a:extLst>
              <a:ext uri="{FF2B5EF4-FFF2-40B4-BE49-F238E27FC236}">
                <a16:creationId xmlns:a16="http://schemas.microsoft.com/office/drawing/2014/main" id="{932732AF-53A9-A890-12B9-C9807D8250A8}"/>
              </a:ext>
            </a:extLst>
          </p:cNvPr>
          <p:cNvSpPr/>
          <p:nvPr/>
        </p:nvSpPr>
        <p:spPr>
          <a:xfrm>
            <a:off x="4953000" y="2692400"/>
            <a:ext cx="22860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3367A041-B7A6-510D-268F-184C605C7C7F}"/>
              </a:ext>
            </a:extLst>
          </p:cNvPr>
          <p:cNvSpPr txBox="1"/>
          <p:nvPr/>
        </p:nvSpPr>
        <p:spPr>
          <a:xfrm>
            <a:off x="5105400" y="2781299"/>
            <a:ext cx="19812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B</a:t>
            </a:r>
          </a:p>
        </p:txBody>
      </p:sp>
      <p:sp>
        <p:nvSpPr>
          <p:cNvPr id="12" name="Rectangle: Rounded Corners 11">
            <a:extLst>
              <a:ext uri="{FF2B5EF4-FFF2-40B4-BE49-F238E27FC236}">
                <a16:creationId xmlns:a16="http://schemas.microsoft.com/office/drawing/2014/main" id="{66EF05FF-4D9A-D17F-12B4-1A3596C856E1}"/>
              </a:ext>
            </a:extLst>
          </p:cNvPr>
          <p:cNvSpPr/>
          <p:nvPr/>
        </p:nvSpPr>
        <p:spPr>
          <a:xfrm>
            <a:off x="9220200" y="2692400"/>
            <a:ext cx="2286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DCFD4B69-8C3D-327E-D2D2-7B9DF471D328}"/>
              </a:ext>
            </a:extLst>
          </p:cNvPr>
          <p:cNvSpPr txBox="1"/>
          <p:nvPr/>
        </p:nvSpPr>
        <p:spPr>
          <a:xfrm>
            <a:off x="9372600" y="2781299"/>
            <a:ext cx="1981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C</a:t>
            </a:r>
          </a:p>
        </p:txBody>
      </p:sp>
      <p:cxnSp>
        <p:nvCxnSpPr>
          <p:cNvPr id="14" name="Straight Connector 13">
            <a:extLst>
              <a:ext uri="{FF2B5EF4-FFF2-40B4-BE49-F238E27FC236}">
                <a16:creationId xmlns:a16="http://schemas.microsoft.com/office/drawing/2014/main" id="{953922A7-FAD8-E84B-BBAF-010817DE778C}"/>
              </a:ext>
            </a:extLst>
          </p:cNvPr>
          <p:cNvCxnSpPr/>
          <p:nvPr/>
        </p:nvCxnSpPr>
        <p:spPr>
          <a:xfrm flipH="1">
            <a:off x="3124200" y="2959100"/>
            <a:ext cx="1676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A3BA89F-0374-FF77-E828-D5534F2BE7A9}"/>
              </a:ext>
            </a:extLst>
          </p:cNvPr>
          <p:cNvCxnSpPr/>
          <p:nvPr/>
        </p:nvCxnSpPr>
        <p:spPr>
          <a:xfrm flipH="1">
            <a:off x="7391400" y="2959100"/>
            <a:ext cx="1676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C10FCF09-CC15-FA5E-09EA-0D7B83262E24}"/>
              </a:ext>
            </a:extLst>
          </p:cNvPr>
          <p:cNvSpPr txBox="1"/>
          <p:nvPr/>
        </p:nvSpPr>
        <p:spPr>
          <a:xfrm>
            <a:off x="685800" y="3682999"/>
            <a:ext cx="10820400" cy="787400"/>
          </a:xfrm>
          <a:prstGeom prst="rect">
            <a:avLst/>
          </a:prstGeom>
          <a:noFill/>
        </p:spPr>
        <p:txBody>
          <a:bodyPr vert="horz" wrap="square" lIns="0" tIns="0" rIns="0" bIns="0" rtlCol="0" anchor="t">
            <a:noAutofit/>
          </a:bodyPr>
          <a:lstStyle/>
          <a:p>
            <a:pPr algn="ctr"/>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T</a:t>
            </a:r>
            <a:r>
              <a:rPr lang="en-IL" sz="2736" baseline="-22000">
                <a:solidFill>
                  <a:srgbClr val="2459D3"/>
                </a:solidFill>
                <a:latin typeface="Cambria Math" panose="02040503050406030204" pitchFamily="18" charset="0"/>
              </a:rPr>
              <a:t>C</a:t>
            </a:r>
            <a:r>
              <a:rPr lang="en-IL" sz="3800">
                <a:solidFill>
                  <a:srgbClr val="2459D3"/>
                </a:solidFill>
                <a:latin typeface="Cambria Math" panose="02040503050406030204" pitchFamily="18" charset="0"/>
              </a:rPr>
              <a:t> = </a:t>
            </a:r>
            <a:r>
              <a:rPr lang="en-IL" sz="2736" baseline="32000">
                <a:solidFill>
                  <a:srgbClr val="2459D3"/>
                </a:solidFill>
                <a:latin typeface="Cambria Math" panose="02040503050406030204" pitchFamily="18" charset="0"/>
              </a:rPr>
              <a:t>A</a:t>
            </a:r>
            <a:r>
              <a:rPr lang="en-IL" sz="3800">
                <a:solidFill>
                  <a:srgbClr val="2459D3"/>
                </a:solidFill>
                <a:latin typeface="Cambria Math" panose="02040503050406030204" pitchFamily="18" charset="0"/>
              </a:rPr>
              <a:t>T</a:t>
            </a:r>
            <a:r>
              <a:rPr lang="en-IL" sz="2736" baseline="-22000">
                <a:solidFill>
                  <a:srgbClr val="2459D3"/>
                </a:solidFill>
                <a:latin typeface="Cambria Math" panose="02040503050406030204" pitchFamily="18" charset="0"/>
              </a:rPr>
              <a:t>B</a:t>
            </a:r>
            <a:r>
              <a:rPr lang="en-IL" sz="3800">
                <a:solidFill>
                  <a:srgbClr val="2459D3"/>
                </a:solidFill>
                <a:latin typeface="Cambria Math" panose="02040503050406030204" pitchFamily="18" charset="0"/>
              </a:rPr>
              <a:t> </a:t>
            </a:r>
            <a:r>
              <a:rPr lang="en-IL" sz="2736" baseline="32000">
                <a:solidFill>
                  <a:srgbClr val="2459D3"/>
                </a:solidFill>
                <a:latin typeface="Cambria Math" panose="02040503050406030204" pitchFamily="18" charset="0"/>
              </a:rPr>
              <a:t>B</a:t>
            </a:r>
            <a:r>
              <a:rPr lang="en-IL" sz="3800">
                <a:solidFill>
                  <a:srgbClr val="2459D3"/>
                </a:solidFill>
                <a:latin typeface="Cambria Math" panose="02040503050406030204" pitchFamily="18" charset="0"/>
              </a:rPr>
              <a:t>T</a:t>
            </a:r>
            <a:r>
              <a:rPr lang="en-IL" sz="2736" baseline="-22000">
                <a:solidFill>
                  <a:srgbClr val="2459D3"/>
                </a:solidFill>
                <a:latin typeface="Cambria Math" panose="02040503050406030204" pitchFamily="18" charset="0"/>
              </a:rPr>
              <a:t>C</a:t>
            </a:r>
          </a:p>
        </p:txBody>
      </p:sp>
      <p:sp>
        <p:nvSpPr>
          <p:cNvPr id="17" name="text_16">
            <a:extLst>
              <a:ext uri="{FF2B5EF4-FFF2-40B4-BE49-F238E27FC236}">
                <a16:creationId xmlns:a16="http://schemas.microsoft.com/office/drawing/2014/main" id="{0C20CF3A-C399-DF91-63DF-CFC5E72EEEB2}"/>
              </a:ext>
            </a:extLst>
          </p:cNvPr>
          <p:cNvSpPr txBox="1"/>
          <p:nvPr/>
        </p:nvSpPr>
        <p:spPr>
          <a:xfrm>
            <a:off x="685800" y="4927599"/>
            <a:ext cx="3352800" cy="762000"/>
          </a:xfrm>
          <a:prstGeom prst="rect">
            <a:avLst/>
          </a:prstGeom>
          <a:noFill/>
        </p:spPr>
        <p:txBody>
          <a:bodyPr vert="horz" wrap="square" lIns="0" tIns="0" rIns="0" bIns="0" rtlCol="0" anchor="t">
            <a:noAutofit/>
          </a:bodyPr>
          <a:lstStyle/>
          <a:p>
            <a:r>
              <a:rPr lang="en-IL" sz="3500">
                <a:solidFill>
                  <a:srgbClr val="15283B"/>
                </a:solidFill>
                <a:latin typeface="Cambria Math" panose="02040503050406030204" pitchFamily="18" charset="0"/>
              </a:rPr>
              <a:t>T</a:t>
            </a:r>
            <a:r>
              <a:rPr lang="en-IL" sz="2520" baseline="32000">
                <a:solidFill>
                  <a:srgbClr val="15283B"/>
                </a:solidFill>
                <a:latin typeface="Cambria Math" panose="02040503050406030204" pitchFamily="18" charset="0"/>
              </a:rPr>
              <a:t>-1</a:t>
            </a:r>
            <a:r>
              <a:rPr lang="en-IL" sz="3500">
                <a:solidFill>
                  <a:srgbClr val="15283B"/>
                </a:solidFill>
                <a:latin typeface="Cambria Math" panose="02040503050406030204" pitchFamily="18" charset="0"/>
              </a:rPr>
              <a:t> =</a:t>
            </a:r>
          </a:p>
        </p:txBody>
      </p:sp>
      <p:cxnSp>
        <p:nvCxnSpPr>
          <p:cNvPr id="18" name="Straight Connector 17">
            <a:extLst>
              <a:ext uri="{FF2B5EF4-FFF2-40B4-BE49-F238E27FC236}">
                <a16:creationId xmlns:a16="http://schemas.microsoft.com/office/drawing/2014/main" id="{08CC4215-764F-DBB2-6581-965761739792}"/>
              </a:ext>
            </a:extLst>
          </p:cNvPr>
          <p:cNvCxnSpPr/>
          <p:nvPr/>
        </p:nvCxnSpPr>
        <p:spPr>
          <a:xfrm>
            <a:off x="4064000" y="4749800"/>
            <a:ext cx="0" cy="12065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A4FD7FF-2596-2AB1-9614-049D428FAD76}"/>
              </a:ext>
            </a:extLst>
          </p:cNvPr>
          <p:cNvCxnSpPr/>
          <p:nvPr/>
        </p:nvCxnSpPr>
        <p:spPr>
          <a:xfrm>
            <a:off x="4064000" y="47498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12D400C-7054-19D6-63ED-05870C27F7EF}"/>
              </a:ext>
            </a:extLst>
          </p:cNvPr>
          <p:cNvCxnSpPr/>
          <p:nvPr/>
        </p:nvCxnSpPr>
        <p:spPr>
          <a:xfrm>
            <a:off x="4064000" y="5956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FDE776C-8A4F-2705-21F7-E4C60187E05F}"/>
              </a:ext>
            </a:extLst>
          </p:cNvPr>
          <p:cNvCxnSpPr/>
          <p:nvPr/>
        </p:nvCxnSpPr>
        <p:spPr>
          <a:xfrm>
            <a:off x="8382000" y="4749800"/>
            <a:ext cx="0" cy="12065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DEE2285-907F-699A-1DC0-B503D4426E7A}"/>
              </a:ext>
            </a:extLst>
          </p:cNvPr>
          <p:cNvCxnSpPr/>
          <p:nvPr/>
        </p:nvCxnSpPr>
        <p:spPr>
          <a:xfrm flipH="1">
            <a:off x="8280400" y="47498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A110FB6-6160-3DDB-B9E9-C2B8C09A1932}"/>
              </a:ext>
            </a:extLst>
          </p:cNvPr>
          <p:cNvCxnSpPr/>
          <p:nvPr/>
        </p:nvCxnSpPr>
        <p:spPr>
          <a:xfrm flipH="1">
            <a:off x="8280400" y="5956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24" name="text_23">
            <a:extLst>
              <a:ext uri="{FF2B5EF4-FFF2-40B4-BE49-F238E27FC236}">
                <a16:creationId xmlns:a16="http://schemas.microsoft.com/office/drawing/2014/main" id="{825D29DB-7FB0-7B0E-C1CA-9B69D1FB5B5B}"/>
              </a:ext>
            </a:extLst>
          </p:cNvPr>
          <p:cNvSpPr txBox="1"/>
          <p:nvPr/>
        </p:nvSpPr>
        <p:spPr>
          <a:xfrm>
            <a:off x="4203700" y="4800599"/>
            <a:ext cx="2019300" cy="5524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R</a:t>
            </a:r>
            <a:r>
              <a:rPr lang="en-IL" sz="2304" baseline="32000">
                <a:solidFill>
                  <a:srgbClr val="15283B"/>
                </a:solidFill>
                <a:latin typeface="Cambria Math" panose="02040503050406030204" pitchFamily="18" charset="0"/>
              </a:rPr>
              <a:t>T</a:t>
            </a:r>
          </a:p>
        </p:txBody>
      </p:sp>
      <p:sp>
        <p:nvSpPr>
          <p:cNvPr id="25" name="text_24">
            <a:extLst>
              <a:ext uri="{FF2B5EF4-FFF2-40B4-BE49-F238E27FC236}">
                <a16:creationId xmlns:a16="http://schemas.microsoft.com/office/drawing/2014/main" id="{38D30ABF-4028-02CC-E388-5B6D351A4D4C}"/>
              </a:ext>
            </a:extLst>
          </p:cNvPr>
          <p:cNvSpPr txBox="1"/>
          <p:nvPr/>
        </p:nvSpPr>
        <p:spPr>
          <a:xfrm>
            <a:off x="6223000" y="4800599"/>
            <a:ext cx="2019300" cy="5524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−R</a:t>
            </a:r>
            <a:r>
              <a:rPr lang="en-IL" sz="2304" baseline="3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t</a:t>
            </a:r>
          </a:p>
        </p:txBody>
      </p:sp>
      <p:sp>
        <p:nvSpPr>
          <p:cNvPr id="26" name="text_25">
            <a:extLst>
              <a:ext uri="{FF2B5EF4-FFF2-40B4-BE49-F238E27FC236}">
                <a16:creationId xmlns:a16="http://schemas.microsoft.com/office/drawing/2014/main" id="{2C9B6845-7953-2A52-8751-41E0A24022E4}"/>
              </a:ext>
            </a:extLst>
          </p:cNvPr>
          <p:cNvSpPr txBox="1"/>
          <p:nvPr/>
        </p:nvSpPr>
        <p:spPr>
          <a:xfrm>
            <a:off x="4203700" y="5403849"/>
            <a:ext cx="2019300" cy="5524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0</a:t>
            </a:r>
          </a:p>
        </p:txBody>
      </p:sp>
      <p:sp>
        <p:nvSpPr>
          <p:cNvPr id="27" name="text_26">
            <a:extLst>
              <a:ext uri="{FF2B5EF4-FFF2-40B4-BE49-F238E27FC236}">
                <a16:creationId xmlns:a16="http://schemas.microsoft.com/office/drawing/2014/main" id="{C7BBC63A-EFF5-3643-BA9B-128DD90240B3}"/>
              </a:ext>
            </a:extLst>
          </p:cNvPr>
          <p:cNvSpPr txBox="1"/>
          <p:nvPr/>
        </p:nvSpPr>
        <p:spPr>
          <a:xfrm>
            <a:off x="6223000" y="5403849"/>
            <a:ext cx="2019300" cy="552450"/>
          </a:xfrm>
          <a:prstGeom prst="rect">
            <a:avLst/>
          </a:prstGeom>
          <a:noFill/>
        </p:spPr>
        <p:txBody>
          <a:bodyPr vert="horz" wrap="square" lIns="0" tIns="0" rIns="0" bIns="0" rtlCol="0" anchor="t">
            <a:noAutofit/>
          </a:bodyPr>
          <a:lstStyle/>
          <a:p>
            <a:pPr algn="ctr"/>
            <a:r>
              <a:rPr lang="en-IL" sz="3200">
                <a:solidFill>
                  <a:srgbClr val="15283B"/>
                </a:solidFill>
                <a:latin typeface="Cambria Math" panose="02040503050406030204" pitchFamily="18" charset="0"/>
              </a:rPr>
              <a:t>1</a:t>
            </a:r>
          </a:p>
        </p:txBody>
      </p:sp>
      <p:sp>
        <p:nvSpPr>
          <p:cNvPr id="28" name="text_27">
            <a:extLst>
              <a:ext uri="{FF2B5EF4-FFF2-40B4-BE49-F238E27FC236}">
                <a16:creationId xmlns:a16="http://schemas.microsoft.com/office/drawing/2014/main" id="{BDAF0AE2-0D8A-32BF-02EB-1B1EB45F840F}"/>
              </a:ext>
            </a:extLst>
          </p:cNvPr>
          <p:cNvSpPr txBox="1"/>
          <p:nvPr/>
        </p:nvSpPr>
        <p:spPr>
          <a:xfrm>
            <a:off x="8839200" y="4914899"/>
            <a:ext cx="2667000" cy="9779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Subtract t, then rotate back.</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784937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ED99527-9BCD-887E-0E44-1DBFE5D8F8F6}"/>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5CC573FA-CE3A-1DE4-9E35-83212374107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Euler angles: order matters</a:t>
            </a:r>
          </a:p>
        </p:txBody>
      </p:sp>
      <p:sp>
        <p:nvSpPr>
          <p:cNvPr id="4" name="text_3">
            <a:extLst>
              <a:ext uri="{FF2B5EF4-FFF2-40B4-BE49-F238E27FC236}">
                <a16:creationId xmlns:a16="http://schemas.microsoft.com/office/drawing/2014/main" id="{4262FC0C-0800-A92A-7712-2977DF17E93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This lesson uses fixed-axis XYZ roll–pitch–yaw.</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119C1F2-C4A9-7B4E-98F4-60628EF1340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FFE3484-CA89-A444-780D-A4FE8F31571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C585229-7B50-A476-5F50-BBDDF89EBB7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Rectangle: Rounded Corners 7">
            <a:extLst>
              <a:ext uri="{FF2B5EF4-FFF2-40B4-BE49-F238E27FC236}">
                <a16:creationId xmlns:a16="http://schemas.microsoft.com/office/drawing/2014/main" id="{8075E623-54B7-D5C7-648F-13310428FC0E}"/>
              </a:ext>
            </a:extLst>
          </p:cNvPr>
          <p:cNvSpPr/>
          <p:nvPr/>
        </p:nvSpPr>
        <p:spPr>
          <a:xfrm>
            <a:off x="685800" y="2603500"/>
            <a:ext cx="3429000" cy="1587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0F286B4E-E8B4-FBB3-E707-C04381467FC7}"/>
              </a:ext>
            </a:extLst>
          </p:cNvPr>
          <p:cNvSpPr txBox="1"/>
          <p:nvPr/>
        </p:nvSpPr>
        <p:spPr>
          <a:xfrm>
            <a:off x="914400" y="2793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Roll </a:t>
            </a:r>
            <a:r>
              <a:rPr lang="el-GR" sz="2800" b="1">
                <a:solidFill>
                  <a:srgbClr val="2459D3"/>
                </a:solidFill>
                <a:latin typeface="Aptos" panose="020B0004020202020204" pitchFamily="34" charset="0"/>
              </a:rPr>
              <a:t>φ</a:t>
            </a:r>
            <a:endParaRPr lang="en-IL" sz="2800" b="1">
              <a:solidFill>
                <a:srgbClr val="2459D3"/>
              </a:solidFill>
              <a:latin typeface="Aptos" panose="020B0004020202020204" pitchFamily="34" charset="0"/>
            </a:endParaRPr>
          </a:p>
        </p:txBody>
      </p:sp>
      <p:sp>
        <p:nvSpPr>
          <p:cNvPr id="10" name="text_9">
            <a:extLst>
              <a:ext uri="{FF2B5EF4-FFF2-40B4-BE49-F238E27FC236}">
                <a16:creationId xmlns:a16="http://schemas.microsoft.com/office/drawing/2014/main" id="{4AC47176-C7AC-FA3D-3788-54A5DC0E8801}"/>
              </a:ext>
            </a:extLst>
          </p:cNvPr>
          <p:cNvSpPr txBox="1"/>
          <p:nvPr/>
        </p:nvSpPr>
        <p:spPr>
          <a:xfrm>
            <a:off x="914400" y="3479799"/>
            <a:ext cx="2971800" cy="622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about x</a:t>
            </a:r>
          </a:p>
        </p:txBody>
      </p:sp>
      <p:sp>
        <p:nvSpPr>
          <p:cNvPr id="11" name="Rectangle: Rounded Corners 10">
            <a:extLst>
              <a:ext uri="{FF2B5EF4-FFF2-40B4-BE49-F238E27FC236}">
                <a16:creationId xmlns:a16="http://schemas.microsoft.com/office/drawing/2014/main" id="{9489B7CF-4E69-1B24-5DAE-3D878B7F83F2}"/>
              </a:ext>
            </a:extLst>
          </p:cNvPr>
          <p:cNvSpPr/>
          <p:nvPr/>
        </p:nvSpPr>
        <p:spPr>
          <a:xfrm>
            <a:off x="4381500" y="2603500"/>
            <a:ext cx="3429000" cy="1587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AA095EFD-5865-71F5-F458-790C30CBB82C}"/>
              </a:ext>
            </a:extLst>
          </p:cNvPr>
          <p:cNvSpPr txBox="1"/>
          <p:nvPr/>
        </p:nvSpPr>
        <p:spPr>
          <a:xfrm>
            <a:off x="4610100" y="2793999"/>
            <a:ext cx="2971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Pitch </a:t>
            </a:r>
            <a:r>
              <a:rPr lang="el-GR" sz="2800" b="1">
                <a:solidFill>
                  <a:srgbClr val="137F79"/>
                </a:solidFill>
                <a:latin typeface="Aptos" panose="020B0004020202020204" pitchFamily="34" charset="0"/>
              </a:rPr>
              <a:t>θ</a:t>
            </a:r>
            <a:endParaRPr lang="en-IL" sz="2800" b="1">
              <a:solidFill>
                <a:srgbClr val="137F79"/>
              </a:solidFill>
              <a:latin typeface="Aptos" panose="020B0004020202020204" pitchFamily="34" charset="0"/>
            </a:endParaRPr>
          </a:p>
        </p:txBody>
      </p:sp>
      <p:sp>
        <p:nvSpPr>
          <p:cNvPr id="13" name="text_12">
            <a:extLst>
              <a:ext uri="{FF2B5EF4-FFF2-40B4-BE49-F238E27FC236}">
                <a16:creationId xmlns:a16="http://schemas.microsoft.com/office/drawing/2014/main" id="{A2EB66B6-57A7-FAD6-1FD3-68C5DCC6C6A0}"/>
              </a:ext>
            </a:extLst>
          </p:cNvPr>
          <p:cNvSpPr txBox="1"/>
          <p:nvPr/>
        </p:nvSpPr>
        <p:spPr>
          <a:xfrm>
            <a:off x="4610100" y="3479799"/>
            <a:ext cx="2971800" cy="622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about y</a:t>
            </a:r>
          </a:p>
        </p:txBody>
      </p:sp>
      <p:sp>
        <p:nvSpPr>
          <p:cNvPr id="14" name="Rectangle: Rounded Corners 13">
            <a:extLst>
              <a:ext uri="{FF2B5EF4-FFF2-40B4-BE49-F238E27FC236}">
                <a16:creationId xmlns:a16="http://schemas.microsoft.com/office/drawing/2014/main" id="{15C91A47-5900-B0C7-D23A-498FD7CEB0F5}"/>
              </a:ext>
            </a:extLst>
          </p:cNvPr>
          <p:cNvSpPr/>
          <p:nvPr/>
        </p:nvSpPr>
        <p:spPr>
          <a:xfrm>
            <a:off x="8077200" y="2603500"/>
            <a:ext cx="3429000" cy="1587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01833E38-4D29-F373-9338-DB98129AA976}"/>
              </a:ext>
            </a:extLst>
          </p:cNvPr>
          <p:cNvSpPr txBox="1"/>
          <p:nvPr/>
        </p:nvSpPr>
        <p:spPr>
          <a:xfrm>
            <a:off x="8305800" y="2793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Yaw </a:t>
            </a:r>
            <a:r>
              <a:rPr lang="el-GR" sz="2800" b="1">
                <a:solidFill>
                  <a:srgbClr val="2459D3"/>
                </a:solidFill>
                <a:latin typeface="Aptos" panose="020B0004020202020204" pitchFamily="34" charset="0"/>
              </a:rPr>
              <a:t>ψ</a:t>
            </a:r>
            <a:endParaRPr lang="en-IL" sz="2800" b="1">
              <a:solidFill>
                <a:srgbClr val="2459D3"/>
              </a:solidFill>
              <a:latin typeface="Aptos" panose="020B0004020202020204" pitchFamily="34" charset="0"/>
            </a:endParaRPr>
          </a:p>
        </p:txBody>
      </p:sp>
      <p:sp>
        <p:nvSpPr>
          <p:cNvPr id="16" name="text_15">
            <a:extLst>
              <a:ext uri="{FF2B5EF4-FFF2-40B4-BE49-F238E27FC236}">
                <a16:creationId xmlns:a16="http://schemas.microsoft.com/office/drawing/2014/main" id="{E8916F2D-4DF3-FBCE-4B62-5EFCB0255908}"/>
              </a:ext>
            </a:extLst>
          </p:cNvPr>
          <p:cNvSpPr txBox="1"/>
          <p:nvPr/>
        </p:nvSpPr>
        <p:spPr>
          <a:xfrm>
            <a:off x="8305800" y="3479799"/>
            <a:ext cx="2971800" cy="622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about z</a:t>
            </a:r>
          </a:p>
        </p:txBody>
      </p:sp>
      <p:sp>
        <p:nvSpPr>
          <p:cNvPr id="17" name="text_16">
            <a:extLst>
              <a:ext uri="{FF2B5EF4-FFF2-40B4-BE49-F238E27FC236}">
                <a16:creationId xmlns:a16="http://schemas.microsoft.com/office/drawing/2014/main" id="{D8E20AA9-7DAB-87CA-29E3-3CA910E28903}"/>
              </a:ext>
            </a:extLst>
          </p:cNvPr>
          <p:cNvSpPr txBox="1"/>
          <p:nvPr/>
        </p:nvSpPr>
        <p:spPr>
          <a:xfrm>
            <a:off x="685800" y="4444999"/>
            <a:ext cx="10820400" cy="736600"/>
          </a:xfrm>
          <a:prstGeom prst="rect">
            <a:avLst/>
          </a:prstGeom>
          <a:noFill/>
        </p:spPr>
        <p:txBody>
          <a:bodyPr vert="horz" wrap="square" lIns="0" tIns="0" rIns="0" bIns="0" rtlCol="0" anchor="t">
            <a:noAutofit/>
          </a:bodyPr>
          <a:lstStyle/>
          <a:p>
            <a:pPr algn="ctr"/>
            <a:r>
              <a:rPr lang="pt-BR" sz="3600">
                <a:solidFill>
                  <a:srgbClr val="2459D3"/>
                </a:solidFill>
                <a:latin typeface="Cambria Math" panose="02040503050406030204" pitchFamily="18" charset="0"/>
              </a:rPr>
              <a:t>R = R</a:t>
            </a:r>
            <a:r>
              <a:rPr lang="pt-BR" sz="2592" baseline="-22000">
                <a:solidFill>
                  <a:srgbClr val="2459D3"/>
                </a:solidFill>
                <a:latin typeface="Cambria Math" panose="02040503050406030204" pitchFamily="18" charset="0"/>
              </a:rPr>
              <a:t>z</a:t>
            </a:r>
            <a:r>
              <a:rPr lang="pt-BR" sz="3600">
                <a:solidFill>
                  <a:srgbClr val="2459D3"/>
                </a:solidFill>
                <a:latin typeface="Cambria Math" panose="02040503050406030204" pitchFamily="18" charset="0"/>
              </a:rPr>
              <a:t>(ψ) R</a:t>
            </a:r>
            <a:r>
              <a:rPr lang="pt-BR" sz="2592" baseline="-22000">
                <a:solidFill>
                  <a:srgbClr val="2459D3"/>
                </a:solidFill>
                <a:latin typeface="Cambria Math" panose="02040503050406030204" pitchFamily="18" charset="0"/>
              </a:rPr>
              <a:t>y</a:t>
            </a:r>
            <a:r>
              <a:rPr lang="pt-BR" sz="3600">
                <a:solidFill>
                  <a:srgbClr val="2459D3"/>
                </a:solidFill>
                <a:latin typeface="Cambria Math" panose="02040503050406030204" pitchFamily="18" charset="0"/>
              </a:rPr>
              <a:t>(θ) R</a:t>
            </a:r>
            <a:r>
              <a:rPr lang="pt-BR" sz="2592" baseline="-22000">
                <a:solidFill>
                  <a:srgbClr val="2459D3"/>
                </a:solidFill>
                <a:latin typeface="Cambria Math" panose="02040503050406030204" pitchFamily="18" charset="0"/>
              </a:rPr>
              <a:t>x</a:t>
            </a:r>
            <a:r>
              <a:rPr lang="pt-BR" sz="3600">
                <a:solidFill>
                  <a:srgbClr val="2459D3"/>
                </a:solidFill>
                <a:latin typeface="Cambria Math" panose="02040503050406030204" pitchFamily="18" charset="0"/>
              </a:rPr>
              <a:t>(φ)</a:t>
            </a:r>
            <a:endParaRPr lang="en-IL" sz="3600">
              <a:solidFill>
                <a:srgbClr val="2459D3"/>
              </a:solidFill>
              <a:latin typeface="Cambria Math" panose="02040503050406030204" pitchFamily="18" charset="0"/>
            </a:endParaRPr>
          </a:p>
        </p:txBody>
      </p:sp>
      <p:sp>
        <p:nvSpPr>
          <p:cNvPr id="18" name="text_17">
            <a:extLst>
              <a:ext uri="{FF2B5EF4-FFF2-40B4-BE49-F238E27FC236}">
                <a16:creationId xmlns:a16="http://schemas.microsoft.com/office/drawing/2014/main" id="{BDE90EA5-6A91-39FA-3367-57A94ED2EBCF}"/>
              </a:ext>
            </a:extLst>
          </p:cNvPr>
          <p:cNvSpPr txBox="1"/>
          <p:nvPr/>
        </p:nvSpPr>
        <p:spPr>
          <a:xfrm>
            <a:off x="685800" y="5473699"/>
            <a:ext cx="10820400" cy="520700"/>
          </a:xfrm>
          <a:prstGeom prst="rect">
            <a:avLst/>
          </a:prstGeom>
          <a:noFill/>
        </p:spPr>
        <p:txBody>
          <a:bodyPr vert="horz" wrap="square" lIns="0" tIns="0" rIns="0" bIns="0" rtlCol="0" anchor="t">
            <a:noAutofit/>
          </a:bodyPr>
          <a:lstStyle/>
          <a:p>
            <a:r>
              <a:rPr lang="en-IL" sz="2500">
                <a:solidFill>
                  <a:srgbClr val="15283B"/>
                </a:solidFill>
                <a:latin typeface="Cambria Math" panose="02040503050406030204" pitchFamily="18" charset="0"/>
              </a:rPr>
              <a:t>90° x then z: e</a:t>
            </a:r>
            <a:r>
              <a:rPr lang="en-IL" baseline="-22000">
                <a:solidFill>
                  <a:srgbClr val="15283B"/>
                </a:solidFill>
                <a:latin typeface="Cambria Math" panose="02040503050406030204" pitchFamily="18" charset="0"/>
              </a:rPr>
              <a:t>x</a:t>
            </a:r>
            <a:r>
              <a:rPr lang="en-IL" sz="2500">
                <a:solidFill>
                  <a:srgbClr val="15283B"/>
                </a:solidFill>
                <a:latin typeface="Cambria Math" panose="02040503050406030204" pitchFamily="18" charset="0"/>
              </a:rPr>
              <a:t> → e</a:t>
            </a:r>
            <a:r>
              <a:rPr lang="en-IL" baseline="-22000">
                <a:solidFill>
                  <a:srgbClr val="15283B"/>
                </a:solidFill>
                <a:latin typeface="Cambria Math" panose="02040503050406030204" pitchFamily="18" charset="0"/>
              </a:rPr>
              <a:t>y</a:t>
            </a:r>
            <a:r>
              <a:rPr lang="en-IL" sz="2500">
                <a:solidFill>
                  <a:srgbClr val="15283B"/>
                </a:solidFill>
                <a:latin typeface="Cambria Math" panose="02040503050406030204" pitchFamily="18" charset="0"/>
              </a:rPr>
              <a:t>   ·   z then x: e</a:t>
            </a:r>
            <a:r>
              <a:rPr lang="en-IL" baseline="-22000">
                <a:solidFill>
                  <a:srgbClr val="15283B"/>
                </a:solidFill>
                <a:latin typeface="Cambria Math" panose="02040503050406030204" pitchFamily="18" charset="0"/>
              </a:rPr>
              <a:t>x</a:t>
            </a:r>
            <a:r>
              <a:rPr lang="en-IL" sz="2500">
                <a:solidFill>
                  <a:srgbClr val="15283B"/>
                </a:solidFill>
                <a:latin typeface="Cambria Math" panose="02040503050406030204" pitchFamily="18" charset="0"/>
              </a:rPr>
              <a:t> → e</a:t>
            </a:r>
            <a:r>
              <a:rPr lang="en-IL" baseline="-22000">
                <a:solidFill>
                  <a:srgbClr val="15283B"/>
                </a:solidFill>
                <a:latin typeface="Cambria Math" panose="02040503050406030204" pitchFamily="18" charset="0"/>
              </a:rPr>
              <a:t>z</a:t>
            </a:r>
          </a:p>
        </p:txBody>
      </p:sp>
    </p:spTree>
    <p:extLst>
      <p:ext uri="{BB962C8B-B14F-4D97-AF65-F5344CB8AC3E}">
        <p14:creationId xmlns:p14="http://schemas.microsoft.com/office/powerpoint/2010/main" val="3782352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031D32B-5646-972A-3128-CD7FEA4E0EB6}"/>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EAD86E19-F797-8CF3-826F-B69024197FD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Quaternion representation</a:t>
            </a:r>
          </a:p>
        </p:txBody>
      </p:sp>
      <p:sp>
        <p:nvSpPr>
          <p:cNvPr id="4" name="text_3">
            <a:extLst>
              <a:ext uri="{FF2B5EF4-FFF2-40B4-BE49-F238E27FC236}">
                <a16:creationId xmlns:a16="http://schemas.microsoft.com/office/drawing/2014/main" id="{4559919C-1886-C667-1957-28A58BF1C13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An axis and angle become four constrained numbers.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A6FB500-1521-3A71-C4D8-8CE6B60B29A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AA1ADAA-0EF7-4E31-EF8D-6222D953CD6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1A3AA0-3D1C-CC11-AC5C-0DB7CE119E1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text_7">
            <a:extLst>
              <a:ext uri="{FF2B5EF4-FFF2-40B4-BE49-F238E27FC236}">
                <a16:creationId xmlns:a16="http://schemas.microsoft.com/office/drawing/2014/main" id="{DDA0AFBB-95E1-DBAB-92FF-3BEE52378EC8}"/>
              </a:ext>
            </a:extLst>
          </p:cNvPr>
          <p:cNvSpPr txBox="1"/>
          <p:nvPr/>
        </p:nvSpPr>
        <p:spPr>
          <a:xfrm>
            <a:off x="685800" y="2679699"/>
            <a:ext cx="10820400" cy="850900"/>
          </a:xfrm>
          <a:prstGeom prst="rect">
            <a:avLst/>
          </a:prstGeom>
          <a:noFill/>
        </p:spPr>
        <p:txBody>
          <a:bodyPr vert="horz" wrap="square" lIns="0" tIns="0" rIns="0" bIns="0" rtlCol="0" anchor="t">
            <a:noAutofit/>
          </a:bodyPr>
          <a:lstStyle/>
          <a:p>
            <a:pPr algn="ctr"/>
            <a:r>
              <a:rPr lang="pl-PL" sz="3400">
                <a:solidFill>
                  <a:srgbClr val="2459D3"/>
                </a:solidFill>
                <a:latin typeface="Cambria Math" panose="02040503050406030204" pitchFamily="18" charset="0"/>
              </a:rPr>
              <a:t>q = (w, v) = (cos(α/2), k sin(α/2))</a:t>
            </a:r>
            <a:endParaRPr lang="en-IL" sz="34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D1AF76F8-5696-2340-294E-4C712AB8D879}"/>
              </a:ext>
            </a:extLst>
          </p:cNvPr>
          <p:cNvSpPr txBox="1"/>
          <p:nvPr/>
        </p:nvSpPr>
        <p:spPr>
          <a:xfrm>
            <a:off x="685800" y="3644899"/>
            <a:ext cx="10820400" cy="508000"/>
          </a:xfrm>
          <a:prstGeom prst="rect">
            <a:avLst/>
          </a:prstGeom>
          <a:noFill/>
        </p:spPr>
        <p:txBody>
          <a:bodyPr vert="horz" wrap="square" lIns="0" tIns="0" rIns="0" bIns="0" rtlCol="0" anchor="t">
            <a:noAutofit/>
          </a:bodyPr>
          <a:lstStyle/>
          <a:p>
            <a:pPr algn="ctr"/>
            <a:r>
              <a:rPr lang="en-US" sz="2400">
                <a:solidFill>
                  <a:srgbClr val="526477"/>
                </a:solidFill>
                <a:latin typeface="Aptos" panose="020B0004020202020204" pitchFamily="34" charset="0"/>
              </a:rPr>
              <a:t>k: unit rotation axis   ·   α: right-hand rotation angle</a:t>
            </a:r>
            <a:endParaRPr lang="en-IL" sz="2400">
              <a:solidFill>
                <a:srgbClr val="526477"/>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4DCEE717-95FC-2E37-068C-58661ED77609}"/>
              </a:ext>
            </a:extLst>
          </p:cNvPr>
          <p:cNvSpPr/>
          <p:nvPr/>
        </p:nvSpPr>
        <p:spPr>
          <a:xfrm>
            <a:off x="685800" y="4470400"/>
            <a:ext cx="5207000" cy="1524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5E866A45-F1E2-C789-5519-0D110292183F}"/>
              </a:ext>
            </a:extLst>
          </p:cNvPr>
          <p:cNvSpPr txBox="1"/>
          <p:nvPr/>
        </p:nvSpPr>
        <p:spPr>
          <a:xfrm>
            <a:off x="914400" y="46608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Unit norm</a:t>
            </a:r>
          </a:p>
        </p:txBody>
      </p:sp>
      <p:sp>
        <p:nvSpPr>
          <p:cNvPr id="12" name="text_11">
            <a:extLst>
              <a:ext uri="{FF2B5EF4-FFF2-40B4-BE49-F238E27FC236}">
                <a16:creationId xmlns:a16="http://schemas.microsoft.com/office/drawing/2014/main" id="{32946C3C-57FA-A1D8-CB71-E40D99F20154}"/>
              </a:ext>
            </a:extLst>
          </p:cNvPr>
          <p:cNvSpPr txBox="1"/>
          <p:nvPr/>
        </p:nvSpPr>
        <p:spPr>
          <a:xfrm>
            <a:off x="914400" y="5346699"/>
            <a:ext cx="4749800" cy="558800"/>
          </a:xfrm>
          <a:prstGeom prst="rect">
            <a:avLst/>
          </a:prstGeom>
          <a:noFill/>
        </p:spPr>
        <p:txBody>
          <a:bodyPr vert="horz" wrap="square" lIns="0" tIns="0" rIns="0" bIns="0" rtlCol="0" anchor="t">
            <a:noAutofit/>
          </a:bodyPr>
          <a:lstStyle/>
          <a:p>
            <a:r>
              <a:rPr lang="pl-PL" sz="2400">
                <a:solidFill>
                  <a:srgbClr val="15283B"/>
                </a:solidFill>
                <a:latin typeface="Aptos" panose="020B0004020202020204" pitchFamily="34" charset="0"/>
              </a:rPr>
              <a:t>w² + x² + y² + z² = 1</a:t>
            </a:r>
            <a:endParaRPr lang="en-IL" sz="2400">
              <a:solidFill>
                <a:srgbClr val="15283B"/>
              </a:solidFill>
              <a:latin typeface="Aptos" panose="020B0004020202020204" pitchFamily="34" charset="0"/>
            </a:endParaRPr>
          </a:p>
        </p:txBody>
      </p:sp>
      <p:sp>
        <p:nvSpPr>
          <p:cNvPr id="13" name="Rectangle: Rounded Corners 12">
            <a:extLst>
              <a:ext uri="{FF2B5EF4-FFF2-40B4-BE49-F238E27FC236}">
                <a16:creationId xmlns:a16="http://schemas.microsoft.com/office/drawing/2014/main" id="{34B89E3A-8E40-0EB2-1BBF-DB357343F0B8}"/>
              </a:ext>
            </a:extLst>
          </p:cNvPr>
          <p:cNvSpPr/>
          <p:nvPr/>
        </p:nvSpPr>
        <p:spPr>
          <a:xfrm>
            <a:off x="6172200" y="4470400"/>
            <a:ext cx="5334000" cy="1524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AEBFA23E-AC91-59A5-864B-624BEFBF21E0}"/>
              </a:ext>
            </a:extLst>
          </p:cNvPr>
          <p:cNvSpPr txBox="1"/>
          <p:nvPr/>
        </p:nvSpPr>
        <p:spPr>
          <a:xfrm>
            <a:off x="6400800" y="46608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ROS identity</a:t>
            </a:r>
          </a:p>
        </p:txBody>
      </p:sp>
      <p:sp>
        <p:nvSpPr>
          <p:cNvPr id="15" name="text_14">
            <a:extLst>
              <a:ext uri="{FF2B5EF4-FFF2-40B4-BE49-F238E27FC236}">
                <a16:creationId xmlns:a16="http://schemas.microsoft.com/office/drawing/2014/main" id="{E5D40005-D781-7C77-92CE-6A4F88CC643C}"/>
              </a:ext>
            </a:extLst>
          </p:cNvPr>
          <p:cNvSpPr txBox="1"/>
          <p:nvPr/>
        </p:nvSpPr>
        <p:spPr>
          <a:xfrm>
            <a:off x="6400800" y="5346699"/>
            <a:ext cx="4876800" cy="558800"/>
          </a:xfrm>
          <a:prstGeom prst="rect">
            <a:avLst/>
          </a:prstGeom>
          <a:noFill/>
        </p:spPr>
        <p:txBody>
          <a:bodyPr vert="horz" wrap="square" lIns="0" tIns="0" rIns="0" bIns="0" rtlCol="0" anchor="t">
            <a:noAutofit/>
          </a:bodyPr>
          <a:lstStyle/>
          <a:p>
            <a:r>
              <a:rPr lang="pl-PL" sz="2400">
                <a:solidFill>
                  <a:srgbClr val="15283B"/>
                </a:solidFill>
                <a:latin typeface="Aptos" panose="020B0004020202020204" pitchFamily="34" charset="0"/>
              </a:rPr>
              <a:t>(x, y, z, w) = (0, 0, 0, 1)</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171617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BCE29EA-80A7-A2D5-2B9A-D61E3295A22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83E06C8F-675B-E330-D14D-29CB749BE86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Rotate with a quaternion</a:t>
            </a:r>
          </a:p>
        </p:txBody>
      </p:sp>
      <p:sp>
        <p:nvSpPr>
          <p:cNvPr id="4" name="text_3">
            <a:extLst>
              <a:ext uri="{FF2B5EF4-FFF2-40B4-BE49-F238E27FC236}">
                <a16:creationId xmlns:a16="http://schemas.microsoft.com/office/drawing/2014/main" id="{5E3E64FA-EA79-DAD2-572A-515B349E7CA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Rotate first; add translation for displaced origins.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27DBE5B-27D5-0228-9E27-00AF807FAEF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EDB5E55-6A1D-4A8E-9A3C-81FE8446A3C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10AAECF-CB0B-074B-E092-1D925B78F75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text_7">
            <a:extLst>
              <a:ext uri="{FF2B5EF4-FFF2-40B4-BE49-F238E27FC236}">
                <a16:creationId xmlns:a16="http://schemas.microsoft.com/office/drawing/2014/main" id="{C68F4EC1-904E-4F18-B093-A59883DD4A0C}"/>
              </a:ext>
            </a:extLst>
          </p:cNvPr>
          <p:cNvSpPr txBox="1"/>
          <p:nvPr/>
        </p:nvSpPr>
        <p:spPr>
          <a:xfrm>
            <a:off x="685800" y="2819399"/>
            <a:ext cx="10820400" cy="825500"/>
          </a:xfrm>
          <a:prstGeom prst="rect">
            <a:avLst/>
          </a:prstGeom>
          <a:noFill/>
        </p:spPr>
        <p:txBody>
          <a:bodyPr vert="horz" wrap="square" lIns="0" tIns="0" rIns="0" bIns="0" rtlCol="0" anchor="t">
            <a:noAutofit/>
          </a:bodyPr>
          <a:lstStyle/>
          <a:p>
            <a:pPr algn="ctr"/>
            <a:r>
              <a:rPr lang="en-IL" sz="3800">
                <a:solidFill>
                  <a:srgbClr val="2459D3"/>
                </a:solidFill>
                <a:latin typeface="Cambria Math" panose="02040503050406030204" pitchFamily="18" charset="0"/>
              </a:rPr>
              <a:t>(0, p</a:t>
            </a:r>
            <a:r>
              <a:rPr lang="en-IL" sz="2736" baseline="-22000">
                <a:solidFill>
                  <a:srgbClr val="2459D3"/>
                </a:solidFill>
                <a:latin typeface="Cambria Math" panose="02040503050406030204" pitchFamily="18" charset="0"/>
              </a:rPr>
              <a:t>rot</a:t>
            </a:r>
            <a:r>
              <a:rPr lang="en-IL" sz="3800">
                <a:solidFill>
                  <a:srgbClr val="2459D3"/>
                </a:solidFill>
                <a:latin typeface="Cambria Math" panose="02040503050406030204" pitchFamily="18" charset="0"/>
              </a:rPr>
              <a:t>) = q ⊗ (0, p) ⊗ q</a:t>
            </a:r>
            <a:r>
              <a:rPr lang="en-IL" sz="2736" baseline="32000">
                <a:solidFill>
                  <a:srgbClr val="2459D3"/>
                </a:solidFill>
                <a:latin typeface="Cambria Math" panose="02040503050406030204" pitchFamily="18" charset="0"/>
              </a:rPr>
              <a:t>-1</a:t>
            </a:r>
          </a:p>
        </p:txBody>
      </p:sp>
      <p:sp>
        <p:nvSpPr>
          <p:cNvPr id="9" name="text_8">
            <a:extLst>
              <a:ext uri="{FF2B5EF4-FFF2-40B4-BE49-F238E27FC236}">
                <a16:creationId xmlns:a16="http://schemas.microsoft.com/office/drawing/2014/main" id="{2A740240-5635-40C7-2F85-AC57621C4E2A}"/>
              </a:ext>
            </a:extLst>
          </p:cNvPr>
          <p:cNvSpPr txBox="1"/>
          <p:nvPr/>
        </p:nvSpPr>
        <p:spPr>
          <a:xfrm>
            <a:off x="685800" y="4178299"/>
            <a:ext cx="10820400" cy="812800"/>
          </a:xfrm>
          <a:prstGeom prst="rect">
            <a:avLst/>
          </a:prstGeom>
          <a:noFill/>
        </p:spPr>
        <p:txBody>
          <a:bodyPr vert="horz" wrap="square" lIns="0" tIns="0" rIns="0" bIns="0" rtlCol="0" anchor="t">
            <a:noAutofit/>
          </a:bodyPr>
          <a:lstStyle/>
          <a:p>
            <a:pPr algn="ctr"/>
            <a:r>
              <a:rPr lang="en-IL" sz="3800">
                <a:solidFill>
                  <a:srgbClr val="137F79"/>
                </a:solidFill>
                <a:latin typeface="Cambria Math" panose="02040503050406030204" pitchFamily="18" charset="0"/>
              </a:rPr>
              <a:t>p</a:t>
            </a:r>
            <a:r>
              <a:rPr lang="en-IL" sz="2736" baseline="-22000">
                <a:solidFill>
                  <a:srgbClr val="137F79"/>
                </a:solidFill>
                <a:latin typeface="Cambria Math" panose="02040503050406030204" pitchFamily="18" charset="0"/>
              </a:rPr>
              <a:t>A</a:t>
            </a:r>
            <a:r>
              <a:rPr lang="en-IL" sz="3800">
                <a:solidFill>
                  <a:srgbClr val="137F79"/>
                </a:solidFill>
                <a:latin typeface="Cambria Math" panose="02040503050406030204" pitchFamily="18" charset="0"/>
              </a:rPr>
              <a:t> = p</a:t>
            </a:r>
            <a:r>
              <a:rPr lang="en-IL" sz="2736" baseline="-22000">
                <a:solidFill>
                  <a:srgbClr val="137F79"/>
                </a:solidFill>
                <a:latin typeface="Cambria Math" panose="02040503050406030204" pitchFamily="18" charset="0"/>
              </a:rPr>
              <a:t>rot</a:t>
            </a:r>
            <a:r>
              <a:rPr lang="en-IL" sz="3800">
                <a:solidFill>
                  <a:srgbClr val="137F79"/>
                </a:solidFill>
                <a:latin typeface="Cambria Math" panose="02040503050406030204" pitchFamily="18" charset="0"/>
              </a:rPr>
              <a:t> + t</a:t>
            </a:r>
            <a:r>
              <a:rPr lang="en-IL" sz="2736" baseline="-22000">
                <a:solidFill>
                  <a:srgbClr val="137F79"/>
                </a:solidFill>
                <a:latin typeface="Cambria Math" panose="02040503050406030204" pitchFamily="18" charset="0"/>
              </a:rPr>
              <a:t>AB</a:t>
            </a:r>
          </a:p>
        </p:txBody>
      </p:sp>
      <p:sp>
        <p:nvSpPr>
          <p:cNvPr id="10" name="text_9">
            <a:extLst>
              <a:ext uri="{FF2B5EF4-FFF2-40B4-BE49-F238E27FC236}">
                <a16:creationId xmlns:a16="http://schemas.microsoft.com/office/drawing/2014/main" id="{5004FB0F-C1C2-4078-ED23-471B500F99FF}"/>
              </a:ext>
            </a:extLst>
          </p:cNvPr>
          <p:cNvSpPr txBox="1"/>
          <p:nvPr/>
        </p:nvSpPr>
        <p:spPr>
          <a:xfrm>
            <a:off x="685800" y="5397499"/>
            <a:ext cx="10820400" cy="533400"/>
          </a:xfrm>
          <a:prstGeom prst="rect">
            <a:avLst/>
          </a:prstGeom>
          <a:noFill/>
        </p:spPr>
        <p:txBody>
          <a:bodyPr vert="horz" wrap="square" lIns="0" tIns="0" rIns="0" bIns="0" rtlCol="0" anchor="t">
            <a:noAutofit/>
          </a:bodyPr>
          <a:lstStyle/>
          <a:p>
            <a:r>
              <a:rPr lang="fr-FR" sz="2400">
                <a:solidFill>
                  <a:srgbClr val="15283B"/>
                </a:solidFill>
                <a:latin typeface="Aptos" panose="020B0004020202020204" pitchFamily="34" charset="0"/>
              </a:rPr>
              <a:t>Unit inverse = conjugate   ·   Composition: q_AB ⊗ q_BC</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3694995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6510123-6D5C-3D89-D69A-2211C986318F}"/>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D645E450-5B6A-ED2C-270A-9C81EB54A9E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One example, three representations</a:t>
            </a:r>
          </a:p>
        </p:txBody>
      </p:sp>
      <p:sp>
        <p:nvSpPr>
          <p:cNvPr id="4" name="text_3">
            <a:extLst>
              <a:ext uri="{FF2B5EF4-FFF2-40B4-BE49-F238E27FC236}">
                <a16:creationId xmlns:a16="http://schemas.microsoft.com/office/drawing/2014/main" id="{25EEEE81-6C33-5413-ECD0-D1E62B0238F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Same orientation. Same translation. Same base point.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7407A73-10F4-7873-1071-D09C764D72B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8E3B764-9602-F46C-39A7-5AF3C1C68D5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009A8B6-4B71-1944-97C7-F543507A08D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Rectangle: Rounded Corners 7">
            <a:extLst>
              <a:ext uri="{FF2B5EF4-FFF2-40B4-BE49-F238E27FC236}">
                <a16:creationId xmlns:a16="http://schemas.microsoft.com/office/drawing/2014/main" id="{2449F8FF-BFEE-F43C-B751-42A6B32F8B42}"/>
              </a:ext>
            </a:extLst>
          </p:cNvPr>
          <p:cNvSpPr/>
          <p:nvPr/>
        </p:nvSpPr>
        <p:spPr>
          <a:xfrm>
            <a:off x="685800" y="2590800"/>
            <a:ext cx="3429000" cy="2425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53DDA16-E0A7-A874-297E-7193B9A5FB57}"/>
              </a:ext>
            </a:extLst>
          </p:cNvPr>
          <p:cNvSpPr txBox="1"/>
          <p:nvPr/>
        </p:nvSpPr>
        <p:spPr>
          <a:xfrm>
            <a:off x="914400" y="27431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Matrix</a:t>
            </a:r>
          </a:p>
        </p:txBody>
      </p:sp>
      <p:cxnSp>
        <p:nvCxnSpPr>
          <p:cNvPr id="10" name="Straight Connector 9">
            <a:extLst>
              <a:ext uri="{FF2B5EF4-FFF2-40B4-BE49-F238E27FC236}">
                <a16:creationId xmlns:a16="http://schemas.microsoft.com/office/drawing/2014/main" id="{7C618A5E-7C35-F1DA-25E6-10B42B75FE25}"/>
              </a:ext>
            </a:extLst>
          </p:cNvPr>
          <p:cNvCxnSpPr/>
          <p:nvPr/>
        </p:nvCxnSpPr>
        <p:spPr>
          <a:xfrm>
            <a:off x="952500" y="33909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A825244-BDAC-3CEB-9273-D96F99F9AC2E}"/>
              </a:ext>
            </a:extLst>
          </p:cNvPr>
          <p:cNvCxnSpPr/>
          <p:nvPr/>
        </p:nvCxnSpPr>
        <p:spPr>
          <a:xfrm>
            <a:off x="952500" y="33909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7454061-5A58-3736-6558-695908313429}"/>
              </a:ext>
            </a:extLst>
          </p:cNvPr>
          <p:cNvCxnSpPr/>
          <p:nvPr/>
        </p:nvCxnSpPr>
        <p:spPr>
          <a:xfrm>
            <a:off x="952500" y="48006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515416A-5D74-2E23-7F8A-476AC6FFEF45}"/>
              </a:ext>
            </a:extLst>
          </p:cNvPr>
          <p:cNvCxnSpPr/>
          <p:nvPr/>
        </p:nvCxnSpPr>
        <p:spPr>
          <a:xfrm>
            <a:off x="3848100" y="3390900"/>
            <a:ext cx="0" cy="1409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3102616-4408-B41E-DE96-D1321890BE30}"/>
              </a:ext>
            </a:extLst>
          </p:cNvPr>
          <p:cNvCxnSpPr/>
          <p:nvPr/>
        </p:nvCxnSpPr>
        <p:spPr>
          <a:xfrm flipH="1">
            <a:off x="3746500" y="33909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AC2F778-4B1E-C193-6A15-45988D4F6706}"/>
              </a:ext>
            </a:extLst>
          </p:cNvPr>
          <p:cNvCxnSpPr/>
          <p:nvPr/>
        </p:nvCxnSpPr>
        <p:spPr>
          <a:xfrm flipH="1">
            <a:off x="3746500" y="48006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2DA59EAF-D40C-E7C8-6B2E-AF329EDEAEB9}"/>
              </a:ext>
            </a:extLst>
          </p:cNvPr>
          <p:cNvSpPr txBox="1"/>
          <p:nvPr/>
        </p:nvSpPr>
        <p:spPr>
          <a:xfrm>
            <a:off x="1092200" y="34416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0</a:t>
            </a:r>
          </a:p>
        </p:txBody>
      </p:sp>
      <p:sp>
        <p:nvSpPr>
          <p:cNvPr id="17" name="text_16">
            <a:extLst>
              <a:ext uri="{FF2B5EF4-FFF2-40B4-BE49-F238E27FC236}">
                <a16:creationId xmlns:a16="http://schemas.microsoft.com/office/drawing/2014/main" id="{81A20B6C-EE4F-3AAA-ABE2-1A17B7E39934}"/>
              </a:ext>
            </a:extLst>
          </p:cNvPr>
          <p:cNvSpPr txBox="1"/>
          <p:nvPr/>
        </p:nvSpPr>
        <p:spPr>
          <a:xfrm>
            <a:off x="1964267" y="34416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−1</a:t>
            </a:r>
          </a:p>
        </p:txBody>
      </p:sp>
      <p:sp>
        <p:nvSpPr>
          <p:cNvPr id="18" name="text_17">
            <a:extLst>
              <a:ext uri="{FF2B5EF4-FFF2-40B4-BE49-F238E27FC236}">
                <a16:creationId xmlns:a16="http://schemas.microsoft.com/office/drawing/2014/main" id="{9FD8B0DF-3F7C-0868-8DF7-4A98D075AA31}"/>
              </a:ext>
            </a:extLst>
          </p:cNvPr>
          <p:cNvSpPr txBox="1"/>
          <p:nvPr/>
        </p:nvSpPr>
        <p:spPr>
          <a:xfrm>
            <a:off x="2836333" y="34416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0</a:t>
            </a:r>
          </a:p>
        </p:txBody>
      </p:sp>
      <p:sp>
        <p:nvSpPr>
          <p:cNvPr id="19" name="text_18">
            <a:extLst>
              <a:ext uri="{FF2B5EF4-FFF2-40B4-BE49-F238E27FC236}">
                <a16:creationId xmlns:a16="http://schemas.microsoft.com/office/drawing/2014/main" id="{B6E01858-6F49-FCE5-87C5-A919E67AE86C}"/>
              </a:ext>
            </a:extLst>
          </p:cNvPr>
          <p:cNvSpPr txBox="1"/>
          <p:nvPr/>
        </p:nvSpPr>
        <p:spPr>
          <a:xfrm>
            <a:off x="1092200" y="39115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1</a:t>
            </a:r>
          </a:p>
        </p:txBody>
      </p:sp>
      <p:sp>
        <p:nvSpPr>
          <p:cNvPr id="20" name="text_19">
            <a:extLst>
              <a:ext uri="{FF2B5EF4-FFF2-40B4-BE49-F238E27FC236}">
                <a16:creationId xmlns:a16="http://schemas.microsoft.com/office/drawing/2014/main" id="{EFADCFF2-A6B8-E51E-0C21-CD2DE339C825}"/>
              </a:ext>
            </a:extLst>
          </p:cNvPr>
          <p:cNvSpPr txBox="1"/>
          <p:nvPr/>
        </p:nvSpPr>
        <p:spPr>
          <a:xfrm>
            <a:off x="1964267" y="39115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0</a:t>
            </a:r>
          </a:p>
        </p:txBody>
      </p:sp>
      <p:sp>
        <p:nvSpPr>
          <p:cNvPr id="21" name="text_20">
            <a:extLst>
              <a:ext uri="{FF2B5EF4-FFF2-40B4-BE49-F238E27FC236}">
                <a16:creationId xmlns:a16="http://schemas.microsoft.com/office/drawing/2014/main" id="{39FDDA5A-8F12-B3C8-AC6D-D62CC46FB404}"/>
              </a:ext>
            </a:extLst>
          </p:cNvPr>
          <p:cNvSpPr txBox="1"/>
          <p:nvPr/>
        </p:nvSpPr>
        <p:spPr>
          <a:xfrm>
            <a:off x="2836333" y="39115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0</a:t>
            </a:r>
          </a:p>
        </p:txBody>
      </p:sp>
      <p:sp>
        <p:nvSpPr>
          <p:cNvPr id="22" name="text_21">
            <a:extLst>
              <a:ext uri="{FF2B5EF4-FFF2-40B4-BE49-F238E27FC236}">
                <a16:creationId xmlns:a16="http://schemas.microsoft.com/office/drawing/2014/main" id="{1C634FBD-0FE3-3AF9-B1DB-AB7FCE74BAEA}"/>
              </a:ext>
            </a:extLst>
          </p:cNvPr>
          <p:cNvSpPr txBox="1"/>
          <p:nvPr/>
        </p:nvSpPr>
        <p:spPr>
          <a:xfrm>
            <a:off x="1092200" y="43814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0</a:t>
            </a:r>
          </a:p>
        </p:txBody>
      </p:sp>
      <p:sp>
        <p:nvSpPr>
          <p:cNvPr id="23" name="text_22">
            <a:extLst>
              <a:ext uri="{FF2B5EF4-FFF2-40B4-BE49-F238E27FC236}">
                <a16:creationId xmlns:a16="http://schemas.microsoft.com/office/drawing/2014/main" id="{6AC52FE5-9192-DE79-798A-92C3D5BE5EC9}"/>
              </a:ext>
            </a:extLst>
          </p:cNvPr>
          <p:cNvSpPr txBox="1"/>
          <p:nvPr/>
        </p:nvSpPr>
        <p:spPr>
          <a:xfrm>
            <a:off x="1964267" y="43814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0</a:t>
            </a:r>
          </a:p>
        </p:txBody>
      </p:sp>
      <p:sp>
        <p:nvSpPr>
          <p:cNvPr id="24" name="text_23">
            <a:extLst>
              <a:ext uri="{FF2B5EF4-FFF2-40B4-BE49-F238E27FC236}">
                <a16:creationId xmlns:a16="http://schemas.microsoft.com/office/drawing/2014/main" id="{08693872-4543-0D7B-95DF-D3D199FBA936}"/>
              </a:ext>
            </a:extLst>
          </p:cNvPr>
          <p:cNvSpPr txBox="1"/>
          <p:nvPr/>
        </p:nvSpPr>
        <p:spPr>
          <a:xfrm>
            <a:off x="2836333" y="4381499"/>
            <a:ext cx="872067" cy="419100"/>
          </a:xfrm>
          <a:prstGeom prst="rect">
            <a:avLst/>
          </a:prstGeom>
          <a:noFill/>
        </p:spPr>
        <p:txBody>
          <a:bodyPr vert="horz" wrap="square" lIns="0" tIns="0" rIns="0" bIns="0" rtlCol="0" anchor="t">
            <a:noAutofit/>
          </a:bodyPr>
          <a:lstStyle/>
          <a:p>
            <a:pPr algn="ctr"/>
            <a:r>
              <a:rPr lang="en-IL" sz="2500">
                <a:solidFill>
                  <a:srgbClr val="15283B"/>
                </a:solidFill>
                <a:latin typeface="Cambria Math" panose="02040503050406030204" pitchFamily="18" charset="0"/>
              </a:rPr>
              <a:t>1</a:t>
            </a:r>
          </a:p>
        </p:txBody>
      </p:sp>
      <p:sp>
        <p:nvSpPr>
          <p:cNvPr id="25" name="Rectangle: Rounded Corners 24">
            <a:extLst>
              <a:ext uri="{FF2B5EF4-FFF2-40B4-BE49-F238E27FC236}">
                <a16:creationId xmlns:a16="http://schemas.microsoft.com/office/drawing/2014/main" id="{A66B6C88-6598-D2F1-9380-10AD66A90D24}"/>
              </a:ext>
            </a:extLst>
          </p:cNvPr>
          <p:cNvSpPr/>
          <p:nvPr/>
        </p:nvSpPr>
        <p:spPr>
          <a:xfrm>
            <a:off x="4381500" y="2590800"/>
            <a:ext cx="3429000" cy="2425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_25">
            <a:extLst>
              <a:ext uri="{FF2B5EF4-FFF2-40B4-BE49-F238E27FC236}">
                <a16:creationId xmlns:a16="http://schemas.microsoft.com/office/drawing/2014/main" id="{FE88C2E6-5D6B-28B4-F425-CDF8546B7A91}"/>
              </a:ext>
            </a:extLst>
          </p:cNvPr>
          <p:cNvSpPr txBox="1"/>
          <p:nvPr/>
        </p:nvSpPr>
        <p:spPr>
          <a:xfrm>
            <a:off x="4610100" y="2781299"/>
            <a:ext cx="2971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Euler</a:t>
            </a:r>
          </a:p>
        </p:txBody>
      </p:sp>
      <p:sp>
        <p:nvSpPr>
          <p:cNvPr id="27" name="text_26">
            <a:extLst>
              <a:ext uri="{FF2B5EF4-FFF2-40B4-BE49-F238E27FC236}">
                <a16:creationId xmlns:a16="http://schemas.microsoft.com/office/drawing/2014/main" id="{80171C5F-A6F0-866D-3CB0-1D719AA66289}"/>
              </a:ext>
            </a:extLst>
          </p:cNvPr>
          <p:cNvSpPr txBox="1"/>
          <p:nvPr/>
        </p:nvSpPr>
        <p:spPr>
          <a:xfrm>
            <a:off x="4610100" y="3467099"/>
            <a:ext cx="2971800" cy="1460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RPY = (0, 0, </a:t>
            </a:r>
            <a:r>
              <a:rPr lang="el-GR" sz="2400">
                <a:solidFill>
                  <a:srgbClr val="15283B"/>
                </a:solidFill>
                <a:latin typeface="Aptos" panose="020B0004020202020204" pitchFamily="34" charset="0"/>
              </a:rPr>
              <a:t>π/2)
</a:t>
            </a:r>
            <a:r>
              <a:rPr lang="en-IL" sz="2400">
                <a:solidFill>
                  <a:srgbClr val="15283B"/>
                </a:solidFill>
                <a:latin typeface="Aptos" panose="020B0004020202020204" pitchFamily="34" charset="0"/>
              </a:rPr>
              <a:t>Fixed XYZ</a:t>
            </a:r>
          </a:p>
        </p:txBody>
      </p:sp>
      <p:sp>
        <p:nvSpPr>
          <p:cNvPr id="28" name="Rectangle: Rounded Corners 27">
            <a:extLst>
              <a:ext uri="{FF2B5EF4-FFF2-40B4-BE49-F238E27FC236}">
                <a16:creationId xmlns:a16="http://schemas.microsoft.com/office/drawing/2014/main" id="{5698A409-0989-B164-2497-F3C1C5AED38C}"/>
              </a:ext>
            </a:extLst>
          </p:cNvPr>
          <p:cNvSpPr/>
          <p:nvPr/>
        </p:nvSpPr>
        <p:spPr>
          <a:xfrm>
            <a:off x="8077200" y="2590800"/>
            <a:ext cx="3429000" cy="2425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7812DD69-EBE4-591D-A8A5-FF9926CA5AA2}"/>
              </a:ext>
            </a:extLst>
          </p:cNvPr>
          <p:cNvSpPr txBox="1"/>
          <p:nvPr/>
        </p:nvSpPr>
        <p:spPr>
          <a:xfrm>
            <a:off x="8305800" y="27812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Quaternion</a:t>
            </a:r>
          </a:p>
        </p:txBody>
      </p:sp>
      <p:sp>
        <p:nvSpPr>
          <p:cNvPr id="30" name="text_29">
            <a:extLst>
              <a:ext uri="{FF2B5EF4-FFF2-40B4-BE49-F238E27FC236}">
                <a16:creationId xmlns:a16="http://schemas.microsoft.com/office/drawing/2014/main" id="{1B10CDE9-F46B-17AE-A99E-DAE3D6D82218}"/>
              </a:ext>
            </a:extLst>
          </p:cNvPr>
          <p:cNvSpPr txBox="1"/>
          <p:nvPr/>
        </p:nvSpPr>
        <p:spPr>
          <a:xfrm>
            <a:off x="8305800" y="3467099"/>
            <a:ext cx="2971800" cy="1460500"/>
          </a:xfrm>
          <a:prstGeom prst="rect">
            <a:avLst/>
          </a:prstGeom>
          <a:noFill/>
        </p:spPr>
        <p:txBody>
          <a:bodyPr vert="horz" wrap="square" lIns="0" tIns="0" rIns="0" bIns="0" rtlCol="0" anchor="t">
            <a:noAutofit/>
          </a:bodyPr>
          <a:lstStyle/>
          <a:p>
            <a:r>
              <a:rPr lang="pl-PL" sz="2400">
                <a:solidFill>
                  <a:srgbClr val="15283B"/>
                </a:solidFill>
                <a:latin typeface="Aptos" panose="020B0004020202020204" pitchFamily="34" charset="0"/>
              </a:rPr>
              <a:t>ROS (x,y,z,w):
(0, 0, √2/2, √2/2)</a:t>
            </a:r>
            <a:endParaRPr lang="en-IL" sz="2400">
              <a:solidFill>
                <a:srgbClr val="15283B"/>
              </a:solidFill>
              <a:latin typeface="Aptos" panose="020B0004020202020204" pitchFamily="34" charset="0"/>
            </a:endParaRPr>
          </a:p>
        </p:txBody>
      </p:sp>
      <p:sp>
        <p:nvSpPr>
          <p:cNvPr id="31" name="text_30">
            <a:extLst>
              <a:ext uri="{FF2B5EF4-FFF2-40B4-BE49-F238E27FC236}">
                <a16:creationId xmlns:a16="http://schemas.microsoft.com/office/drawing/2014/main" id="{A22807BA-8B29-81C2-97D3-C88992B37966}"/>
              </a:ext>
            </a:extLst>
          </p:cNvPr>
          <p:cNvSpPr txBox="1"/>
          <p:nvPr/>
        </p:nvSpPr>
        <p:spPr>
          <a:xfrm>
            <a:off x="685800" y="5333999"/>
            <a:ext cx="10820400" cy="673100"/>
          </a:xfrm>
          <a:prstGeom prst="rect">
            <a:avLst/>
          </a:prstGeom>
          <a:noFill/>
        </p:spPr>
        <p:txBody>
          <a:bodyPr vert="horz" wrap="square" lIns="0" tIns="0" rIns="0" bIns="0" rtlCol="0" anchor="t">
            <a:noAutofit/>
          </a:bodyPr>
          <a:lstStyle/>
          <a:p>
            <a:pPr algn="ctr"/>
            <a:r>
              <a:rPr lang="en-IL" sz="2800">
                <a:solidFill>
                  <a:srgbClr val="2459D3"/>
                </a:solidFill>
                <a:latin typeface="Cambria Math" panose="02040503050406030204" pitchFamily="18" charset="0"/>
              </a:rPr>
              <a:t>(0.2, 0, 1) → (0, 0.2, 1.5)     t</a:t>
            </a:r>
            <a:r>
              <a:rPr lang="en-IL" sz="2016" baseline="-22000">
                <a:solidFill>
                  <a:srgbClr val="2459D3"/>
                </a:solidFill>
                <a:latin typeface="Cambria Math" panose="02040503050406030204" pitchFamily="18" charset="0"/>
              </a:rPr>
              <a:t>z</a:t>
            </a:r>
            <a:r>
              <a:rPr lang="en-IL" sz="2800">
                <a:solidFill>
                  <a:srgbClr val="2459D3"/>
                </a:solidFill>
                <a:latin typeface="Cambria Math" panose="02040503050406030204" pitchFamily="18" charset="0"/>
              </a:rPr>
              <a:t> = 0.5 m</a:t>
            </a:r>
          </a:p>
        </p:txBody>
      </p:sp>
    </p:spTree>
    <p:extLst>
      <p:ext uri="{BB962C8B-B14F-4D97-AF65-F5344CB8AC3E}">
        <p14:creationId xmlns:p14="http://schemas.microsoft.com/office/powerpoint/2010/main" val="1409821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C4FF108-0D19-BA2E-871C-F139755A774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B3CBE66A-6C67-D385-00B7-FA1936D99EC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frame tree</a:t>
            </a:r>
          </a:p>
        </p:txBody>
      </p:sp>
      <p:sp>
        <p:nvSpPr>
          <p:cNvPr id="4" name="text_3">
            <a:extLst>
              <a:ext uri="{FF2B5EF4-FFF2-40B4-BE49-F238E27FC236}">
                <a16:creationId xmlns:a16="http://schemas.microsoft.com/office/drawing/2014/main" id="{2C4CDF88-ADD4-24C2-99EA-A35C2484C03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Frames are coordinate systems; ROS nodes publish their relationships.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F4ECBF6-1EF1-4DCC-E720-03B0D829086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FE0A5D8-F1B3-D5E4-AA7C-F19D024961B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83E51FA-D790-D1BF-5026-D33B3165C5E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Rectangle: Rounded Corners 7">
            <a:extLst>
              <a:ext uri="{FF2B5EF4-FFF2-40B4-BE49-F238E27FC236}">
                <a16:creationId xmlns:a16="http://schemas.microsoft.com/office/drawing/2014/main" id="{E51B6D98-066A-23F7-2496-8E02CD241CF2}"/>
              </a:ext>
            </a:extLst>
          </p:cNvPr>
          <p:cNvSpPr/>
          <p:nvPr/>
        </p:nvSpPr>
        <p:spPr>
          <a:xfrm>
            <a:off x="685800" y="3517900"/>
            <a:ext cx="2362200" cy="838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F89ACD7-11BF-5A4A-554F-642F2322124B}"/>
              </a:ext>
            </a:extLst>
          </p:cNvPr>
          <p:cNvSpPr txBox="1"/>
          <p:nvPr/>
        </p:nvSpPr>
        <p:spPr>
          <a:xfrm>
            <a:off x="736600" y="3759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world</a:t>
            </a:r>
          </a:p>
        </p:txBody>
      </p:sp>
      <p:cxnSp>
        <p:nvCxnSpPr>
          <p:cNvPr id="10" name="Straight Connector 9">
            <a:extLst>
              <a:ext uri="{FF2B5EF4-FFF2-40B4-BE49-F238E27FC236}">
                <a16:creationId xmlns:a16="http://schemas.microsoft.com/office/drawing/2014/main" id="{99A1B7C2-AC93-6DFC-DFA4-1A32763B902C}"/>
              </a:ext>
            </a:extLst>
          </p:cNvPr>
          <p:cNvCxnSpPr/>
          <p:nvPr/>
        </p:nvCxnSpPr>
        <p:spPr>
          <a:xfrm>
            <a:off x="3048000" y="39370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F5FDB743-7A9F-743D-88D2-AF996A4C315C}"/>
              </a:ext>
            </a:extLst>
          </p:cNvPr>
          <p:cNvSpPr/>
          <p:nvPr/>
        </p:nvSpPr>
        <p:spPr>
          <a:xfrm>
            <a:off x="3505200" y="3517900"/>
            <a:ext cx="2362200" cy="838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E9E1D98D-F5B9-7C9F-1E0F-1158E6B56CE0}"/>
              </a:ext>
            </a:extLst>
          </p:cNvPr>
          <p:cNvSpPr txBox="1"/>
          <p:nvPr/>
        </p:nvSpPr>
        <p:spPr>
          <a:xfrm>
            <a:off x="3556000" y="3759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base_link</a:t>
            </a:r>
          </a:p>
        </p:txBody>
      </p:sp>
      <p:cxnSp>
        <p:nvCxnSpPr>
          <p:cNvPr id="13" name="Straight Connector 12">
            <a:extLst>
              <a:ext uri="{FF2B5EF4-FFF2-40B4-BE49-F238E27FC236}">
                <a16:creationId xmlns:a16="http://schemas.microsoft.com/office/drawing/2014/main" id="{36755EBA-6F02-144D-7F18-E4615F8E8236}"/>
              </a:ext>
            </a:extLst>
          </p:cNvPr>
          <p:cNvCxnSpPr/>
          <p:nvPr/>
        </p:nvCxnSpPr>
        <p:spPr>
          <a:xfrm>
            <a:off x="5867400" y="39370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D8065E5F-0057-F0CC-1672-09E9F620BE88}"/>
              </a:ext>
            </a:extLst>
          </p:cNvPr>
          <p:cNvSpPr/>
          <p:nvPr/>
        </p:nvSpPr>
        <p:spPr>
          <a:xfrm>
            <a:off x="6324600" y="3517900"/>
            <a:ext cx="2362200" cy="838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EF88340D-9558-4B47-7581-A070FA99941A}"/>
              </a:ext>
            </a:extLst>
          </p:cNvPr>
          <p:cNvSpPr txBox="1"/>
          <p:nvPr/>
        </p:nvSpPr>
        <p:spPr>
          <a:xfrm>
            <a:off x="6375400" y="3759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camera_mount</a:t>
            </a:r>
          </a:p>
        </p:txBody>
      </p:sp>
      <p:cxnSp>
        <p:nvCxnSpPr>
          <p:cNvPr id="16" name="Straight Connector 15">
            <a:extLst>
              <a:ext uri="{FF2B5EF4-FFF2-40B4-BE49-F238E27FC236}">
                <a16:creationId xmlns:a16="http://schemas.microsoft.com/office/drawing/2014/main" id="{5BBA2873-826A-C702-B444-8F34C25A47FB}"/>
              </a:ext>
            </a:extLst>
          </p:cNvPr>
          <p:cNvCxnSpPr/>
          <p:nvPr/>
        </p:nvCxnSpPr>
        <p:spPr>
          <a:xfrm>
            <a:off x="8686800" y="39370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C6512B94-F912-12EF-55A1-9B686B74918D}"/>
              </a:ext>
            </a:extLst>
          </p:cNvPr>
          <p:cNvSpPr/>
          <p:nvPr/>
        </p:nvSpPr>
        <p:spPr>
          <a:xfrm>
            <a:off x="9144000" y="3517900"/>
            <a:ext cx="2362200" cy="838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4D57DBE4-33EC-66B6-3111-1A457206C2E1}"/>
              </a:ext>
            </a:extLst>
          </p:cNvPr>
          <p:cNvSpPr txBox="1"/>
          <p:nvPr/>
        </p:nvSpPr>
        <p:spPr>
          <a:xfrm>
            <a:off x="9194800" y="3759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camera_frame</a:t>
            </a:r>
          </a:p>
        </p:txBody>
      </p:sp>
      <p:sp>
        <p:nvSpPr>
          <p:cNvPr id="19" name="text_18">
            <a:extLst>
              <a:ext uri="{FF2B5EF4-FFF2-40B4-BE49-F238E27FC236}">
                <a16:creationId xmlns:a16="http://schemas.microsoft.com/office/drawing/2014/main" id="{8ACDF7ED-595C-752D-8BD6-95BCED22FBF1}"/>
              </a:ext>
            </a:extLst>
          </p:cNvPr>
          <p:cNvSpPr txBox="1"/>
          <p:nvPr/>
        </p:nvSpPr>
        <p:spPr>
          <a:xfrm>
            <a:off x="685800" y="2895599"/>
            <a:ext cx="5181600" cy="4826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dynamic · moving_base</a:t>
            </a:r>
          </a:p>
        </p:txBody>
      </p:sp>
      <p:sp>
        <p:nvSpPr>
          <p:cNvPr id="20" name="text_19">
            <a:extLst>
              <a:ext uri="{FF2B5EF4-FFF2-40B4-BE49-F238E27FC236}">
                <a16:creationId xmlns:a16="http://schemas.microsoft.com/office/drawing/2014/main" id="{D337122E-72E8-9A88-AF5A-31F6A77CCADC}"/>
              </a:ext>
            </a:extLst>
          </p:cNvPr>
          <p:cNvSpPr txBox="1"/>
          <p:nvPr/>
        </p:nvSpPr>
        <p:spPr>
          <a:xfrm>
            <a:off x="6324600" y="2895599"/>
            <a:ext cx="5181600" cy="4826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static · static_frames</a:t>
            </a:r>
          </a:p>
        </p:txBody>
      </p:sp>
      <p:sp>
        <p:nvSpPr>
          <p:cNvPr id="21" name="text_20">
            <a:extLst>
              <a:ext uri="{FF2B5EF4-FFF2-40B4-BE49-F238E27FC236}">
                <a16:creationId xmlns:a16="http://schemas.microsoft.com/office/drawing/2014/main" id="{B2273E7D-C5E3-900C-9F2F-EB931E9B7AD0}"/>
              </a:ext>
            </a:extLst>
          </p:cNvPr>
          <p:cNvSpPr txBox="1"/>
          <p:nvPr/>
        </p:nvSpPr>
        <p:spPr>
          <a:xfrm>
            <a:off x="685800" y="4889499"/>
            <a:ext cx="10820400" cy="533400"/>
          </a:xfrm>
          <a:prstGeom prst="rect">
            <a:avLst/>
          </a:prstGeom>
          <a:noFill/>
        </p:spPr>
        <p:txBody>
          <a:bodyPr vert="horz" wrap="square" lIns="0" tIns="0" rIns="0" bIns="0" rtlCol="0" anchor="t">
            <a:noAutofit/>
          </a:bodyPr>
          <a:lstStyle/>
          <a:p>
            <a:r>
              <a:rPr lang="en-US" sz="2500">
                <a:solidFill>
                  <a:srgbClr val="15283B"/>
                </a:solidFill>
                <a:latin typeface="Aptos" panose="020B0004020202020204" pitchFamily="34" charset="0"/>
              </a:rPr>
              <a:t>One parent per child  ·  one authority per edge  ·  no cycles</a:t>
            </a:r>
            <a:endParaRPr lang="en-IL" sz="2500">
              <a:solidFill>
                <a:srgbClr val="15283B"/>
              </a:solidFill>
              <a:latin typeface="Aptos" panose="020B0004020202020204" pitchFamily="34" charset="0"/>
            </a:endParaRPr>
          </a:p>
        </p:txBody>
      </p:sp>
      <p:sp>
        <p:nvSpPr>
          <p:cNvPr id="22" name="text_21">
            <a:extLst>
              <a:ext uri="{FF2B5EF4-FFF2-40B4-BE49-F238E27FC236}">
                <a16:creationId xmlns:a16="http://schemas.microsoft.com/office/drawing/2014/main" id="{E8BCA640-BE7B-AD5E-B72A-E865C61037B9}"/>
              </a:ext>
            </a:extLst>
          </p:cNvPr>
          <p:cNvSpPr txBox="1"/>
          <p:nvPr/>
        </p:nvSpPr>
        <p:spPr>
          <a:xfrm>
            <a:off x="685800" y="5562599"/>
            <a:ext cx="10820400" cy="5080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Disconnected trees have no transform path.</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1869107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C9E96D6-DD06-FFAA-7584-0243BD41D60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971E8672-7FC0-9B8E-7E3F-19A98D391F7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How tf2 works</a:t>
            </a:r>
          </a:p>
        </p:txBody>
      </p:sp>
      <p:sp>
        <p:nvSpPr>
          <p:cNvPr id="4" name="text_3">
            <a:extLst>
              <a:ext uri="{FF2B5EF4-FFF2-40B4-BE49-F238E27FC236}">
                <a16:creationId xmlns:a16="http://schemas.microsoft.com/office/drawing/2014/main" id="{8BF38729-E871-331E-940C-66C3EF04AB5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Publish edges. Buffer samples. Look up a connected path.</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BFE2B33-4BCB-1AEC-4920-30C2DF15AB4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274CBD6-2921-D12F-E5D0-AC5D6790015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6D11AFB-CCBD-5936-1EA7-ACBF0DEEC86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Rectangle: Rounded Corners 7">
            <a:extLst>
              <a:ext uri="{FF2B5EF4-FFF2-40B4-BE49-F238E27FC236}">
                <a16:creationId xmlns:a16="http://schemas.microsoft.com/office/drawing/2014/main" id="{E68578DD-13E2-D0CC-9004-701AF29B685D}"/>
              </a:ext>
            </a:extLst>
          </p:cNvPr>
          <p:cNvSpPr/>
          <p:nvPr/>
        </p:nvSpPr>
        <p:spPr>
          <a:xfrm>
            <a:off x="685800" y="2565400"/>
            <a:ext cx="3238500" cy="1397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CF39AD1-3B9C-0EB2-2D30-BCC6731EAE19}"/>
              </a:ext>
            </a:extLst>
          </p:cNvPr>
          <p:cNvSpPr txBox="1"/>
          <p:nvPr/>
        </p:nvSpPr>
        <p:spPr>
          <a:xfrm>
            <a:off x="914400" y="2755899"/>
            <a:ext cx="27813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static_frames</a:t>
            </a:r>
          </a:p>
        </p:txBody>
      </p:sp>
      <p:sp>
        <p:nvSpPr>
          <p:cNvPr id="10" name="text_9">
            <a:extLst>
              <a:ext uri="{FF2B5EF4-FFF2-40B4-BE49-F238E27FC236}">
                <a16:creationId xmlns:a16="http://schemas.microsoft.com/office/drawing/2014/main" id="{B0DFE32C-5CDA-6E1D-8970-C44C38FE66DD}"/>
              </a:ext>
            </a:extLst>
          </p:cNvPr>
          <p:cNvSpPr txBox="1"/>
          <p:nvPr/>
        </p:nvSpPr>
        <p:spPr>
          <a:xfrm>
            <a:off x="914400" y="3441699"/>
            <a:ext cx="27813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/tf_static</a:t>
            </a:r>
          </a:p>
        </p:txBody>
      </p:sp>
      <p:sp>
        <p:nvSpPr>
          <p:cNvPr id="11" name="Rectangle: Rounded Corners 10">
            <a:extLst>
              <a:ext uri="{FF2B5EF4-FFF2-40B4-BE49-F238E27FC236}">
                <a16:creationId xmlns:a16="http://schemas.microsoft.com/office/drawing/2014/main" id="{1FB62486-B7D0-D5B9-4843-863EFD6D943D}"/>
              </a:ext>
            </a:extLst>
          </p:cNvPr>
          <p:cNvSpPr/>
          <p:nvPr/>
        </p:nvSpPr>
        <p:spPr>
          <a:xfrm>
            <a:off x="685800" y="4102100"/>
            <a:ext cx="3238500" cy="1397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EE5AFAF9-A1FB-8981-B341-FDC686588FF6}"/>
              </a:ext>
            </a:extLst>
          </p:cNvPr>
          <p:cNvSpPr txBox="1"/>
          <p:nvPr/>
        </p:nvSpPr>
        <p:spPr>
          <a:xfrm>
            <a:off x="914400" y="4292599"/>
            <a:ext cx="27813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moving_base</a:t>
            </a:r>
          </a:p>
        </p:txBody>
      </p:sp>
      <p:sp>
        <p:nvSpPr>
          <p:cNvPr id="13" name="text_12">
            <a:extLst>
              <a:ext uri="{FF2B5EF4-FFF2-40B4-BE49-F238E27FC236}">
                <a16:creationId xmlns:a16="http://schemas.microsoft.com/office/drawing/2014/main" id="{57510781-C919-FD00-5368-B1C9DFA13D78}"/>
              </a:ext>
            </a:extLst>
          </p:cNvPr>
          <p:cNvSpPr txBox="1"/>
          <p:nvPr/>
        </p:nvSpPr>
        <p:spPr>
          <a:xfrm>
            <a:off x="914400" y="4978399"/>
            <a:ext cx="27813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/tf</a:t>
            </a:r>
          </a:p>
        </p:txBody>
      </p:sp>
      <p:sp>
        <p:nvSpPr>
          <p:cNvPr id="14" name="Rectangle: Rounded Corners 13">
            <a:extLst>
              <a:ext uri="{FF2B5EF4-FFF2-40B4-BE49-F238E27FC236}">
                <a16:creationId xmlns:a16="http://schemas.microsoft.com/office/drawing/2014/main" id="{6B8352C2-7AEC-0E73-716F-E63F149D78EF}"/>
              </a:ext>
            </a:extLst>
          </p:cNvPr>
          <p:cNvSpPr/>
          <p:nvPr/>
        </p:nvSpPr>
        <p:spPr>
          <a:xfrm>
            <a:off x="5143500" y="3098800"/>
            <a:ext cx="3035300" cy="16764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F90AE279-300A-90AC-C1C4-D32F92D74910}"/>
              </a:ext>
            </a:extLst>
          </p:cNvPr>
          <p:cNvSpPr txBox="1"/>
          <p:nvPr/>
        </p:nvSpPr>
        <p:spPr>
          <a:xfrm>
            <a:off x="5372100" y="3301999"/>
            <a:ext cx="2578100" cy="1155700"/>
          </a:xfrm>
          <a:prstGeom prst="rect">
            <a:avLst/>
          </a:prstGeom>
          <a:noFill/>
        </p:spPr>
        <p:txBody>
          <a:bodyPr vert="horz" wrap="square" lIns="0" tIns="0" rIns="0" bIns="0" rtlCol="0" anchor="t">
            <a:noAutofit/>
          </a:bodyPr>
          <a:lstStyle/>
          <a:p>
            <a:pPr algn="ctr"/>
            <a:r>
              <a:rPr lang="en-IL" sz="2800" b="1">
                <a:solidFill>
                  <a:srgbClr val="15283B"/>
                </a:solidFill>
                <a:latin typeface="Aptos" panose="020B0004020202020204" pitchFamily="34" charset="0"/>
              </a:rPr>
              <a:t>Listener
+ Buffer</a:t>
            </a:r>
          </a:p>
        </p:txBody>
      </p:sp>
      <p:sp>
        <p:nvSpPr>
          <p:cNvPr id="16" name="Rectangle: Rounded Corners 15">
            <a:extLst>
              <a:ext uri="{FF2B5EF4-FFF2-40B4-BE49-F238E27FC236}">
                <a16:creationId xmlns:a16="http://schemas.microsoft.com/office/drawing/2014/main" id="{1ECCD69E-1EBC-BC99-94D2-8593586C173C}"/>
              </a:ext>
            </a:extLst>
          </p:cNvPr>
          <p:cNvSpPr/>
          <p:nvPr/>
        </p:nvSpPr>
        <p:spPr>
          <a:xfrm>
            <a:off x="9258300" y="3416300"/>
            <a:ext cx="2247900" cy="1016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B4DFB0C0-3C2D-ED48-A4B8-8F11474D351D}"/>
              </a:ext>
            </a:extLst>
          </p:cNvPr>
          <p:cNvSpPr txBox="1"/>
          <p:nvPr/>
        </p:nvSpPr>
        <p:spPr>
          <a:xfrm>
            <a:off x="9410700" y="3708399"/>
            <a:ext cx="1943100" cy="5588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Lookup</a:t>
            </a:r>
          </a:p>
        </p:txBody>
      </p:sp>
      <p:cxnSp>
        <p:nvCxnSpPr>
          <p:cNvPr id="18" name="Straight Connector 17">
            <a:extLst>
              <a:ext uri="{FF2B5EF4-FFF2-40B4-BE49-F238E27FC236}">
                <a16:creationId xmlns:a16="http://schemas.microsoft.com/office/drawing/2014/main" id="{AED77D90-7394-1E24-A346-A5C4DBAAFD7F}"/>
              </a:ext>
            </a:extLst>
          </p:cNvPr>
          <p:cNvCxnSpPr/>
          <p:nvPr/>
        </p:nvCxnSpPr>
        <p:spPr>
          <a:xfrm>
            <a:off x="3924300" y="3175000"/>
            <a:ext cx="1054100" cy="4826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06EBDA-85E0-2155-8CDA-97DF10433198}"/>
              </a:ext>
            </a:extLst>
          </p:cNvPr>
          <p:cNvCxnSpPr/>
          <p:nvPr/>
        </p:nvCxnSpPr>
        <p:spPr>
          <a:xfrm flipV="1">
            <a:off x="3924300" y="4216400"/>
            <a:ext cx="1054100" cy="4826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8DE51C3-558A-2691-BFD9-62F2E840D157}"/>
              </a:ext>
            </a:extLst>
          </p:cNvPr>
          <p:cNvCxnSpPr/>
          <p:nvPr/>
        </p:nvCxnSpPr>
        <p:spPr>
          <a:xfrm>
            <a:off x="8178800" y="3924300"/>
            <a:ext cx="914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1" name="text_20">
            <a:extLst>
              <a:ext uri="{FF2B5EF4-FFF2-40B4-BE49-F238E27FC236}">
                <a16:creationId xmlns:a16="http://schemas.microsoft.com/office/drawing/2014/main" id="{215990F3-107D-219E-9317-94CE9EFAC5F3}"/>
              </a:ext>
            </a:extLst>
          </p:cNvPr>
          <p:cNvSpPr txBox="1"/>
          <p:nvPr/>
        </p:nvSpPr>
        <p:spPr>
          <a:xfrm>
            <a:off x="685800" y="5562599"/>
            <a:ext cx="10820400" cy="5080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Several publishers  ·  each listener has its own buffer</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1834739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2F5CC98-CD1C-D7FE-4926-055310B4C61A}"/>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3FCBA269-B06C-8240-C981-E72448F6DCF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Transform at the measurement time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FA87BCA9-5A11-5B55-DBFC-759D5FB8C62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moving robot makes an old observation different from a new one.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61797BA-9D06-BE5E-6BB6-6366B1F5024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C007E2B-6578-3483-A814-F1D3D4731D1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5AC63EB-1921-77D1-367B-FE50E29C0E5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cxnSp>
        <p:nvCxnSpPr>
          <p:cNvPr id="8" name="Straight Connector 7">
            <a:extLst>
              <a:ext uri="{FF2B5EF4-FFF2-40B4-BE49-F238E27FC236}">
                <a16:creationId xmlns:a16="http://schemas.microsoft.com/office/drawing/2014/main" id="{6059E06D-5137-AFA6-1003-94C79B09E348}"/>
              </a:ext>
            </a:extLst>
          </p:cNvPr>
          <p:cNvCxnSpPr/>
          <p:nvPr/>
        </p:nvCxnSpPr>
        <p:spPr>
          <a:xfrm>
            <a:off x="1447800" y="3657600"/>
            <a:ext cx="9423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56836A04-8060-65D3-F888-084672C3F4E8}"/>
              </a:ext>
            </a:extLst>
          </p:cNvPr>
          <p:cNvSpPr/>
          <p:nvPr/>
        </p:nvSpPr>
        <p:spPr>
          <a:xfrm>
            <a:off x="3098800" y="35560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C1ADC5AB-59CC-824D-D8CA-E0787931156A}"/>
              </a:ext>
            </a:extLst>
          </p:cNvPr>
          <p:cNvSpPr/>
          <p:nvPr/>
        </p:nvSpPr>
        <p:spPr>
          <a:xfrm>
            <a:off x="8890000" y="3556000"/>
            <a:ext cx="203200" cy="2032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A704F0BF-055B-5C9E-7ADF-B4A38F88C03D}"/>
              </a:ext>
            </a:extLst>
          </p:cNvPr>
          <p:cNvSpPr txBox="1"/>
          <p:nvPr/>
        </p:nvSpPr>
        <p:spPr>
          <a:xfrm>
            <a:off x="1371600" y="2666999"/>
            <a:ext cx="4445000" cy="7366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Observation at tₘ</a:t>
            </a:r>
          </a:p>
        </p:txBody>
      </p:sp>
      <p:sp>
        <p:nvSpPr>
          <p:cNvPr id="12" name="text_11">
            <a:extLst>
              <a:ext uri="{FF2B5EF4-FFF2-40B4-BE49-F238E27FC236}">
                <a16:creationId xmlns:a16="http://schemas.microsoft.com/office/drawing/2014/main" id="{C5F44489-9452-BF5D-0B4F-FE237ABC4AAD}"/>
              </a:ext>
            </a:extLst>
          </p:cNvPr>
          <p:cNvSpPr txBox="1"/>
          <p:nvPr/>
        </p:nvSpPr>
        <p:spPr>
          <a:xfrm>
            <a:off x="7327900" y="2666999"/>
            <a:ext cx="3619500" cy="736600"/>
          </a:xfrm>
          <a:prstGeom prst="rect">
            <a:avLst/>
          </a:prstGeom>
          <a:noFill/>
        </p:spPr>
        <p:txBody>
          <a:bodyPr vert="horz" wrap="square" lIns="0" tIns="0" rIns="0" bIns="0" rtlCol="0" anchor="t">
            <a:noAutofit/>
          </a:bodyPr>
          <a:lstStyle/>
          <a:p>
            <a:pPr algn="ctr"/>
            <a:r>
              <a:rPr lang="en-IL" sz="2800" b="1">
                <a:solidFill>
                  <a:srgbClr val="2459D3"/>
                </a:solidFill>
                <a:latin typeface="Aptos" panose="020B0004020202020204" pitchFamily="34" charset="0"/>
              </a:rPr>
              <a:t>Now</a:t>
            </a:r>
          </a:p>
        </p:txBody>
      </p:sp>
      <p:sp>
        <p:nvSpPr>
          <p:cNvPr id="13" name="text_12">
            <a:extLst>
              <a:ext uri="{FF2B5EF4-FFF2-40B4-BE49-F238E27FC236}">
                <a16:creationId xmlns:a16="http://schemas.microsoft.com/office/drawing/2014/main" id="{7CDDBB26-5358-9175-55D0-E7059932C159}"/>
              </a:ext>
            </a:extLst>
          </p:cNvPr>
          <p:cNvSpPr txBox="1"/>
          <p:nvPr/>
        </p:nvSpPr>
        <p:spPr>
          <a:xfrm>
            <a:off x="1066800" y="3975099"/>
            <a:ext cx="4711700" cy="825500"/>
          </a:xfrm>
          <a:prstGeom prst="rect">
            <a:avLst/>
          </a:prstGeom>
          <a:noFill/>
        </p:spPr>
        <p:txBody>
          <a:bodyPr vert="horz" wrap="square" lIns="0" tIns="0" rIns="0" bIns="0" rtlCol="0" anchor="t">
            <a:noAutofit/>
          </a:bodyPr>
          <a:lstStyle/>
          <a:p>
            <a:pPr algn="ctr"/>
            <a:r>
              <a:rPr lang="en-US" sz="2600">
                <a:solidFill>
                  <a:srgbClr val="137F79"/>
                </a:solidFill>
                <a:latin typeface="Aptos" panose="020B0004020202020204" pitchFamily="34" charset="0"/>
              </a:rPr>
              <a:t>Use the transform at tₘ.</a:t>
            </a:r>
            <a:endParaRPr lang="en-IL" sz="2600">
              <a:solidFill>
                <a:srgbClr val="137F79"/>
              </a:solidFill>
              <a:latin typeface="Aptos" panose="020B0004020202020204" pitchFamily="34" charset="0"/>
            </a:endParaRPr>
          </a:p>
        </p:txBody>
      </p:sp>
      <p:sp>
        <p:nvSpPr>
          <p:cNvPr id="14" name="text_13">
            <a:extLst>
              <a:ext uri="{FF2B5EF4-FFF2-40B4-BE49-F238E27FC236}">
                <a16:creationId xmlns:a16="http://schemas.microsoft.com/office/drawing/2014/main" id="{7C7297AF-305D-120F-AEB0-A34D75B4D292}"/>
              </a:ext>
            </a:extLst>
          </p:cNvPr>
          <p:cNvSpPr txBox="1"/>
          <p:nvPr/>
        </p:nvSpPr>
        <p:spPr>
          <a:xfrm>
            <a:off x="6654800" y="3975099"/>
            <a:ext cx="4851400" cy="825500"/>
          </a:xfrm>
          <a:prstGeom prst="rect">
            <a:avLst/>
          </a:prstGeom>
          <a:noFill/>
        </p:spPr>
        <p:txBody>
          <a:bodyPr vert="horz" wrap="square" lIns="0" tIns="0" rIns="0" bIns="0" rtlCol="0" anchor="t">
            <a:noAutofit/>
          </a:bodyPr>
          <a:lstStyle/>
          <a:p>
            <a:pPr algn="ctr"/>
            <a:r>
              <a:rPr lang="en-US" sz="2600">
                <a:solidFill>
                  <a:srgbClr val="2459D3"/>
                </a:solidFill>
                <a:latin typeface="Aptos" panose="020B0004020202020204" pitchFamily="34" charset="0"/>
              </a:rPr>
              <a:t>Latest is not acquisition time.</a:t>
            </a:r>
            <a:endParaRPr lang="en-IL" sz="2600">
              <a:solidFill>
                <a:srgbClr val="2459D3"/>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BDE85D9B-3F56-EA29-8540-63F4D5277109}"/>
              </a:ext>
            </a:extLst>
          </p:cNvPr>
          <p:cNvSpPr/>
          <p:nvPr/>
        </p:nvSpPr>
        <p:spPr>
          <a:xfrm>
            <a:off x="685800" y="5245100"/>
            <a:ext cx="10820400" cy="800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B1D46AF2-7A78-64F2-97DC-B708F0137BF1}"/>
              </a:ext>
            </a:extLst>
          </p:cNvPr>
          <p:cNvSpPr txBox="1"/>
          <p:nvPr/>
        </p:nvSpPr>
        <p:spPr>
          <a:xfrm>
            <a:off x="901700" y="5422899"/>
            <a:ext cx="10388600" cy="5080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Finite history  ·  consistent clocks  ·  preserve the stamp</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2053301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77F3183-D185-2C52-9A69-42F7337A155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9C7F13B5-1FC5-A794-B3BD-C8604B08CFE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Inspect and predict</a:t>
            </a:r>
          </a:p>
        </p:txBody>
      </p:sp>
      <p:sp>
        <p:nvSpPr>
          <p:cNvPr id="4" name="text_3">
            <a:extLst>
              <a:ext uri="{FF2B5EF4-FFF2-40B4-BE49-F238E27FC236}">
                <a16:creationId xmlns:a16="http://schemas.microsoft.com/office/drawing/2014/main" id="{E9FD4C76-1486-4408-8DE1-BA1054ED699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Different coordinate tuples should overlap in RViz.</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2FBEDDC-86FF-7806-2171-7FA266E0FC0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69839A8-255C-0F39-4EA2-87EE1E4F652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F59FA91-7FF6-4B8F-6132-50C0251702A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Rectangle: Rounded Corners 7">
            <a:extLst>
              <a:ext uri="{FF2B5EF4-FFF2-40B4-BE49-F238E27FC236}">
                <a16:creationId xmlns:a16="http://schemas.microsoft.com/office/drawing/2014/main" id="{56F37FE1-878D-D5C9-61D1-CCFDBF2ED570}"/>
              </a:ext>
            </a:extLst>
          </p:cNvPr>
          <p:cNvSpPr/>
          <p:nvPr/>
        </p:nvSpPr>
        <p:spPr>
          <a:xfrm>
            <a:off x="685800" y="2590800"/>
            <a:ext cx="10820400" cy="189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9CD9817-C4B8-C56A-73B4-938C71EFDC9E}"/>
              </a:ext>
            </a:extLst>
          </p:cNvPr>
          <p:cNvSpPr txBox="1"/>
          <p:nvPr/>
        </p:nvSpPr>
        <p:spPr>
          <a:xfrm>
            <a:off x="914400" y="2793999"/>
            <a:ext cx="10363200" cy="571500"/>
          </a:xfrm>
          <a:prstGeom prst="rect">
            <a:avLst/>
          </a:prstGeom>
          <a:noFill/>
        </p:spPr>
        <p:txBody>
          <a:bodyPr vert="horz" wrap="square" lIns="0" tIns="0" rIns="0" bIns="0" rtlCol="0" anchor="t">
            <a:noAutofit/>
          </a:bodyPr>
          <a:lstStyle/>
          <a:p>
            <a:r>
              <a:rPr lang="en-IL" sz="2400">
                <a:solidFill>
                  <a:srgbClr val="2459D3"/>
                </a:solidFill>
                <a:latin typeface="Consolas" panose="020B0609020204030204" pitchFamily="49" charset="0"/>
              </a:rPr>
              <a:t>ros2 run tf2_ros tf2_echo base_link camera_frame</a:t>
            </a:r>
          </a:p>
        </p:txBody>
      </p:sp>
      <p:sp>
        <p:nvSpPr>
          <p:cNvPr id="10" name="text_9">
            <a:extLst>
              <a:ext uri="{FF2B5EF4-FFF2-40B4-BE49-F238E27FC236}">
                <a16:creationId xmlns:a16="http://schemas.microsoft.com/office/drawing/2014/main" id="{F9E94F8C-1281-0F10-7483-53AC6E1D7594}"/>
              </a:ext>
            </a:extLst>
          </p:cNvPr>
          <p:cNvSpPr txBox="1"/>
          <p:nvPr/>
        </p:nvSpPr>
        <p:spPr>
          <a:xfrm>
            <a:off x="914400" y="3505199"/>
            <a:ext cx="10363200" cy="571500"/>
          </a:xfrm>
          <a:prstGeom prst="rect">
            <a:avLst/>
          </a:prstGeom>
          <a:noFill/>
        </p:spPr>
        <p:txBody>
          <a:bodyPr vert="horz" wrap="square" lIns="0" tIns="0" rIns="0" bIns="0" rtlCol="0" anchor="t">
            <a:noAutofit/>
          </a:bodyPr>
          <a:lstStyle/>
          <a:p>
            <a:r>
              <a:rPr lang="en-US" sz="2400">
                <a:solidFill>
                  <a:srgbClr val="137F79"/>
                </a:solidFill>
                <a:latin typeface="Consolas" panose="020B0609020204030204" pitchFamily="49" charset="0"/>
              </a:rPr>
              <a:t>ros2 run tf2_ros tf2_echo world base_link</a:t>
            </a:r>
            <a:endParaRPr lang="en-IL" sz="2400">
              <a:solidFill>
                <a:srgbClr val="137F79"/>
              </a:solidFill>
              <a:latin typeface="Consolas" panose="020B0609020204030204" pitchFamily="49" charset="0"/>
            </a:endParaRPr>
          </a:p>
        </p:txBody>
      </p:sp>
      <p:sp>
        <p:nvSpPr>
          <p:cNvPr id="11" name="text_10">
            <a:extLst>
              <a:ext uri="{FF2B5EF4-FFF2-40B4-BE49-F238E27FC236}">
                <a16:creationId xmlns:a16="http://schemas.microsoft.com/office/drawing/2014/main" id="{563C8866-2DA7-955D-044F-1AA8138C6D0E}"/>
              </a:ext>
            </a:extLst>
          </p:cNvPr>
          <p:cNvSpPr txBox="1"/>
          <p:nvPr/>
        </p:nvSpPr>
        <p:spPr>
          <a:xfrm>
            <a:off x="685800" y="4787899"/>
            <a:ext cx="10820400" cy="6350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lookup_transform(target, source, time)</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1BB5CAEA-B481-4D61-7530-FBEE5A45E9B3}"/>
              </a:ext>
            </a:extLst>
          </p:cNvPr>
          <p:cNvSpPr txBox="1"/>
          <p:nvPr/>
        </p:nvSpPr>
        <p:spPr>
          <a:xfrm>
            <a:off x="685800" y="5524499"/>
            <a:ext cx="10820400" cy="508000"/>
          </a:xfrm>
          <a:prstGeom prst="rect">
            <a:avLst/>
          </a:prstGeom>
          <a:noFill/>
        </p:spPr>
        <p:txBody>
          <a:bodyPr vert="horz" wrap="square" lIns="0" tIns="0" rIns="0" bIns="0" rtlCol="0" anchor="t">
            <a:noAutofit/>
          </a:bodyPr>
          <a:lstStyle/>
          <a:p>
            <a:r>
              <a:rPr lang="en-US" sz="2800">
                <a:solidFill>
                  <a:srgbClr val="526477"/>
                </a:solidFill>
                <a:latin typeface="Aptos" panose="020B0004020202020204" pitchFamily="34" charset="0"/>
              </a:rPr>
              <a:t>RViz Fixed Frame: base_link → world</a:t>
            </a:r>
            <a:endParaRPr lang="en-IL" sz="2800">
              <a:solidFill>
                <a:srgbClr val="526477"/>
              </a:solidFill>
              <a:latin typeface="Aptos" panose="020B0004020202020204" pitchFamily="34" charset="0"/>
            </a:endParaRPr>
          </a:p>
        </p:txBody>
      </p:sp>
    </p:spTree>
    <p:extLst>
      <p:ext uri="{BB962C8B-B14F-4D97-AF65-F5344CB8AC3E}">
        <p14:creationId xmlns:p14="http://schemas.microsoft.com/office/powerpoint/2010/main" val="3073996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E1DC04A-A9FA-372C-2D9F-054DF54333B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02 / COORDINATE FRAMES</a:t>
            </a:r>
          </a:p>
        </p:txBody>
      </p:sp>
      <p:sp>
        <p:nvSpPr>
          <p:cNvPr id="3" name="text_2">
            <a:extLst>
              <a:ext uri="{FF2B5EF4-FFF2-40B4-BE49-F238E27FC236}">
                <a16:creationId xmlns:a16="http://schemas.microsoft.com/office/drawing/2014/main" id="{47995491-23C4-3FB4-9704-245B4E33095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Live demo: read, run, predict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91E4FD6-5FCF-3807-CE3B-CFE98794824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Keep the geometry and timestamps in view.</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27EB79B-EBE2-F5D9-D172-7E07C834B31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F22979C-33B0-971D-C2C0-6F669707A5B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E54FED0-63E8-44C7-129A-3B82BA57995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Rectangle: Rounded Corners 7">
            <a:extLst>
              <a:ext uri="{FF2B5EF4-FFF2-40B4-BE49-F238E27FC236}">
                <a16:creationId xmlns:a16="http://schemas.microsoft.com/office/drawing/2014/main" id="{06926ED1-4AE8-8B38-2908-91EB13F1C826}"/>
              </a:ext>
            </a:extLst>
          </p:cNvPr>
          <p:cNvSpPr/>
          <p:nvPr/>
        </p:nvSpPr>
        <p:spPr>
          <a:xfrm>
            <a:off x="685800" y="3390900"/>
            <a:ext cx="2362200" cy="838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41D555E-7770-A2C3-C9EB-E181AA096DE7}"/>
              </a:ext>
            </a:extLst>
          </p:cNvPr>
          <p:cNvSpPr txBox="1"/>
          <p:nvPr/>
        </p:nvSpPr>
        <p:spPr>
          <a:xfrm>
            <a:off x="736600" y="3632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world</a:t>
            </a:r>
          </a:p>
        </p:txBody>
      </p:sp>
      <p:cxnSp>
        <p:nvCxnSpPr>
          <p:cNvPr id="10" name="Straight Connector 9">
            <a:extLst>
              <a:ext uri="{FF2B5EF4-FFF2-40B4-BE49-F238E27FC236}">
                <a16:creationId xmlns:a16="http://schemas.microsoft.com/office/drawing/2014/main" id="{0F67F876-926A-F02C-E19E-CDC2BF9CD518}"/>
              </a:ext>
            </a:extLst>
          </p:cNvPr>
          <p:cNvCxnSpPr/>
          <p:nvPr/>
        </p:nvCxnSpPr>
        <p:spPr>
          <a:xfrm>
            <a:off x="3048000" y="38100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68BE42AC-3AC5-8D44-FB7E-BEF998BF5CD6}"/>
              </a:ext>
            </a:extLst>
          </p:cNvPr>
          <p:cNvSpPr/>
          <p:nvPr/>
        </p:nvSpPr>
        <p:spPr>
          <a:xfrm>
            <a:off x="3505200" y="3390900"/>
            <a:ext cx="2362200" cy="838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5A8FD92-2469-EAFC-A5DC-02791D8235FB}"/>
              </a:ext>
            </a:extLst>
          </p:cNvPr>
          <p:cNvSpPr txBox="1"/>
          <p:nvPr/>
        </p:nvSpPr>
        <p:spPr>
          <a:xfrm>
            <a:off x="3556000" y="3632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base_link</a:t>
            </a:r>
          </a:p>
        </p:txBody>
      </p:sp>
      <p:cxnSp>
        <p:nvCxnSpPr>
          <p:cNvPr id="13" name="Straight Connector 12">
            <a:extLst>
              <a:ext uri="{FF2B5EF4-FFF2-40B4-BE49-F238E27FC236}">
                <a16:creationId xmlns:a16="http://schemas.microsoft.com/office/drawing/2014/main" id="{7B13FE1F-787B-5187-968F-1907EFF13E85}"/>
              </a:ext>
            </a:extLst>
          </p:cNvPr>
          <p:cNvCxnSpPr/>
          <p:nvPr/>
        </p:nvCxnSpPr>
        <p:spPr>
          <a:xfrm>
            <a:off x="5867400" y="38100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4F03A08A-FFBE-2B8D-DF58-47183F9E6FD4}"/>
              </a:ext>
            </a:extLst>
          </p:cNvPr>
          <p:cNvSpPr/>
          <p:nvPr/>
        </p:nvSpPr>
        <p:spPr>
          <a:xfrm>
            <a:off x="6324600" y="3390900"/>
            <a:ext cx="2362200" cy="838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7C970F18-4B27-D26D-19F6-CB6DE5805358}"/>
              </a:ext>
            </a:extLst>
          </p:cNvPr>
          <p:cNvSpPr txBox="1"/>
          <p:nvPr/>
        </p:nvSpPr>
        <p:spPr>
          <a:xfrm>
            <a:off x="6375400" y="3632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camera_mount</a:t>
            </a:r>
          </a:p>
        </p:txBody>
      </p:sp>
      <p:cxnSp>
        <p:nvCxnSpPr>
          <p:cNvPr id="16" name="Straight Connector 15">
            <a:extLst>
              <a:ext uri="{FF2B5EF4-FFF2-40B4-BE49-F238E27FC236}">
                <a16:creationId xmlns:a16="http://schemas.microsoft.com/office/drawing/2014/main" id="{1B7FCAD1-3D05-62EE-1D45-8FAB07E8E9F7}"/>
              </a:ext>
            </a:extLst>
          </p:cNvPr>
          <p:cNvCxnSpPr/>
          <p:nvPr/>
        </p:nvCxnSpPr>
        <p:spPr>
          <a:xfrm>
            <a:off x="8686800" y="3810000"/>
            <a:ext cx="457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84079D9B-0875-C0CE-3715-295098A884FB}"/>
              </a:ext>
            </a:extLst>
          </p:cNvPr>
          <p:cNvSpPr/>
          <p:nvPr/>
        </p:nvSpPr>
        <p:spPr>
          <a:xfrm>
            <a:off x="9144000" y="3390900"/>
            <a:ext cx="2362200" cy="838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A4E3154F-67A1-9360-55DA-7471839D7CB3}"/>
              </a:ext>
            </a:extLst>
          </p:cNvPr>
          <p:cNvSpPr txBox="1"/>
          <p:nvPr/>
        </p:nvSpPr>
        <p:spPr>
          <a:xfrm>
            <a:off x="9194800" y="3632199"/>
            <a:ext cx="2260600" cy="4572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camera_frame</a:t>
            </a:r>
          </a:p>
        </p:txBody>
      </p:sp>
      <p:sp>
        <p:nvSpPr>
          <p:cNvPr id="19" name="text_18">
            <a:extLst>
              <a:ext uri="{FF2B5EF4-FFF2-40B4-BE49-F238E27FC236}">
                <a16:creationId xmlns:a16="http://schemas.microsoft.com/office/drawing/2014/main" id="{F6A9465B-A3FC-4CEE-BC69-BC3A28BEE504}"/>
              </a:ext>
            </a:extLst>
          </p:cNvPr>
          <p:cNvSpPr txBox="1"/>
          <p:nvPr/>
        </p:nvSpPr>
        <p:spPr>
          <a:xfrm>
            <a:off x="685800" y="2768599"/>
            <a:ext cx="5181600" cy="4826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dynamic · moving_base</a:t>
            </a:r>
          </a:p>
        </p:txBody>
      </p:sp>
      <p:sp>
        <p:nvSpPr>
          <p:cNvPr id="20" name="text_19">
            <a:extLst>
              <a:ext uri="{FF2B5EF4-FFF2-40B4-BE49-F238E27FC236}">
                <a16:creationId xmlns:a16="http://schemas.microsoft.com/office/drawing/2014/main" id="{95B0718B-5FA1-74CA-B88E-EC3AB9D62CF7}"/>
              </a:ext>
            </a:extLst>
          </p:cNvPr>
          <p:cNvSpPr txBox="1"/>
          <p:nvPr/>
        </p:nvSpPr>
        <p:spPr>
          <a:xfrm>
            <a:off x="6324600" y="2768599"/>
            <a:ext cx="5181600" cy="4826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static · static_frames</a:t>
            </a:r>
          </a:p>
        </p:txBody>
      </p:sp>
      <p:sp>
        <p:nvSpPr>
          <p:cNvPr id="21" name="text_20">
            <a:extLst>
              <a:ext uri="{FF2B5EF4-FFF2-40B4-BE49-F238E27FC236}">
                <a16:creationId xmlns:a16="http://schemas.microsoft.com/office/drawing/2014/main" id="{A17D96F0-8092-EEA1-BB1D-F9B3768AE994}"/>
              </a:ext>
            </a:extLst>
          </p:cNvPr>
          <p:cNvSpPr txBox="1"/>
          <p:nvPr/>
        </p:nvSpPr>
        <p:spPr>
          <a:xfrm>
            <a:off x="685800" y="4648199"/>
            <a:ext cx="10820400" cy="546100"/>
          </a:xfrm>
          <a:prstGeom prst="rect">
            <a:avLst/>
          </a:prstGeom>
          <a:noFill/>
        </p:spPr>
        <p:txBody>
          <a:bodyPr vert="horz" wrap="square" lIns="0" tIns="0" rIns="0" bIns="0" rtlCol="0" anchor="t">
            <a:noAutofit/>
          </a:bodyPr>
          <a:lstStyle/>
          <a:p>
            <a:r>
              <a:rPr lang="it-IT" sz="2800" b="1">
                <a:solidFill>
                  <a:srgbClr val="2459D3"/>
                </a:solidFill>
                <a:latin typeface="Aptos" panose="020B0004020202020204" pitchFamily="34" charset="0"/>
              </a:rPr>
              <a:t>Camera (0.2, 0, 1)  →  Base (0, 0.2, 1.5)</a:t>
            </a:r>
            <a:endParaRPr lang="en-IL" sz="2800" b="1">
              <a:solidFill>
                <a:srgbClr val="2459D3"/>
              </a:solidFill>
              <a:latin typeface="Aptos" panose="020B0004020202020204" pitchFamily="34" charset="0"/>
            </a:endParaRPr>
          </a:p>
        </p:txBody>
      </p:sp>
      <p:sp>
        <p:nvSpPr>
          <p:cNvPr id="22" name="text_21">
            <a:extLst>
              <a:ext uri="{FF2B5EF4-FFF2-40B4-BE49-F238E27FC236}">
                <a16:creationId xmlns:a16="http://schemas.microsoft.com/office/drawing/2014/main" id="{B7FB37F3-2480-3F7D-72A2-9A7EC7AEE6CD}"/>
              </a:ext>
            </a:extLst>
          </p:cNvPr>
          <p:cNvSpPr txBox="1"/>
          <p:nvPr/>
        </p:nvSpPr>
        <p:spPr>
          <a:xfrm>
            <a:off x="685800" y="5435599"/>
            <a:ext cx="10820400" cy="5334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Predict: missing frame?   moving base?   old timestamp?</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3112585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92DD238-F89C-E760-B354-D07922906FC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B47B7B71-B057-0102-C15E-DBDB24033D3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Expanded Euler rotation matrix</a:t>
            </a:r>
          </a:p>
        </p:txBody>
      </p:sp>
      <p:sp>
        <p:nvSpPr>
          <p:cNvPr id="4" name="text_3">
            <a:extLst>
              <a:ext uri="{FF2B5EF4-FFF2-40B4-BE49-F238E27FC236}">
                <a16:creationId xmlns:a16="http://schemas.microsoft.com/office/drawing/2014/main" id="{0046D3B2-395C-D58D-12D8-4CBB7AD7AA8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Fixed XYZ / column vectors: R = Rz(</a:t>
            </a:r>
            <a:r>
              <a:rPr lang="el-GR" sz="2600">
                <a:solidFill>
                  <a:srgbClr val="526477"/>
                </a:solidFill>
                <a:latin typeface="Aptos" panose="020B0004020202020204" pitchFamily="34" charset="0"/>
              </a:rPr>
              <a:t>ψ) </a:t>
            </a:r>
            <a:r>
              <a:rPr lang="en-IL" sz="2600">
                <a:solidFill>
                  <a:srgbClr val="526477"/>
                </a:solidFill>
                <a:latin typeface="Aptos" panose="020B0004020202020204" pitchFamily="34" charset="0"/>
              </a:rPr>
              <a:t>Ry(</a:t>
            </a:r>
            <a:r>
              <a:rPr lang="el-GR" sz="2600">
                <a:solidFill>
                  <a:srgbClr val="526477"/>
                </a:solidFill>
                <a:latin typeface="Aptos" panose="020B0004020202020204" pitchFamily="34" charset="0"/>
              </a:rPr>
              <a:t>θ) </a:t>
            </a:r>
            <a:r>
              <a:rPr lang="en-IL" sz="2600">
                <a:solidFill>
                  <a:srgbClr val="526477"/>
                </a:solidFill>
                <a:latin typeface="Aptos" panose="020B0004020202020204" pitchFamily="34" charset="0"/>
              </a:rPr>
              <a:t>Rx(</a:t>
            </a:r>
            <a:r>
              <a:rPr lang="el-GR" sz="2600">
                <a:solidFill>
                  <a:srgbClr val="526477"/>
                </a:solidFill>
                <a:latin typeface="Aptos" panose="020B0004020202020204" pitchFamily="34" charset="0"/>
              </a:rPr>
              <a:t>φ)</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DFEBCCB-76A6-3798-058B-056EA6BDCFE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D55F916-AE6B-46B6-7636-014B12FC94C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862DE58-9A71-7D95-0292-342BCBA904C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cxnSp>
        <p:nvCxnSpPr>
          <p:cNvPr id="8" name="Straight Connector 7">
            <a:extLst>
              <a:ext uri="{FF2B5EF4-FFF2-40B4-BE49-F238E27FC236}">
                <a16:creationId xmlns:a16="http://schemas.microsoft.com/office/drawing/2014/main" id="{8CBF0998-D26B-291C-7181-42838C2B72F0}"/>
              </a:ext>
            </a:extLst>
          </p:cNvPr>
          <p:cNvCxnSpPr/>
          <p:nvPr/>
        </p:nvCxnSpPr>
        <p:spPr>
          <a:xfrm>
            <a:off x="685800" y="2946400"/>
            <a:ext cx="0" cy="22479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AC58143-5568-CC42-CA87-551899DA98A8}"/>
              </a:ext>
            </a:extLst>
          </p:cNvPr>
          <p:cNvCxnSpPr/>
          <p:nvPr/>
        </p:nvCxnSpPr>
        <p:spPr>
          <a:xfrm>
            <a:off x="685800" y="2946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965D461-C8D4-FE26-F134-343F481D23C2}"/>
              </a:ext>
            </a:extLst>
          </p:cNvPr>
          <p:cNvCxnSpPr/>
          <p:nvPr/>
        </p:nvCxnSpPr>
        <p:spPr>
          <a:xfrm>
            <a:off x="685800" y="5194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887CE12-88F1-EAC0-0401-09D96351A45A}"/>
              </a:ext>
            </a:extLst>
          </p:cNvPr>
          <p:cNvCxnSpPr/>
          <p:nvPr/>
        </p:nvCxnSpPr>
        <p:spPr>
          <a:xfrm>
            <a:off x="11506200" y="2946400"/>
            <a:ext cx="0" cy="22479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0F792E7-8A01-F0B7-CD8D-EDE53872D640}"/>
              </a:ext>
            </a:extLst>
          </p:cNvPr>
          <p:cNvCxnSpPr/>
          <p:nvPr/>
        </p:nvCxnSpPr>
        <p:spPr>
          <a:xfrm flipH="1">
            <a:off x="11404600" y="29464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EC7F692-8EF3-F57F-BB24-D0C14F61F2B1}"/>
              </a:ext>
            </a:extLst>
          </p:cNvPr>
          <p:cNvCxnSpPr/>
          <p:nvPr/>
        </p:nvCxnSpPr>
        <p:spPr>
          <a:xfrm flipH="1">
            <a:off x="11404600" y="5194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4" name="text_13">
            <a:extLst>
              <a:ext uri="{FF2B5EF4-FFF2-40B4-BE49-F238E27FC236}">
                <a16:creationId xmlns:a16="http://schemas.microsoft.com/office/drawing/2014/main" id="{65E8DB29-4515-EABC-EE07-01BD6A6BBFB0}"/>
              </a:ext>
            </a:extLst>
          </p:cNvPr>
          <p:cNvSpPr txBox="1"/>
          <p:nvPr/>
        </p:nvSpPr>
        <p:spPr>
          <a:xfrm>
            <a:off x="825500" y="29971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15" name="text_14">
            <a:extLst>
              <a:ext uri="{FF2B5EF4-FFF2-40B4-BE49-F238E27FC236}">
                <a16:creationId xmlns:a16="http://schemas.microsoft.com/office/drawing/2014/main" id="{BB1C9A16-EB26-B7C9-38F4-58D0CABC44E5}"/>
              </a:ext>
            </a:extLst>
          </p:cNvPr>
          <p:cNvSpPr txBox="1"/>
          <p:nvPr/>
        </p:nvSpPr>
        <p:spPr>
          <a:xfrm>
            <a:off x="4339167" y="29971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r>
              <a:rPr lang="el-GR" sz="2400">
                <a:solidFill>
                  <a:srgbClr val="15283B"/>
                </a:solidFill>
                <a:latin typeface="Cambria Math" panose="02040503050406030204" pitchFamily="18" charset="0"/>
              </a:rPr>
              <a:t> − </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16" name="text_15">
            <a:extLst>
              <a:ext uri="{FF2B5EF4-FFF2-40B4-BE49-F238E27FC236}">
                <a16:creationId xmlns:a16="http://schemas.microsoft.com/office/drawing/2014/main" id="{E75705A9-C05E-65C3-7C2A-034039D1335D}"/>
              </a:ext>
            </a:extLst>
          </p:cNvPr>
          <p:cNvSpPr txBox="1"/>
          <p:nvPr/>
        </p:nvSpPr>
        <p:spPr>
          <a:xfrm>
            <a:off x="7852833" y="29971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r>
              <a:rPr lang="el-GR" sz="2400">
                <a:solidFill>
                  <a:srgbClr val="15283B"/>
                </a:solidFill>
                <a:latin typeface="Cambria Math" panose="02040503050406030204" pitchFamily="18" charset="0"/>
              </a:rPr>
              <a:t> + </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17" name="text_16">
            <a:extLst>
              <a:ext uri="{FF2B5EF4-FFF2-40B4-BE49-F238E27FC236}">
                <a16:creationId xmlns:a16="http://schemas.microsoft.com/office/drawing/2014/main" id="{16C21913-9DDF-73FC-0A75-9AD5DAFE03F7}"/>
              </a:ext>
            </a:extLst>
          </p:cNvPr>
          <p:cNvSpPr txBox="1"/>
          <p:nvPr/>
        </p:nvSpPr>
        <p:spPr>
          <a:xfrm>
            <a:off x="825500" y="37464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18" name="text_17">
            <a:extLst>
              <a:ext uri="{FF2B5EF4-FFF2-40B4-BE49-F238E27FC236}">
                <a16:creationId xmlns:a16="http://schemas.microsoft.com/office/drawing/2014/main" id="{4C972FDA-6124-905D-C4D9-44CD085567B5}"/>
              </a:ext>
            </a:extLst>
          </p:cNvPr>
          <p:cNvSpPr txBox="1"/>
          <p:nvPr/>
        </p:nvSpPr>
        <p:spPr>
          <a:xfrm>
            <a:off x="4339167" y="37464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r>
              <a:rPr lang="el-GR" sz="2400">
                <a:solidFill>
                  <a:srgbClr val="15283B"/>
                </a:solidFill>
                <a:latin typeface="Cambria Math" panose="02040503050406030204" pitchFamily="18" charset="0"/>
              </a:rPr>
              <a:t> + </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19" name="text_18">
            <a:extLst>
              <a:ext uri="{FF2B5EF4-FFF2-40B4-BE49-F238E27FC236}">
                <a16:creationId xmlns:a16="http://schemas.microsoft.com/office/drawing/2014/main" id="{74970167-F195-BB49-6D17-A67F878FD050}"/>
              </a:ext>
            </a:extLst>
          </p:cNvPr>
          <p:cNvSpPr txBox="1"/>
          <p:nvPr/>
        </p:nvSpPr>
        <p:spPr>
          <a:xfrm>
            <a:off x="7852833" y="37464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r>
              <a:rPr lang="el-GR" sz="2400">
                <a:solidFill>
                  <a:srgbClr val="15283B"/>
                </a:solidFill>
                <a:latin typeface="Cambria Math" panose="02040503050406030204" pitchFamily="18" charset="0"/>
              </a:rPr>
              <a:t> − </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ψ</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20" name="text_19">
            <a:extLst>
              <a:ext uri="{FF2B5EF4-FFF2-40B4-BE49-F238E27FC236}">
                <a16:creationId xmlns:a16="http://schemas.microsoft.com/office/drawing/2014/main" id="{5A02A14D-4FC4-03C1-6CEC-DA883BF16791}"/>
              </a:ext>
            </a:extLst>
          </p:cNvPr>
          <p:cNvSpPr txBox="1"/>
          <p:nvPr/>
        </p:nvSpPr>
        <p:spPr>
          <a:xfrm>
            <a:off x="825500" y="44957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θ</a:t>
            </a:r>
            <a:endParaRPr lang="en-IL" sz="1728" baseline="-22000">
              <a:solidFill>
                <a:srgbClr val="15283B"/>
              </a:solidFill>
              <a:latin typeface="Cambria Math" panose="02040503050406030204" pitchFamily="18" charset="0"/>
            </a:endParaRPr>
          </a:p>
        </p:txBody>
      </p:sp>
      <p:sp>
        <p:nvSpPr>
          <p:cNvPr id="21" name="text_20">
            <a:extLst>
              <a:ext uri="{FF2B5EF4-FFF2-40B4-BE49-F238E27FC236}">
                <a16:creationId xmlns:a16="http://schemas.microsoft.com/office/drawing/2014/main" id="{FE4156AD-F7D2-CEA7-D04E-78B510A2DD32}"/>
              </a:ext>
            </a:extLst>
          </p:cNvPr>
          <p:cNvSpPr txBox="1"/>
          <p:nvPr/>
        </p:nvSpPr>
        <p:spPr>
          <a:xfrm>
            <a:off x="4339167" y="44957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r>
              <a:rPr lang="en-IL" sz="2400">
                <a:solidFill>
                  <a:srgbClr val="15283B"/>
                </a:solidFill>
                <a:latin typeface="Cambria Math" panose="02040503050406030204" pitchFamily="18" charset="0"/>
              </a:rPr>
              <a:t>s</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22" name="text_21">
            <a:extLst>
              <a:ext uri="{FF2B5EF4-FFF2-40B4-BE49-F238E27FC236}">
                <a16:creationId xmlns:a16="http://schemas.microsoft.com/office/drawing/2014/main" id="{C81AE26D-C643-7666-D305-8E262BA8B2A0}"/>
              </a:ext>
            </a:extLst>
          </p:cNvPr>
          <p:cNvSpPr txBox="1"/>
          <p:nvPr/>
        </p:nvSpPr>
        <p:spPr>
          <a:xfrm>
            <a:off x="7852833" y="4495799"/>
            <a:ext cx="3513667" cy="698500"/>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θ</a:t>
            </a:r>
            <a:r>
              <a:rPr lang="en-IL" sz="2400">
                <a:solidFill>
                  <a:srgbClr val="15283B"/>
                </a:solidFill>
                <a:latin typeface="Cambria Math" panose="02040503050406030204" pitchFamily="18" charset="0"/>
              </a:rPr>
              <a:t>c</a:t>
            </a:r>
            <a:r>
              <a:rPr lang="el-GR" sz="1728" baseline="-22000">
                <a:solidFill>
                  <a:srgbClr val="15283B"/>
                </a:solidFill>
                <a:latin typeface="Cambria Math" panose="02040503050406030204" pitchFamily="18" charset="0"/>
              </a:rPr>
              <a:t>φ</a:t>
            </a:r>
            <a:endParaRPr lang="en-IL" sz="1728" baseline="-22000">
              <a:solidFill>
                <a:srgbClr val="15283B"/>
              </a:solidFill>
              <a:latin typeface="Cambria Math" panose="02040503050406030204" pitchFamily="18" charset="0"/>
            </a:endParaRPr>
          </a:p>
        </p:txBody>
      </p:sp>
      <p:sp>
        <p:nvSpPr>
          <p:cNvPr id="23" name="text_22">
            <a:extLst>
              <a:ext uri="{FF2B5EF4-FFF2-40B4-BE49-F238E27FC236}">
                <a16:creationId xmlns:a16="http://schemas.microsoft.com/office/drawing/2014/main" id="{80D8D9CC-FA76-816D-4361-D0D87D343EA2}"/>
              </a:ext>
            </a:extLst>
          </p:cNvPr>
          <p:cNvSpPr txBox="1"/>
          <p:nvPr/>
        </p:nvSpPr>
        <p:spPr>
          <a:xfrm>
            <a:off x="685800" y="5562599"/>
            <a:ext cx="10820400" cy="508000"/>
          </a:xfrm>
          <a:prstGeom prst="rect">
            <a:avLst/>
          </a:prstGeom>
          <a:noFill/>
        </p:spPr>
        <p:txBody>
          <a:bodyPr vert="horz" wrap="square" lIns="0" tIns="0" rIns="0" bIns="0" rtlCol="0" anchor="t">
            <a:noAutofit/>
          </a:bodyPr>
          <a:lstStyle/>
          <a:p>
            <a:r>
              <a:rPr lang="en-US" sz="2500">
                <a:solidFill>
                  <a:srgbClr val="526477"/>
                </a:solidFill>
                <a:latin typeface="Aptos" panose="020B0004020202020204" pitchFamily="34" charset="0"/>
              </a:rPr>
              <a:t>c = cos(angle)  ·  s = sin(angle)  ·  full angles here</a:t>
            </a:r>
            <a:endParaRPr lang="en-IL" sz="2500">
              <a:solidFill>
                <a:srgbClr val="526477"/>
              </a:solidFill>
              <a:latin typeface="Aptos" panose="020B0004020202020204" pitchFamily="34" charset="0"/>
            </a:endParaRPr>
          </a:p>
        </p:txBody>
      </p:sp>
    </p:spTree>
    <p:extLst>
      <p:ext uri="{BB962C8B-B14F-4D97-AF65-F5344CB8AC3E}">
        <p14:creationId xmlns:p14="http://schemas.microsoft.com/office/powerpoint/2010/main" val="1389030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8EAB2CA-5CEC-59FC-5292-1993EDDFD68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40FE6D62-93A3-2AA3-4F47-B8E440DB29D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Recover Euler angles</a:t>
            </a:r>
          </a:p>
        </p:txBody>
      </p:sp>
      <p:sp>
        <p:nvSpPr>
          <p:cNvPr id="4" name="text_3">
            <a:extLst>
              <a:ext uri="{FF2B5EF4-FFF2-40B4-BE49-F238E27FC236}">
                <a16:creationId xmlns:a16="http://schemas.microsoft.com/office/drawing/2014/main" id="{D6CD36F9-E0C2-54C4-6287-AA5EB786509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Away from the singularity, recover one principal representative.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51496FB-B169-629A-95CC-96D5187C7AE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A56748C-7F26-930B-0EED-BDF7A7E5226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AD35EF7-FE6F-0679-F8B1-93135623713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text_7">
            <a:extLst>
              <a:ext uri="{FF2B5EF4-FFF2-40B4-BE49-F238E27FC236}">
                <a16:creationId xmlns:a16="http://schemas.microsoft.com/office/drawing/2014/main" id="{4700683B-B55B-3018-A82B-FB5B02827024}"/>
              </a:ext>
            </a:extLst>
          </p:cNvPr>
          <p:cNvSpPr txBox="1"/>
          <p:nvPr/>
        </p:nvSpPr>
        <p:spPr>
          <a:xfrm>
            <a:off x="685800" y="2603499"/>
            <a:ext cx="10820400" cy="609600"/>
          </a:xfrm>
          <a:prstGeom prst="rect">
            <a:avLst/>
          </a:prstGeom>
          <a:noFill/>
        </p:spPr>
        <p:txBody>
          <a:bodyPr vert="horz" wrap="square" lIns="0" tIns="0" rIns="0" bIns="0" rtlCol="0" anchor="t">
            <a:noAutofit/>
          </a:bodyPr>
          <a:lstStyle/>
          <a:p>
            <a:r>
              <a:rPr lang="pt-BR" sz="3000">
                <a:solidFill>
                  <a:srgbClr val="2459D3"/>
                </a:solidFill>
                <a:latin typeface="Cambria Math" panose="02040503050406030204" pitchFamily="18" charset="0"/>
              </a:rPr>
              <a:t>θ = atan2(−r</a:t>
            </a:r>
            <a:r>
              <a:rPr lang="pt-BR" sz="2160" baseline="-22000">
                <a:solidFill>
                  <a:srgbClr val="2459D3"/>
                </a:solidFill>
                <a:latin typeface="Cambria Math" panose="02040503050406030204" pitchFamily="18" charset="0"/>
              </a:rPr>
              <a:t>31</a:t>
            </a:r>
            <a:r>
              <a:rPr lang="pt-BR" sz="3000">
                <a:solidFill>
                  <a:srgbClr val="2459D3"/>
                </a:solidFill>
                <a:latin typeface="Cambria Math" panose="02040503050406030204" pitchFamily="18" charset="0"/>
              </a:rPr>
              <a:t>, √(r</a:t>
            </a:r>
            <a:r>
              <a:rPr lang="pt-BR" sz="2160" baseline="-22000">
                <a:solidFill>
                  <a:srgbClr val="2459D3"/>
                </a:solidFill>
                <a:latin typeface="Cambria Math" panose="02040503050406030204" pitchFamily="18" charset="0"/>
              </a:rPr>
              <a:t>11</a:t>
            </a:r>
            <a:r>
              <a:rPr lang="pt-BR" sz="3000">
                <a:solidFill>
                  <a:srgbClr val="2459D3"/>
                </a:solidFill>
                <a:latin typeface="Cambria Math" panose="02040503050406030204" pitchFamily="18" charset="0"/>
              </a:rPr>
              <a:t>² + r</a:t>
            </a:r>
            <a:r>
              <a:rPr lang="pt-BR" sz="2160" baseline="-22000">
                <a:solidFill>
                  <a:srgbClr val="2459D3"/>
                </a:solidFill>
                <a:latin typeface="Cambria Math" panose="02040503050406030204" pitchFamily="18" charset="0"/>
              </a:rPr>
              <a:t>21</a:t>
            </a:r>
            <a:r>
              <a:rPr lang="pt-BR" sz="3000">
                <a:solidFill>
                  <a:srgbClr val="2459D3"/>
                </a:solidFill>
                <a:latin typeface="Cambria Math" panose="02040503050406030204" pitchFamily="18" charset="0"/>
              </a:rPr>
              <a:t>²))</a:t>
            </a:r>
            <a:endParaRPr lang="en-IL" sz="30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2F73AF1E-75F8-396A-A595-DCA917BD23AB}"/>
              </a:ext>
            </a:extLst>
          </p:cNvPr>
          <p:cNvSpPr txBox="1"/>
          <p:nvPr/>
        </p:nvSpPr>
        <p:spPr>
          <a:xfrm>
            <a:off x="685800" y="3403599"/>
            <a:ext cx="10820400" cy="6096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φ = atan2(r</a:t>
            </a:r>
            <a:r>
              <a:rPr lang="pt-BR" sz="2088" baseline="-22000">
                <a:solidFill>
                  <a:srgbClr val="15283B"/>
                </a:solidFill>
                <a:latin typeface="Cambria Math" panose="02040503050406030204" pitchFamily="18" charset="0"/>
              </a:rPr>
              <a:t>32</a:t>
            </a:r>
            <a:r>
              <a:rPr lang="pt-BR" sz="2900">
                <a:solidFill>
                  <a:srgbClr val="15283B"/>
                </a:solidFill>
                <a:latin typeface="Cambria Math" panose="02040503050406030204" pitchFamily="18" charset="0"/>
              </a:rPr>
              <a:t>, r</a:t>
            </a:r>
            <a:r>
              <a:rPr lang="pt-BR" sz="2088" baseline="-22000">
                <a:solidFill>
                  <a:srgbClr val="15283B"/>
                </a:solidFill>
                <a:latin typeface="Cambria Math" panose="02040503050406030204" pitchFamily="18" charset="0"/>
              </a:rPr>
              <a:t>33</a:t>
            </a:r>
            <a:r>
              <a:rPr lang="pt-BR" sz="2900">
                <a:solidFill>
                  <a:srgbClr val="15283B"/>
                </a:solidFill>
                <a:latin typeface="Cambria Math" panose="02040503050406030204" pitchFamily="18" charset="0"/>
              </a:rPr>
              <a:t>)      ψ = atan2(r</a:t>
            </a:r>
            <a:r>
              <a:rPr lang="pt-BR" sz="2088" baseline="-22000">
                <a:solidFill>
                  <a:srgbClr val="15283B"/>
                </a:solidFill>
                <a:latin typeface="Cambria Math" panose="02040503050406030204" pitchFamily="18" charset="0"/>
              </a:rPr>
              <a:t>21</a:t>
            </a:r>
            <a:r>
              <a:rPr lang="pt-BR" sz="2900">
                <a:solidFill>
                  <a:srgbClr val="15283B"/>
                </a:solidFill>
                <a:latin typeface="Cambria Math" panose="02040503050406030204" pitchFamily="18" charset="0"/>
              </a:rPr>
              <a:t>, r</a:t>
            </a:r>
            <a:r>
              <a:rPr lang="pt-BR" sz="2088" baseline="-22000">
                <a:solidFill>
                  <a:srgbClr val="15283B"/>
                </a:solidFill>
                <a:latin typeface="Cambria Math" panose="02040503050406030204" pitchFamily="18" charset="0"/>
              </a:rPr>
              <a:t>11</a:t>
            </a:r>
            <a:r>
              <a:rPr lang="pt-BR" sz="2900">
                <a:solidFill>
                  <a:srgbClr val="15283B"/>
                </a:solidFill>
                <a:latin typeface="Cambria Math" panose="02040503050406030204" pitchFamily="18" charset="0"/>
              </a:rPr>
              <a:t>)</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D962078E-8FCD-726F-C864-0A9357325800}"/>
              </a:ext>
            </a:extLst>
          </p:cNvPr>
          <p:cNvSpPr txBox="1"/>
          <p:nvPr/>
        </p:nvSpPr>
        <p:spPr>
          <a:xfrm>
            <a:off x="685800" y="4203699"/>
            <a:ext cx="10820400" cy="508000"/>
          </a:xfrm>
          <a:prstGeom prst="rect">
            <a:avLst/>
          </a:prstGeom>
          <a:noFill/>
        </p:spPr>
        <p:txBody>
          <a:bodyPr vert="horz" wrap="square" lIns="0" tIns="0" rIns="0" bIns="0" rtlCol="0" anchor="t">
            <a:noAutofit/>
          </a:bodyPr>
          <a:lstStyle/>
          <a:p>
            <a:r>
              <a:rPr lang="el-GR" sz="2500">
                <a:solidFill>
                  <a:srgbClr val="526477"/>
                </a:solidFill>
                <a:latin typeface="Aptos" panose="020B0004020202020204" pitchFamily="34" charset="0"/>
              </a:rPr>
              <a:t>θ ∈ [−π/2, π/2]   ·   φ, ψ ∈ (−π, π]</a:t>
            </a:r>
            <a:endParaRPr lang="en-IL" sz="2500">
              <a:solidFill>
                <a:srgbClr val="526477"/>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937F3323-6257-2AE6-E030-9BCABC75D26E}"/>
              </a:ext>
            </a:extLst>
          </p:cNvPr>
          <p:cNvSpPr/>
          <p:nvPr/>
        </p:nvSpPr>
        <p:spPr>
          <a:xfrm>
            <a:off x="685800" y="4978400"/>
            <a:ext cx="10820400" cy="1041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E03DE41-3554-BA24-4B8A-A07816640CDE}"/>
              </a:ext>
            </a:extLst>
          </p:cNvPr>
          <p:cNvSpPr txBox="1"/>
          <p:nvPr/>
        </p:nvSpPr>
        <p:spPr>
          <a:xfrm>
            <a:off x="914400" y="5194299"/>
            <a:ext cx="10363200" cy="596900"/>
          </a:xfrm>
          <a:prstGeom prst="rect">
            <a:avLst/>
          </a:prstGeom>
          <a:noFill/>
        </p:spPr>
        <p:txBody>
          <a:bodyPr vert="horz" wrap="square" lIns="0" tIns="0" rIns="0" bIns="0" rtlCol="0" anchor="t">
            <a:noAutofit/>
          </a:bodyPr>
          <a:lstStyle/>
          <a:p>
            <a:r>
              <a:rPr lang="pt-BR" sz="2900">
                <a:solidFill>
                  <a:srgbClr val="137F79"/>
                </a:solidFill>
                <a:latin typeface="Cambria Math" panose="02040503050406030204" pitchFamily="18" charset="0"/>
              </a:rPr>
              <a:t>cos θ ≈ 0:   φ = 0,  ψ = atan2(−r</a:t>
            </a:r>
            <a:r>
              <a:rPr lang="pt-BR" sz="2088" baseline="-22000">
                <a:solidFill>
                  <a:srgbClr val="137F79"/>
                </a:solidFill>
                <a:latin typeface="Cambria Math" panose="02040503050406030204" pitchFamily="18" charset="0"/>
              </a:rPr>
              <a:t>12</a:t>
            </a:r>
            <a:r>
              <a:rPr lang="pt-BR" sz="2900">
                <a:solidFill>
                  <a:srgbClr val="137F79"/>
                </a:solidFill>
                <a:latin typeface="Cambria Math" panose="02040503050406030204" pitchFamily="18" charset="0"/>
              </a:rPr>
              <a:t>, r</a:t>
            </a:r>
            <a:r>
              <a:rPr lang="pt-BR" sz="2088" baseline="-22000">
                <a:solidFill>
                  <a:srgbClr val="137F79"/>
                </a:solidFill>
                <a:latin typeface="Cambria Math" panose="02040503050406030204" pitchFamily="18" charset="0"/>
              </a:rPr>
              <a:t>22</a:t>
            </a:r>
            <a:r>
              <a:rPr lang="pt-BR" sz="2900">
                <a:solidFill>
                  <a:srgbClr val="137F79"/>
                </a:solidFill>
                <a:latin typeface="Cambria Math" panose="02040503050406030204" pitchFamily="18" charset="0"/>
              </a:rPr>
              <a:t>)</a:t>
            </a:r>
            <a:endParaRPr lang="en-IL" sz="2900">
              <a:solidFill>
                <a:srgbClr val="137F79"/>
              </a:solidFill>
              <a:latin typeface="Cambria Math" panose="02040503050406030204" pitchFamily="18" charset="0"/>
            </a:endParaRPr>
          </a:p>
        </p:txBody>
      </p:sp>
    </p:spTree>
    <p:extLst>
      <p:ext uri="{BB962C8B-B14F-4D97-AF65-F5344CB8AC3E}">
        <p14:creationId xmlns:p14="http://schemas.microsoft.com/office/powerpoint/2010/main" val="826706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FBC94CE-7308-5805-E441-5AA1D314C51F}"/>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7A2BA39B-E0C7-44D0-823F-2CF017F4AB5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Quaternion → rotation matrix</a:t>
            </a:r>
          </a:p>
        </p:txBody>
      </p:sp>
      <p:sp>
        <p:nvSpPr>
          <p:cNvPr id="4" name="text_3">
            <a:extLst>
              <a:ext uri="{FF2B5EF4-FFF2-40B4-BE49-F238E27FC236}">
                <a16:creationId xmlns:a16="http://schemas.microsoft.com/office/drawing/2014/main" id="{C75C1345-E06D-5CCE-CED6-D22ABBB4617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fr-FR" sz="2600">
                <a:solidFill>
                  <a:srgbClr val="526477"/>
                </a:solidFill>
                <a:latin typeface="Aptos" panose="020B0004020202020204" pitchFamily="34" charset="0"/>
              </a:rPr>
              <a:t>Unit Hamilton quaternion q = (w, x, y, z).</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DBF71F3-E65C-1CA4-E626-FF5CAE9223A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4737322-B014-F2E6-53B5-A52D57E79ED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30695E6-52A9-E1C3-A433-09EF92FBA3D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cxnSp>
        <p:nvCxnSpPr>
          <p:cNvPr id="8" name="Straight Connector 7">
            <a:extLst>
              <a:ext uri="{FF2B5EF4-FFF2-40B4-BE49-F238E27FC236}">
                <a16:creationId xmlns:a16="http://schemas.microsoft.com/office/drawing/2014/main" id="{8AA8022F-BC9D-D90A-2B7C-5EAB0F5D6C3D}"/>
              </a:ext>
            </a:extLst>
          </p:cNvPr>
          <p:cNvCxnSpPr/>
          <p:nvPr/>
        </p:nvCxnSpPr>
        <p:spPr>
          <a:xfrm>
            <a:off x="685800" y="2984500"/>
            <a:ext cx="0" cy="21844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CE8C7D0-7BEF-5B9F-BEE1-C94784CFCA0D}"/>
              </a:ext>
            </a:extLst>
          </p:cNvPr>
          <p:cNvCxnSpPr/>
          <p:nvPr/>
        </p:nvCxnSpPr>
        <p:spPr>
          <a:xfrm>
            <a:off x="685800" y="29845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0DD3159-6FB5-4FD5-4BD8-72552F249D2B}"/>
              </a:ext>
            </a:extLst>
          </p:cNvPr>
          <p:cNvCxnSpPr/>
          <p:nvPr/>
        </p:nvCxnSpPr>
        <p:spPr>
          <a:xfrm>
            <a:off x="685800" y="51689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DA0AA78-6ABE-17EE-F69C-164CE7420F5D}"/>
              </a:ext>
            </a:extLst>
          </p:cNvPr>
          <p:cNvCxnSpPr/>
          <p:nvPr/>
        </p:nvCxnSpPr>
        <p:spPr>
          <a:xfrm>
            <a:off x="11506200" y="2984500"/>
            <a:ext cx="0" cy="21844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21DC4DC-9929-454F-754B-6325169D4D02}"/>
              </a:ext>
            </a:extLst>
          </p:cNvPr>
          <p:cNvCxnSpPr/>
          <p:nvPr/>
        </p:nvCxnSpPr>
        <p:spPr>
          <a:xfrm flipH="1">
            <a:off x="11404600" y="29845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725B98E-A241-1BA0-83B3-54EA562A8272}"/>
              </a:ext>
            </a:extLst>
          </p:cNvPr>
          <p:cNvCxnSpPr/>
          <p:nvPr/>
        </p:nvCxnSpPr>
        <p:spPr>
          <a:xfrm flipH="1">
            <a:off x="11404600" y="51689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4" name="text_13">
            <a:extLst>
              <a:ext uri="{FF2B5EF4-FFF2-40B4-BE49-F238E27FC236}">
                <a16:creationId xmlns:a16="http://schemas.microsoft.com/office/drawing/2014/main" id="{BEA21579-997D-B46C-E4F4-389591FE98A5}"/>
              </a:ext>
            </a:extLst>
          </p:cNvPr>
          <p:cNvSpPr txBox="1"/>
          <p:nvPr/>
        </p:nvSpPr>
        <p:spPr>
          <a:xfrm>
            <a:off x="825500" y="3035300"/>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1 − 2(y²+z²)</a:t>
            </a:r>
          </a:p>
        </p:txBody>
      </p:sp>
      <p:sp>
        <p:nvSpPr>
          <p:cNvPr id="15" name="text_14">
            <a:extLst>
              <a:ext uri="{FF2B5EF4-FFF2-40B4-BE49-F238E27FC236}">
                <a16:creationId xmlns:a16="http://schemas.microsoft.com/office/drawing/2014/main" id="{F14DA970-B4B8-F427-D262-6E9B5D53432F}"/>
              </a:ext>
            </a:extLst>
          </p:cNvPr>
          <p:cNvSpPr txBox="1"/>
          <p:nvPr/>
        </p:nvSpPr>
        <p:spPr>
          <a:xfrm>
            <a:off x="4339167" y="3035300"/>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2(xy−wz)</a:t>
            </a:r>
          </a:p>
        </p:txBody>
      </p:sp>
      <p:sp>
        <p:nvSpPr>
          <p:cNvPr id="16" name="text_15">
            <a:extLst>
              <a:ext uri="{FF2B5EF4-FFF2-40B4-BE49-F238E27FC236}">
                <a16:creationId xmlns:a16="http://schemas.microsoft.com/office/drawing/2014/main" id="{C9D653DC-129E-FE9D-6EE1-A42549A25695}"/>
              </a:ext>
            </a:extLst>
          </p:cNvPr>
          <p:cNvSpPr txBox="1"/>
          <p:nvPr/>
        </p:nvSpPr>
        <p:spPr>
          <a:xfrm>
            <a:off x="7852833" y="3035300"/>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2(xz+wy)</a:t>
            </a:r>
          </a:p>
        </p:txBody>
      </p:sp>
      <p:sp>
        <p:nvSpPr>
          <p:cNvPr id="17" name="text_16">
            <a:extLst>
              <a:ext uri="{FF2B5EF4-FFF2-40B4-BE49-F238E27FC236}">
                <a16:creationId xmlns:a16="http://schemas.microsoft.com/office/drawing/2014/main" id="{90F239C4-0A28-FB4F-DE5F-87423C75E3C2}"/>
              </a:ext>
            </a:extLst>
          </p:cNvPr>
          <p:cNvSpPr txBox="1"/>
          <p:nvPr/>
        </p:nvSpPr>
        <p:spPr>
          <a:xfrm>
            <a:off x="825500" y="3763433"/>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2(xy+wz)</a:t>
            </a:r>
          </a:p>
        </p:txBody>
      </p:sp>
      <p:sp>
        <p:nvSpPr>
          <p:cNvPr id="18" name="text_17">
            <a:extLst>
              <a:ext uri="{FF2B5EF4-FFF2-40B4-BE49-F238E27FC236}">
                <a16:creationId xmlns:a16="http://schemas.microsoft.com/office/drawing/2014/main" id="{3FB79C1E-FBD2-A84C-E153-47DB212F9EF3}"/>
              </a:ext>
            </a:extLst>
          </p:cNvPr>
          <p:cNvSpPr txBox="1"/>
          <p:nvPr/>
        </p:nvSpPr>
        <p:spPr>
          <a:xfrm>
            <a:off x="4339167" y="3763433"/>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1 − 2(x²+z²)</a:t>
            </a:r>
          </a:p>
        </p:txBody>
      </p:sp>
      <p:sp>
        <p:nvSpPr>
          <p:cNvPr id="19" name="text_18">
            <a:extLst>
              <a:ext uri="{FF2B5EF4-FFF2-40B4-BE49-F238E27FC236}">
                <a16:creationId xmlns:a16="http://schemas.microsoft.com/office/drawing/2014/main" id="{9BFACC58-7567-3FD9-64D0-9D6BCD022785}"/>
              </a:ext>
            </a:extLst>
          </p:cNvPr>
          <p:cNvSpPr txBox="1"/>
          <p:nvPr/>
        </p:nvSpPr>
        <p:spPr>
          <a:xfrm>
            <a:off x="7852833" y="3763433"/>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2(yz−wx)</a:t>
            </a:r>
          </a:p>
        </p:txBody>
      </p:sp>
      <p:sp>
        <p:nvSpPr>
          <p:cNvPr id="20" name="text_19">
            <a:extLst>
              <a:ext uri="{FF2B5EF4-FFF2-40B4-BE49-F238E27FC236}">
                <a16:creationId xmlns:a16="http://schemas.microsoft.com/office/drawing/2014/main" id="{B4019339-1F16-7801-F0CD-EBC083459AF4}"/>
              </a:ext>
            </a:extLst>
          </p:cNvPr>
          <p:cNvSpPr txBox="1"/>
          <p:nvPr/>
        </p:nvSpPr>
        <p:spPr>
          <a:xfrm>
            <a:off x="825500" y="4491567"/>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2(xz−wy)</a:t>
            </a:r>
          </a:p>
        </p:txBody>
      </p:sp>
      <p:sp>
        <p:nvSpPr>
          <p:cNvPr id="21" name="text_20">
            <a:extLst>
              <a:ext uri="{FF2B5EF4-FFF2-40B4-BE49-F238E27FC236}">
                <a16:creationId xmlns:a16="http://schemas.microsoft.com/office/drawing/2014/main" id="{48814ED9-DAA8-918A-BA34-976097117BCA}"/>
              </a:ext>
            </a:extLst>
          </p:cNvPr>
          <p:cNvSpPr txBox="1"/>
          <p:nvPr/>
        </p:nvSpPr>
        <p:spPr>
          <a:xfrm>
            <a:off x="4339167" y="4491567"/>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2(yz+wx)</a:t>
            </a:r>
          </a:p>
        </p:txBody>
      </p:sp>
      <p:sp>
        <p:nvSpPr>
          <p:cNvPr id="22" name="text_21">
            <a:extLst>
              <a:ext uri="{FF2B5EF4-FFF2-40B4-BE49-F238E27FC236}">
                <a16:creationId xmlns:a16="http://schemas.microsoft.com/office/drawing/2014/main" id="{AB037FF5-F28D-F720-4E49-03756C54327F}"/>
              </a:ext>
            </a:extLst>
          </p:cNvPr>
          <p:cNvSpPr txBox="1"/>
          <p:nvPr/>
        </p:nvSpPr>
        <p:spPr>
          <a:xfrm>
            <a:off x="7852833" y="4491567"/>
            <a:ext cx="3513667" cy="677333"/>
          </a:xfrm>
          <a:prstGeom prst="rect">
            <a:avLst/>
          </a:prstGeom>
          <a:noFill/>
        </p:spPr>
        <p:txBody>
          <a:bodyPr vert="horz" wrap="square" lIns="0" tIns="0" rIns="0" bIns="0" rtlCol="0" anchor="t">
            <a:noAutofit/>
          </a:bodyPr>
          <a:lstStyle/>
          <a:p>
            <a:pPr algn="ctr"/>
            <a:r>
              <a:rPr lang="en-IL" sz="2700">
                <a:solidFill>
                  <a:srgbClr val="15283B"/>
                </a:solidFill>
                <a:latin typeface="Cambria Math" panose="02040503050406030204" pitchFamily="18" charset="0"/>
              </a:rPr>
              <a:t>1 − 2(x²+y²)</a:t>
            </a:r>
          </a:p>
        </p:txBody>
      </p:sp>
      <p:sp>
        <p:nvSpPr>
          <p:cNvPr id="23" name="text_22">
            <a:extLst>
              <a:ext uri="{FF2B5EF4-FFF2-40B4-BE49-F238E27FC236}">
                <a16:creationId xmlns:a16="http://schemas.microsoft.com/office/drawing/2014/main" id="{7066461A-11E3-E86A-A2A7-98B0FAD21D23}"/>
              </a:ext>
            </a:extLst>
          </p:cNvPr>
          <p:cNvSpPr txBox="1"/>
          <p:nvPr/>
        </p:nvSpPr>
        <p:spPr>
          <a:xfrm>
            <a:off x="685800" y="5587999"/>
            <a:ext cx="10820400" cy="508000"/>
          </a:xfrm>
          <a:prstGeom prst="rect">
            <a:avLst/>
          </a:prstGeom>
          <a:noFill/>
        </p:spPr>
        <p:txBody>
          <a:bodyPr vert="horz" wrap="square" lIns="0" tIns="0" rIns="0" bIns="0" rtlCol="0" anchor="t">
            <a:noAutofit/>
          </a:bodyPr>
          <a:lstStyle/>
          <a:p>
            <a:r>
              <a:rPr lang="en-IL" sz="2500">
                <a:solidFill>
                  <a:srgbClr val="526477"/>
                </a:solidFill>
                <a:latin typeface="Aptos" panose="020B0004020202020204" pitchFamily="34" charset="0"/>
              </a:rPr>
              <a:t>Normalize first  ·  R(q) = R(−q)  ·  ROS order is xyzw</a:t>
            </a:r>
          </a:p>
        </p:txBody>
      </p:sp>
    </p:spTree>
    <p:extLst>
      <p:ext uri="{BB962C8B-B14F-4D97-AF65-F5344CB8AC3E}">
        <p14:creationId xmlns:p14="http://schemas.microsoft.com/office/powerpoint/2010/main" val="1682417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1971F0C-EFF8-145D-060B-2618F7DEC88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9B8A074D-B674-62B9-D813-5B7A15BBA19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Stable matrix → quaternion</a:t>
            </a:r>
          </a:p>
        </p:txBody>
      </p:sp>
      <p:sp>
        <p:nvSpPr>
          <p:cNvPr id="4" name="text_3">
            <a:extLst>
              <a:ext uri="{FF2B5EF4-FFF2-40B4-BE49-F238E27FC236}">
                <a16:creationId xmlns:a16="http://schemas.microsoft.com/office/drawing/2014/main" id="{DA730047-20B8-AB38-3314-661EDA8E4BC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Choose the largest component; stay stable near 180°.</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A69F38F-3C25-2B39-D37C-787B1423B38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2521DAC-E70C-9620-6239-9D33E2305C5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561B25E-497C-23DF-6C81-97BCDBE5EB2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text_7">
            <a:extLst>
              <a:ext uri="{FF2B5EF4-FFF2-40B4-BE49-F238E27FC236}">
                <a16:creationId xmlns:a16="http://schemas.microsoft.com/office/drawing/2014/main" id="{349BEB02-83D0-A3D7-54FB-76E163793B1E}"/>
              </a:ext>
            </a:extLst>
          </p:cNvPr>
          <p:cNvSpPr txBox="1"/>
          <p:nvPr/>
        </p:nvSpPr>
        <p:spPr>
          <a:xfrm>
            <a:off x="685800" y="2565399"/>
            <a:ext cx="10820400" cy="546100"/>
          </a:xfrm>
          <a:prstGeom prst="rect">
            <a:avLst/>
          </a:prstGeom>
          <a:noFill/>
        </p:spPr>
        <p:txBody>
          <a:bodyPr vert="horz" wrap="square" lIns="0" tIns="0" rIns="0" bIns="0" rtlCol="0" anchor="t">
            <a:noAutofit/>
          </a:bodyPr>
          <a:lstStyle/>
          <a:p>
            <a:r>
              <a:rPr lang="pt-BR" sz="2700">
                <a:solidFill>
                  <a:srgbClr val="15283B"/>
                </a:solidFill>
                <a:latin typeface="Cambria Math" panose="02040503050406030204" pitchFamily="18" charset="0"/>
              </a:rPr>
              <a:t>a</a:t>
            </a:r>
            <a:r>
              <a:rPr lang="pt-BR" sz="1944" baseline="-22000">
                <a:solidFill>
                  <a:srgbClr val="15283B"/>
                </a:solidFill>
                <a:latin typeface="Cambria Math" panose="02040503050406030204" pitchFamily="18" charset="0"/>
              </a:rPr>
              <a:t>w</a:t>
            </a:r>
            <a:r>
              <a:rPr lang="pt-BR" sz="2700">
                <a:solidFill>
                  <a:srgbClr val="15283B"/>
                </a:solidFill>
                <a:latin typeface="Cambria Math" panose="02040503050406030204" pitchFamily="18" charset="0"/>
              </a:rPr>
              <a:t> = (1+r</a:t>
            </a:r>
            <a:r>
              <a:rPr lang="pt-BR" sz="1944" baseline="-22000">
                <a:solidFill>
                  <a:srgbClr val="15283B"/>
                </a:solidFill>
                <a:latin typeface="Cambria Math" panose="02040503050406030204" pitchFamily="18" charset="0"/>
              </a:rPr>
              <a:t>11</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22</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33</a:t>
            </a:r>
            <a:r>
              <a:rPr lang="pt-BR" sz="2700">
                <a:solidFill>
                  <a:srgbClr val="15283B"/>
                </a:solidFill>
                <a:latin typeface="Cambria Math" panose="02040503050406030204" pitchFamily="18" charset="0"/>
              </a:rPr>
              <a:t>)/4</a:t>
            </a:r>
            <a:endParaRPr lang="en-IL" sz="2700">
              <a:solidFill>
                <a:srgbClr val="15283B"/>
              </a:solidFill>
              <a:latin typeface="Cambria Math" panose="02040503050406030204" pitchFamily="18" charset="0"/>
            </a:endParaRPr>
          </a:p>
        </p:txBody>
      </p:sp>
      <p:sp>
        <p:nvSpPr>
          <p:cNvPr id="9" name="text_8">
            <a:extLst>
              <a:ext uri="{FF2B5EF4-FFF2-40B4-BE49-F238E27FC236}">
                <a16:creationId xmlns:a16="http://schemas.microsoft.com/office/drawing/2014/main" id="{FF22A590-CFC8-EB7F-D977-511D1DB98693}"/>
              </a:ext>
            </a:extLst>
          </p:cNvPr>
          <p:cNvSpPr txBox="1"/>
          <p:nvPr/>
        </p:nvSpPr>
        <p:spPr>
          <a:xfrm>
            <a:off x="685800" y="3136899"/>
            <a:ext cx="10820400" cy="546100"/>
          </a:xfrm>
          <a:prstGeom prst="rect">
            <a:avLst/>
          </a:prstGeom>
          <a:noFill/>
        </p:spPr>
        <p:txBody>
          <a:bodyPr vert="horz" wrap="square" lIns="0" tIns="0" rIns="0" bIns="0" rtlCol="0" anchor="t">
            <a:noAutofit/>
          </a:bodyPr>
          <a:lstStyle/>
          <a:p>
            <a:r>
              <a:rPr lang="pt-BR" sz="2700">
                <a:solidFill>
                  <a:srgbClr val="15283B"/>
                </a:solidFill>
                <a:latin typeface="Cambria Math" panose="02040503050406030204" pitchFamily="18" charset="0"/>
              </a:rPr>
              <a:t>a</a:t>
            </a:r>
            <a:r>
              <a:rPr lang="pt-BR" sz="1944" baseline="-22000">
                <a:solidFill>
                  <a:srgbClr val="15283B"/>
                </a:solidFill>
                <a:latin typeface="Cambria Math" panose="02040503050406030204" pitchFamily="18" charset="0"/>
              </a:rPr>
              <a:t>x</a:t>
            </a:r>
            <a:r>
              <a:rPr lang="pt-BR" sz="2700">
                <a:solidFill>
                  <a:srgbClr val="15283B"/>
                </a:solidFill>
                <a:latin typeface="Cambria Math" panose="02040503050406030204" pitchFamily="18" charset="0"/>
              </a:rPr>
              <a:t> = (1+r</a:t>
            </a:r>
            <a:r>
              <a:rPr lang="pt-BR" sz="1944" baseline="-22000">
                <a:solidFill>
                  <a:srgbClr val="15283B"/>
                </a:solidFill>
                <a:latin typeface="Cambria Math" panose="02040503050406030204" pitchFamily="18" charset="0"/>
              </a:rPr>
              <a:t>11</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22</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33</a:t>
            </a:r>
            <a:r>
              <a:rPr lang="pt-BR" sz="2700">
                <a:solidFill>
                  <a:srgbClr val="15283B"/>
                </a:solidFill>
                <a:latin typeface="Cambria Math" panose="02040503050406030204" pitchFamily="18" charset="0"/>
              </a:rPr>
              <a:t>)/4</a:t>
            </a:r>
            <a:endParaRPr lang="en-IL" sz="27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66602003-1309-F3CA-1604-71E6954C55D8}"/>
              </a:ext>
            </a:extLst>
          </p:cNvPr>
          <p:cNvSpPr txBox="1"/>
          <p:nvPr/>
        </p:nvSpPr>
        <p:spPr>
          <a:xfrm>
            <a:off x="685800" y="3708399"/>
            <a:ext cx="10820400" cy="546100"/>
          </a:xfrm>
          <a:prstGeom prst="rect">
            <a:avLst/>
          </a:prstGeom>
          <a:noFill/>
        </p:spPr>
        <p:txBody>
          <a:bodyPr vert="horz" wrap="square" lIns="0" tIns="0" rIns="0" bIns="0" rtlCol="0" anchor="t">
            <a:noAutofit/>
          </a:bodyPr>
          <a:lstStyle/>
          <a:p>
            <a:r>
              <a:rPr lang="pt-BR" sz="2700">
                <a:solidFill>
                  <a:srgbClr val="15283B"/>
                </a:solidFill>
                <a:latin typeface="Cambria Math" panose="02040503050406030204" pitchFamily="18" charset="0"/>
              </a:rPr>
              <a:t>a</a:t>
            </a:r>
            <a:r>
              <a:rPr lang="pt-BR" sz="1944" baseline="-22000">
                <a:solidFill>
                  <a:srgbClr val="15283B"/>
                </a:solidFill>
                <a:latin typeface="Cambria Math" panose="02040503050406030204" pitchFamily="18" charset="0"/>
              </a:rPr>
              <a:t>y</a:t>
            </a:r>
            <a:r>
              <a:rPr lang="pt-BR" sz="2700">
                <a:solidFill>
                  <a:srgbClr val="15283B"/>
                </a:solidFill>
                <a:latin typeface="Cambria Math" panose="02040503050406030204" pitchFamily="18" charset="0"/>
              </a:rPr>
              <a:t> = (1−r</a:t>
            </a:r>
            <a:r>
              <a:rPr lang="pt-BR" sz="1944" baseline="-22000">
                <a:solidFill>
                  <a:srgbClr val="15283B"/>
                </a:solidFill>
                <a:latin typeface="Cambria Math" panose="02040503050406030204" pitchFamily="18" charset="0"/>
              </a:rPr>
              <a:t>11</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22</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33</a:t>
            </a:r>
            <a:r>
              <a:rPr lang="pt-BR" sz="2700">
                <a:solidFill>
                  <a:srgbClr val="15283B"/>
                </a:solidFill>
                <a:latin typeface="Cambria Math" panose="02040503050406030204" pitchFamily="18" charset="0"/>
              </a:rPr>
              <a:t>)/4</a:t>
            </a:r>
            <a:endParaRPr lang="en-IL" sz="27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F7C3B8D2-20E6-7B98-9DB1-86643A1FE51F}"/>
              </a:ext>
            </a:extLst>
          </p:cNvPr>
          <p:cNvSpPr txBox="1"/>
          <p:nvPr/>
        </p:nvSpPr>
        <p:spPr>
          <a:xfrm>
            <a:off x="685800" y="4279899"/>
            <a:ext cx="10820400" cy="546100"/>
          </a:xfrm>
          <a:prstGeom prst="rect">
            <a:avLst/>
          </a:prstGeom>
          <a:noFill/>
        </p:spPr>
        <p:txBody>
          <a:bodyPr vert="horz" wrap="square" lIns="0" tIns="0" rIns="0" bIns="0" rtlCol="0" anchor="t">
            <a:noAutofit/>
          </a:bodyPr>
          <a:lstStyle/>
          <a:p>
            <a:r>
              <a:rPr lang="pt-BR" sz="2700">
                <a:solidFill>
                  <a:srgbClr val="15283B"/>
                </a:solidFill>
                <a:latin typeface="Cambria Math" panose="02040503050406030204" pitchFamily="18" charset="0"/>
              </a:rPr>
              <a:t>a</a:t>
            </a:r>
            <a:r>
              <a:rPr lang="pt-BR" sz="1944" baseline="-22000">
                <a:solidFill>
                  <a:srgbClr val="15283B"/>
                </a:solidFill>
                <a:latin typeface="Cambria Math" panose="02040503050406030204" pitchFamily="18" charset="0"/>
              </a:rPr>
              <a:t>z</a:t>
            </a:r>
            <a:r>
              <a:rPr lang="pt-BR" sz="2700">
                <a:solidFill>
                  <a:srgbClr val="15283B"/>
                </a:solidFill>
                <a:latin typeface="Cambria Math" panose="02040503050406030204" pitchFamily="18" charset="0"/>
              </a:rPr>
              <a:t> = (1−r</a:t>
            </a:r>
            <a:r>
              <a:rPr lang="pt-BR" sz="1944" baseline="-22000">
                <a:solidFill>
                  <a:srgbClr val="15283B"/>
                </a:solidFill>
                <a:latin typeface="Cambria Math" panose="02040503050406030204" pitchFamily="18" charset="0"/>
              </a:rPr>
              <a:t>11</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22</a:t>
            </a:r>
            <a:r>
              <a:rPr lang="pt-BR" sz="2700">
                <a:solidFill>
                  <a:srgbClr val="15283B"/>
                </a:solidFill>
                <a:latin typeface="Cambria Math" panose="02040503050406030204" pitchFamily="18" charset="0"/>
              </a:rPr>
              <a:t>+r</a:t>
            </a:r>
            <a:r>
              <a:rPr lang="pt-BR" sz="1944" baseline="-22000">
                <a:solidFill>
                  <a:srgbClr val="15283B"/>
                </a:solidFill>
                <a:latin typeface="Cambria Math" panose="02040503050406030204" pitchFamily="18" charset="0"/>
              </a:rPr>
              <a:t>33</a:t>
            </a:r>
            <a:r>
              <a:rPr lang="pt-BR" sz="2700">
                <a:solidFill>
                  <a:srgbClr val="15283B"/>
                </a:solidFill>
                <a:latin typeface="Cambria Math" panose="02040503050406030204" pitchFamily="18" charset="0"/>
              </a:rPr>
              <a:t>)/4</a:t>
            </a:r>
            <a:endParaRPr lang="en-IL" sz="27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C3D56EFB-482E-D0C8-18F6-E214667BE8B4}"/>
              </a:ext>
            </a:extLst>
          </p:cNvPr>
          <p:cNvSpPr txBox="1"/>
          <p:nvPr/>
        </p:nvSpPr>
        <p:spPr>
          <a:xfrm>
            <a:off x="685800" y="5067299"/>
            <a:ext cx="10820400" cy="825500"/>
          </a:xfrm>
          <a:prstGeom prst="rect">
            <a:avLst/>
          </a:prstGeom>
          <a:noFill/>
        </p:spPr>
        <p:txBody>
          <a:bodyPr vert="horz" wrap="square" lIns="0" tIns="0" rIns="0" bIns="0" rtlCol="0" anchor="t">
            <a:noAutofit/>
          </a:bodyPr>
          <a:lstStyle/>
          <a:p>
            <a:r>
              <a:rPr lang="en-US" sz="2600" b="1">
                <a:solidFill>
                  <a:srgbClr val="2459D3"/>
                </a:solidFill>
                <a:latin typeface="Aptos" panose="020B0004020202020204" pitchFamily="34" charset="0"/>
              </a:rPr>
              <a:t>Take √(largest), recover the others, then normalize.</a:t>
            </a:r>
            <a:endParaRPr lang="en-IL" sz="2600" b="1">
              <a:solidFill>
                <a:srgbClr val="2459D3"/>
              </a:solidFill>
              <a:latin typeface="Aptos" panose="020B0004020202020204" pitchFamily="34" charset="0"/>
            </a:endParaRPr>
          </a:p>
        </p:txBody>
      </p:sp>
      <p:sp>
        <p:nvSpPr>
          <p:cNvPr id="13" name="text_12">
            <a:extLst>
              <a:ext uri="{FF2B5EF4-FFF2-40B4-BE49-F238E27FC236}">
                <a16:creationId xmlns:a16="http://schemas.microsoft.com/office/drawing/2014/main" id="{AFCEAD27-EEFF-7D3C-04BD-A9880DFC0083}"/>
              </a:ext>
            </a:extLst>
          </p:cNvPr>
          <p:cNvSpPr txBox="1"/>
          <p:nvPr/>
        </p:nvSpPr>
        <p:spPr>
          <a:xfrm>
            <a:off x="685800" y="5689599"/>
            <a:ext cx="10820400" cy="4826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180° about x: (a_w,a_x,a_y,a_z) = (0,1,0,0)</a:t>
            </a:r>
          </a:p>
        </p:txBody>
      </p:sp>
    </p:spTree>
    <p:extLst>
      <p:ext uri="{BB962C8B-B14F-4D97-AF65-F5344CB8AC3E}">
        <p14:creationId xmlns:p14="http://schemas.microsoft.com/office/powerpoint/2010/main" val="619288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A58A881-AD85-3F57-2BD9-FA565B53A2A2}"/>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D87997E4-2A68-153B-D518-2DD99E74E5E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Roll–pitch–yaw → quaternion</a:t>
            </a:r>
          </a:p>
        </p:txBody>
      </p:sp>
      <p:sp>
        <p:nvSpPr>
          <p:cNvPr id="4" name="text_3">
            <a:extLst>
              <a:ext uri="{FF2B5EF4-FFF2-40B4-BE49-F238E27FC236}">
                <a16:creationId xmlns:a16="http://schemas.microsoft.com/office/drawing/2014/main" id="{13DDA6C3-6F04-25C8-6F93-7848E537BB7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Fixed XYZ only; c and s here use HALF angles.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7BE596C-13EB-6BED-AE77-7F42A506539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2C3FB75-8C77-9CDA-4A07-95DB00BA6EE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AF75648-185B-9755-31BA-40B3FAD59D2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sp>
        <p:nvSpPr>
          <p:cNvPr id="8" name="text_7">
            <a:extLst>
              <a:ext uri="{FF2B5EF4-FFF2-40B4-BE49-F238E27FC236}">
                <a16:creationId xmlns:a16="http://schemas.microsoft.com/office/drawing/2014/main" id="{3FDF8C25-5121-20DD-7B7A-C3CB67A11700}"/>
              </a:ext>
            </a:extLst>
          </p:cNvPr>
          <p:cNvSpPr txBox="1"/>
          <p:nvPr/>
        </p:nvSpPr>
        <p:spPr>
          <a:xfrm>
            <a:off x="685800" y="2590799"/>
            <a:ext cx="10820400" cy="5969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w = c</a:t>
            </a:r>
            <a:r>
              <a:rPr lang="el-GR" sz="2304" baseline="-22000">
                <a:solidFill>
                  <a:srgbClr val="2459D3"/>
                </a:solidFill>
                <a:latin typeface="Cambria Math" panose="02040503050406030204" pitchFamily="18" charset="0"/>
              </a:rPr>
              <a:t>φ</a:t>
            </a:r>
            <a:r>
              <a:rPr lang="el-GR" sz="3200">
                <a:solidFill>
                  <a:srgbClr val="2459D3"/>
                </a:solidFill>
                <a:latin typeface="Cambria Math" panose="02040503050406030204" pitchFamily="18" charset="0"/>
              </a:rPr>
              <a:t> </a:t>
            </a:r>
            <a:r>
              <a:rPr lang="en-IL" sz="3200">
                <a:solidFill>
                  <a:srgbClr val="2459D3"/>
                </a:solidFill>
                <a:latin typeface="Cambria Math" panose="02040503050406030204" pitchFamily="18" charset="0"/>
              </a:rPr>
              <a:t>c</a:t>
            </a:r>
            <a:r>
              <a:rPr lang="el-GR" sz="2304" baseline="-22000">
                <a:solidFill>
                  <a:srgbClr val="2459D3"/>
                </a:solidFill>
                <a:latin typeface="Cambria Math" panose="02040503050406030204" pitchFamily="18" charset="0"/>
              </a:rPr>
              <a:t>θ</a:t>
            </a:r>
            <a:r>
              <a:rPr lang="el-GR" sz="3200">
                <a:solidFill>
                  <a:srgbClr val="2459D3"/>
                </a:solidFill>
                <a:latin typeface="Cambria Math" panose="02040503050406030204" pitchFamily="18" charset="0"/>
              </a:rPr>
              <a:t> </a:t>
            </a:r>
            <a:r>
              <a:rPr lang="en-IL" sz="3200">
                <a:solidFill>
                  <a:srgbClr val="2459D3"/>
                </a:solidFill>
                <a:latin typeface="Cambria Math" panose="02040503050406030204" pitchFamily="18" charset="0"/>
              </a:rPr>
              <a:t>c</a:t>
            </a:r>
            <a:r>
              <a:rPr lang="el-GR" sz="2304" baseline="-22000">
                <a:solidFill>
                  <a:srgbClr val="2459D3"/>
                </a:solidFill>
                <a:latin typeface="Cambria Math" panose="02040503050406030204" pitchFamily="18" charset="0"/>
              </a:rPr>
              <a:t>ψ</a:t>
            </a:r>
            <a:r>
              <a:rPr lang="el-GR" sz="3200">
                <a:solidFill>
                  <a:srgbClr val="2459D3"/>
                </a:solidFill>
                <a:latin typeface="Cambria Math" panose="02040503050406030204" pitchFamily="18" charset="0"/>
              </a:rPr>
              <a:t> + </a:t>
            </a:r>
            <a:r>
              <a:rPr lang="en-IL" sz="3200">
                <a:solidFill>
                  <a:srgbClr val="2459D3"/>
                </a:solidFill>
                <a:latin typeface="Cambria Math" panose="02040503050406030204" pitchFamily="18" charset="0"/>
              </a:rPr>
              <a:t>s</a:t>
            </a:r>
            <a:r>
              <a:rPr lang="el-GR" sz="2304" baseline="-22000">
                <a:solidFill>
                  <a:srgbClr val="2459D3"/>
                </a:solidFill>
                <a:latin typeface="Cambria Math" panose="02040503050406030204" pitchFamily="18" charset="0"/>
              </a:rPr>
              <a:t>φ</a:t>
            </a:r>
            <a:r>
              <a:rPr lang="el-GR" sz="3200">
                <a:solidFill>
                  <a:srgbClr val="2459D3"/>
                </a:solidFill>
                <a:latin typeface="Cambria Math" panose="02040503050406030204" pitchFamily="18" charset="0"/>
              </a:rPr>
              <a:t> </a:t>
            </a:r>
            <a:r>
              <a:rPr lang="en-IL" sz="3200">
                <a:solidFill>
                  <a:srgbClr val="2459D3"/>
                </a:solidFill>
                <a:latin typeface="Cambria Math" panose="02040503050406030204" pitchFamily="18" charset="0"/>
              </a:rPr>
              <a:t>s</a:t>
            </a:r>
            <a:r>
              <a:rPr lang="el-GR" sz="2304" baseline="-22000">
                <a:solidFill>
                  <a:srgbClr val="2459D3"/>
                </a:solidFill>
                <a:latin typeface="Cambria Math" panose="02040503050406030204" pitchFamily="18" charset="0"/>
              </a:rPr>
              <a:t>θ</a:t>
            </a:r>
            <a:r>
              <a:rPr lang="el-GR" sz="3200">
                <a:solidFill>
                  <a:srgbClr val="2459D3"/>
                </a:solidFill>
                <a:latin typeface="Cambria Math" panose="02040503050406030204" pitchFamily="18" charset="0"/>
              </a:rPr>
              <a:t> </a:t>
            </a:r>
            <a:r>
              <a:rPr lang="en-IL" sz="3200">
                <a:solidFill>
                  <a:srgbClr val="2459D3"/>
                </a:solidFill>
                <a:latin typeface="Cambria Math" panose="02040503050406030204" pitchFamily="18" charset="0"/>
              </a:rPr>
              <a:t>s</a:t>
            </a:r>
            <a:r>
              <a:rPr lang="el-GR" sz="2304" baseline="-22000">
                <a:solidFill>
                  <a:srgbClr val="2459D3"/>
                </a:solidFill>
                <a:latin typeface="Cambria Math" panose="02040503050406030204" pitchFamily="18" charset="0"/>
              </a:rPr>
              <a:t>ψ</a:t>
            </a:r>
            <a:endParaRPr lang="en-IL" sz="2304" baseline="-220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25C6F1CE-3E9B-07C6-1FFB-51436CE1BBD2}"/>
              </a:ext>
            </a:extLst>
          </p:cNvPr>
          <p:cNvSpPr txBox="1"/>
          <p:nvPr/>
        </p:nvSpPr>
        <p:spPr>
          <a:xfrm>
            <a:off x="685800" y="3276599"/>
            <a:ext cx="10820400" cy="5969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x = s</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c</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c</a:t>
            </a:r>
            <a:r>
              <a:rPr lang="el-GR" sz="2304" baseline="-22000">
                <a:solidFill>
                  <a:srgbClr val="15283B"/>
                </a:solidFill>
                <a:latin typeface="Cambria Math" panose="02040503050406030204" pitchFamily="18" charset="0"/>
              </a:rPr>
              <a:t>ψ</a:t>
            </a:r>
            <a:r>
              <a:rPr lang="el-GR" sz="3200">
                <a:solidFill>
                  <a:srgbClr val="15283B"/>
                </a:solidFill>
                <a:latin typeface="Cambria Math" panose="02040503050406030204" pitchFamily="18" charset="0"/>
              </a:rPr>
              <a:t> − </a:t>
            </a:r>
            <a:r>
              <a:rPr lang="en-IL" sz="3200">
                <a:solidFill>
                  <a:srgbClr val="15283B"/>
                </a:solidFill>
                <a:latin typeface="Cambria Math" panose="02040503050406030204" pitchFamily="18" charset="0"/>
              </a:rPr>
              <a:t>c</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ψ</a:t>
            </a:r>
            <a:endParaRPr lang="en-IL" sz="2304" baseline="-220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EFCF92F5-AC94-0AD4-BC37-18CE193AB16E}"/>
              </a:ext>
            </a:extLst>
          </p:cNvPr>
          <p:cNvSpPr txBox="1"/>
          <p:nvPr/>
        </p:nvSpPr>
        <p:spPr>
          <a:xfrm>
            <a:off x="685800" y="3962399"/>
            <a:ext cx="10820400" cy="5969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y = c</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c</a:t>
            </a:r>
            <a:r>
              <a:rPr lang="el-GR" sz="2304" baseline="-22000">
                <a:solidFill>
                  <a:srgbClr val="15283B"/>
                </a:solidFill>
                <a:latin typeface="Cambria Math" panose="02040503050406030204" pitchFamily="18" charset="0"/>
              </a:rPr>
              <a:t>ψ</a:t>
            </a:r>
            <a:r>
              <a:rPr lang="el-GR" sz="3200">
                <a:solidFill>
                  <a:srgbClr val="15283B"/>
                </a:solidFill>
                <a:latin typeface="Cambria Math" panose="02040503050406030204" pitchFamily="18" charset="0"/>
              </a:rPr>
              <a:t> +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c</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ψ</a:t>
            </a:r>
            <a:endParaRPr lang="en-IL" sz="2304" baseline="-220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D8C8821F-D6EB-CA36-EB51-C3EFDD683B6F}"/>
              </a:ext>
            </a:extLst>
          </p:cNvPr>
          <p:cNvSpPr txBox="1"/>
          <p:nvPr/>
        </p:nvSpPr>
        <p:spPr>
          <a:xfrm>
            <a:off x="685800" y="4648199"/>
            <a:ext cx="10820400" cy="5969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z = c</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c</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ψ</a:t>
            </a:r>
            <a:r>
              <a:rPr lang="el-GR" sz="3200">
                <a:solidFill>
                  <a:srgbClr val="15283B"/>
                </a:solidFill>
                <a:latin typeface="Cambria Math" panose="02040503050406030204" pitchFamily="18" charset="0"/>
              </a:rPr>
              <a:t> −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s</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c</a:t>
            </a:r>
            <a:r>
              <a:rPr lang="el-GR" sz="2304" baseline="-22000">
                <a:solidFill>
                  <a:srgbClr val="15283B"/>
                </a:solidFill>
                <a:latin typeface="Cambria Math" panose="02040503050406030204" pitchFamily="18" charset="0"/>
              </a:rPr>
              <a:t>ψ</a:t>
            </a:r>
            <a:endParaRPr lang="en-IL" sz="2304" baseline="-220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014D8015-6332-7CBE-095F-0E09C9504338}"/>
              </a:ext>
            </a:extLst>
          </p:cNvPr>
          <p:cNvSpPr txBox="1"/>
          <p:nvPr/>
        </p:nvSpPr>
        <p:spPr>
          <a:xfrm>
            <a:off x="685800" y="5575299"/>
            <a:ext cx="10820400" cy="495300"/>
          </a:xfrm>
          <a:prstGeom prst="rect">
            <a:avLst/>
          </a:prstGeom>
          <a:noFill/>
        </p:spPr>
        <p:txBody>
          <a:bodyPr vert="horz" wrap="square" lIns="0" tIns="0" rIns="0" bIns="0" rtlCol="0" anchor="t">
            <a:noAutofit/>
          </a:bodyPr>
          <a:lstStyle/>
          <a:p>
            <a:r>
              <a:rPr lang="pt-BR" sz="2500">
                <a:solidFill>
                  <a:srgbClr val="137F79"/>
                </a:solidFill>
                <a:latin typeface="Aptos" panose="020B0004020202020204" pitchFamily="34" charset="0"/>
              </a:rPr>
              <a:t>Reverse: normalized q → R(q) → Euler (singular branch)</a:t>
            </a:r>
            <a:endParaRPr lang="en-IL" sz="2500">
              <a:solidFill>
                <a:srgbClr val="137F79"/>
              </a:solidFill>
              <a:latin typeface="Aptos" panose="020B0004020202020204" pitchFamily="34" charset="0"/>
            </a:endParaRPr>
          </a:p>
        </p:txBody>
      </p:sp>
    </p:spTree>
    <p:extLst>
      <p:ext uri="{BB962C8B-B14F-4D97-AF65-F5344CB8AC3E}">
        <p14:creationId xmlns:p14="http://schemas.microsoft.com/office/powerpoint/2010/main" val="570495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6568C79-E1FE-C723-B6CD-C6BB1910978E}"/>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2D26FE60-A2D4-337A-5427-9D7F8BB9EA2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Quaternion algebra</a:t>
            </a:r>
          </a:p>
        </p:txBody>
      </p:sp>
      <p:sp>
        <p:nvSpPr>
          <p:cNvPr id="4" name="text_3">
            <a:extLst>
              <a:ext uri="{FF2B5EF4-FFF2-40B4-BE49-F238E27FC236}">
                <a16:creationId xmlns:a16="http://schemas.microsoft.com/office/drawing/2014/main" id="{18EA051C-7D82-F7B2-18AE-27C4C2DE6F9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Hamilton multiplication; order and multiplication side matter.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D933A6B-D578-E7A7-840D-BD1E95AE5E4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7784DDB-35D2-D298-AC2C-22ACA3CF300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5E73745-0815-C75D-A547-EFF4BF23D7C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text_7">
            <a:extLst>
              <a:ext uri="{FF2B5EF4-FFF2-40B4-BE49-F238E27FC236}">
                <a16:creationId xmlns:a16="http://schemas.microsoft.com/office/drawing/2014/main" id="{7F43F9AD-95AB-EF7E-DF4C-A1B0B9345793}"/>
              </a:ext>
            </a:extLst>
          </p:cNvPr>
          <p:cNvSpPr txBox="1"/>
          <p:nvPr/>
        </p:nvSpPr>
        <p:spPr>
          <a:xfrm>
            <a:off x="685800" y="2565399"/>
            <a:ext cx="10820400" cy="571500"/>
          </a:xfrm>
          <a:prstGeom prst="rect">
            <a:avLst/>
          </a:prstGeom>
          <a:noFill/>
        </p:spPr>
        <p:txBody>
          <a:bodyPr vert="horz" wrap="square" lIns="0" tIns="0" rIns="0" bIns="0" rtlCol="0" anchor="t">
            <a:noAutofit/>
          </a:bodyPr>
          <a:lstStyle/>
          <a:p>
            <a:r>
              <a:rPr lang="pl-PL" sz="3200">
                <a:solidFill>
                  <a:srgbClr val="2459D3"/>
                </a:solidFill>
                <a:latin typeface="Cambria Math" panose="02040503050406030204" pitchFamily="18" charset="0"/>
              </a:rPr>
              <a:t>q</a:t>
            </a:r>
            <a:r>
              <a:rPr lang="pl-PL" sz="2304" baseline="-22000">
                <a:solidFill>
                  <a:srgbClr val="2459D3"/>
                </a:solidFill>
                <a:latin typeface="Cambria Math" panose="02040503050406030204" pitchFamily="18" charset="0"/>
              </a:rPr>
              <a:t>1</a:t>
            </a:r>
            <a:r>
              <a:rPr lang="pl-PL" sz="3200">
                <a:solidFill>
                  <a:srgbClr val="2459D3"/>
                </a:solidFill>
                <a:latin typeface="Cambria Math" panose="02040503050406030204" pitchFamily="18" charset="0"/>
              </a:rPr>
              <a:t> ⊗ q</a:t>
            </a:r>
            <a:r>
              <a:rPr lang="pl-PL" sz="2304" baseline="-22000">
                <a:solidFill>
                  <a:srgbClr val="2459D3"/>
                </a:solidFill>
                <a:latin typeface="Cambria Math" panose="02040503050406030204" pitchFamily="18" charset="0"/>
              </a:rPr>
              <a:t>2</a:t>
            </a:r>
            <a:r>
              <a:rPr lang="pl-PL" sz="3200">
                <a:solidFill>
                  <a:srgbClr val="2459D3"/>
                </a:solidFill>
                <a:latin typeface="Cambria Math" panose="02040503050406030204" pitchFamily="18" charset="0"/>
              </a:rPr>
              <a:t> = (w</a:t>
            </a:r>
            <a:r>
              <a:rPr lang="pl-PL" sz="2304" baseline="-22000">
                <a:solidFill>
                  <a:srgbClr val="2459D3"/>
                </a:solidFill>
                <a:latin typeface="Cambria Math" panose="02040503050406030204" pitchFamily="18" charset="0"/>
              </a:rPr>
              <a:t>1</a:t>
            </a:r>
            <a:r>
              <a:rPr lang="pl-PL" sz="3200">
                <a:solidFill>
                  <a:srgbClr val="2459D3"/>
                </a:solidFill>
                <a:latin typeface="Cambria Math" panose="02040503050406030204" pitchFamily="18" charset="0"/>
              </a:rPr>
              <a:t>w</a:t>
            </a:r>
            <a:r>
              <a:rPr lang="pl-PL" sz="2304" baseline="-22000">
                <a:solidFill>
                  <a:srgbClr val="2459D3"/>
                </a:solidFill>
                <a:latin typeface="Cambria Math" panose="02040503050406030204" pitchFamily="18" charset="0"/>
              </a:rPr>
              <a:t>2</a:t>
            </a:r>
            <a:r>
              <a:rPr lang="pl-PL" sz="3200">
                <a:solidFill>
                  <a:srgbClr val="2459D3"/>
                </a:solidFill>
                <a:latin typeface="Cambria Math" panose="02040503050406030204" pitchFamily="18" charset="0"/>
              </a:rPr>
              <a:t> − v</a:t>
            </a:r>
            <a:r>
              <a:rPr lang="pl-PL" sz="2304" baseline="-22000">
                <a:solidFill>
                  <a:srgbClr val="2459D3"/>
                </a:solidFill>
                <a:latin typeface="Cambria Math" panose="02040503050406030204" pitchFamily="18" charset="0"/>
              </a:rPr>
              <a:t>1</a:t>
            </a:r>
            <a:r>
              <a:rPr lang="pl-PL" sz="3200">
                <a:solidFill>
                  <a:srgbClr val="2459D3"/>
                </a:solidFill>
                <a:latin typeface="Cambria Math" panose="02040503050406030204" pitchFamily="18" charset="0"/>
              </a:rPr>
              <a:t>·v</a:t>
            </a:r>
            <a:r>
              <a:rPr lang="pl-PL" sz="2304" baseline="-22000">
                <a:solidFill>
                  <a:srgbClr val="2459D3"/>
                </a:solidFill>
                <a:latin typeface="Cambria Math" panose="02040503050406030204" pitchFamily="18" charset="0"/>
              </a:rPr>
              <a:t>2</a:t>
            </a:r>
            <a:r>
              <a:rPr lang="pl-PL" sz="3200">
                <a:solidFill>
                  <a:srgbClr val="2459D3"/>
                </a:solidFill>
                <a:latin typeface="Cambria Math" panose="02040503050406030204" pitchFamily="18" charset="0"/>
              </a:rPr>
              <a:t>,</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CD6066BF-511B-600E-E22F-A76191AA8001}"/>
              </a:ext>
            </a:extLst>
          </p:cNvPr>
          <p:cNvSpPr txBox="1"/>
          <p:nvPr/>
        </p:nvSpPr>
        <p:spPr>
          <a:xfrm>
            <a:off x="685800" y="3162299"/>
            <a:ext cx="10820400" cy="5969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                      w</a:t>
            </a:r>
            <a:r>
              <a:rPr lang="en-IL" sz="2304" baseline="-22000">
                <a:solidFill>
                  <a:srgbClr val="2459D3"/>
                </a:solidFill>
                <a:latin typeface="Cambria Math" panose="02040503050406030204" pitchFamily="18" charset="0"/>
              </a:rPr>
              <a:t>1</a:t>
            </a:r>
            <a:r>
              <a:rPr lang="en-IL" sz="3200">
                <a:solidFill>
                  <a:srgbClr val="2459D3"/>
                </a:solidFill>
                <a:latin typeface="Cambria Math" panose="02040503050406030204" pitchFamily="18" charset="0"/>
              </a:rPr>
              <a:t>v</a:t>
            </a:r>
            <a:r>
              <a:rPr lang="en-IL" sz="2304" baseline="-22000">
                <a:solidFill>
                  <a:srgbClr val="2459D3"/>
                </a:solidFill>
                <a:latin typeface="Cambria Math" panose="02040503050406030204" pitchFamily="18" charset="0"/>
              </a:rPr>
              <a:t>2</a:t>
            </a:r>
            <a:r>
              <a:rPr lang="en-IL" sz="3200">
                <a:solidFill>
                  <a:srgbClr val="2459D3"/>
                </a:solidFill>
                <a:latin typeface="Cambria Math" panose="02040503050406030204" pitchFamily="18" charset="0"/>
              </a:rPr>
              <a:t> + w</a:t>
            </a:r>
            <a:r>
              <a:rPr lang="en-IL" sz="2304" baseline="-22000">
                <a:solidFill>
                  <a:srgbClr val="2459D3"/>
                </a:solidFill>
                <a:latin typeface="Cambria Math" panose="02040503050406030204" pitchFamily="18" charset="0"/>
              </a:rPr>
              <a:t>2</a:t>
            </a:r>
            <a:r>
              <a:rPr lang="en-IL" sz="3200">
                <a:solidFill>
                  <a:srgbClr val="2459D3"/>
                </a:solidFill>
                <a:latin typeface="Cambria Math" panose="02040503050406030204" pitchFamily="18" charset="0"/>
              </a:rPr>
              <a:t>v</a:t>
            </a:r>
            <a:r>
              <a:rPr lang="en-IL" sz="2304" baseline="-22000">
                <a:solidFill>
                  <a:srgbClr val="2459D3"/>
                </a:solidFill>
                <a:latin typeface="Cambria Math" panose="02040503050406030204" pitchFamily="18" charset="0"/>
              </a:rPr>
              <a:t>1</a:t>
            </a:r>
            <a:r>
              <a:rPr lang="en-IL" sz="3200">
                <a:solidFill>
                  <a:srgbClr val="2459D3"/>
                </a:solidFill>
                <a:latin typeface="Cambria Math" panose="02040503050406030204" pitchFamily="18" charset="0"/>
              </a:rPr>
              <a:t> + v</a:t>
            </a:r>
            <a:r>
              <a:rPr lang="en-IL" sz="2304" baseline="-22000">
                <a:solidFill>
                  <a:srgbClr val="2459D3"/>
                </a:solidFill>
                <a:latin typeface="Cambria Math" panose="02040503050406030204" pitchFamily="18" charset="0"/>
              </a:rPr>
              <a:t>1</a:t>
            </a:r>
            <a:r>
              <a:rPr lang="en-IL" sz="3200">
                <a:solidFill>
                  <a:srgbClr val="2459D3"/>
                </a:solidFill>
                <a:latin typeface="Cambria Math" panose="02040503050406030204" pitchFamily="18" charset="0"/>
              </a:rPr>
              <a:t>×v</a:t>
            </a:r>
            <a:r>
              <a:rPr lang="en-IL" sz="2304" baseline="-22000">
                <a:solidFill>
                  <a:srgbClr val="2459D3"/>
                </a:solidFill>
                <a:latin typeface="Cambria Math" panose="02040503050406030204" pitchFamily="18" charset="0"/>
              </a:rPr>
              <a:t>2</a:t>
            </a:r>
            <a:r>
              <a:rPr lang="en-IL" sz="3200">
                <a:solidFill>
                  <a:srgbClr val="2459D3"/>
                </a:solidFill>
                <a:latin typeface="Cambria Math" panose="02040503050406030204" pitchFamily="18" charset="0"/>
              </a:rPr>
              <a:t>)</a:t>
            </a:r>
          </a:p>
        </p:txBody>
      </p:sp>
      <p:sp>
        <p:nvSpPr>
          <p:cNvPr id="10" name="text_9">
            <a:extLst>
              <a:ext uri="{FF2B5EF4-FFF2-40B4-BE49-F238E27FC236}">
                <a16:creationId xmlns:a16="http://schemas.microsoft.com/office/drawing/2014/main" id="{45201DAE-0464-1A45-EDDD-5EFAF9BB34C8}"/>
              </a:ext>
            </a:extLst>
          </p:cNvPr>
          <p:cNvSpPr txBox="1"/>
          <p:nvPr/>
        </p:nvSpPr>
        <p:spPr>
          <a:xfrm>
            <a:off x="685800" y="4216399"/>
            <a:ext cx="10820400" cy="596900"/>
          </a:xfrm>
          <a:prstGeom prst="rect">
            <a:avLst/>
          </a:prstGeom>
          <a:noFill/>
        </p:spPr>
        <p:txBody>
          <a:bodyPr vert="horz" wrap="square" lIns="0" tIns="0" rIns="0" bIns="0" rtlCol="0" anchor="t">
            <a:noAutofit/>
          </a:bodyPr>
          <a:lstStyle/>
          <a:p>
            <a:r>
              <a:rPr lang="pl-PL" sz="3100">
                <a:solidFill>
                  <a:srgbClr val="15283B"/>
                </a:solidFill>
                <a:latin typeface="Cambria Math" panose="02040503050406030204" pitchFamily="18" charset="0"/>
              </a:rPr>
              <a:t>q* = (w, −v)       q</a:t>
            </a:r>
            <a:r>
              <a:rPr lang="pl-PL" sz="2232" baseline="32000">
                <a:solidFill>
                  <a:srgbClr val="15283B"/>
                </a:solidFill>
                <a:latin typeface="Cambria Math" panose="02040503050406030204" pitchFamily="18" charset="0"/>
              </a:rPr>
              <a:t>-1</a:t>
            </a:r>
            <a:r>
              <a:rPr lang="pl-PL" sz="3100">
                <a:solidFill>
                  <a:srgbClr val="15283B"/>
                </a:solidFill>
                <a:latin typeface="Cambria Math" panose="02040503050406030204" pitchFamily="18" charset="0"/>
              </a:rPr>
              <a:t> = q* / ‖q‖²</a:t>
            </a:r>
            <a:endParaRPr lang="en-IL" sz="31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FCF08033-3D2B-8FDD-43CA-773EB1833F96}"/>
              </a:ext>
            </a:extLst>
          </p:cNvPr>
          <p:cNvSpPr txBox="1"/>
          <p:nvPr/>
        </p:nvSpPr>
        <p:spPr>
          <a:xfrm>
            <a:off x="685800" y="5016499"/>
            <a:ext cx="10820400" cy="596900"/>
          </a:xfrm>
          <a:prstGeom prst="rect">
            <a:avLst/>
          </a:prstGeom>
          <a:noFill/>
        </p:spPr>
        <p:txBody>
          <a:bodyPr vert="horz" wrap="square" lIns="0" tIns="0" rIns="0" bIns="0" rtlCol="0" anchor="t">
            <a:noAutofit/>
          </a:bodyPr>
          <a:lstStyle/>
          <a:p>
            <a:r>
              <a:rPr lang="pt-BR" sz="3100">
                <a:solidFill>
                  <a:srgbClr val="137F79"/>
                </a:solidFill>
                <a:latin typeface="Cambria Math" panose="02040503050406030204" pitchFamily="18" charset="0"/>
              </a:rPr>
              <a:t>q</a:t>
            </a:r>
            <a:r>
              <a:rPr lang="pt-BR" sz="2232" baseline="-22000">
                <a:solidFill>
                  <a:srgbClr val="137F79"/>
                </a:solidFill>
                <a:latin typeface="Cambria Math" panose="02040503050406030204" pitchFamily="18" charset="0"/>
              </a:rPr>
              <a:t>rel</a:t>
            </a:r>
            <a:r>
              <a:rPr lang="pt-BR" sz="3100">
                <a:solidFill>
                  <a:srgbClr val="137F79"/>
                </a:solidFill>
                <a:latin typeface="Cambria Math" panose="02040503050406030204" pitchFamily="18" charset="0"/>
              </a:rPr>
              <a:t> = q</a:t>
            </a:r>
            <a:r>
              <a:rPr lang="pt-BR" sz="2232" baseline="-22000">
                <a:solidFill>
                  <a:srgbClr val="137F79"/>
                </a:solidFill>
                <a:latin typeface="Cambria Math" panose="02040503050406030204" pitchFamily="18" charset="0"/>
              </a:rPr>
              <a:t>2</a:t>
            </a:r>
            <a:r>
              <a:rPr lang="pt-BR" sz="3100">
                <a:solidFill>
                  <a:srgbClr val="137F79"/>
                </a:solidFill>
                <a:latin typeface="Cambria Math" panose="02040503050406030204" pitchFamily="18" charset="0"/>
              </a:rPr>
              <a:t> ⊗ q</a:t>
            </a:r>
            <a:r>
              <a:rPr lang="pt-BR" sz="2232" baseline="-22000">
                <a:solidFill>
                  <a:srgbClr val="137F79"/>
                </a:solidFill>
                <a:latin typeface="Cambria Math" panose="02040503050406030204" pitchFamily="18" charset="0"/>
              </a:rPr>
              <a:t>1</a:t>
            </a:r>
            <a:r>
              <a:rPr lang="pt-BR" sz="2232" baseline="32000">
                <a:solidFill>
                  <a:srgbClr val="137F79"/>
                </a:solidFill>
                <a:latin typeface="Cambria Math" panose="02040503050406030204" pitchFamily="18" charset="0"/>
              </a:rPr>
              <a:t>-1</a:t>
            </a:r>
            <a:r>
              <a:rPr lang="pt-BR" sz="3100">
                <a:solidFill>
                  <a:srgbClr val="137F79"/>
                </a:solidFill>
                <a:latin typeface="Cambria Math" panose="02040503050406030204" pitchFamily="18" charset="0"/>
              </a:rPr>
              <a:t>       R(q) = R(−q)</a:t>
            </a:r>
            <a:endParaRPr lang="en-IL" sz="3100">
              <a:solidFill>
                <a:srgbClr val="137F79"/>
              </a:solidFill>
              <a:latin typeface="Cambria Math" panose="02040503050406030204" pitchFamily="18" charset="0"/>
            </a:endParaRPr>
          </a:p>
        </p:txBody>
      </p:sp>
      <p:sp>
        <p:nvSpPr>
          <p:cNvPr id="12" name="text_11">
            <a:extLst>
              <a:ext uri="{FF2B5EF4-FFF2-40B4-BE49-F238E27FC236}">
                <a16:creationId xmlns:a16="http://schemas.microsoft.com/office/drawing/2014/main" id="{9BFDE1EE-3682-81D4-49D3-0DE353AB6EBB}"/>
              </a:ext>
            </a:extLst>
          </p:cNvPr>
          <p:cNvSpPr txBox="1"/>
          <p:nvPr/>
        </p:nvSpPr>
        <p:spPr>
          <a:xfrm>
            <a:off x="685800" y="5727699"/>
            <a:ext cx="10820400" cy="4445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Unit norm: inverse = conjugate. Sign flip ≠ inverse.</a:t>
            </a:r>
          </a:p>
        </p:txBody>
      </p:sp>
    </p:spTree>
    <p:extLst>
      <p:ext uri="{BB962C8B-B14F-4D97-AF65-F5344CB8AC3E}">
        <p14:creationId xmlns:p14="http://schemas.microsoft.com/office/powerpoint/2010/main" val="490282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67AB44F-E634-95B0-C349-9D66ABEEEA20}"/>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DE3B643E-C72D-F2AB-7B07-2EA3734C08C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Conventions change the formula</a:t>
            </a:r>
          </a:p>
        </p:txBody>
      </p:sp>
      <p:sp>
        <p:nvSpPr>
          <p:cNvPr id="4" name="text_3">
            <a:extLst>
              <a:ext uri="{FF2B5EF4-FFF2-40B4-BE49-F238E27FC236}">
                <a16:creationId xmlns:a16="http://schemas.microsoft.com/office/drawing/2014/main" id="{981A0A9C-C988-DF55-2195-BBF6DEE0CB3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Define the operation and vector layout before copying equations.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493154B-9421-44FE-4E27-B84B8661DE0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138F2BE-CAB7-FA01-EDBC-07BD0F7AF90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082312F-FC0E-6D3C-F3F1-12FEC8E02E2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sp>
        <p:nvSpPr>
          <p:cNvPr id="8" name="Rectangle: Rounded Corners 7">
            <a:extLst>
              <a:ext uri="{FF2B5EF4-FFF2-40B4-BE49-F238E27FC236}">
                <a16:creationId xmlns:a16="http://schemas.microsoft.com/office/drawing/2014/main" id="{3B44B6BC-2B8F-11CD-A14A-1C5FBED2A3C7}"/>
              </a:ext>
            </a:extLst>
          </p:cNvPr>
          <p:cNvSpPr/>
          <p:nvPr/>
        </p:nvSpPr>
        <p:spPr>
          <a:xfrm>
            <a:off x="685800" y="2628900"/>
            <a:ext cx="5207000" cy="1511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AED0A80-892F-425F-CBC1-86608DAE9138}"/>
              </a:ext>
            </a:extLst>
          </p:cNvPr>
          <p:cNvSpPr txBox="1"/>
          <p:nvPr/>
        </p:nvSpPr>
        <p:spPr>
          <a:xfrm>
            <a:off x="914400" y="28193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Active</a:t>
            </a:r>
          </a:p>
        </p:txBody>
      </p:sp>
      <p:sp>
        <p:nvSpPr>
          <p:cNvPr id="10" name="text_9">
            <a:extLst>
              <a:ext uri="{FF2B5EF4-FFF2-40B4-BE49-F238E27FC236}">
                <a16:creationId xmlns:a16="http://schemas.microsoft.com/office/drawing/2014/main" id="{70FD0CEE-51E0-EA63-D04E-D12B9EF23CD2}"/>
              </a:ext>
            </a:extLst>
          </p:cNvPr>
          <p:cNvSpPr txBox="1"/>
          <p:nvPr/>
        </p:nvSpPr>
        <p:spPr>
          <a:xfrm>
            <a:off x="914400" y="3505199"/>
            <a:ext cx="4749800" cy="54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Rotate the vector: p′ = Rp</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3E3EC50E-E117-D8E9-6DA8-DCFEADE49995}"/>
              </a:ext>
            </a:extLst>
          </p:cNvPr>
          <p:cNvSpPr/>
          <p:nvPr/>
        </p:nvSpPr>
        <p:spPr>
          <a:xfrm>
            <a:off x="6172200" y="2628900"/>
            <a:ext cx="5334000" cy="1511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6AEFB0A-05A4-1758-42DA-3F8F84A17282}"/>
              </a:ext>
            </a:extLst>
          </p:cNvPr>
          <p:cNvSpPr txBox="1"/>
          <p:nvPr/>
        </p:nvSpPr>
        <p:spPr>
          <a:xfrm>
            <a:off x="6400800" y="28193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Passive</a:t>
            </a:r>
          </a:p>
        </p:txBody>
      </p:sp>
      <p:sp>
        <p:nvSpPr>
          <p:cNvPr id="13" name="text_12">
            <a:extLst>
              <a:ext uri="{FF2B5EF4-FFF2-40B4-BE49-F238E27FC236}">
                <a16:creationId xmlns:a16="http://schemas.microsoft.com/office/drawing/2014/main" id="{20C71E93-943C-54E2-420E-04A0645734EB}"/>
              </a:ext>
            </a:extLst>
          </p:cNvPr>
          <p:cNvSpPr txBox="1"/>
          <p:nvPr/>
        </p:nvSpPr>
        <p:spPr>
          <a:xfrm>
            <a:off x="6400800" y="3505199"/>
            <a:ext cx="4876800" cy="54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Reverse basis map: use Rᵀ</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2C34D61A-380F-204E-4DE9-E0C79F440543}"/>
              </a:ext>
            </a:extLst>
          </p:cNvPr>
          <p:cNvSpPr txBox="1"/>
          <p:nvPr/>
        </p:nvSpPr>
        <p:spPr>
          <a:xfrm>
            <a:off x="685800" y="4444999"/>
            <a:ext cx="10820400" cy="571500"/>
          </a:xfrm>
          <a:prstGeom prst="rect">
            <a:avLst/>
          </a:prstGeom>
          <a:noFill/>
        </p:spPr>
        <p:txBody>
          <a:bodyPr vert="horz" wrap="square" lIns="0" tIns="0" rIns="0" bIns="0" rtlCol="0" anchor="t">
            <a:noAutofit/>
          </a:bodyPr>
          <a:lstStyle/>
          <a:p>
            <a:r>
              <a:rPr lang="fr-FR" sz="3000">
                <a:solidFill>
                  <a:srgbClr val="15283B"/>
                </a:solidFill>
                <a:latin typeface="Cambria Math" panose="02040503050406030204" pitchFamily="18" charset="0"/>
              </a:rPr>
              <a:t>Row vectors:   p′</a:t>
            </a:r>
            <a:r>
              <a:rPr lang="fr-FR" sz="2160" baseline="32000">
                <a:solidFill>
                  <a:srgbClr val="15283B"/>
                </a:solidFill>
                <a:latin typeface="Cambria Math" panose="02040503050406030204" pitchFamily="18" charset="0"/>
              </a:rPr>
              <a:t>T</a:t>
            </a:r>
            <a:r>
              <a:rPr lang="fr-FR" sz="3000">
                <a:solidFill>
                  <a:srgbClr val="15283B"/>
                </a:solidFill>
                <a:latin typeface="Cambria Math" panose="02040503050406030204" pitchFamily="18" charset="0"/>
              </a:rPr>
              <a:t> = p</a:t>
            </a:r>
            <a:r>
              <a:rPr lang="fr-FR" sz="2160" baseline="32000">
                <a:solidFill>
                  <a:srgbClr val="15283B"/>
                </a:solidFill>
                <a:latin typeface="Cambria Math" panose="02040503050406030204" pitchFamily="18" charset="0"/>
              </a:rPr>
              <a:t>T</a:t>
            </a:r>
            <a:r>
              <a:rPr lang="fr-FR" sz="3000">
                <a:solidFill>
                  <a:srgbClr val="15283B"/>
                </a:solidFill>
                <a:latin typeface="Cambria Math" panose="02040503050406030204" pitchFamily="18" charset="0"/>
              </a:rPr>
              <a:t>R</a:t>
            </a:r>
            <a:r>
              <a:rPr lang="fr-FR" sz="2160" baseline="32000">
                <a:solidFill>
                  <a:srgbClr val="15283B"/>
                </a:solidFill>
                <a:latin typeface="Cambria Math" panose="02040503050406030204" pitchFamily="18" charset="0"/>
              </a:rPr>
              <a:t>T</a:t>
            </a:r>
            <a:r>
              <a:rPr lang="fr-FR" sz="3000">
                <a:solidFill>
                  <a:srgbClr val="15283B"/>
                </a:solidFill>
                <a:latin typeface="Cambria Math" panose="02040503050406030204" pitchFamily="18" charset="0"/>
              </a:rPr>
              <a:t> + t</a:t>
            </a:r>
            <a:r>
              <a:rPr lang="fr-FR" sz="2160" baseline="32000">
                <a:solidFill>
                  <a:srgbClr val="15283B"/>
                </a:solidFill>
                <a:latin typeface="Cambria Math" panose="02040503050406030204" pitchFamily="18" charset="0"/>
              </a:rPr>
              <a:t>T</a:t>
            </a:r>
            <a:endParaRPr lang="en-IL" sz="2160" baseline="32000">
              <a:solidFill>
                <a:srgbClr val="15283B"/>
              </a:solidFill>
              <a:latin typeface="Cambria Math" panose="02040503050406030204" pitchFamily="18" charset="0"/>
            </a:endParaRPr>
          </a:p>
        </p:txBody>
      </p:sp>
      <p:sp>
        <p:nvSpPr>
          <p:cNvPr id="15" name="text_14">
            <a:extLst>
              <a:ext uri="{FF2B5EF4-FFF2-40B4-BE49-F238E27FC236}">
                <a16:creationId xmlns:a16="http://schemas.microsoft.com/office/drawing/2014/main" id="{A9D327F3-D48A-0B1B-E0A7-41A003551EC2}"/>
              </a:ext>
            </a:extLst>
          </p:cNvPr>
          <p:cNvSpPr txBox="1"/>
          <p:nvPr/>
        </p:nvSpPr>
        <p:spPr>
          <a:xfrm>
            <a:off x="685800" y="5232399"/>
            <a:ext cx="10820400" cy="647700"/>
          </a:xfrm>
          <a:prstGeom prst="rect">
            <a:avLst/>
          </a:prstGeom>
          <a:noFill/>
        </p:spPr>
        <p:txBody>
          <a:bodyPr vert="horz" wrap="square" lIns="0" tIns="0" rIns="0" bIns="0" rtlCol="0" anchor="t">
            <a:noAutofit/>
          </a:bodyPr>
          <a:lstStyle/>
          <a:p>
            <a:r>
              <a:rPr lang="en-US" sz="3200">
                <a:solidFill>
                  <a:srgbClr val="2459D3"/>
                </a:solidFill>
                <a:latin typeface="Cambria Math" panose="02040503050406030204" pitchFamily="18" charset="0"/>
              </a:rPr>
              <a:t>Basis change:   R</a:t>
            </a:r>
            <a:r>
              <a:rPr lang="en-US" sz="2304" baseline="-22000">
                <a:solidFill>
                  <a:srgbClr val="2459D3"/>
                </a:solidFill>
                <a:latin typeface="Cambria Math" panose="02040503050406030204" pitchFamily="18" charset="0"/>
              </a:rPr>
              <a:t>new</a:t>
            </a:r>
            <a:r>
              <a:rPr lang="en-US" sz="3200">
                <a:solidFill>
                  <a:srgbClr val="2459D3"/>
                </a:solidFill>
                <a:latin typeface="Cambria Math" panose="02040503050406030204" pitchFamily="18" charset="0"/>
              </a:rPr>
              <a:t> = S</a:t>
            </a:r>
            <a:r>
              <a:rPr lang="en-US" sz="2304" baseline="-22000">
                <a:solidFill>
                  <a:srgbClr val="2459D3"/>
                </a:solidFill>
                <a:latin typeface="Cambria Math" panose="02040503050406030204" pitchFamily="18" charset="0"/>
              </a:rPr>
              <a:t>A</a:t>
            </a:r>
            <a:r>
              <a:rPr lang="en-US" sz="3200">
                <a:solidFill>
                  <a:srgbClr val="2459D3"/>
                </a:solidFill>
                <a:latin typeface="Cambria Math" panose="02040503050406030204" pitchFamily="18" charset="0"/>
              </a:rPr>
              <a:t> R</a:t>
            </a:r>
            <a:r>
              <a:rPr lang="en-US" sz="2304" baseline="-22000">
                <a:solidFill>
                  <a:srgbClr val="2459D3"/>
                </a:solidFill>
                <a:latin typeface="Cambria Math" panose="02040503050406030204" pitchFamily="18" charset="0"/>
              </a:rPr>
              <a:t>old</a:t>
            </a:r>
            <a:r>
              <a:rPr lang="en-US" sz="3200">
                <a:solidFill>
                  <a:srgbClr val="2459D3"/>
                </a:solidFill>
                <a:latin typeface="Cambria Math" panose="02040503050406030204" pitchFamily="18" charset="0"/>
              </a:rPr>
              <a:t> S</a:t>
            </a:r>
            <a:r>
              <a:rPr lang="en-US" sz="2304" baseline="-22000">
                <a:solidFill>
                  <a:srgbClr val="2459D3"/>
                </a:solidFill>
                <a:latin typeface="Cambria Math" panose="02040503050406030204" pitchFamily="18" charset="0"/>
              </a:rPr>
              <a:t>B</a:t>
            </a:r>
            <a:r>
              <a:rPr lang="en-US" sz="2304" baseline="32000">
                <a:solidFill>
                  <a:srgbClr val="2459D3"/>
                </a:solidFill>
                <a:latin typeface="Cambria Math" panose="02040503050406030204" pitchFamily="18" charset="0"/>
              </a:rPr>
              <a:t>-1</a:t>
            </a:r>
            <a:endParaRPr lang="en-IL" sz="2304" baseline="32000">
              <a:solidFill>
                <a:srgbClr val="2459D3"/>
              </a:solidFill>
              <a:latin typeface="Cambria Math" panose="02040503050406030204" pitchFamily="18" charset="0"/>
            </a:endParaRPr>
          </a:p>
        </p:txBody>
      </p:sp>
    </p:spTree>
    <p:extLst>
      <p:ext uri="{BB962C8B-B14F-4D97-AF65-F5344CB8AC3E}">
        <p14:creationId xmlns:p14="http://schemas.microsoft.com/office/powerpoint/2010/main" val="521081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C617A3D-ED09-0771-3A6E-06C4478C20D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C1512F54-8EF9-F47C-B983-AB8271937CA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ROS axes and common frames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482D1F22-EF94-9FF9-020E-2C60D478034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Body and optical conventions coexist in one robot.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0C6885E-6A31-1F1A-9427-FFDED00DD11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B122594-3429-3D24-5B75-7C4E6575D0B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B07787E-9E8A-BAEB-B2D2-BAD532722BD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sp>
        <p:nvSpPr>
          <p:cNvPr id="8" name="Rectangle: Rounded Corners 7">
            <a:extLst>
              <a:ext uri="{FF2B5EF4-FFF2-40B4-BE49-F238E27FC236}">
                <a16:creationId xmlns:a16="http://schemas.microsoft.com/office/drawing/2014/main" id="{E645FF00-6669-E330-D6D9-CA0EC8814EBF}"/>
              </a:ext>
            </a:extLst>
          </p:cNvPr>
          <p:cNvSpPr/>
          <p:nvPr/>
        </p:nvSpPr>
        <p:spPr>
          <a:xfrm>
            <a:off x="685800" y="2578100"/>
            <a:ext cx="5207000" cy="1536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51178B1A-C775-393B-B815-9187564E6F3A}"/>
              </a:ext>
            </a:extLst>
          </p:cNvPr>
          <p:cNvSpPr txBox="1"/>
          <p:nvPr/>
        </p:nvSpPr>
        <p:spPr>
          <a:xfrm>
            <a:off x="914400" y="27685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Body</a:t>
            </a:r>
          </a:p>
        </p:txBody>
      </p:sp>
      <p:sp>
        <p:nvSpPr>
          <p:cNvPr id="10" name="text_9">
            <a:extLst>
              <a:ext uri="{FF2B5EF4-FFF2-40B4-BE49-F238E27FC236}">
                <a16:creationId xmlns:a16="http://schemas.microsoft.com/office/drawing/2014/main" id="{E11CFD25-7F64-494C-77B6-63DBF716D850}"/>
              </a:ext>
            </a:extLst>
          </p:cNvPr>
          <p:cNvSpPr txBox="1"/>
          <p:nvPr/>
        </p:nvSpPr>
        <p:spPr>
          <a:xfrm>
            <a:off x="914400" y="3454399"/>
            <a:ext cx="4749800" cy="571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x forward · y left · z up</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A9CA7B40-5080-6BFB-8287-9126359522D1}"/>
              </a:ext>
            </a:extLst>
          </p:cNvPr>
          <p:cNvSpPr/>
          <p:nvPr/>
        </p:nvSpPr>
        <p:spPr>
          <a:xfrm>
            <a:off x="6172200" y="2578100"/>
            <a:ext cx="5334000" cy="1536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CEE792A7-94C9-A888-3BED-A542CC13A22B}"/>
              </a:ext>
            </a:extLst>
          </p:cNvPr>
          <p:cNvSpPr txBox="1"/>
          <p:nvPr/>
        </p:nvSpPr>
        <p:spPr>
          <a:xfrm>
            <a:off x="6400800" y="27685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Optical</a:t>
            </a:r>
          </a:p>
        </p:txBody>
      </p:sp>
      <p:sp>
        <p:nvSpPr>
          <p:cNvPr id="13" name="text_12">
            <a:extLst>
              <a:ext uri="{FF2B5EF4-FFF2-40B4-BE49-F238E27FC236}">
                <a16:creationId xmlns:a16="http://schemas.microsoft.com/office/drawing/2014/main" id="{C37AA9F7-169D-D9E4-73D9-511CAAF6CF2B}"/>
              </a:ext>
            </a:extLst>
          </p:cNvPr>
          <p:cNvSpPr txBox="1"/>
          <p:nvPr/>
        </p:nvSpPr>
        <p:spPr>
          <a:xfrm>
            <a:off x="6400800" y="3454399"/>
            <a:ext cx="4876800" cy="571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x right · y down · z forward</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06022E45-99F2-5D19-1F02-70FD1EBE4505}"/>
              </a:ext>
            </a:extLst>
          </p:cNvPr>
          <p:cNvSpPr txBox="1"/>
          <p:nvPr/>
        </p:nvSpPr>
        <p:spPr>
          <a:xfrm>
            <a:off x="685800" y="4495799"/>
            <a:ext cx="10820400" cy="520700"/>
          </a:xfrm>
          <a:prstGeom prst="rect">
            <a:avLst/>
          </a:prstGeom>
          <a:noFill/>
        </p:spPr>
        <p:txBody>
          <a:bodyPr vert="horz" wrap="square" lIns="0" tIns="0" rIns="0" bIns="0" rtlCol="0" anchor="t">
            <a:noAutofit/>
          </a:bodyPr>
          <a:lstStyle/>
          <a:p>
            <a:r>
              <a:rPr lang="en-IL" sz="3000" b="1">
                <a:solidFill>
                  <a:srgbClr val="2459D3"/>
                </a:solidFill>
                <a:latin typeface="Aptos" panose="020B0004020202020204" pitchFamily="34" charset="0"/>
              </a:rPr>
              <a:t>map → odom → base_link → sensor</a:t>
            </a:r>
          </a:p>
        </p:txBody>
      </p:sp>
      <p:sp>
        <p:nvSpPr>
          <p:cNvPr id="15" name="text_14">
            <a:extLst>
              <a:ext uri="{FF2B5EF4-FFF2-40B4-BE49-F238E27FC236}">
                <a16:creationId xmlns:a16="http://schemas.microsoft.com/office/drawing/2014/main" id="{AE97AEEF-C58D-C5E8-C545-0DD9DDC8B769}"/>
              </a:ext>
            </a:extLst>
          </p:cNvPr>
          <p:cNvSpPr txBox="1"/>
          <p:nvPr/>
        </p:nvSpPr>
        <p:spPr>
          <a:xfrm>
            <a:off x="685800" y="5232399"/>
            <a:ext cx="10820400" cy="800100"/>
          </a:xfrm>
          <a:prstGeom prst="rect">
            <a:avLst/>
          </a:prstGeom>
          <a:noFill/>
        </p:spPr>
        <p:txBody>
          <a:bodyPr vert="horz" wrap="square" lIns="0" tIns="0" rIns="0" bIns="0" rtlCol="0" anchor="t">
            <a:noAutofit/>
          </a:bodyPr>
          <a:lstStyle/>
          <a:p>
            <a:r>
              <a:rPr lang="en-US" sz="2500">
                <a:solidFill>
                  <a:srgbClr val="15283B"/>
                </a:solidFill>
                <a:latin typeface="Aptos" panose="020B0004020202020204" pitchFamily="34" charset="0"/>
              </a:rPr>
              <a:t>map: corrections may jump   ·   odom: continuous, drifts</a:t>
            </a:r>
            <a:endParaRPr lang="en-IL" sz="2500">
              <a:solidFill>
                <a:srgbClr val="15283B"/>
              </a:solidFill>
              <a:latin typeface="Aptos" panose="020B0004020202020204" pitchFamily="34" charset="0"/>
            </a:endParaRPr>
          </a:p>
        </p:txBody>
      </p:sp>
    </p:spTree>
    <p:extLst>
      <p:ext uri="{BB962C8B-B14F-4D97-AF65-F5344CB8AC3E}">
        <p14:creationId xmlns:p14="http://schemas.microsoft.com/office/powerpoint/2010/main" val="4233633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EF6C6F9-5D68-96E8-6B93-B181AD75A0CE}"/>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1400C8F1-D45E-5C2D-DFA1-EFBC4EF2BB2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Interpolate time and orientation</a:t>
            </a:r>
          </a:p>
        </p:txBody>
      </p:sp>
      <p:sp>
        <p:nvSpPr>
          <p:cNvPr id="4" name="text_3">
            <a:extLst>
              <a:ext uri="{FF2B5EF4-FFF2-40B4-BE49-F238E27FC236}">
                <a16:creationId xmlns:a16="http://schemas.microsoft.com/office/drawing/2014/main" id="{D06508A8-0637-9640-6811-D749C3CC99D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Use compatible buffered samples; choose the short quaternion arc.</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0A9D46E-8039-43E7-B2A7-ABFE17F1621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F9D33D3-7A1A-0BEA-2E7A-1933F7B2949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25909E1-C7F7-414E-3FF1-51D21248EDF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sp>
        <p:nvSpPr>
          <p:cNvPr id="8" name="text_7">
            <a:extLst>
              <a:ext uri="{FF2B5EF4-FFF2-40B4-BE49-F238E27FC236}">
                <a16:creationId xmlns:a16="http://schemas.microsoft.com/office/drawing/2014/main" id="{28F22C49-2E6E-6662-8862-D5B2991EC3CD}"/>
              </a:ext>
            </a:extLst>
          </p:cNvPr>
          <p:cNvSpPr txBox="1"/>
          <p:nvPr/>
        </p:nvSpPr>
        <p:spPr>
          <a:xfrm>
            <a:off x="685800" y="2578099"/>
            <a:ext cx="10820400" cy="558800"/>
          </a:xfrm>
          <a:prstGeom prst="rect">
            <a:avLst/>
          </a:prstGeom>
          <a:noFill/>
        </p:spPr>
        <p:txBody>
          <a:bodyPr vert="horz" wrap="square" lIns="0" tIns="0" rIns="0" bIns="0" rtlCol="0" anchor="t">
            <a:noAutofit/>
          </a:bodyPr>
          <a:lstStyle/>
          <a:p>
            <a:r>
              <a:rPr lang="en-IL" sz="2800">
                <a:solidFill>
                  <a:srgbClr val="15283B"/>
                </a:solidFill>
                <a:latin typeface="Cambria Math" panose="02040503050406030204" pitchFamily="18" charset="0"/>
              </a:rPr>
              <a:t>u = (</a:t>
            </a:r>
            <a:r>
              <a:rPr lang="el-GR" sz="2800">
                <a:solidFill>
                  <a:srgbClr val="15283B"/>
                </a:solidFill>
                <a:latin typeface="Cambria Math" panose="02040503050406030204" pitchFamily="18" charset="0"/>
              </a:rPr>
              <a:t>τ−τ</a:t>
            </a:r>
            <a:r>
              <a:rPr lang="el-GR" sz="2016" baseline="-22000">
                <a:solidFill>
                  <a:srgbClr val="15283B"/>
                </a:solidFill>
                <a:latin typeface="Cambria Math" panose="02040503050406030204" pitchFamily="18" charset="0"/>
              </a:rPr>
              <a:t>0</a:t>
            </a:r>
            <a:r>
              <a:rPr lang="el-GR" sz="2800">
                <a:solidFill>
                  <a:srgbClr val="15283B"/>
                </a:solidFill>
                <a:latin typeface="Cambria Math" panose="02040503050406030204" pitchFamily="18" charset="0"/>
              </a:rPr>
              <a:t>)/(τ</a:t>
            </a:r>
            <a:r>
              <a:rPr lang="el-GR" sz="2016" baseline="-22000">
                <a:solidFill>
                  <a:srgbClr val="15283B"/>
                </a:solidFill>
                <a:latin typeface="Cambria Math" panose="02040503050406030204" pitchFamily="18" charset="0"/>
              </a:rPr>
              <a:t>1</a:t>
            </a:r>
            <a:r>
              <a:rPr lang="el-GR" sz="2800">
                <a:solidFill>
                  <a:srgbClr val="15283B"/>
                </a:solidFill>
                <a:latin typeface="Cambria Math" panose="02040503050406030204" pitchFamily="18" charset="0"/>
              </a:rPr>
              <a:t>−τ</a:t>
            </a:r>
            <a:r>
              <a:rPr lang="el-GR" sz="2016" baseline="-22000">
                <a:solidFill>
                  <a:srgbClr val="15283B"/>
                </a:solidFill>
                <a:latin typeface="Cambria Math" panose="02040503050406030204" pitchFamily="18" charset="0"/>
              </a:rPr>
              <a:t>0</a:t>
            </a:r>
            <a:r>
              <a:rPr lang="el-GR" sz="2800">
                <a:solidFill>
                  <a:srgbClr val="15283B"/>
                </a:solidFill>
                <a:latin typeface="Cambria Math" panose="02040503050406030204" pitchFamily="18" charset="0"/>
              </a:rPr>
              <a:t>)     </a:t>
            </a:r>
            <a:r>
              <a:rPr lang="en-IL" sz="2800">
                <a:solidFill>
                  <a:srgbClr val="15283B"/>
                </a:solidFill>
                <a:latin typeface="Cambria Math" panose="02040503050406030204" pitchFamily="18" charset="0"/>
              </a:rPr>
              <a:t>t(u) = (1−u)t</a:t>
            </a:r>
            <a:r>
              <a:rPr lang="en-IL" sz="2016" baseline="-22000">
                <a:solidFill>
                  <a:srgbClr val="15283B"/>
                </a:solidFill>
                <a:latin typeface="Cambria Math" panose="02040503050406030204" pitchFamily="18" charset="0"/>
              </a:rPr>
              <a:t>0</a:t>
            </a:r>
            <a:r>
              <a:rPr lang="en-IL" sz="2800">
                <a:solidFill>
                  <a:srgbClr val="15283B"/>
                </a:solidFill>
                <a:latin typeface="Cambria Math" panose="02040503050406030204" pitchFamily="18" charset="0"/>
              </a:rPr>
              <a:t> + ut</a:t>
            </a:r>
            <a:r>
              <a:rPr lang="en-IL" sz="2016" baseline="-22000">
                <a:solidFill>
                  <a:srgbClr val="15283B"/>
                </a:solidFill>
                <a:latin typeface="Cambria Math" panose="02040503050406030204" pitchFamily="18" charset="0"/>
              </a:rPr>
              <a:t>1</a:t>
            </a:r>
          </a:p>
        </p:txBody>
      </p:sp>
      <p:sp>
        <p:nvSpPr>
          <p:cNvPr id="9" name="text_8">
            <a:extLst>
              <a:ext uri="{FF2B5EF4-FFF2-40B4-BE49-F238E27FC236}">
                <a16:creationId xmlns:a16="http://schemas.microsoft.com/office/drawing/2014/main" id="{BE4150B3-0640-514C-B118-DB47F52DBDDB}"/>
              </a:ext>
            </a:extLst>
          </p:cNvPr>
          <p:cNvSpPr txBox="1"/>
          <p:nvPr/>
        </p:nvSpPr>
        <p:spPr>
          <a:xfrm>
            <a:off x="685800" y="3530599"/>
            <a:ext cx="10820400" cy="622300"/>
          </a:xfrm>
          <a:prstGeom prst="rect">
            <a:avLst/>
          </a:prstGeom>
          <a:noFill/>
        </p:spPr>
        <p:txBody>
          <a:bodyPr vert="horz" wrap="square" lIns="0" tIns="0" rIns="0" bIns="0" rtlCol="0" anchor="t">
            <a:noAutofit/>
          </a:bodyPr>
          <a:lstStyle/>
          <a:p>
            <a:r>
              <a:rPr lang="es-ES" sz="3100">
                <a:solidFill>
                  <a:srgbClr val="2459D3"/>
                </a:solidFill>
                <a:latin typeface="Cambria Math" panose="02040503050406030204" pitchFamily="18" charset="0"/>
              </a:rPr>
              <a:t>q(u) = [sin((1−u)Ω)/sin Ω] q</a:t>
            </a:r>
            <a:r>
              <a:rPr lang="es-ES" sz="2232" baseline="-22000">
                <a:solidFill>
                  <a:srgbClr val="2459D3"/>
                </a:solidFill>
                <a:latin typeface="Cambria Math" panose="02040503050406030204" pitchFamily="18" charset="0"/>
              </a:rPr>
              <a:t>0</a:t>
            </a:r>
            <a:endParaRPr lang="en-IL" sz="2232" baseline="-22000">
              <a:solidFill>
                <a:srgbClr val="2459D3"/>
              </a:solidFill>
              <a:latin typeface="Cambria Math" panose="02040503050406030204" pitchFamily="18" charset="0"/>
            </a:endParaRPr>
          </a:p>
        </p:txBody>
      </p:sp>
      <p:sp>
        <p:nvSpPr>
          <p:cNvPr id="10" name="text_9">
            <a:extLst>
              <a:ext uri="{FF2B5EF4-FFF2-40B4-BE49-F238E27FC236}">
                <a16:creationId xmlns:a16="http://schemas.microsoft.com/office/drawing/2014/main" id="{CF8A30BE-2D9B-8FF5-C164-7E858C90C93E}"/>
              </a:ext>
            </a:extLst>
          </p:cNvPr>
          <p:cNvSpPr txBox="1"/>
          <p:nvPr/>
        </p:nvSpPr>
        <p:spPr>
          <a:xfrm>
            <a:off x="685800" y="4203699"/>
            <a:ext cx="10820400" cy="6223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           + [sin(u</a:t>
            </a:r>
            <a:r>
              <a:rPr lang="el-GR" sz="3100">
                <a:solidFill>
                  <a:srgbClr val="2459D3"/>
                </a:solidFill>
                <a:latin typeface="Cambria Math" panose="02040503050406030204" pitchFamily="18" charset="0"/>
              </a:rPr>
              <a:t>Ω)/</a:t>
            </a:r>
            <a:r>
              <a:rPr lang="en-IL" sz="3100">
                <a:solidFill>
                  <a:srgbClr val="2459D3"/>
                </a:solidFill>
                <a:latin typeface="Cambria Math" panose="02040503050406030204" pitchFamily="18" charset="0"/>
              </a:rPr>
              <a:t>sin </a:t>
            </a:r>
            <a:r>
              <a:rPr lang="el-GR" sz="3100">
                <a:solidFill>
                  <a:srgbClr val="2459D3"/>
                </a:solidFill>
                <a:latin typeface="Cambria Math" panose="02040503050406030204" pitchFamily="18" charset="0"/>
              </a:rPr>
              <a:t>Ω] </a:t>
            </a:r>
            <a:r>
              <a:rPr lang="en-IL" sz="3100">
                <a:solidFill>
                  <a:srgbClr val="2459D3"/>
                </a:solidFill>
                <a:latin typeface="Cambria Math" panose="02040503050406030204" pitchFamily="18" charset="0"/>
              </a:rPr>
              <a:t>q</a:t>
            </a:r>
            <a:r>
              <a:rPr lang="en-IL" sz="2232" baseline="-22000">
                <a:solidFill>
                  <a:srgbClr val="2459D3"/>
                </a:solidFill>
                <a:latin typeface="Cambria Math" panose="02040503050406030204" pitchFamily="18" charset="0"/>
              </a:rPr>
              <a:t>1</a:t>
            </a:r>
          </a:p>
        </p:txBody>
      </p:sp>
      <p:sp>
        <p:nvSpPr>
          <p:cNvPr id="11" name="text_10">
            <a:extLst>
              <a:ext uri="{FF2B5EF4-FFF2-40B4-BE49-F238E27FC236}">
                <a16:creationId xmlns:a16="http://schemas.microsoft.com/office/drawing/2014/main" id="{ECFBA4EF-2178-9410-E77A-FA35E10879AE}"/>
              </a:ext>
            </a:extLst>
          </p:cNvPr>
          <p:cNvSpPr txBox="1"/>
          <p:nvPr/>
        </p:nvSpPr>
        <p:spPr>
          <a:xfrm>
            <a:off x="685800" y="5181599"/>
            <a:ext cx="10820400" cy="914400"/>
          </a:xfrm>
          <a:prstGeom prst="rect">
            <a:avLst/>
          </a:prstGeom>
          <a:noFill/>
        </p:spPr>
        <p:txBody>
          <a:bodyPr vert="horz" wrap="square" lIns="0" tIns="0" rIns="0" bIns="0" rtlCol="0" anchor="t">
            <a:noAutofit/>
          </a:bodyPr>
          <a:lstStyle/>
          <a:p>
            <a:r>
              <a:rPr lang="en-US" sz="2500">
                <a:solidFill>
                  <a:srgbClr val="526477"/>
                </a:solidFill>
                <a:latin typeface="Aptos" panose="020B0004020202020204" pitchFamily="34" charset="0"/>
              </a:rPr>
              <a:t>Ω = acos(q₀·q₁)  ·  flip q₁ if dot &lt; 0
Near equality: normalize the linear blend.</a:t>
            </a:r>
            <a:endParaRPr lang="en-IL" sz="2500">
              <a:solidFill>
                <a:srgbClr val="526477"/>
              </a:solidFill>
              <a:latin typeface="Aptos" panose="020B0004020202020204" pitchFamily="34" charset="0"/>
            </a:endParaRPr>
          </a:p>
        </p:txBody>
      </p:sp>
    </p:spTree>
    <p:extLst>
      <p:ext uri="{BB962C8B-B14F-4D97-AF65-F5344CB8AC3E}">
        <p14:creationId xmlns:p14="http://schemas.microsoft.com/office/powerpoint/2010/main" val="787495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7AA8ED9-4A23-C1BE-8D4B-801D7B3EADC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55D425AE-93B7-08B2-DE7C-68853FE50CA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Worked mathematical checks</a:t>
            </a:r>
          </a:p>
        </p:txBody>
      </p:sp>
      <p:sp>
        <p:nvSpPr>
          <p:cNvPr id="4" name="text_3">
            <a:extLst>
              <a:ext uri="{FF2B5EF4-FFF2-40B4-BE49-F238E27FC236}">
                <a16:creationId xmlns:a16="http://schemas.microsoft.com/office/drawing/2014/main" id="{3038E90F-9CB5-ABAF-F44F-06247DE1A9B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Compare physical transforms, not raw angle tuples or quaternion signs.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C98CDBF-8192-3719-7A1D-0D7FA122D44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043FED4-354E-511D-03A5-D65D1601469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CDDEB34-4C1A-EDFC-0581-FC930784221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26</a:t>
            </a:r>
          </a:p>
        </p:txBody>
      </p:sp>
      <p:cxnSp>
        <p:nvCxnSpPr>
          <p:cNvPr id="8" name="Straight Connector 7">
            <a:extLst>
              <a:ext uri="{FF2B5EF4-FFF2-40B4-BE49-F238E27FC236}">
                <a16:creationId xmlns:a16="http://schemas.microsoft.com/office/drawing/2014/main" id="{914C848F-A4BD-F7D1-A8AA-73DB6725E9BC}"/>
              </a:ext>
            </a:extLst>
          </p:cNvPr>
          <p:cNvCxnSpPr/>
          <p:nvPr/>
        </p:nvCxnSpPr>
        <p:spPr>
          <a:xfrm>
            <a:off x="685800" y="2628900"/>
            <a:ext cx="0" cy="1663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FCB7D14-16FC-56FF-2CA4-5E67433BD347}"/>
              </a:ext>
            </a:extLst>
          </p:cNvPr>
          <p:cNvCxnSpPr/>
          <p:nvPr/>
        </p:nvCxnSpPr>
        <p:spPr>
          <a:xfrm>
            <a:off x="685800" y="26289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F2F3CE8-DFE9-37C3-30DE-777B8D5A6F2C}"/>
              </a:ext>
            </a:extLst>
          </p:cNvPr>
          <p:cNvCxnSpPr/>
          <p:nvPr/>
        </p:nvCxnSpPr>
        <p:spPr>
          <a:xfrm>
            <a:off x="685800" y="42926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3EA013B-407A-225C-F0B8-80C133C426A1}"/>
              </a:ext>
            </a:extLst>
          </p:cNvPr>
          <p:cNvCxnSpPr/>
          <p:nvPr/>
        </p:nvCxnSpPr>
        <p:spPr>
          <a:xfrm>
            <a:off x="7035800" y="2628900"/>
            <a:ext cx="0" cy="16637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C85DF4A-BBAD-FB0A-F267-B47B81B6B631}"/>
              </a:ext>
            </a:extLst>
          </p:cNvPr>
          <p:cNvCxnSpPr/>
          <p:nvPr/>
        </p:nvCxnSpPr>
        <p:spPr>
          <a:xfrm flipH="1">
            <a:off x="6934200" y="26289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9A1E403-515A-F199-4742-55C5332F749F}"/>
              </a:ext>
            </a:extLst>
          </p:cNvPr>
          <p:cNvCxnSpPr/>
          <p:nvPr/>
        </p:nvCxnSpPr>
        <p:spPr>
          <a:xfrm flipH="1">
            <a:off x="6934200" y="42926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4" name="text_13">
            <a:extLst>
              <a:ext uri="{FF2B5EF4-FFF2-40B4-BE49-F238E27FC236}">
                <a16:creationId xmlns:a16="http://schemas.microsoft.com/office/drawing/2014/main" id="{23CD1588-AA21-0A20-5FA0-070C6105B351}"/>
              </a:ext>
            </a:extLst>
          </p:cNvPr>
          <p:cNvSpPr txBox="1"/>
          <p:nvPr/>
        </p:nvSpPr>
        <p:spPr>
          <a:xfrm>
            <a:off x="825500" y="2679700"/>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0.664463</a:t>
            </a:r>
          </a:p>
        </p:txBody>
      </p:sp>
      <p:sp>
        <p:nvSpPr>
          <p:cNvPr id="15" name="text_14">
            <a:extLst>
              <a:ext uri="{FF2B5EF4-FFF2-40B4-BE49-F238E27FC236}">
                <a16:creationId xmlns:a16="http://schemas.microsoft.com/office/drawing/2014/main" id="{64835DA1-AF8A-4902-624D-80EECE29E9D6}"/>
              </a:ext>
            </a:extLst>
          </p:cNvPr>
          <p:cNvSpPr txBox="1"/>
          <p:nvPr/>
        </p:nvSpPr>
        <p:spPr>
          <a:xfrm>
            <a:off x="2849033" y="2679700"/>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−0.733295</a:t>
            </a:r>
          </a:p>
        </p:txBody>
      </p:sp>
      <p:sp>
        <p:nvSpPr>
          <p:cNvPr id="16" name="text_15">
            <a:extLst>
              <a:ext uri="{FF2B5EF4-FFF2-40B4-BE49-F238E27FC236}">
                <a16:creationId xmlns:a16="http://schemas.microsoft.com/office/drawing/2014/main" id="{3B621877-0EDD-C61E-9DA0-FDA6F90999A6}"/>
              </a:ext>
            </a:extLst>
          </p:cNvPr>
          <p:cNvSpPr txBox="1"/>
          <p:nvPr/>
        </p:nvSpPr>
        <p:spPr>
          <a:xfrm>
            <a:off x="4872567" y="2679700"/>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0.144110</a:t>
            </a:r>
          </a:p>
        </p:txBody>
      </p:sp>
      <p:sp>
        <p:nvSpPr>
          <p:cNvPr id="17" name="text_16">
            <a:extLst>
              <a:ext uri="{FF2B5EF4-FFF2-40B4-BE49-F238E27FC236}">
                <a16:creationId xmlns:a16="http://schemas.microsoft.com/office/drawing/2014/main" id="{B53BA540-927B-9E18-752D-F60F6443C9B6}"/>
              </a:ext>
            </a:extLst>
          </p:cNvPr>
          <p:cNvSpPr txBox="1"/>
          <p:nvPr/>
        </p:nvSpPr>
        <p:spPr>
          <a:xfrm>
            <a:off x="825500" y="3234267"/>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0.664463</a:t>
            </a:r>
          </a:p>
        </p:txBody>
      </p:sp>
      <p:sp>
        <p:nvSpPr>
          <p:cNvPr id="18" name="text_17">
            <a:extLst>
              <a:ext uri="{FF2B5EF4-FFF2-40B4-BE49-F238E27FC236}">
                <a16:creationId xmlns:a16="http://schemas.microsoft.com/office/drawing/2014/main" id="{5E379FA3-227B-2DB0-AE9E-7264A177CE88}"/>
              </a:ext>
            </a:extLst>
          </p:cNvPr>
          <p:cNvSpPr txBox="1"/>
          <p:nvPr/>
        </p:nvSpPr>
        <p:spPr>
          <a:xfrm>
            <a:off x="2849033" y="3234267"/>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0.491450</a:t>
            </a:r>
          </a:p>
        </p:txBody>
      </p:sp>
      <p:sp>
        <p:nvSpPr>
          <p:cNvPr id="19" name="text_18">
            <a:extLst>
              <a:ext uri="{FF2B5EF4-FFF2-40B4-BE49-F238E27FC236}">
                <a16:creationId xmlns:a16="http://schemas.microsoft.com/office/drawing/2014/main" id="{DC293B4B-2974-B671-BBD0-1053540E7570}"/>
              </a:ext>
            </a:extLst>
          </p:cNvPr>
          <p:cNvSpPr txBox="1"/>
          <p:nvPr/>
        </p:nvSpPr>
        <p:spPr>
          <a:xfrm>
            <a:off x="4872567" y="3234267"/>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−0.562997</a:t>
            </a:r>
          </a:p>
        </p:txBody>
      </p:sp>
      <p:sp>
        <p:nvSpPr>
          <p:cNvPr id="20" name="text_19">
            <a:extLst>
              <a:ext uri="{FF2B5EF4-FFF2-40B4-BE49-F238E27FC236}">
                <a16:creationId xmlns:a16="http://schemas.microsoft.com/office/drawing/2014/main" id="{6D94134C-D86C-62B5-F929-BBA3CB49408D}"/>
              </a:ext>
            </a:extLst>
          </p:cNvPr>
          <p:cNvSpPr txBox="1"/>
          <p:nvPr/>
        </p:nvSpPr>
        <p:spPr>
          <a:xfrm>
            <a:off x="825500" y="3788833"/>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0.342020</a:t>
            </a:r>
          </a:p>
        </p:txBody>
      </p:sp>
      <p:sp>
        <p:nvSpPr>
          <p:cNvPr id="21" name="text_20">
            <a:extLst>
              <a:ext uri="{FF2B5EF4-FFF2-40B4-BE49-F238E27FC236}">
                <a16:creationId xmlns:a16="http://schemas.microsoft.com/office/drawing/2014/main" id="{752A9D7F-0FEB-5088-3463-153605450F42}"/>
              </a:ext>
            </a:extLst>
          </p:cNvPr>
          <p:cNvSpPr txBox="1"/>
          <p:nvPr/>
        </p:nvSpPr>
        <p:spPr>
          <a:xfrm>
            <a:off x="2849033" y="3788833"/>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0.469846</a:t>
            </a:r>
          </a:p>
        </p:txBody>
      </p:sp>
      <p:sp>
        <p:nvSpPr>
          <p:cNvPr id="22" name="text_21">
            <a:extLst>
              <a:ext uri="{FF2B5EF4-FFF2-40B4-BE49-F238E27FC236}">
                <a16:creationId xmlns:a16="http://schemas.microsoft.com/office/drawing/2014/main" id="{BB743C00-91AA-23EF-9249-762356401EF1}"/>
              </a:ext>
            </a:extLst>
          </p:cNvPr>
          <p:cNvSpPr txBox="1"/>
          <p:nvPr/>
        </p:nvSpPr>
        <p:spPr>
          <a:xfrm>
            <a:off x="4872567" y="3788833"/>
            <a:ext cx="2023533" cy="503767"/>
          </a:xfrm>
          <a:prstGeom prst="rect">
            <a:avLst/>
          </a:prstGeom>
          <a:noFill/>
        </p:spPr>
        <p:txBody>
          <a:bodyPr vert="horz" wrap="square" lIns="0" tIns="0" rIns="0" bIns="0" rtlCol="0" anchor="t">
            <a:noAutofit/>
          </a:bodyPr>
          <a:lstStyle/>
          <a:p>
            <a:pPr algn="ctr"/>
            <a:r>
              <a:rPr lang="en-IL" sz="2400">
                <a:solidFill>
                  <a:srgbClr val="15283B"/>
                </a:solidFill>
                <a:latin typeface="Cambria Math" panose="02040503050406030204" pitchFamily="18" charset="0"/>
              </a:rPr>
              <a:t>0.813798</a:t>
            </a:r>
          </a:p>
        </p:txBody>
      </p:sp>
      <p:sp>
        <p:nvSpPr>
          <p:cNvPr id="23" name="text_22">
            <a:extLst>
              <a:ext uri="{FF2B5EF4-FFF2-40B4-BE49-F238E27FC236}">
                <a16:creationId xmlns:a16="http://schemas.microsoft.com/office/drawing/2014/main" id="{46E8C43C-5541-DA68-3507-A8A4E131F32F}"/>
              </a:ext>
            </a:extLst>
          </p:cNvPr>
          <p:cNvSpPr txBox="1"/>
          <p:nvPr/>
        </p:nvSpPr>
        <p:spPr>
          <a:xfrm>
            <a:off x="7569200" y="2743199"/>
            <a:ext cx="3937000" cy="1409700"/>
          </a:xfrm>
          <a:prstGeom prst="rect">
            <a:avLst/>
          </a:prstGeom>
          <a:noFill/>
        </p:spPr>
        <p:txBody>
          <a:bodyPr vert="horz" wrap="square" lIns="0" tIns="0" rIns="0" bIns="0" rtlCol="0" anchor="t">
            <a:noAutofit/>
          </a:bodyPr>
          <a:lstStyle/>
          <a:p>
            <a:r>
              <a:rPr lang="en-IL" sz="2500" b="1">
                <a:solidFill>
                  <a:srgbClr val="2459D3"/>
                </a:solidFill>
                <a:latin typeface="Aptos" panose="020B0004020202020204" pitchFamily="34" charset="0"/>
              </a:rPr>
              <a:t>RPY: (30°, −20°, 45°)
Fixed XYZ</a:t>
            </a:r>
          </a:p>
        </p:txBody>
      </p:sp>
      <p:sp>
        <p:nvSpPr>
          <p:cNvPr id="24" name="text_23">
            <a:extLst>
              <a:ext uri="{FF2B5EF4-FFF2-40B4-BE49-F238E27FC236}">
                <a16:creationId xmlns:a16="http://schemas.microsoft.com/office/drawing/2014/main" id="{B7D67E3F-76E8-EBE2-C49D-029294BB1CE6}"/>
              </a:ext>
            </a:extLst>
          </p:cNvPr>
          <p:cNvSpPr txBox="1"/>
          <p:nvPr/>
        </p:nvSpPr>
        <p:spPr>
          <a:xfrm>
            <a:off x="685800" y="4571999"/>
            <a:ext cx="10820400" cy="546100"/>
          </a:xfrm>
          <a:prstGeom prst="rect">
            <a:avLst/>
          </a:prstGeom>
          <a:noFill/>
        </p:spPr>
        <p:txBody>
          <a:bodyPr vert="horz" wrap="square" lIns="0" tIns="0" rIns="0" bIns="0" rtlCol="0" anchor="t">
            <a:noAutofit/>
          </a:bodyPr>
          <a:lstStyle/>
          <a:p>
            <a:r>
              <a:rPr lang="fr-FR" sz="2600">
                <a:solidFill>
                  <a:srgbClr val="15283B"/>
                </a:solidFill>
                <a:latin typeface="Aptos" panose="020B0004020202020204" pitchFamily="34" charset="0"/>
              </a:rPr>
              <a:t>q ≈ (0.861642, 0.299673, −0.057422, 0.405550)</a:t>
            </a:r>
            <a:endParaRPr lang="en-IL" sz="2600">
              <a:solidFill>
                <a:srgbClr val="15283B"/>
              </a:solidFill>
              <a:latin typeface="Aptos" panose="020B0004020202020204" pitchFamily="34" charset="0"/>
            </a:endParaRPr>
          </a:p>
        </p:txBody>
      </p:sp>
      <p:sp>
        <p:nvSpPr>
          <p:cNvPr id="25" name="text_24">
            <a:extLst>
              <a:ext uri="{FF2B5EF4-FFF2-40B4-BE49-F238E27FC236}">
                <a16:creationId xmlns:a16="http://schemas.microsoft.com/office/drawing/2014/main" id="{D79223CB-1168-71D6-EC10-36D63689AE86}"/>
              </a:ext>
            </a:extLst>
          </p:cNvPr>
          <p:cNvSpPr txBox="1"/>
          <p:nvPr/>
        </p:nvSpPr>
        <p:spPr>
          <a:xfrm>
            <a:off x="685800" y="5346699"/>
            <a:ext cx="10820400" cy="685800"/>
          </a:xfrm>
          <a:prstGeom prst="rect">
            <a:avLst/>
          </a:prstGeom>
          <a:noFill/>
        </p:spPr>
        <p:txBody>
          <a:bodyPr vert="horz" wrap="square" lIns="0" tIns="0" rIns="0" bIns="0" rtlCol="0" anchor="t">
            <a:noAutofit/>
          </a:bodyPr>
          <a:lstStyle/>
          <a:p>
            <a:r>
              <a:rPr lang="en-US" sz="2600">
                <a:solidFill>
                  <a:srgbClr val="137F79"/>
                </a:solidFill>
                <a:latin typeface="Aptos" panose="020B0004020202020204" pitchFamily="34" charset="0"/>
              </a:rPr>
              <a:t>Round trip  ·  q / −q  ·  near 180°  ·  singular Euler</a:t>
            </a:r>
            <a:endParaRPr lang="en-IL" sz="2600">
              <a:solidFill>
                <a:srgbClr val="137F79"/>
              </a:solidFill>
              <a:latin typeface="Aptos" panose="020B0004020202020204" pitchFamily="34" charset="0"/>
            </a:endParaRPr>
          </a:p>
        </p:txBody>
      </p:sp>
    </p:spTree>
    <p:extLst>
      <p:ext uri="{BB962C8B-B14F-4D97-AF65-F5344CB8AC3E}">
        <p14:creationId xmlns:p14="http://schemas.microsoft.com/office/powerpoint/2010/main" val="4192621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7483</Words>
  <Application>Microsoft Office PowerPoint</Application>
  <PresentationFormat>Custom</PresentationFormat>
  <Paragraphs>545</Paragraphs>
  <Slides>26</Slides>
  <Notes>26</Notes>
  <HiddenSlides>10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2026-10-04T15:37:57Z</dcterms:created>
  <dcterms:modified xsi:type="dcterms:W3CDTF">2026-10-04T15:37:58Z</dcterms:modified>
</cp:coreProperties>
</file>